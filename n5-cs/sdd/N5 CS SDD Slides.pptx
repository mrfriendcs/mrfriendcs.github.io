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08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368"/>
  </p:notesMasterIdLst>
  <p:sldIdLst>
    <p:sldId id="262" r:id="rId2"/>
    <p:sldId id="424" r:id="rId3"/>
    <p:sldId id="505" r:id="rId4"/>
    <p:sldId id="829" r:id="rId5"/>
    <p:sldId id="830" r:id="rId6"/>
    <p:sldId id="488" r:id="rId7"/>
    <p:sldId id="596" r:id="rId8"/>
    <p:sldId id="614" r:id="rId9"/>
    <p:sldId id="658" r:id="rId10"/>
    <p:sldId id="260" r:id="rId11"/>
    <p:sldId id="659" r:id="rId12"/>
    <p:sldId id="660" r:id="rId13"/>
    <p:sldId id="661" r:id="rId14"/>
    <p:sldId id="825" r:id="rId15"/>
    <p:sldId id="383" r:id="rId16"/>
    <p:sldId id="282" r:id="rId17"/>
    <p:sldId id="738" r:id="rId18"/>
    <p:sldId id="283" r:id="rId19"/>
    <p:sldId id="739" r:id="rId20"/>
    <p:sldId id="284" r:id="rId21"/>
    <p:sldId id="740" r:id="rId22"/>
    <p:sldId id="285" r:id="rId23"/>
    <p:sldId id="741" r:id="rId24"/>
    <p:sldId id="286" r:id="rId25"/>
    <p:sldId id="742" r:id="rId26"/>
    <p:sldId id="287" r:id="rId27"/>
    <p:sldId id="323" r:id="rId28"/>
    <p:sldId id="264" r:id="rId29"/>
    <p:sldId id="320" r:id="rId30"/>
    <p:sldId id="382" r:id="rId31"/>
    <p:sldId id="384" r:id="rId32"/>
    <p:sldId id="385" r:id="rId33"/>
    <p:sldId id="280" r:id="rId34"/>
    <p:sldId id="281" r:id="rId35"/>
    <p:sldId id="605" r:id="rId36"/>
    <p:sldId id="616" r:id="rId37"/>
    <p:sldId id="615" r:id="rId38"/>
    <p:sldId id="617" r:id="rId39"/>
    <p:sldId id="370" r:id="rId40"/>
    <p:sldId id="754" r:id="rId41"/>
    <p:sldId id="638" r:id="rId42"/>
    <p:sldId id="755" r:id="rId43"/>
    <p:sldId id="663" r:id="rId44"/>
    <p:sldId id="265" r:id="rId45"/>
    <p:sldId id="626" r:id="rId46"/>
    <p:sldId id="266" r:id="rId47"/>
    <p:sldId id="625" r:id="rId48"/>
    <p:sldId id="542" r:id="rId49"/>
    <p:sldId id="296" r:id="rId50"/>
    <p:sldId id="544" r:id="rId51"/>
    <p:sldId id="664" r:id="rId52"/>
    <p:sldId id="665" r:id="rId53"/>
    <p:sldId id="667" r:id="rId54"/>
    <p:sldId id="823" r:id="rId55"/>
    <p:sldId id="826" r:id="rId56"/>
    <p:sldId id="827" r:id="rId57"/>
    <p:sldId id="535" r:id="rId58"/>
    <p:sldId id="840" r:id="rId59"/>
    <p:sldId id="839" r:id="rId60"/>
    <p:sldId id="470" r:id="rId61"/>
    <p:sldId id="824" r:id="rId62"/>
    <p:sldId id="828" r:id="rId63"/>
    <p:sldId id="772" r:id="rId64"/>
    <p:sldId id="781" r:id="rId65"/>
    <p:sldId id="782" r:id="rId66"/>
    <p:sldId id="784" r:id="rId67"/>
    <p:sldId id="785" r:id="rId68"/>
    <p:sldId id="815" r:id="rId69"/>
    <p:sldId id="816" r:id="rId70"/>
    <p:sldId id="267" r:id="rId71"/>
    <p:sldId id="288" r:id="rId72"/>
    <p:sldId id="289" r:id="rId73"/>
    <p:sldId id="290" r:id="rId74"/>
    <p:sldId id="619" r:id="rId75"/>
    <p:sldId id="291" r:id="rId76"/>
    <p:sldId id="322" r:id="rId77"/>
    <p:sldId id="844" r:id="rId78"/>
    <p:sldId id="512" r:id="rId79"/>
    <p:sldId id="516" r:id="rId80"/>
    <p:sldId id="514" r:id="rId81"/>
    <p:sldId id="515" r:id="rId82"/>
    <p:sldId id="620" r:id="rId83"/>
    <p:sldId id="621" r:id="rId84"/>
    <p:sldId id="268" r:id="rId85"/>
    <p:sldId id="529" r:id="rId86"/>
    <p:sldId id="531" r:id="rId87"/>
    <p:sldId id="259" r:id="rId88"/>
    <p:sldId id="300" r:id="rId89"/>
    <p:sldId id="608" r:id="rId90"/>
    <p:sldId id="609" r:id="rId91"/>
    <p:sldId id="843" r:id="rId92"/>
    <p:sldId id="517" r:id="rId93"/>
    <p:sldId id="518" r:id="rId94"/>
    <p:sldId id="519" r:id="rId95"/>
    <p:sldId id="524" r:id="rId96"/>
    <p:sldId id="520" r:id="rId97"/>
    <p:sldId id="521" r:id="rId98"/>
    <p:sldId id="522" r:id="rId99"/>
    <p:sldId id="523" r:id="rId100"/>
    <p:sldId id="532" r:id="rId101"/>
    <p:sldId id="533" r:id="rId102"/>
    <p:sldId id="534" r:id="rId103"/>
    <p:sldId id="545" r:id="rId104"/>
    <p:sldId id="371" r:id="rId105"/>
    <p:sldId id="607" r:id="rId106"/>
    <p:sldId id="410" r:id="rId107"/>
    <p:sldId id="764" r:id="rId108"/>
    <p:sldId id="411" r:id="rId109"/>
    <p:sldId id="413" r:id="rId110"/>
    <p:sldId id="412" r:id="rId111"/>
    <p:sldId id="606" r:id="rId112"/>
    <p:sldId id="845" r:id="rId113"/>
    <p:sldId id="846" r:id="rId114"/>
    <p:sldId id="269" r:id="rId115"/>
    <p:sldId id="737" r:id="rId116"/>
    <p:sldId id="855" r:id="rId117"/>
    <p:sldId id="856" r:id="rId118"/>
    <p:sldId id="858" r:id="rId119"/>
    <p:sldId id="857" r:id="rId120"/>
    <p:sldId id="859" r:id="rId121"/>
    <p:sldId id="758" r:id="rId122"/>
    <p:sldId id="759" r:id="rId123"/>
    <p:sldId id="760" r:id="rId124"/>
    <p:sldId id="276" r:id="rId125"/>
    <p:sldId id="381" r:id="rId126"/>
    <p:sldId id="766" r:id="rId127"/>
    <p:sldId id="271" r:id="rId128"/>
    <p:sldId id="311" r:id="rId129"/>
    <p:sldId id="312" r:id="rId130"/>
    <p:sldId id="313" r:id="rId131"/>
    <p:sldId id="427" r:id="rId132"/>
    <p:sldId id="316" r:id="rId133"/>
    <p:sldId id="642" r:id="rId134"/>
    <p:sldId id="318" r:id="rId135"/>
    <p:sldId id="442" r:id="rId136"/>
    <p:sldId id="451" r:id="rId137"/>
    <p:sldId id="452" r:id="rId138"/>
    <p:sldId id="874" r:id="rId139"/>
    <p:sldId id="875" r:id="rId140"/>
    <p:sldId id="878" r:id="rId141"/>
    <p:sldId id="443" r:id="rId142"/>
    <p:sldId id="453" r:id="rId143"/>
    <p:sldId id="669" r:id="rId144"/>
    <p:sldId id="876" r:id="rId145"/>
    <p:sldId id="877" r:id="rId146"/>
    <p:sldId id="879" r:id="rId147"/>
    <p:sldId id="863" r:id="rId148"/>
    <p:sldId id="867" r:id="rId149"/>
    <p:sldId id="688" r:id="rId150"/>
    <p:sldId id="871" r:id="rId151"/>
    <p:sldId id="786" r:id="rId152"/>
    <p:sldId id="773" r:id="rId153"/>
    <p:sldId id="774" r:id="rId154"/>
    <p:sldId id="775" r:id="rId155"/>
    <p:sldId id="776" r:id="rId156"/>
    <p:sldId id="880" r:id="rId157"/>
    <p:sldId id="685" r:id="rId158"/>
    <p:sldId id="868" r:id="rId159"/>
    <p:sldId id="872" r:id="rId160"/>
    <p:sldId id="873" r:id="rId161"/>
    <p:sldId id="881" r:id="rId162"/>
    <p:sldId id="272" r:id="rId163"/>
    <p:sldId id="343" r:id="rId164"/>
    <p:sldId id="352" r:id="rId165"/>
    <p:sldId id="349" r:id="rId166"/>
    <p:sldId id="671" r:id="rId167"/>
    <p:sldId id="340" r:id="rId168"/>
    <p:sldId id="351" r:id="rId169"/>
    <p:sldId id="348" r:id="rId170"/>
    <p:sldId id="670" r:id="rId171"/>
    <p:sldId id="346" r:id="rId172"/>
    <p:sldId id="353" r:id="rId173"/>
    <p:sldId id="350" r:id="rId174"/>
    <p:sldId id="672" r:id="rId175"/>
    <p:sldId id="319" r:id="rId176"/>
    <p:sldId id="589" r:id="rId177"/>
    <p:sldId id="884" r:id="rId178"/>
    <p:sldId id="883" r:id="rId179"/>
    <p:sldId id="677" r:id="rId180"/>
    <p:sldId id="592" r:id="rId181"/>
    <p:sldId id="882" r:id="rId182"/>
    <p:sldId id="430" r:id="rId183"/>
    <p:sldId id="622" r:id="rId184"/>
    <p:sldId id="767" r:id="rId185"/>
    <p:sldId id="327" r:id="rId186"/>
    <p:sldId id="429" r:id="rId187"/>
    <p:sldId id="437" r:id="rId188"/>
    <p:sldId id="768" r:id="rId189"/>
    <p:sldId id="594" r:id="rId190"/>
    <p:sldId id="275" r:id="rId191"/>
    <p:sldId id="473" r:id="rId192"/>
    <p:sldId id="563" r:id="rId193"/>
    <p:sldId id="474" r:id="rId194"/>
    <p:sldId id="652" r:id="rId195"/>
    <p:sldId id="655" r:id="rId196"/>
    <p:sldId id="402" r:id="rId197"/>
    <p:sldId id="571" r:id="rId198"/>
    <p:sldId id="572" r:id="rId199"/>
    <p:sldId id="564" r:id="rId200"/>
    <p:sldId id="566" r:id="rId201"/>
    <p:sldId id="404" r:id="rId202"/>
    <p:sldId id="405" r:id="rId203"/>
    <p:sldId id="391" r:id="rId204"/>
    <p:sldId id="567" r:id="rId205"/>
    <p:sldId id="885" r:id="rId206"/>
    <p:sldId id="393" r:id="rId207"/>
    <p:sldId id="394" r:id="rId208"/>
    <p:sldId id="817" r:id="rId209"/>
    <p:sldId id="818" r:id="rId210"/>
    <p:sldId id="270" r:id="rId211"/>
    <p:sldId id="363" r:id="rId212"/>
    <p:sldId id="367" r:id="rId213"/>
    <p:sldId id="362" r:id="rId214"/>
    <p:sldId id="682" r:id="rId215"/>
    <p:sldId id="763" r:id="rId216"/>
    <p:sldId id="274" r:id="rId217"/>
    <p:sldId id="365" r:id="rId218"/>
    <p:sldId id="678" r:id="rId219"/>
    <p:sldId id="691" r:id="rId220"/>
    <p:sldId id="769" r:id="rId221"/>
    <p:sldId id="770" r:id="rId222"/>
    <p:sldId id="690" r:id="rId223"/>
    <p:sldId id="680" r:id="rId224"/>
    <p:sldId id="679" r:id="rId225"/>
    <p:sldId id="681" r:id="rId226"/>
    <p:sldId id="684" r:id="rId227"/>
    <p:sldId id="595" r:id="rId228"/>
    <p:sldId id="683" r:id="rId229"/>
    <p:sldId id="673" r:id="rId230"/>
    <p:sldId id="674" r:id="rId231"/>
    <p:sldId id="675" r:id="rId232"/>
    <p:sldId id="458" r:id="rId233"/>
    <p:sldId id="459" r:id="rId234"/>
    <p:sldId id="481" r:id="rId235"/>
    <p:sldId id="796" r:id="rId236"/>
    <p:sldId id="406" r:id="rId237"/>
    <p:sldId id="644" r:id="rId238"/>
    <p:sldId id="771" r:id="rId239"/>
    <p:sldId id="612" r:id="rId240"/>
    <p:sldId id="613" r:id="rId241"/>
    <p:sldId id="820" r:id="rId242"/>
    <p:sldId id="821" r:id="rId243"/>
    <p:sldId id="273" r:id="rId244"/>
    <p:sldId id="354" r:id="rId245"/>
    <p:sldId id="356" r:id="rId246"/>
    <p:sldId id="805" r:id="rId247"/>
    <p:sldId id="258" r:id="rId248"/>
    <p:sldId id="357" r:id="rId249"/>
    <p:sldId id="358" r:id="rId250"/>
    <p:sldId id="647" r:id="rId251"/>
    <p:sldId id="629" r:id="rId252"/>
    <p:sldId id="636" r:id="rId253"/>
    <p:sldId id="361" r:id="rId254"/>
    <p:sldId id="637" r:id="rId255"/>
    <p:sldId id="797" r:id="rId256"/>
    <p:sldId id="787" r:id="rId257"/>
    <p:sldId id="792" r:id="rId258"/>
    <p:sldId id="793" r:id="rId259"/>
    <p:sldId id="794" r:id="rId260"/>
    <p:sldId id="795" r:id="rId261"/>
    <p:sldId id="277" r:id="rId262"/>
    <p:sldId id="434" r:id="rId263"/>
    <p:sldId id="648" r:id="rId264"/>
    <p:sldId id="380" r:id="rId265"/>
    <p:sldId id="689" r:id="rId266"/>
    <p:sldId id="455" r:id="rId267"/>
    <p:sldId id="649" r:id="rId268"/>
    <p:sldId id="439" r:id="rId269"/>
    <p:sldId id="440" r:id="rId270"/>
    <p:sldId id="461" r:id="rId271"/>
    <p:sldId id="743" r:id="rId272"/>
    <p:sldId id="729" r:id="rId273"/>
    <p:sldId id="819" r:id="rId274"/>
    <p:sldId id="490" r:id="rId275"/>
    <p:sldId id="487" r:id="rId276"/>
    <p:sldId id="744" r:id="rId277"/>
    <p:sldId id="745" r:id="rId278"/>
    <p:sldId id="482" r:id="rId279"/>
    <p:sldId id="483" r:id="rId280"/>
    <p:sldId id="752" r:id="rId281"/>
    <p:sldId id="753" r:id="rId282"/>
    <p:sldId id="484" r:id="rId283"/>
    <p:sldId id="489" r:id="rId284"/>
    <p:sldId id="748" r:id="rId285"/>
    <p:sldId id="749" r:id="rId286"/>
    <p:sldId id="492" r:id="rId287"/>
    <p:sldId id="493" r:id="rId288"/>
    <p:sldId id="525" r:id="rId289"/>
    <p:sldId id="526" r:id="rId290"/>
    <p:sldId id="507" r:id="rId291"/>
    <p:sldId id="751" r:id="rId292"/>
    <p:sldId id="494" r:id="rId293"/>
    <p:sldId id="495" r:id="rId294"/>
    <p:sldId id="496" r:id="rId295"/>
    <p:sldId id="548" r:id="rId296"/>
    <p:sldId id="549" r:id="rId297"/>
    <p:sldId id="420" r:id="rId298"/>
    <p:sldId id="550" r:id="rId299"/>
    <p:sldId id="554" r:id="rId300"/>
    <p:sldId id="557" r:id="rId301"/>
    <p:sldId id="551" r:id="rId302"/>
    <p:sldId id="862" r:id="rId303"/>
    <p:sldId id="861" r:id="rId304"/>
    <p:sldId id="556" r:id="rId305"/>
    <p:sldId id="552" r:id="rId306"/>
    <p:sldId id="419" r:id="rId307"/>
    <p:sldId id="558" r:id="rId308"/>
    <p:sldId id="559" r:id="rId309"/>
    <p:sldId id="561" r:id="rId310"/>
    <p:sldId id="560" r:id="rId311"/>
    <p:sldId id="562" r:id="rId312"/>
    <p:sldId id="579" r:id="rId313"/>
    <p:sldId id="831" r:id="rId314"/>
    <p:sldId id="581" r:id="rId315"/>
    <p:sldId id="832" r:id="rId316"/>
    <p:sldId id="580" r:id="rId317"/>
    <p:sldId id="833" r:id="rId318"/>
    <p:sldId id="585" r:id="rId319"/>
    <p:sldId id="834" r:id="rId320"/>
    <p:sldId id="822" r:id="rId321"/>
    <p:sldId id="837" r:id="rId322"/>
    <p:sldId id="553" r:id="rId323"/>
    <p:sldId id="418" r:id="rId324"/>
    <p:sldId id="654" r:id="rId325"/>
    <p:sldId id="586" r:id="rId326"/>
    <p:sldId id="632" r:id="rId327"/>
    <p:sldId id="500" r:id="rId328"/>
    <p:sldId id="565" r:id="rId329"/>
    <p:sldId id="634" r:id="rId330"/>
    <p:sldId id="587" r:id="rId331"/>
    <p:sldId id="657" r:id="rId332"/>
    <p:sldId id="838" r:id="rId333"/>
    <p:sldId id="503" r:id="rId334"/>
    <p:sldId id="504" r:id="rId335"/>
    <p:sldId id="798" r:id="rId336"/>
    <p:sldId id="808" r:id="rId337"/>
    <p:sldId id="803" r:id="rId338"/>
    <p:sldId id="809" r:id="rId339"/>
    <p:sldId id="804" r:id="rId340"/>
    <p:sldId id="810" r:id="rId341"/>
    <p:sldId id="802" r:id="rId342"/>
    <p:sldId id="811" r:id="rId343"/>
    <p:sldId id="841" r:id="rId344"/>
    <p:sldId id="842" r:id="rId345"/>
    <p:sldId id="799" r:id="rId346"/>
    <p:sldId id="812" r:id="rId347"/>
    <p:sldId id="800" r:id="rId348"/>
    <p:sldId id="813" r:id="rId349"/>
    <p:sldId id="801" r:id="rId350"/>
    <p:sldId id="814" r:id="rId351"/>
    <p:sldId id="860" r:id="rId352"/>
    <p:sldId id="806" r:id="rId353"/>
    <p:sldId id="807" r:id="rId354"/>
    <p:sldId id="847" r:id="rId355"/>
    <p:sldId id="848" r:id="rId356"/>
    <p:sldId id="849" r:id="rId357"/>
    <p:sldId id="850" r:id="rId358"/>
    <p:sldId id="851" r:id="rId359"/>
    <p:sldId id="852" r:id="rId360"/>
    <p:sldId id="853" r:id="rId361"/>
    <p:sldId id="854" r:id="rId362"/>
    <p:sldId id="731" r:id="rId363"/>
    <p:sldId id="732" r:id="rId364"/>
    <p:sldId id="734" r:id="rId365"/>
    <p:sldId id="733" r:id="rId366"/>
    <p:sldId id="735" r:id="rId367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ear 1 Intro" id="{8CD916D4-C61B-4DE1-BA53-06CFF0F5F6D1}">
          <p14:sldIdLst>
            <p14:sldId id="262"/>
            <p14:sldId id="424"/>
          </p14:sldIdLst>
        </p14:section>
        <p14:section name="Implementation" id="{C894BD4A-1EC5-4DFE-824D-FCF254DCC3B5}">
          <p14:sldIdLst>
            <p14:sldId id="505"/>
            <p14:sldId id="829"/>
            <p14:sldId id="830"/>
          </p14:sldIdLst>
        </p14:section>
        <p14:section name="Internal commentary 1" id="{F48CE9D6-5A7C-4F79-BE32-61B6A5D712AE}">
          <p14:sldIdLst>
            <p14:sldId id="488"/>
            <p14:sldId id="596"/>
            <p14:sldId id="614"/>
          </p14:sldIdLst>
        </p14:section>
        <p14:section name="Display" id="{61D4BC7C-1FE9-49F0-BAC2-84376D44BF63}">
          <p14:sldIdLst>
            <p14:sldId id="658"/>
            <p14:sldId id="260"/>
            <p14:sldId id="659"/>
          </p14:sldIdLst>
        </p14:section>
        <p14:section name="Syntax errors" id="{E032A279-D7FC-4D87-9147-A544F59DD61E}">
          <p14:sldIdLst>
            <p14:sldId id="660"/>
            <p14:sldId id="661"/>
            <p14:sldId id="825"/>
          </p14:sldIdLst>
        </p14:section>
        <p14:section name="Data types" id="{51780C24-7719-42B9-A514-02339AAFE6FB}">
          <p14:sldIdLst>
            <p14:sldId id="383"/>
            <p14:sldId id="282"/>
            <p14:sldId id="738"/>
            <p14:sldId id="283"/>
            <p14:sldId id="739"/>
            <p14:sldId id="284"/>
            <p14:sldId id="740"/>
            <p14:sldId id="285"/>
            <p14:sldId id="741"/>
            <p14:sldId id="286"/>
            <p14:sldId id="742"/>
            <p14:sldId id="287"/>
            <p14:sldId id="323"/>
          </p14:sldIdLst>
        </p14:section>
        <p14:section name="Assignment" id="{AC7E2348-C7BA-4F01-B49C-81C14173C507}">
          <p14:sldIdLst>
            <p14:sldId id="264"/>
            <p14:sldId id="320"/>
            <p14:sldId id="382"/>
            <p14:sldId id="384"/>
            <p14:sldId id="385"/>
            <p14:sldId id="280"/>
            <p14:sldId id="281"/>
            <p14:sldId id="605"/>
            <p14:sldId id="616"/>
            <p14:sldId id="615"/>
            <p14:sldId id="617"/>
            <p14:sldId id="370"/>
            <p14:sldId id="754"/>
            <p14:sldId id="638"/>
            <p14:sldId id="755"/>
          </p14:sldIdLst>
        </p14:section>
        <p14:section name="Meaningful identifiers" id="{9927FD92-510E-4E59-8CFD-EB8E2450C868}">
          <p14:sldIdLst>
            <p14:sldId id="663"/>
            <p14:sldId id="265"/>
            <p14:sldId id="626"/>
            <p14:sldId id="266"/>
            <p14:sldId id="625"/>
          </p14:sldIdLst>
        </p14:section>
        <p14:section name="Arithmetic" id="{1214522F-CD4D-40E3-AD37-8C4BC7C7F7E2}">
          <p14:sldIdLst>
            <p14:sldId id="542"/>
            <p14:sldId id="296"/>
            <p14:sldId id="544"/>
          </p14:sldIdLst>
        </p14:section>
        <p14:section name="Execution errors" id="{5903B3A8-68D8-43B5-BB9E-1A6D69530BC2}">
          <p14:sldIdLst>
            <p14:sldId id="664"/>
            <p14:sldId id="665"/>
            <p14:sldId id="667"/>
          </p14:sldIdLst>
        </p14:section>
        <p14:section name="Functions" id="{BFBB0AED-3E39-4C84-BFB8-9612A95540D3}">
          <p14:sldIdLst>
            <p14:sldId id="823"/>
            <p14:sldId id="826"/>
            <p14:sldId id="827"/>
            <p14:sldId id="535"/>
            <p14:sldId id="840"/>
            <p14:sldId id="839"/>
            <p14:sldId id="470"/>
            <p14:sldId id="824"/>
            <p14:sldId id="828"/>
          </p14:sldIdLst>
        </p14:section>
        <p14:section name="Round" id="{E017A670-FFA2-43EA-8353-8A44B70A55B4}">
          <p14:sldIdLst>
            <p14:sldId id="772"/>
            <p14:sldId id="781"/>
            <p14:sldId id="782"/>
            <p14:sldId id="784"/>
            <p14:sldId id="785"/>
            <p14:sldId id="815"/>
            <p14:sldId id="816"/>
          </p14:sldIdLst>
        </p14:section>
        <p14:section name="Concatenate - Strings" id="{E8559E69-4575-4183-B75B-6483E13034B8}">
          <p14:sldIdLst>
            <p14:sldId id="267"/>
            <p14:sldId id="288"/>
            <p14:sldId id="289"/>
            <p14:sldId id="290"/>
            <p14:sldId id="619"/>
            <p14:sldId id="291"/>
            <p14:sldId id="322"/>
          </p14:sldIdLst>
        </p14:section>
        <p14:section name="Cast to a string" id="{51A4EDD3-6F00-45A6-8B7F-E24A04830D53}">
          <p14:sldIdLst>
            <p14:sldId id="844"/>
            <p14:sldId id="512"/>
            <p14:sldId id="516"/>
            <p14:sldId id="514"/>
            <p14:sldId id="515"/>
            <p14:sldId id="620"/>
            <p14:sldId id="621"/>
          </p14:sldIdLst>
        </p14:section>
        <p14:section name="User input" id="{ADC58B8B-3142-4814-A7C6-D7A8CEC5CBBF}">
          <p14:sldIdLst>
            <p14:sldId id="268"/>
            <p14:sldId id="529"/>
            <p14:sldId id="531"/>
            <p14:sldId id="259"/>
            <p14:sldId id="300"/>
            <p14:sldId id="608"/>
            <p14:sldId id="609"/>
          </p14:sldIdLst>
        </p14:section>
        <p14:section name="Casting to a number" id="{926EB746-ADDB-4B49-97E4-D66823A64267}">
          <p14:sldIdLst>
            <p14:sldId id="843"/>
            <p14:sldId id="517"/>
            <p14:sldId id="518"/>
            <p14:sldId id="519"/>
            <p14:sldId id="524"/>
            <p14:sldId id="520"/>
            <p14:sldId id="521"/>
            <p14:sldId id="522"/>
            <p14:sldId id="523"/>
            <p14:sldId id="532"/>
            <p14:sldId id="533"/>
            <p14:sldId id="534"/>
            <p14:sldId id="545"/>
            <p14:sldId id="371"/>
            <p14:sldId id="607"/>
          </p14:sldIdLst>
        </p14:section>
        <p14:section name="Debugging 1" id="{C9089AF2-6D56-423A-814E-BA099C5C9F9F}">
          <p14:sldIdLst>
            <p14:sldId id="410"/>
          </p14:sldIdLst>
        </p14:section>
        <p14:section name="Readability 1" id="{80F25DB9-90BE-4EC4-9339-96FA884E1615}">
          <p14:sldIdLst>
            <p14:sldId id="764"/>
            <p14:sldId id="411"/>
            <p14:sldId id="413"/>
            <p14:sldId id="412"/>
            <p14:sldId id="606"/>
          </p14:sldIdLst>
        </p14:section>
        <p14:section name="Program layout" id="{D38FD29E-9983-4FBA-AA9C-C1A5AC5BFE9E}">
          <p14:sldIdLst>
            <p14:sldId id="845"/>
            <p14:sldId id="846"/>
          </p14:sldIdLst>
        </p14:section>
        <p14:section name="Fixed loop 1" id="{8D9CA22F-4B86-4299-9530-C871352FFF89}">
          <p14:sldIdLst>
            <p14:sldId id="269"/>
            <p14:sldId id="737"/>
            <p14:sldId id="855"/>
            <p14:sldId id="856"/>
            <p14:sldId id="858"/>
            <p14:sldId id="857"/>
            <p14:sldId id="859"/>
          </p14:sldIdLst>
        </p14:section>
        <p14:section name="Readability 2" id="{80DD841E-C216-46FC-B169-9FB118F4619E}">
          <p14:sldIdLst>
            <p14:sldId id="758"/>
            <p14:sldId id="759"/>
            <p14:sldId id="760"/>
          </p14:sldIdLst>
        </p14:section>
        <p14:section name="Running total 1" id="{E76D1E1A-4061-40E5-8313-5CFD391A9B39}">
          <p14:sldIdLst>
            <p14:sldId id="276"/>
            <p14:sldId id="381"/>
            <p14:sldId id="766"/>
          </p14:sldIdLst>
        </p14:section>
        <p14:section name="Comparison operators" id="{502AF4AC-A2CA-43AB-B340-03419F3112F5}">
          <p14:sldIdLst>
            <p14:sldId id="271"/>
            <p14:sldId id="311"/>
            <p14:sldId id="312"/>
            <p14:sldId id="313"/>
            <p14:sldId id="427"/>
            <p14:sldId id="316"/>
            <p14:sldId id="642"/>
          </p14:sldIdLst>
        </p14:section>
        <p14:section name="Selection - if" id="{23B890E6-00E8-435C-932B-6DC621F1AE2B}">
          <p14:sldIdLst>
            <p14:sldId id="318"/>
            <p14:sldId id="442"/>
            <p14:sldId id="451"/>
            <p14:sldId id="452"/>
            <p14:sldId id="874"/>
            <p14:sldId id="875"/>
          </p14:sldIdLst>
        </p14:section>
        <p14:section name="Selection - else" id="{87A7B68C-ACAA-43CB-B4C4-3E68A4DF2C4E}">
          <p14:sldIdLst>
            <p14:sldId id="878"/>
            <p14:sldId id="443"/>
            <p14:sldId id="453"/>
            <p14:sldId id="669"/>
            <p14:sldId id="876"/>
            <p14:sldId id="877"/>
          </p14:sldIdLst>
        </p14:section>
        <p14:section name="Selection - Nested if" id="{4D827472-D1E5-4549-9AE0-C44092901E09}">
          <p14:sldIdLst>
            <p14:sldId id="879"/>
            <p14:sldId id="863"/>
            <p14:sldId id="867"/>
            <p14:sldId id="688"/>
            <p14:sldId id="871"/>
          </p14:sldIdLst>
        </p14:section>
        <p14:section name="Length - String" id="{D3701108-E0EF-4A9B-8DEA-829965B7AC15}">
          <p14:sldIdLst>
            <p14:sldId id="786"/>
            <p14:sldId id="773"/>
            <p14:sldId id="774"/>
            <p14:sldId id="775"/>
            <p14:sldId id="776"/>
          </p14:sldIdLst>
        </p14:section>
        <p14:section name="Selection - elif" id="{6F72A299-1E16-4A1A-B7EA-E33790AB6F41}">
          <p14:sldIdLst>
            <p14:sldId id="880"/>
            <p14:sldId id="685"/>
            <p14:sldId id="868"/>
            <p14:sldId id="872"/>
            <p14:sldId id="873"/>
            <p14:sldId id="881"/>
          </p14:sldIdLst>
        </p14:section>
        <p14:section name="Logical operators" id="{561ACB5A-F170-4C94-9A15-53AE68C559F1}">
          <p14:sldIdLst>
            <p14:sldId id="272"/>
            <p14:sldId id="343"/>
            <p14:sldId id="352"/>
            <p14:sldId id="349"/>
            <p14:sldId id="671"/>
            <p14:sldId id="340"/>
            <p14:sldId id="351"/>
            <p14:sldId id="348"/>
            <p14:sldId id="670"/>
            <p14:sldId id="346"/>
            <p14:sldId id="353"/>
            <p14:sldId id="350"/>
            <p14:sldId id="672"/>
          </p14:sldIdLst>
        </p14:section>
        <p14:section name="Selection - Complex" id="{10100EB6-A3F1-4651-95C5-C3C37EF55B27}">
          <p14:sldIdLst>
            <p14:sldId id="319"/>
            <p14:sldId id="589"/>
            <p14:sldId id="884"/>
            <p14:sldId id="883"/>
            <p14:sldId id="677"/>
            <p14:sldId id="592"/>
            <p14:sldId id="882"/>
          </p14:sldIdLst>
        </p14:section>
        <p14:section name="Efficient selection" id="{F5BD28ED-1011-40F4-A2F9-084B4DF3CCAF}">
          <p14:sldIdLst>
            <p14:sldId id="430"/>
            <p14:sldId id="622"/>
            <p14:sldId id="767"/>
            <p14:sldId id="327"/>
            <p14:sldId id="429"/>
            <p14:sldId id="437"/>
            <p14:sldId id="768"/>
            <p14:sldId id="594"/>
          </p14:sldIdLst>
        </p14:section>
        <p14:section name="Random" id="{AB33E1CE-C8A1-4BEC-99B5-6A27F6298ACD}">
          <p14:sldIdLst>
            <p14:sldId id="275"/>
            <p14:sldId id="473"/>
            <p14:sldId id="563"/>
            <p14:sldId id="474"/>
            <p14:sldId id="652"/>
            <p14:sldId id="655"/>
          </p14:sldIdLst>
        </p14:section>
        <p14:section name="Testing - normal" id="{2663D83E-C05C-44E1-A363-C04F2DEFB54B}">
          <p14:sldIdLst>
            <p14:sldId id="402"/>
            <p14:sldId id="571"/>
            <p14:sldId id="572"/>
            <p14:sldId id="564"/>
            <p14:sldId id="566"/>
            <p14:sldId id="404"/>
            <p14:sldId id="405"/>
          </p14:sldIdLst>
        </p14:section>
        <p14:section name="Testing - Extreme 1" id="{84316217-DE4B-4C3C-A4BE-C8DE44862DAE}">
          <p14:sldIdLst>
            <p14:sldId id="391"/>
            <p14:sldId id="567"/>
            <p14:sldId id="885"/>
            <p14:sldId id="393"/>
            <p14:sldId id="394"/>
          </p14:sldIdLst>
        </p14:section>
        <p14:section name="Testing - Random" id="{B53A5A28-8189-4647-8F53-925E15674DD6}">
          <p14:sldIdLst>
            <p14:sldId id="817"/>
            <p14:sldId id="818"/>
          </p14:sldIdLst>
        </p14:section>
        <p14:section name="Selection - while" id="{07A810B4-6CAE-4FBF-A5A6-B3BBD9C7C056}">
          <p14:sldIdLst>
            <p14:sldId id="270"/>
            <p14:sldId id="363"/>
            <p14:sldId id="367"/>
            <p14:sldId id="362"/>
            <p14:sldId id="682"/>
            <p14:sldId id="763"/>
          </p14:sldIdLst>
        </p14:section>
        <p14:section name="Input validation" id="{A769AF5A-7466-4756-B97E-427C1719D541}">
          <p14:sldIdLst>
            <p14:sldId id="274"/>
            <p14:sldId id="365"/>
            <p14:sldId id="678"/>
            <p14:sldId id="691"/>
            <p14:sldId id="769"/>
            <p14:sldId id="770"/>
            <p14:sldId id="690"/>
            <p14:sldId id="680"/>
            <p14:sldId id="679"/>
            <p14:sldId id="681"/>
            <p14:sldId id="684"/>
            <p14:sldId id="595"/>
            <p14:sldId id="683"/>
          </p14:sldIdLst>
        </p14:section>
        <p14:section name="Testing - Extreme 2" id="{EF7AEE41-0FC3-41E3-92A5-7A0A51E2B383}">
          <p14:sldIdLst>
            <p14:sldId id="673"/>
            <p14:sldId id="674"/>
            <p14:sldId id="675"/>
          </p14:sldIdLst>
        </p14:section>
        <p14:section name="Running total 2" id="{7434FE26-9E16-424B-817B-CD20F08C3E21}">
          <p14:sldIdLst>
            <p14:sldId id="458"/>
            <p14:sldId id="459"/>
            <p14:sldId id="481"/>
            <p14:sldId id="796"/>
          </p14:sldIdLst>
        </p14:section>
        <p14:section name="Testing - exceptional" id="{386F86A6-D32D-4AFA-8187-8C0443DBF24C}">
          <p14:sldIdLst>
            <p14:sldId id="406"/>
            <p14:sldId id="644"/>
            <p14:sldId id="771"/>
            <p14:sldId id="612"/>
            <p14:sldId id="613"/>
            <p14:sldId id="820"/>
            <p14:sldId id="821"/>
          </p14:sldIdLst>
        </p14:section>
        <p14:section name="Arrays" id="{1CC24082-6A83-49E7-A175-C316E5F18DFD}">
          <p14:sldIdLst>
            <p14:sldId id="273"/>
            <p14:sldId id="354"/>
            <p14:sldId id="356"/>
            <p14:sldId id="805"/>
            <p14:sldId id="258"/>
            <p14:sldId id="357"/>
            <p14:sldId id="358"/>
            <p14:sldId id="647"/>
            <p14:sldId id="629"/>
            <p14:sldId id="636"/>
            <p14:sldId id="361"/>
            <p14:sldId id="637"/>
            <p14:sldId id="797"/>
          </p14:sldIdLst>
        </p14:section>
        <p14:section name="Length - Array" id="{E306E784-EBA3-419B-B259-3CB9770C343F}">
          <p14:sldIdLst>
            <p14:sldId id="787"/>
            <p14:sldId id="792"/>
            <p14:sldId id="793"/>
            <p14:sldId id="794"/>
            <p14:sldId id="795"/>
          </p14:sldIdLst>
        </p14:section>
        <p14:section name="Traversing 1-D array" id="{302B0B0A-4E2E-462B-99AF-144F1E5430B9}">
          <p14:sldIdLst>
            <p14:sldId id="277"/>
            <p14:sldId id="434"/>
            <p14:sldId id="648"/>
            <p14:sldId id="380"/>
            <p14:sldId id="689"/>
            <p14:sldId id="455"/>
            <p14:sldId id="649"/>
          </p14:sldIdLst>
        </p14:section>
        <p14:section name="Test data summary" id="{4D1B4333-BFD5-4508-BD9E-7323B1FB1AAA}">
          <p14:sldIdLst>
            <p14:sldId id="439"/>
            <p14:sldId id="440"/>
          </p14:sldIdLst>
        </p14:section>
        <p14:section name="Year 2 Intro" id="{6965EF3A-1AAE-4DA4-AF49-93CA267C9281}">
          <p14:sldIdLst>
            <p14:sldId id="461"/>
            <p14:sldId id="743"/>
            <p14:sldId id="729"/>
            <p14:sldId id="819"/>
          </p14:sldIdLst>
        </p14:section>
        <p14:section name="Development" id="{24D8D50E-5EBE-4989-A7F2-B6DE88C26050}">
          <p14:sldIdLst>
            <p14:sldId id="490"/>
            <p14:sldId id="487"/>
            <p14:sldId id="744"/>
            <p14:sldId id="745"/>
            <p14:sldId id="482"/>
            <p14:sldId id="483"/>
            <p14:sldId id="752"/>
            <p14:sldId id="753"/>
            <p14:sldId id="484"/>
            <p14:sldId id="489"/>
            <p14:sldId id="748"/>
            <p14:sldId id="749"/>
          </p14:sldIdLst>
        </p14:section>
        <p14:section name="Analysis" id="{6D6D1729-990E-4C42-8EE1-4AC994C03D0B}">
          <p14:sldIdLst>
            <p14:sldId id="492"/>
            <p14:sldId id="493"/>
            <p14:sldId id="525"/>
            <p14:sldId id="526"/>
            <p14:sldId id="507"/>
            <p14:sldId id="751"/>
          </p14:sldIdLst>
        </p14:section>
        <p14:section name="Design" id="{2E0C8EC8-2672-4957-A9DA-5C14D4009499}">
          <p14:sldIdLst>
            <p14:sldId id="494"/>
            <p14:sldId id="495"/>
          </p14:sldIdLst>
        </p14:section>
        <p14:section name="Structure diagrams" id="{87A8BE3B-AA4E-4E70-B605-C97903EEC575}">
          <p14:sldIdLst>
            <p14:sldId id="496"/>
            <p14:sldId id="548"/>
            <p14:sldId id="549"/>
            <p14:sldId id="420"/>
            <p14:sldId id="550"/>
            <p14:sldId id="554"/>
            <p14:sldId id="557"/>
            <p14:sldId id="551"/>
            <p14:sldId id="862"/>
            <p14:sldId id="861"/>
            <p14:sldId id="556"/>
          </p14:sldIdLst>
        </p14:section>
        <p14:section name="Flowcharts" id="{53254EEF-F2AD-4A1D-92F1-1AA01C8A7DB5}">
          <p14:sldIdLst>
            <p14:sldId id="552"/>
            <p14:sldId id="419"/>
            <p14:sldId id="558"/>
            <p14:sldId id="559"/>
            <p14:sldId id="561"/>
            <p14:sldId id="560"/>
            <p14:sldId id="562"/>
            <p14:sldId id="579"/>
            <p14:sldId id="831"/>
            <p14:sldId id="581"/>
            <p14:sldId id="832"/>
            <p14:sldId id="580"/>
            <p14:sldId id="833"/>
            <p14:sldId id="585"/>
            <p14:sldId id="834"/>
            <p14:sldId id="822"/>
            <p14:sldId id="837"/>
          </p14:sldIdLst>
        </p14:section>
        <p14:section name="Psuedocode" id="{D6695B65-25F3-401F-94AB-383629BB4F9D}">
          <p14:sldIdLst>
            <p14:sldId id="553"/>
            <p14:sldId id="418"/>
            <p14:sldId id="654"/>
            <p14:sldId id="586"/>
            <p14:sldId id="632"/>
          </p14:sldIdLst>
        </p14:section>
        <p14:section name="UI" id="{649B6B0C-967C-4368-BE3E-2BDE4E40D6B0}">
          <p14:sldIdLst>
            <p14:sldId id="500"/>
            <p14:sldId id="565"/>
            <p14:sldId id="634"/>
            <p14:sldId id="587"/>
            <p14:sldId id="657"/>
            <p14:sldId id="838"/>
          </p14:sldIdLst>
        </p14:section>
        <p14:section name="Evaluation" id="{57F9B6F5-27CC-415C-97AC-589CF53FC82E}">
          <p14:sldIdLst>
            <p14:sldId id="503"/>
            <p14:sldId id="504"/>
            <p14:sldId id="798"/>
            <p14:sldId id="808"/>
            <p14:sldId id="803"/>
            <p14:sldId id="809"/>
            <p14:sldId id="804"/>
            <p14:sldId id="810"/>
            <p14:sldId id="802"/>
            <p14:sldId id="811"/>
            <p14:sldId id="841"/>
            <p14:sldId id="842"/>
            <p14:sldId id="799"/>
            <p14:sldId id="812"/>
            <p14:sldId id="800"/>
            <p14:sldId id="813"/>
            <p14:sldId id="801"/>
            <p14:sldId id="814"/>
          </p14:sldIdLst>
        </p14:section>
        <p14:section name="Internal commentary 2" id="{CBA0CC72-2D40-4AF8-9A1E-1F67A1CC30FD}">
          <p14:sldIdLst>
            <p14:sldId id="860"/>
            <p14:sldId id="806"/>
            <p14:sldId id="807"/>
          </p14:sldIdLst>
        </p14:section>
        <p14:section name="Fxed loop 2" id="{CBC31685-3044-4267-8198-D5DC304E5F81}">
          <p14:sldIdLst>
            <p14:sldId id="847"/>
            <p14:sldId id="848"/>
            <p14:sldId id="849"/>
            <p14:sldId id="850"/>
            <p14:sldId id="851"/>
            <p14:sldId id="852"/>
            <p14:sldId id="853"/>
            <p14:sldId id="854"/>
          </p14:sldIdLst>
        </p14:section>
        <p14:section name="Concatenate - Arrays" id="{33E9A2F1-B63C-4044-9E91-F2413C7752F3}">
          <p14:sldIdLst>
            <p14:sldId id="731"/>
            <p14:sldId id="732"/>
            <p14:sldId id="734"/>
            <p14:sldId id="733"/>
            <p14:sldId id="73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48235"/>
    <a:srgbClr val="B2B2B2"/>
    <a:srgbClr val="0086B3"/>
    <a:srgbClr val="183691"/>
    <a:srgbClr val="4472C4"/>
    <a:srgbClr val="2F528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8D04E8F-FD3E-46C4-9182-B61FAA3AC01E}" v="120" dt="2025-11-06T20:15:28.01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73" autoAdjust="0"/>
    <p:restoredTop sz="82181" autoAdjust="0"/>
  </p:normalViewPr>
  <p:slideViewPr>
    <p:cSldViewPr snapToGrid="0" showGuides="1">
      <p:cViewPr varScale="1">
        <p:scale>
          <a:sx n="55" d="100"/>
          <a:sy n="55" d="100"/>
        </p:scale>
        <p:origin x="260" y="3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99" Type="http://schemas.openxmlformats.org/officeDocument/2006/relationships/slide" Target="slides/slide298.xml"/><Relationship Id="rId21" Type="http://schemas.openxmlformats.org/officeDocument/2006/relationships/slide" Target="slides/slide20.xml"/><Relationship Id="rId63" Type="http://schemas.openxmlformats.org/officeDocument/2006/relationships/slide" Target="slides/slide62.xml"/><Relationship Id="rId159" Type="http://schemas.openxmlformats.org/officeDocument/2006/relationships/slide" Target="slides/slide158.xml"/><Relationship Id="rId324" Type="http://schemas.openxmlformats.org/officeDocument/2006/relationships/slide" Target="slides/slide323.xml"/><Relationship Id="rId366" Type="http://schemas.openxmlformats.org/officeDocument/2006/relationships/slide" Target="slides/slide365.xml"/><Relationship Id="rId170" Type="http://schemas.openxmlformats.org/officeDocument/2006/relationships/slide" Target="slides/slide169.xml"/><Relationship Id="rId226" Type="http://schemas.openxmlformats.org/officeDocument/2006/relationships/slide" Target="slides/slide225.xml"/><Relationship Id="rId268" Type="http://schemas.openxmlformats.org/officeDocument/2006/relationships/slide" Target="slides/slide267.xml"/><Relationship Id="rId32" Type="http://schemas.openxmlformats.org/officeDocument/2006/relationships/slide" Target="slides/slide31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335" Type="http://schemas.openxmlformats.org/officeDocument/2006/relationships/slide" Target="slides/slide334.xml"/><Relationship Id="rId5" Type="http://schemas.openxmlformats.org/officeDocument/2006/relationships/slide" Target="slides/slide4.xml"/><Relationship Id="rId181" Type="http://schemas.openxmlformats.org/officeDocument/2006/relationships/slide" Target="slides/slide180.xml"/><Relationship Id="rId237" Type="http://schemas.openxmlformats.org/officeDocument/2006/relationships/slide" Target="slides/slide236.xml"/><Relationship Id="rId279" Type="http://schemas.openxmlformats.org/officeDocument/2006/relationships/slide" Target="slides/slide278.xml"/><Relationship Id="rId43" Type="http://schemas.openxmlformats.org/officeDocument/2006/relationships/slide" Target="slides/slide42.xml"/><Relationship Id="rId139" Type="http://schemas.openxmlformats.org/officeDocument/2006/relationships/slide" Target="slides/slide138.xml"/><Relationship Id="rId290" Type="http://schemas.openxmlformats.org/officeDocument/2006/relationships/slide" Target="slides/slide289.xml"/><Relationship Id="rId304" Type="http://schemas.openxmlformats.org/officeDocument/2006/relationships/slide" Target="slides/slide303.xml"/><Relationship Id="rId346" Type="http://schemas.openxmlformats.org/officeDocument/2006/relationships/slide" Target="slides/slide345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48" Type="http://schemas.openxmlformats.org/officeDocument/2006/relationships/slide" Target="slides/slide247.xml"/><Relationship Id="rId12" Type="http://schemas.openxmlformats.org/officeDocument/2006/relationships/slide" Target="slides/slide11.xml"/><Relationship Id="rId108" Type="http://schemas.openxmlformats.org/officeDocument/2006/relationships/slide" Target="slides/slide107.xml"/><Relationship Id="rId315" Type="http://schemas.openxmlformats.org/officeDocument/2006/relationships/slide" Target="slides/slide314.xml"/><Relationship Id="rId357" Type="http://schemas.openxmlformats.org/officeDocument/2006/relationships/slide" Target="slides/slide356.xml"/><Relationship Id="rId54" Type="http://schemas.openxmlformats.org/officeDocument/2006/relationships/slide" Target="slides/slide53.xml"/><Relationship Id="rId96" Type="http://schemas.openxmlformats.org/officeDocument/2006/relationships/slide" Target="slides/slide95.xml"/><Relationship Id="rId161" Type="http://schemas.openxmlformats.org/officeDocument/2006/relationships/slide" Target="slides/slide160.xml"/><Relationship Id="rId217" Type="http://schemas.openxmlformats.org/officeDocument/2006/relationships/slide" Target="slides/slide216.xml"/><Relationship Id="rId259" Type="http://schemas.openxmlformats.org/officeDocument/2006/relationships/slide" Target="slides/slide258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270" Type="http://schemas.openxmlformats.org/officeDocument/2006/relationships/slide" Target="slides/slide269.xml"/><Relationship Id="rId326" Type="http://schemas.openxmlformats.org/officeDocument/2006/relationships/slide" Target="slides/slide325.xml"/><Relationship Id="rId65" Type="http://schemas.openxmlformats.org/officeDocument/2006/relationships/slide" Target="slides/slide64.xml"/><Relationship Id="rId130" Type="http://schemas.openxmlformats.org/officeDocument/2006/relationships/slide" Target="slides/slide129.xml"/><Relationship Id="rId368" Type="http://schemas.openxmlformats.org/officeDocument/2006/relationships/notesMaster" Target="notesMasters/notesMaster1.xml"/><Relationship Id="rId172" Type="http://schemas.openxmlformats.org/officeDocument/2006/relationships/slide" Target="slides/slide171.xml"/><Relationship Id="rId228" Type="http://schemas.openxmlformats.org/officeDocument/2006/relationships/slide" Target="slides/slide227.xml"/><Relationship Id="rId281" Type="http://schemas.openxmlformats.org/officeDocument/2006/relationships/slide" Target="slides/slide280.xml"/><Relationship Id="rId337" Type="http://schemas.openxmlformats.org/officeDocument/2006/relationships/slide" Target="slides/slide336.xml"/><Relationship Id="rId34" Type="http://schemas.openxmlformats.org/officeDocument/2006/relationships/slide" Target="slides/slide33.xml"/><Relationship Id="rId76" Type="http://schemas.openxmlformats.org/officeDocument/2006/relationships/slide" Target="slides/slide75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83" Type="http://schemas.openxmlformats.org/officeDocument/2006/relationships/slide" Target="slides/slide182.xml"/><Relationship Id="rId239" Type="http://schemas.openxmlformats.org/officeDocument/2006/relationships/slide" Target="slides/slide238.xml"/><Relationship Id="rId250" Type="http://schemas.openxmlformats.org/officeDocument/2006/relationships/slide" Target="slides/slide249.xml"/><Relationship Id="rId292" Type="http://schemas.openxmlformats.org/officeDocument/2006/relationships/slide" Target="slides/slide291.xml"/><Relationship Id="rId306" Type="http://schemas.openxmlformats.org/officeDocument/2006/relationships/slide" Target="slides/slide305.xml"/><Relationship Id="rId45" Type="http://schemas.openxmlformats.org/officeDocument/2006/relationships/slide" Target="slides/slide44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348" Type="http://schemas.openxmlformats.org/officeDocument/2006/relationships/slide" Target="slides/slide347.xml"/><Relationship Id="rId152" Type="http://schemas.openxmlformats.org/officeDocument/2006/relationships/slide" Target="slides/slide151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61" Type="http://schemas.openxmlformats.org/officeDocument/2006/relationships/slide" Target="slides/slide260.xml"/><Relationship Id="rId14" Type="http://schemas.openxmlformats.org/officeDocument/2006/relationships/slide" Target="slides/slide13.xml"/><Relationship Id="rId56" Type="http://schemas.openxmlformats.org/officeDocument/2006/relationships/slide" Target="slides/slide55.xml"/><Relationship Id="rId317" Type="http://schemas.openxmlformats.org/officeDocument/2006/relationships/slide" Target="slides/slide316.xml"/><Relationship Id="rId359" Type="http://schemas.openxmlformats.org/officeDocument/2006/relationships/slide" Target="slides/slide358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63" Type="http://schemas.openxmlformats.org/officeDocument/2006/relationships/slide" Target="slides/slide162.xml"/><Relationship Id="rId219" Type="http://schemas.openxmlformats.org/officeDocument/2006/relationships/slide" Target="slides/slide218.xml"/><Relationship Id="rId370" Type="http://schemas.openxmlformats.org/officeDocument/2006/relationships/presProps" Target="presProps.xml"/><Relationship Id="rId230" Type="http://schemas.openxmlformats.org/officeDocument/2006/relationships/slide" Target="slides/slide229.xml"/><Relationship Id="rId25" Type="http://schemas.openxmlformats.org/officeDocument/2006/relationships/slide" Target="slides/slide24.xml"/><Relationship Id="rId67" Type="http://schemas.openxmlformats.org/officeDocument/2006/relationships/slide" Target="slides/slide66.xml"/><Relationship Id="rId272" Type="http://schemas.openxmlformats.org/officeDocument/2006/relationships/slide" Target="slides/slide271.xml"/><Relationship Id="rId328" Type="http://schemas.openxmlformats.org/officeDocument/2006/relationships/slide" Target="slides/slide327.xml"/><Relationship Id="rId132" Type="http://schemas.openxmlformats.org/officeDocument/2006/relationships/slide" Target="slides/slide131.xml"/><Relationship Id="rId174" Type="http://schemas.openxmlformats.org/officeDocument/2006/relationships/slide" Target="slides/slide173.xml"/><Relationship Id="rId241" Type="http://schemas.openxmlformats.org/officeDocument/2006/relationships/slide" Target="slides/slide240.xml"/><Relationship Id="rId36" Type="http://schemas.openxmlformats.org/officeDocument/2006/relationships/slide" Target="slides/slide35.xml"/><Relationship Id="rId283" Type="http://schemas.openxmlformats.org/officeDocument/2006/relationships/slide" Target="slides/slide282.xml"/><Relationship Id="rId339" Type="http://schemas.openxmlformats.org/officeDocument/2006/relationships/slide" Target="slides/slide338.xml"/><Relationship Id="rId78" Type="http://schemas.openxmlformats.org/officeDocument/2006/relationships/slide" Target="slides/slide77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64" Type="http://schemas.openxmlformats.org/officeDocument/2006/relationships/slide" Target="slides/slide163.xml"/><Relationship Id="rId185" Type="http://schemas.openxmlformats.org/officeDocument/2006/relationships/slide" Target="slides/slide184.xml"/><Relationship Id="rId350" Type="http://schemas.openxmlformats.org/officeDocument/2006/relationships/slide" Target="slides/slide349.xml"/><Relationship Id="rId371" Type="http://schemas.openxmlformats.org/officeDocument/2006/relationships/viewProps" Target="viewProps.xml"/><Relationship Id="rId9" Type="http://schemas.openxmlformats.org/officeDocument/2006/relationships/slide" Target="slides/slide8.xml"/><Relationship Id="rId210" Type="http://schemas.openxmlformats.org/officeDocument/2006/relationships/slide" Target="slides/slide209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252" Type="http://schemas.openxmlformats.org/officeDocument/2006/relationships/slide" Target="slides/slide251.xml"/><Relationship Id="rId273" Type="http://schemas.openxmlformats.org/officeDocument/2006/relationships/slide" Target="slides/slide272.xml"/><Relationship Id="rId294" Type="http://schemas.openxmlformats.org/officeDocument/2006/relationships/slide" Target="slides/slide293.xml"/><Relationship Id="rId308" Type="http://schemas.openxmlformats.org/officeDocument/2006/relationships/slide" Target="slides/slide307.xml"/><Relationship Id="rId329" Type="http://schemas.openxmlformats.org/officeDocument/2006/relationships/slide" Target="slides/slide328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340" Type="http://schemas.openxmlformats.org/officeDocument/2006/relationships/slide" Target="slides/slide339.xml"/><Relationship Id="rId361" Type="http://schemas.openxmlformats.org/officeDocument/2006/relationships/slide" Target="slides/slide360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242" Type="http://schemas.openxmlformats.org/officeDocument/2006/relationships/slide" Target="slides/slide241.xml"/><Relationship Id="rId263" Type="http://schemas.openxmlformats.org/officeDocument/2006/relationships/slide" Target="slides/slide262.xml"/><Relationship Id="rId284" Type="http://schemas.openxmlformats.org/officeDocument/2006/relationships/slide" Target="slides/slide283.xml"/><Relationship Id="rId319" Type="http://schemas.openxmlformats.org/officeDocument/2006/relationships/slide" Target="slides/slide318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330" Type="http://schemas.openxmlformats.org/officeDocument/2006/relationships/slide" Target="slides/slide329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351" Type="http://schemas.openxmlformats.org/officeDocument/2006/relationships/slide" Target="slides/slide350.xml"/><Relationship Id="rId372" Type="http://schemas.openxmlformats.org/officeDocument/2006/relationships/theme" Target="theme/theme1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53" Type="http://schemas.openxmlformats.org/officeDocument/2006/relationships/slide" Target="slides/slide252.xml"/><Relationship Id="rId274" Type="http://schemas.openxmlformats.org/officeDocument/2006/relationships/slide" Target="slides/slide273.xml"/><Relationship Id="rId295" Type="http://schemas.openxmlformats.org/officeDocument/2006/relationships/slide" Target="slides/slide294.xml"/><Relationship Id="rId309" Type="http://schemas.openxmlformats.org/officeDocument/2006/relationships/slide" Target="slides/slide308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320" Type="http://schemas.openxmlformats.org/officeDocument/2006/relationships/slide" Target="slides/slide319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341" Type="http://schemas.openxmlformats.org/officeDocument/2006/relationships/slide" Target="slides/slide340.xml"/><Relationship Id="rId362" Type="http://schemas.openxmlformats.org/officeDocument/2006/relationships/slide" Target="slides/slide361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243" Type="http://schemas.openxmlformats.org/officeDocument/2006/relationships/slide" Target="slides/slide242.xml"/><Relationship Id="rId264" Type="http://schemas.openxmlformats.org/officeDocument/2006/relationships/slide" Target="slides/slide263.xml"/><Relationship Id="rId285" Type="http://schemas.openxmlformats.org/officeDocument/2006/relationships/slide" Target="slides/slide284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310" Type="http://schemas.openxmlformats.org/officeDocument/2006/relationships/slide" Target="slides/slide309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331" Type="http://schemas.openxmlformats.org/officeDocument/2006/relationships/slide" Target="slides/slide330.xml"/><Relationship Id="rId352" Type="http://schemas.openxmlformats.org/officeDocument/2006/relationships/slide" Target="slides/slide351.xml"/><Relationship Id="rId373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54" Type="http://schemas.openxmlformats.org/officeDocument/2006/relationships/slide" Target="slides/slide253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275" Type="http://schemas.openxmlformats.org/officeDocument/2006/relationships/slide" Target="slides/slide274.xml"/><Relationship Id="rId296" Type="http://schemas.openxmlformats.org/officeDocument/2006/relationships/slide" Target="slides/slide295.xml"/><Relationship Id="rId300" Type="http://schemas.openxmlformats.org/officeDocument/2006/relationships/slide" Target="slides/slide299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321" Type="http://schemas.openxmlformats.org/officeDocument/2006/relationships/slide" Target="slides/slide320.xml"/><Relationship Id="rId342" Type="http://schemas.openxmlformats.org/officeDocument/2006/relationships/slide" Target="slides/slide341.xml"/><Relationship Id="rId363" Type="http://schemas.openxmlformats.org/officeDocument/2006/relationships/slide" Target="slides/slide362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244" Type="http://schemas.openxmlformats.org/officeDocument/2006/relationships/slide" Target="slides/slide243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265" Type="http://schemas.openxmlformats.org/officeDocument/2006/relationships/slide" Target="slides/slide264.xml"/><Relationship Id="rId286" Type="http://schemas.openxmlformats.org/officeDocument/2006/relationships/slide" Target="slides/slide285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311" Type="http://schemas.openxmlformats.org/officeDocument/2006/relationships/slide" Target="slides/slide310.xml"/><Relationship Id="rId332" Type="http://schemas.openxmlformats.org/officeDocument/2006/relationships/slide" Target="slides/slide331.xml"/><Relationship Id="rId353" Type="http://schemas.openxmlformats.org/officeDocument/2006/relationships/slide" Target="slides/slide352.xml"/><Relationship Id="rId374" Type="http://schemas.microsoft.com/office/2015/10/relationships/revisionInfo" Target="revisionInfo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55" Type="http://schemas.openxmlformats.org/officeDocument/2006/relationships/slide" Target="slides/slide254.xml"/><Relationship Id="rId276" Type="http://schemas.openxmlformats.org/officeDocument/2006/relationships/slide" Target="slides/slide275.xml"/><Relationship Id="rId297" Type="http://schemas.openxmlformats.org/officeDocument/2006/relationships/slide" Target="slides/slide296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301" Type="http://schemas.openxmlformats.org/officeDocument/2006/relationships/slide" Target="slides/slide300.xml"/><Relationship Id="rId322" Type="http://schemas.openxmlformats.org/officeDocument/2006/relationships/slide" Target="slides/slide321.xml"/><Relationship Id="rId343" Type="http://schemas.openxmlformats.org/officeDocument/2006/relationships/slide" Target="slides/slide342.xml"/><Relationship Id="rId364" Type="http://schemas.openxmlformats.org/officeDocument/2006/relationships/slide" Target="slides/slide363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245" Type="http://schemas.openxmlformats.org/officeDocument/2006/relationships/slide" Target="slides/slide244.xml"/><Relationship Id="rId266" Type="http://schemas.openxmlformats.org/officeDocument/2006/relationships/slide" Target="slides/slide265.xml"/><Relationship Id="rId287" Type="http://schemas.openxmlformats.org/officeDocument/2006/relationships/slide" Target="slides/slide286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312" Type="http://schemas.openxmlformats.org/officeDocument/2006/relationships/slide" Target="slides/slide311.xml"/><Relationship Id="rId333" Type="http://schemas.openxmlformats.org/officeDocument/2006/relationships/slide" Target="slides/slide332.xml"/><Relationship Id="rId354" Type="http://schemas.openxmlformats.org/officeDocument/2006/relationships/slide" Target="slides/slide353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slide" Target="slides/slide234.xml"/><Relationship Id="rId256" Type="http://schemas.openxmlformats.org/officeDocument/2006/relationships/slide" Target="slides/slide255.xml"/><Relationship Id="rId277" Type="http://schemas.openxmlformats.org/officeDocument/2006/relationships/slide" Target="slides/slide276.xml"/><Relationship Id="rId298" Type="http://schemas.openxmlformats.org/officeDocument/2006/relationships/slide" Target="slides/slide297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302" Type="http://schemas.openxmlformats.org/officeDocument/2006/relationships/slide" Target="slides/slide301.xml"/><Relationship Id="rId323" Type="http://schemas.openxmlformats.org/officeDocument/2006/relationships/slide" Target="slides/slide322.xml"/><Relationship Id="rId344" Type="http://schemas.openxmlformats.org/officeDocument/2006/relationships/slide" Target="slides/slide343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Relationship Id="rId365" Type="http://schemas.openxmlformats.org/officeDocument/2006/relationships/slide" Target="slides/slide364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5" Type="http://schemas.openxmlformats.org/officeDocument/2006/relationships/slide" Target="slides/slide224.xml"/><Relationship Id="rId246" Type="http://schemas.openxmlformats.org/officeDocument/2006/relationships/slide" Target="slides/slide245.xml"/><Relationship Id="rId267" Type="http://schemas.openxmlformats.org/officeDocument/2006/relationships/slide" Target="slides/slide266.xml"/><Relationship Id="rId288" Type="http://schemas.openxmlformats.org/officeDocument/2006/relationships/slide" Target="slides/slide287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313" Type="http://schemas.openxmlformats.org/officeDocument/2006/relationships/slide" Target="slides/slide312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94" Type="http://schemas.openxmlformats.org/officeDocument/2006/relationships/slide" Target="slides/slide93.xml"/><Relationship Id="rId148" Type="http://schemas.openxmlformats.org/officeDocument/2006/relationships/slide" Target="slides/slide147.xml"/><Relationship Id="rId169" Type="http://schemas.openxmlformats.org/officeDocument/2006/relationships/slide" Target="slides/slide168.xml"/><Relationship Id="rId334" Type="http://schemas.openxmlformats.org/officeDocument/2006/relationships/slide" Target="slides/slide333.xml"/><Relationship Id="rId355" Type="http://schemas.openxmlformats.org/officeDocument/2006/relationships/slide" Target="slides/slide354.xml"/><Relationship Id="rId4" Type="http://schemas.openxmlformats.org/officeDocument/2006/relationships/slide" Target="slides/slide3.xml"/><Relationship Id="rId180" Type="http://schemas.openxmlformats.org/officeDocument/2006/relationships/slide" Target="slides/slide179.xml"/><Relationship Id="rId215" Type="http://schemas.openxmlformats.org/officeDocument/2006/relationships/slide" Target="slides/slide214.xml"/><Relationship Id="rId236" Type="http://schemas.openxmlformats.org/officeDocument/2006/relationships/slide" Target="slides/slide235.xml"/><Relationship Id="rId257" Type="http://schemas.openxmlformats.org/officeDocument/2006/relationships/slide" Target="slides/slide256.xml"/><Relationship Id="rId278" Type="http://schemas.openxmlformats.org/officeDocument/2006/relationships/slide" Target="slides/slide277.xml"/><Relationship Id="rId303" Type="http://schemas.openxmlformats.org/officeDocument/2006/relationships/slide" Target="slides/slide302.xml"/><Relationship Id="rId42" Type="http://schemas.openxmlformats.org/officeDocument/2006/relationships/slide" Target="slides/slide41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345" Type="http://schemas.openxmlformats.org/officeDocument/2006/relationships/slide" Target="slides/slide344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47" Type="http://schemas.openxmlformats.org/officeDocument/2006/relationships/slide" Target="slides/slide246.xml"/><Relationship Id="rId107" Type="http://schemas.openxmlformats.org/officeDocument/2006/relationships/slide" Target="slides/slide106.xml"/><Relationship Id="rId289" Type="http://schemas.openxmlformats.org/officeDocument/2006/relationships/slide" Target="slides/slide288.xml"/><Relationship Id="rId11" Type="http://schemas.openxmlformats.org/officeDocument/2006/relationships/slide" Target="slides/slide10.xml"/><Relationship Id="rId53" Type="http://schemas.openxmlformats.org/officeDocument/2006/relationships/slide" Target="slides/slide52.xml"/><Relationship Id="rId149" Type="http://schemas.openxmlformats.org/officeDocument/2006/relationships/slide" Target="slides/slide148.xml"/><Relationship Id="rId314" Type="http://schemas.openxmlformats.org/officeDocument/2006/relationships/slide" Target="slides/slide313.xml"/><Relationship Id="rId356" Type="http://schemas.openxmlformats.org/officeDocument/2006/relationships/slide" Target="slides/slide355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16" Type="http://schemas.openxmlformats.org/officeDocument/2006/relationships/slide" Target="slides/slide215.xml"/><Relationship Id="rId258" Type="http://schemas.openxmlformats.org/officeDocument/2006/relationships/slide" Target="slides/slide257.xml"/><Relationship Id="rId22" Type="http://schemas.openxmlformats.org/officeDocument/2006/relationships/slide" Target="slides/slide21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325" Type="http://schemas.openxmlformats.org/officeDocument/2006/relationships/slide" Target="slides/slide324.xml"/><Relationship Id="rId367" Type="http://schemas.openxmlformats.org/officeDocument/2006/relationships/slide" Target="slides/slide366.xml"/><Relationship Id="rId171" Type="http://schemas.openxmlformats.org/officeDocument/2006/relationships/slide" Target="slides/slide170.xml"/><Relationship Id="rId227" Type="http://schemas.openxmlformats.org/officeDocument/2006/relationships/slide" Target="slides/slide226.xml"/><Relationship Id="rId269" Type="http://schemas.openxmlformats.org/officeDocument/2006/relationships/slide" Target="slides/slide268.xml"/><Relationship Id="rId33" Type="http://schemas.openxmlformats.org/officeDocument/2006/relationships/slide" Target="slides/slide32.xml"/><Relationship Id="rId129" Type="http://schemas.openxmlformats.org/officeDocument/2006/relationships/slide" Target="slides/slide128.xml"/><Relationship Id="rId280" Type="http://schemas.openxmlformats.org/officeDocument/2006/relationships/slide" Target="slides/slide279.xml"/><Relationship Id="rId336" Type="http://schemas.openxmlformats.org/officeDocument/2006/relationships/slide" Target="slides/slide335.xml"/><Relationship Id="rId75" Type="http://schemas.openxmlformats.org/officeDocument/2006/relationships/slide" Target="slides/slide74.xml"/><Relationship Id="rId140" Type="http://schemas.openxmlformats.org/officeDocument/2006/relationships/slide" Target="slides/slide139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291" Type="http://schemas.openxmlformats.org/officeDocument/2006/relationships/slide" Target="slides/slide290.xml"/><Relationship Id="rId305" Type="http://schemas.openxmlformats.org/officeDocument/2006/relationships/slide" Target="slides/slide304.xml"/><Relationship Id="rId347" Type="http://schemas.openxmlformats.org/officeDocument/2006/relationships/slide" Target="slides/slide346.xml"/><Relationship Id="rId44" Type="http://schemas.openxmlformats.org/officeDocument/2006/relationships/slide" Target="slides/slide43.xml"/><Relationship Id="rId86" Type="http://schemas.openxmlformats.org/officeDocument/2006/relationships/slide" Target="slides/slide85.xml"/><Relationship Id="rId151" Type="http://schemas.openxmlformats.org/officeDocument/2006/relationships/slide" Target="slides/slide150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49" Type="http://schemas.openxmlformats.org/officeDocument/2006/relationships/slide" Target="slides/slide248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260" Type="http://schemas.openxmlformats.org/officeDocument/2006/relationships/slide" Target="slides/slide259.xml"/><Relationship Id="rId316" Type="http://schemas.openxmlformats.org/officeDocument/2006/relationships/slide" Target="slides/slide315.xml"/><Relationship Id="rId55" Type="http://schemas.openxmlformats.org/officeDocument/2006/relationships/slide" Target="slides/slide54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358" Type="http://schemas.openxmlformats.org/officeDocument/2006/relationships/slide" Target="slides/slide357.xml"/><Relationship Id="rId162" Type="http://schemas.openxmlformats.org/officeDocument/2006/relationships/slide" Target="slides/slide161.xml"/><Relationship Id="rId218" Type="http://schemas.openxmlformats.org/officeDocument/2006/relationships/slide" Target="slides/slide217.xml"/><Relationship Id="rId271" Type="http://schemas.openxmlformats.org/officeDocument/2006/relationships/slide" Target="slides/slide270.xml"/><Relationship Id="rId24" Type="http://schemas.openxmlformats.org/officeDocument/2006/relationships/slide" Target="slides/slide23.xml"/><Relationship Id="rId66" Type="http://schemas.openxmlformats.org/officeDocument/2006/relationships/slide" Target="slides/slide65.xml"/><Relationship Id="rId131" Type="http://schemas.openxmlformats.org/officeDocument/2006/relationships/slide" Target="slides/slide130.xml"/><Relationship Id="rId327" Type="http://schemas.openxmlformats.org/officeDocument/2006/relationships/slide" Target="slides/slide326.xml"/><Relationship Id="rId369" Type="http://schemas.openxmlformats.org/officeDocument/2006/relationships/commentAuthors" Target="commentAuthors.xml"/><Relationship Id="rId173" Type="http://schemas.openxmlformats.org/officeDocument/2006/relationships/slide" Target="slides/slide172.xml"/><Relationship Id="rId229" Type="http://schemas.openxmlformats.org/officeDocument/2006/relationships/slide" Target="slides/slide228.xml"/><Relationship Id="rId240" Type="http://schemas.openxmlformats.org/officeDocument/2006/relationships/slide" Target="slides/slide239.xml"/><Relationship Id="rId35" Type="http://schemas.openxmlformats.org/officeDocument/2006/relationships/slide" Target="slides/slide34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282" Type="http://schemas.openxmlformats.org/officeDocument/2006/relationships/slide" Target="slides/slide281.xml"/><Relationship Id="rId338" Type="http://schemas.openxmlformats.org/officeDocument/2006/relationships/slide" Target="slides/slide337.xml"/><Relationship Id="rId8" Type="http://schemas.openxmlformats.org/officeDocument/2006/relationships/slide" Target="slides/slide7.xml"/><Relationship Id="rId142" Type="http://schemas.openxmlformats.org/officeDocument/2006/relationships/slide" Target="slides/slide141.xml"/><Relationship Id="rId184" Type="http://schemas.openxmlformats.org/officeDocument/2006/relationships/slide" Target="slides/slide183.xml"/><Relationship Id="rId251" Type="http://schemas.openxmlformats.org/officeDocument/2006/relationships/slide" Target="slides/slide250.xml"/><Relationship Id="rId46" Type="http://schemas.openxmlformats.org/officeDocument/2006/relationships/slide" Target="slides/slide45.xml"/><Relationship Id="rId293" Type="http://schemas.openxmlformats.org/officeDocument/2006/relationships/slide" Target="slides/slide292.xml"/><Relationship Id="rId307" Type="http://schemas.openxmlformats.org/officeDocument/2006/relationships/slide" Target="slides/slide306.xml"/><Relationship Id="rId349" Type="http://schemas.openxmlformats.org/officeDocument/2006/relationships/slide" Target="slides/slide348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3" Type="http://schemas.openxmlformats.org/officeDocument/2006/relationships/slide" Target="slides/slide152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360" Type="http://schemas.openxmlformats.org/officeDocument/2006/relationships/slide" Target="slides/slide359.xml"/><Relationship Id="rId220" Type="http://schemas.openxmlformats.org/officeDocument/2006/relationships/slide" Target="slides/slide219.xml"/><Relationship Id="rId15" Type="http://schemas.openxmlformats.org/officeDocument/2006/relationships/slide" Target="slides/slide14.xml"/><Relationship Id="rId57" Type="http://schemas.openxmlformats.org/officeDocument/2006/relationships/slide" Target="slides/slide56.xml"/><Relationship Id="rId262" Type="http://schemas.openxmlformats.org/officeDocument/2006/relationships/slide" Target="slides/slide261.xml"/><Relationship Id="rId318" Type="http://schemas.openxmlformats.org/officeDocument/2006/relationships/slide" Target="slides/slide31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9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 custT="1"/>
      <dgm:spPr/>
      <dgm:t>
        <a:bodyPr/>
        <a:lstStyle/>
        <a:p>
          <a:r>
            <a:rPr lang="en-US" sz="2400" dirty="0"/>
            <a:t>WDD</a:t>
          </a:r>
          <a:endParaRPr lang="en-US" sz="900" dirty="0"/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dirty="0"/>
            <a:t>C/Sys</a:t>
          </a:r>
          <a:endParaRPr lang="en-US" b="1" dirty="0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4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89371C0B-1BC9-410A-A890-27274727CC89}" type="pres">
      <dgm:prSet presAssocID="{4A3955F4-B1A6-4812-98ED-2D6D02D94E35}" presName="composite" presStyleCnt="0"/>
      <dgm:spPr/>
    </dgm:pt>
    <dgm:pt modelId="{FC3BC805-9B18-48D9-A4F4-4BE17D54A28E}" type="pres">
      <dgm:prSet presAssocID="{4A3955F4-B1A6-4812-98ED-2D6D02D94E35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DEB3B5C2-DCC9-444C-A40C-E0CEA06D8FF2}" type="pres">
      <dgm:prSet presAssocID="{4A3955F4-B1A6-4812-98ED-2D6D02D94E35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4A3955F4-B1A6-4812-98ED-2D6D02D94E35}" destId="{E2BA0B41-F146-425E-9754-1E81B83EDF8B}" srcOrd="0" destOrd="0" parTransId="{09E005FD-F987-4EBD-9D26-CE4C06669AB5}" sibTransId="{017B98FE-F345-4459-B767-E6B696310854}"/>
    <dgm:cxn modelId="{E1577B58-8BFA-4B02-9737-EE277E89C7A2}" type="presOf" srcId="{E2BA0B41-F146-425E-9754-1E81B83EDF8B}" destId="{DEB3B5C2-DCC9-444C-A40C-E0CEA06D8FF2}" srcOrd="0" destOrd="0" presId="urn:microsoft.com/office/officeart/2005/8/layout/chevron2"/>
    <dgm:cxn modelId="{7E5A0596-4D16-4207-B5F3-C2FD778C5412}" srcId="{AADFB80D-C2E8-416C-B522-D5F6D93F18D7}" destId="{4A3955F4-B1A6-4812-98ED-2D6D02D94E35}" srcOrd="3" destOrd="0" parTransId="{1EF809BA-BB9B-41F6-9A35-2C78CE3A0913}" sibTransId="{10EB35A1-EA5F-40EF-95CA-BDAB4D957484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597912EF-E408-4BB7-9C85-9F209D456791}" type="presOf" srcId="{4A3955F4-B1A6-4812-98ED-2D6D02D94E35}" destId="{FC3BC805-9B18-48D9-A4F4-4BE17D54A28E}" srcOrd="0" destOrd="0" presId="urn:microsoft.com/office/officeart/2005/8/layout/chevron2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AA8B150E-49B0-4E4E-A524-3300C932E6C9}" type="presParOf" srcId="{7EBBDEE6-A55E-47FA-9020-5BC46200AFFC}" destId="{89371C0B-1BC9-410A-A890-27274727CC89}" srcOrd="6" destOrd="0" presId="urn:microsoft.com/office/officeart/2005/8/layout/chevron2"/>
    <dgm:cxn modelId="{69626FD0-CF2C-4646-BB72-23A5794E309F}" type="presParOf" srcId="{89371C0B-1BC9-410A-A890-27274727CC89}" destId="{FC3BC805-9B18-48D9-A4F4-4BE17D54A28E}" srcOrd="0" destOrd="0" presId="urn:microsoft.com/office/officeart/2005/8/layout/chevron2"/>
    <dgm:cxn modelId="{A5FF9F77-DE54-40D0-9805-1272A2C4D196}" type="presParOf" srcId="{89371C0B-1BC9-410A-A890-27274727CC89}" destId="{DEB3B5C2-DCC9-444C-A40C-E0CEA06D8FF2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Assignment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⅓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Exam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⅔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572" y="182011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900" kern="1200" dirty="0"/>
        </a:p>
      </dsp:txBody>
      <dsp:txXfrm rot="-5400000">
        <a:off x="1" y="421441"/>
        <a:ext cx="838003" cy="359144"/>
      </dsp:txXfrm>
    </dsp:sp>
    <dsp:sp modelId="{19C32B8D-512E-49A1-A0E6-109384C61E4D}">
      <dsp:nvSpPr>
        <dsp:cNvPr id="0" name=""/>
        <dsp:cNvSpPr/>
      </dsp:nvSpPr>
      <dsp:spPr>
        <a:xfrm rot="5400000">
          <a:off x="4083564" y="-3243121"/>
          <a:ext cx="77855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838004" y="40445"/>
        <a:ext cx="7231670" cy="702543"/>
      </dsp:txXfrm>
    </dsp:sp>
    <dsp:sp modelId="{AAD30B60-88C6-4919-B6DD-9F480459E84E}">
      <dsp:nvSpPr>
        <dsp:cNvPr id="0" name=""/>
        <dsp:cNvSpPr/>
      </dsp:nvSpPr>
      <dsp:spPr>
        <a:xfrm rot="5400000">
          <a:off x="-179572" y="123178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900" kern="1200" dirty="0"/>
        </a:p>
      </dsp:txBody>
      <dsp:txXfrm rot="-5400000">
        <a:off x="1" y="1471212"/>
        <a:ext cx="838003" cy="359144"/>
      </dsp:txXfrm>
    </dsp:sp>
    <dsp:sp modelId="{0DFDFC6D-8604-4378-B6A3-6A6720006C95}">
      <dsp:nvSpPr>
        <dsp:cNvPr id="0" name=""/>
        <dsp:cNvSpPr/>
      </dsp:nvSpPr>
      <dsp:spPr>
        <a:xfrm rot="5400000">
          <a:off x="4083768" y="-219355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838003" y="1090196"/>
        <a:ext cx="7231690" cy="702173"/>
      </dsp:txXfrm>
    </dsp:sp>
    <dsp:sp modelId="{3451A250-69C4-4911-A975-CCB8D5F6053B}">
      <dsp:nvSpPr>
        <dsp:cNvPr id="0" name=""/>
        <dsp:cNvSpPr/>
      </dsp:nvSpPr>
      <dsp:spPr>
        <a:xfrm rot="5400000">
          <a:off x="-179572" y="228155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WDD</a:t>
          </a:r>
          <a:endParaRPr lang="en-US" sz="900" kern="1200" dirty="0"/>
        </a:p>
      </dsp:txBody>
      <dsp:txXfrm rot="-5400000">
        <a:off x="1" y="2520982"/>
        <a:ext cx="838003" cy="359144"/>
      </dsp:txXfrm>
    </dsp:sp>
    <dsp:sp modelId="{56AFEC8A-7D45-4965-A718-64DE087BA59E}">
      <dsp:nvSpPr>
        <dsp:cNvPr id="0" name=""/>
        <dsp:cNvSpPr/>
      </dsp:nvSpPr>
      <dsp:spPr>
        <a:xfrm rot="5400000">
          <a:off x="4083768" y="-114378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838003" y="2139966"/>
        <a:ext cx="7231690" cy="702173"/>
      </dsp:txXfrm>
    </dsp:sp>
    <dsp:sp modelId="{FC3BC805-9B18-48D9-A4F4-4BE17D54A28E}">
      <dsp:nvSpPr>
        <dsp:cNvPr id="0" name=""/>
        <dsp:cNvSpPr/>
      </dsp:nvSpPr>
      <dsp:spPr>
        <a:xfrm rot="5400000">
          <a:off x="-179572" y="333132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  <a:endParaRPr lang="en-US" sz="2300" b="1" kern="1200" dirty="0"/>
        </a:p>
      </dsp:txBody>
      <dsp:txXfrm rot="-5400000">
        <a:off x="1" y="3570752"/>
        <a:ext cx="838003" cy="359144"/>
      </dsp:txXfrm>
    </dsp:sp>
    <dsp:sp modelId="{DEB3B5C2-DCC9-444C-A40C-E0CEA06D8FF2}">
      <dsp:nvSpPr>
        <dsp:cNvPr id="0" name=""/>
        <dsp:cNvSpPr/>
      </dsp:nvSpPr>
      <dsp:spPr>
        <a:xfrm rot="5400000">
          <a:off x="4083768" y="-94014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838003" y="3189737"/>
        <a:ext cx="7231690" cy="7021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Assignment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⅓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Exam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⅔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3414471"/>
        <a:ext cx="7402540" cy="56522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3414471"/>
        <a:ext cx="7402540" cy="5652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07/11/2025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5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8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9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3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6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5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1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2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3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4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5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6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7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8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9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0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1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2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3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4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6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9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2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3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4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6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0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1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2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4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9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0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1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2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3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4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5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6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7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8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9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0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1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2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3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4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5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6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7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8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9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0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1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2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5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6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7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8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9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0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1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5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6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7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8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9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0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1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2.xml"/><Relationship Id="rId1" Type="http://schemas.openxmlformats.org/officeDocument/2006/relationships/notesMaster" Target="../notesMasters/notesMaster1.xml"/></Relationships>
</file>

<file path=ppt/notesSlides/_rels/notesSlide2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3.xml"/><Relationship Id="rId1" Type="http://schemas.openxmlformats.org/officeDocument/2006/relationships/notesMaster" Target="../notesMasters/notesMaster1.xml"/></Relationships>
</file>

<file path=ppt/notesSlides/_rels/notesSlide2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4.xml"/><Relationship Id="rId1" Type="http://schemas.openxmlformats.org/officeDocument/2006/relationships/notesMaster" Target="../notesMasters/notesMaster1.xml"/></Relationships>
</file>

<file path=ppt/notesSlides/_rels/notesSlide2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5.xml"/><Relationship Id="rId1" Type="http://schemas.openxmlformats.org/officeDocument/2006/relationships/notesMaster" Target="../notesMasters/notesMaster1.xml"/></Relationships>
</file>

<file path=ppt/notesSlides/_rels/notesSlide2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6.xml"/><Relationship Id="rId1" Type="http://schemas.openxmlformats.org/officeDocument/2006/relationships/notesMaster" Target="../notesMasters/notesMaster1.xml"/></Relationships>
</file>

<file path=ppt/notesSlides/_rels/notesSlide2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7.xml"/><Relationship Id="rId1" Type="http://schemas.openxmlformats.org/officeDocument/2006/relationships/notesMaster" Target="../notesMasters/notesMaster1.xml"/></Relationships>
</file>

<file path=ppt/notesSlides/_rels/notesSlide2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8.xml"/><Relationship Id="rId1" Type="http://schemas.openxmlformats.org/officeDocument/2006/relationships/notesMaster" Target="../notesMasters/notesMaster1.xml"/></Relationships>
</file>

<file path=ppt/notesSlides/_rels/notesSlide2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9.xml"/><Relationship Id="rId1" Type="http://schemas.openxmlformats.org/officeDocument/2006/relationships/notesMaster" Target="../notesMasters/notesMaster1.xml"/></Relationships>
</file>

<file path=ppt/notesSlides/_rels/notesSlide2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0.xml"/><Relationship Id="rId1" Type="http://schemas.openxmlformats.org/officeDocument/2006/relationships/notesMaster" Target="../notesMasters/notesMaster1.xml"/></Relationships>
</file>

<file path=ppt/notesSlides/_rels/notesSlide2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2.xml"/><Relationship Id="rId1" Type="http://schemas.openxmlformats.org/officeDocument/2006/relationships/notesMaster" Target="../notesMasters/notesMaster1.xml"/></Relationships>
</file>

<file path=ppt/notesSlides/_rels/notesSlide2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3.xml"/><Relationship Id="rId1" Type="http://schemas.openxmlformats.org/officeDocument/2006/relationships/notesMaster" Target="../notesMasters/notesMaster1.xml"/></Relationships>
</file>

<file path=ppt/notesSlides/_rels/notesSlide2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4.xml"/><Relationship Id="rId1" Type="http://schemas.openxmlformats.org/officeDocument/2006/relationships/notesMaster" Target="../notesMasters/notesMaster1.xml"/></Relationships>
</file>

<file path=ppt/notesSlides/_rels/notesSlide2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5.xml"/><Relationship Id="rId1" Type="http://schemas.openxmlformats.org/officeDocument/2006/relationships/notesMaster" Target="../notesMasters/notesMaster1.xml"/></Relationships>
</file>

<file path=ppt/notesSlides/_rels/notesSlide2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6.xml"/><Relationship Id="rId1" Type="http://schemas.openxmlformats.org/officeDocument/2006/relationships/notesMaster" Target="../notesMasters/notesMaster1.xml"/></Relationships>
</file>

<file path=ppt/notesSlides/_rels/notesSlide2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7.xml"/><Relationship Id="rId1" Type="http://schemas.openxmlformats.org/officeDocument/2006/relationships/notesMaster" Target="../notesMasters/notesMaster1.xml"/></Relationships>
</file>

<file path=ppt/notesSlides/_rels/notesSlide2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8.xml"/><Relationship Id="rId1" Type="http://schemas.openxmlformats.org/officeDocument/2006/relationships/notesMaster" Target="../notesMasters/notesMaster1.xml"/></Relationships>
</file>

<file path=ppt/notesSlides/_rels/notesSlide2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9.xml"/><Relationship Id="rId1" Type="http://schemas.openxmlformats.org/officeDocument/2006/relationships/notesMaster" Target="../notesMasters/notesMaster1.xml"/></Relationships>
</file>

<file path=ppt/notesSlides/_rels/notesSlide2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0.xml"/><Relationship Id="rId1" Type="http://schemas.openxmlformats.org/officeDocument/2006/relationships/notesMaster" Target="../notesMasters/notesMaster1.xml"/></Relationships>
</file>

<file path=ppt/notesSlides/_rels/notesSlide2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1.xml"/><Relationship Id="rId1" Type="http://schemas.openxmlformats.org/officeDocument/2006/relationships/notesMaster" Target="../notesMasters/notesMaster1.xml"/></Relationships>
</file>

<file path=ppt/notesSlides/_rels/notesSlide2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2.xml"/><Relationship Id="rId1" Type="http://schemas.openxmlformats.org/officeDocument/2006/relationships/notesMaster" Target="../notesMasters/notesMaster1.xml"/></Relationships>
</file>

<file path=ppt/notesSlides/_rels/notesSlide2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3.xml"/><Relationship Id="rId1" Type="http://schemas.openxmlformats.org/officeDocument/2006/relationships/notesMaster" Target="../notesMasters/notesMaster1.xml"/></Relationships>
</file>

<file path=ppt/notesSlides/_rels/notesSlide2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4.xml"/><Relationship Id="rId1" Type="http://schemas.openxmlformats.org/officeDocument/2006/relationships/notesMaster" Target="../notesMasters/notesMaster1.xml"/></Relationships>
</file>

<file path=ppt/notesSlides/_rels/notesSlide2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5.xml"/><Relationship Id="rId1" Type="http://schemas.openxmlformats.org/officeDocument/2006/relationships/notesMaster" Target="../notesMasters/notesMaster1.xml"/></Relationships>
</file>

<file path=ppt/notesSlides/_rels/notesSlide2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5161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Hide as appropriate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Helps to tell the 'story' of what the program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1402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8105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49945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After this, internal commentary omitted from slides to save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02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2387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0849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CF691-3F40-5DA9-604A-2BCAF000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E6984-85A6-A8BD-B60F-20EF5DF7D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476DB-A4D9-837A-AB22-54283B601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D83E91-0BF8-BBA6-9E72-5C268B2BE4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022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4537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09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 dirty="0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08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1616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716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 single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378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468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46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005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8294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89227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but useful for clearing up misconceptions about variables</a:t>
            </a:r>
          </a:p>
          <a:p>
            <a:r>
              <a:rPr lang="en-GB" dirty="0"/>
              <a:t>When a variable is overwritten there is no history of the previous value – obliterated!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2956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70542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60434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4656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r>
              <a:rPr lang="en-GB" dirty="0"/>
              <a:t>Camel case – lower case with humps</a:t>
            </a:r>
          </a:p>
          <a:p>
            <a:pPr defTabSz="990661">
              <a:defRPr/>
            </a:pPr>
            <a:r>
              <a:rPr lang="en-GB" dirty="0"/>
              <a:t>Use</a:t>
            </a:r>
            <a:r>
              <a:rPr lang="en-GB" baseline="0" dirty="0"/>
              <a:t> singular for variable names</a:t>
            </a:r>
            <a:endParaRPr lang="en-GB" dirty="0"/>
          </a:p>
          <a:p>
            <a:r>
              <a:rPr lang="en-GB" dirty="0"/>
              <a:t>Uppercase letters used for constants:</a:t>
            </a:r>
            <a:r>
              <a:rPr lang="en-GB" baseline="0" dirty="0"/>
              <a:t> </a:t>
            </a:r>
            <a:r>
              <a:rPr lang="en-GB" dirty="0"/>
              <a:t>PI = 3·14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6407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1046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division always results in a real value</a:t>
            </a:r>
          </a:p>
          <a:p>
            <a:r>
              <a:rPr lang="en-GB" dirty="0"/>
              <a:t>Task.  Create variables &amp; display result: add = 3 + 7    print(add)    </a:t>
            </a:r>
            <a:r>
              <a:rPr lang="en-GB" dirty="0" err="1"/>
              <a:t>powerOf</a:t>
            </a:r>
            <a:r>
              <a:rPr lang="en-GB" dirty="0"/>
              <a:t> = 3**2    print(</a:t>
            </a:r>
            <a:r>
              <a:rPr lang="en-GB" dirty="0" err="1"/>
              <a:t>powerOf</a:t>
            </a:r>
            <a:r>
              <a:rPr lang="en-GB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4880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4768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6284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3315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85835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B1F00-4BC9-9ACE-310F-1F2521877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EBA38-5B34-A431-376D-8DC6EF9EA1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4C1B2-7B79-B1B1-B53A-2FA4EB49D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3B86E-82AC-F1AE-3C62-E7F4967113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128543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383ED-EBFA-7403-11AB-F36F73CDB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78619-DE66-111B-3C1B-C82F0BBF1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7C2598-53B5-EBAE-6C47-C9B6A49E5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2DCDF-AAFE-2E0C-0598-05C14C201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27630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D72E2-731E-A54C-A9EB-7E0C7AF3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3D74A-96D6-2F2E-F642-0587C6459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59AF-4E60-8247-BAE7-7CDFCE1D8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1D9DB-928F-3528-9633-0EDDDE3CF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594724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82433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99801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996392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0162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820975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58904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82661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565445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latin typeface="Consolas" panose="020B0609020204030204" pitchFamily="49" charset="0"/>
              </a:rPr>
              <a:t>Python rounds 0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 to the nearest even number: 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900705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Specific to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528785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06971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Humans join words together to make meaning / sense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67066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Using a computer, strings can be joined together to make meaning / sense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“Glues</a:t>
            </a:r>
            <a:r>
              <a:rPr lang="en-GB"/>
              <a:t>”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93812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Could </a:t>
            </a:r>
            <a:r>
              <a:rPr lang="en-GB" dirty="0"/>
              <a:t>add a space at the end of "Hello "</a:t>
            </a:r>
            <a:r>
              <a:rPr lang="en-GB" baseline="0" dirty="0"/>
              <a:t> or at the beginning of " world".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922317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81703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about other data types?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76288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50705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needed for </a:t>
            </a:r>
            <a:r>
              <a:rPr lang="en-GB" baseline="0" dirty="0" err="1"/>
              <a:t>concatention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430023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196931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Could add a space at the end of "Hello "</a:t>
            </a:r>
            <a:r>
              <a:rPr lang="en-GB" baseline="0" dirty="0"/>
              <a:t> or at the beginning of " world", but poor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335397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8273376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), str( )</a:t>
            </a:r>
          </a:p>
          <a:p>
            <a:r>
              <a:rPr lang="en-GB" baseline="0" dirty="0"/>
              <a:t>Could use eval</a:t>
            </a:r>
            <a:r>
              <a:rPr lang="en-GB" baseline="0"/>
              <a:t>( ) for numbers </a:t>
            </a:r>
            <a:r>
              <a:rPr lang="en-GB" baseline="0" dirty="0"/>
              <a:t>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176492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91870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76443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Computer</a:t>
            </a:r>
            <a:r>
              <a:rPr lang="en-GB" baseline="0"/>
              <a:t> waits for user input from the keyboard.  Whatever is entered is a string, no matter what it looks like, i.e. if the user enters 42 it is not a number but a string.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8018055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94849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https://whiteboard.fi/</a:t>
            </a:r>
          </a:p>
          <a:p>
            <a:pPr marL="0" indent="0">
              <a:buNone/>
            </a:pPr>
            <a:r>
              <a:rPr lang="en-GB" dirty="0"/>
              <a:t>1. Run through with strings : "Big" + "dog" = "</a:t>
            </a:r>
            <a:r>
              <a:rPr lang="en-GB" dirty="0" err="1"/>
              <a:t>Bigdog</a:t>
            </a:r>
            <a:r>
              <a:rPr lang="en-GB" dirty="0"/>
              <a:t>"</a:t>
            </a:r>
          </a:p>
          <a:p>
            <a:pPr marL="0" indent="0">
              <a:buNone/>
            </a:pPr>
            <a:r>
              <a:rPr lang="en-GB" dirty="0"/>
              <a:t>2. Run through with ‘integers’: "4" + "2" = "42"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195857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0075734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</a:t>
            </a:r>
          </a:p>
          <a:p>
            <a:r>
              <a:rPr lang="en-GB" baseline="0" dirty="0"/>
              <a:t>Could use eval( ) for numbers 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47422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957250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4290450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50255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251262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83697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640163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075868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Run through with integers: 4 + 2 =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18903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213070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????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3238918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Indentation covered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333310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is to store two values, add them together, and display</a:t>
            </a:r>
            <a:r>
              <a:rPr lang="en-GB" baseline="0" dirty="0"/>
              <a:t> the result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3252625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45098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3272467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618200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3: Input,  4: Process,  5</a:t>
            </a:r>
            <a:r>
              <a:rPr lang="en-GB"/>
              <a:t>: Output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1490872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726406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426340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60745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210546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479180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08972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16577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5974769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157986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2714783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570036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70478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3639044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06528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8438819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</a:t>
            </a:r>
            <a:r>
              <a:rPr lang="en-GB" dirty="0" err="1"/>
              <a:t>Thonny</a:t>
            </a:r>
            <a:r>
              <a:rPr lang="en-GB" dirty="0"/>
              <a:t> shell / console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220137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593428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8282957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883586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88C24-482E-D58D-CC10-E37277933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9C682-2F10-2647-170F-AD6B8BB39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5B881-60E4-9540-528B-88A4C5CBB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BF614-B1E6-C845-69FC-477559A8C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9538405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30A2-018F-FFEC-DB78-8F9A4457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39BE7D-EECA-A217-7F6F-AA39FBE2A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024C2-5804-FACB-D083-B50A0D70C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5638A-3880-0C90-37E7-87559D2AC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9622844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72849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77130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13873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9FF40-4696-E311-2741-84A5973A3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38084-D39A-C8C2-E5B0-2CD736E42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6E4F38-C989-88AA-F4D8-3B7E6D527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EC24-A5DF-2569-2870-D7D4AF6B1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715354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5FDE-58AF-C0D0-C1C9-07004866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97D39-3DF4-E337-718C-BF2F98826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62FD7-89F1-6A66-BAB3-231EA5DFB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8DBB4-B2D6-A2C2-E2BC-9233D84198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490847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6627959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EC70-28F4-6461-96D0-893DC5EC8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5AB5DF-73EE-BEDF-D166-F506710314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C1B468-FA24-EC4D-E2D5-C8AA50B04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AB090-3AA6-FCE7-D10F-9B7F250F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7901445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71620-E50A-0136-D82B-E047CC40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4375-BA74-144D-0D7F-702F705C9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B479D-67C8-4E82-3933-545AF6D26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3B8D4-3E3F-317B-B59C-E539A637C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581140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597779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9473C-9C4A-762E-F892-6CFD5CCDD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9628-1AB5-971E-1199-0EFE8CBA0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B69F68-8CC7-EB19-DA98-0B8FDCEC6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400B9-5FF3-A4C5-6DC0-1AA887C83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417587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4873966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152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4828357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153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1884775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194130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958269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58AFB-A3EE-DD4C-D1AD-BA29728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8E5CE-9FDA-72F8-9BB5-D19CC1C8F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873A4C-429E-BC88-8180-EE5A97229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0975-6AC9-2858-A49D-66C9AC4F20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150914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5596-CC3A-66CF-9A66-4C3CC42B4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AD5DE-0B88-18E8-379A-667CD82A4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FC613-B78E-8BC9-6718-C25CA54FC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925CD-9DFF-EC7A-2923-3638EE00E3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9187927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8FEB6-A2ED-FA4C-E9AD-86E3B4D4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7DF782-FC68-D321-86BE-A528301EC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6B11D-7F37-107F-320E-933E3BCF8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F8A60-6037-0D50-8549-0CD563F15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4081313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0-2 Too young, 3-4 Nursery, 5-11 Primary, 12-18 Secondary, 19+ Too old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121583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966490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False,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8967158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True,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3440580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No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290388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1443112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  <a:p>
            <a:pPr marL="0" indent="0">
              <a:buNone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451832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3825495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  <a:p>
            <a:pPr marL="0" indent="0">
              <a:buNone/>
            </a:pPr>
            <a:r>
              <a:rPr lang="en-GB" dirty="0"/>
              <a:t>Create test table then implement / Supersize with elif, else to shown failed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285167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2442604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Completely made-up criteria!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Design interface, create test table, implement,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298608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090777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326928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9716423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Inefficient: every condition is evaluated, every time</a:t>
            </a:r>
          </a:p>
          <a:p>
            <a:r>
              <a:rPr lang="en-GB" dirty="0"/>
              <a:t>Efficient: at first True condition selection terminates</a:t>
            </a:r>
          </a:p>
          <a:p>
            <a:r>
              <a:rPr lang="en-GB" dirty="0"/>
              <a:t>run through with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731773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094238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822388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037845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384103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561182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045382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Die – singular / Dice – plural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819375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337656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Syntax: Print("Hello)</a:t>
            </a:r>
          </a:p>
          <a:p>
            <a:r>
              <a:rPr lang="en-GB" dirty="0"/>
              <a:t>Execution: 2 + "2"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9138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9087539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Normal: 1-6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62400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4732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8615112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183645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237052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7979042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1115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8804350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197574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Only enter the loop when the condition is True.</a:t>
            </a:r>
          </a:p>
          <a:p>
            <a:r>
              <a:rPr lang="en-GB" dirty="0"/>
              <a:t>Only exit the loop when the condition is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6628927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984064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happens if &lt;age&gt; is 3, 5, 9 ?</a:t>
            </a:r>
          </a:p>
          <a:p>
            <a:r>
              <a:rPr lang="en-GB" dirty="0"/>
              <a:t>Condition can be complex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6271396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970423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369603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Simple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0109014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1629452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6628773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96339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778590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70016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6553450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Complex condition. Error message to be meaningful, i.e. better than "Invalid"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19353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881711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677512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766405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726215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7191559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8902793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4895075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Loops until condition is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9067050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288531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Exceptional – beyond the limits / not acceptable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090230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 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951839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Value of a die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439261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756260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a data type but a data 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4053943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3476453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598899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740886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731013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65095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2760420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7336143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08515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8200926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5304473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978288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4368866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79940782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7702256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215056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2764265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185707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1670906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1072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6181403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8029592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</a:t>
            </a:r>
            <a:r>
              <a:rPr lang="en-GB" baseline="0" dirty="0"/>
              <a:t>, 11, and -700 are rejected.</a:t>
            </a:r>
          </a:p>
          <a:p>
            <a:r>
              <a:rPr lang="en-GB" baseline="0" dirty="0"/>
              <a:t>"five" and 7.3 cause a runtime error as string / float values (outside the scope of N5 &amp; H).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148688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78325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cs typeface="Calibri"/>
              </a:rPr>
              <a:t>Prelim 1 about half way through DDD</a:t>
            </a:r>
          </a:p>
          <a:p>
            <a:r>
              <a:rPr lang="en-GB" dirty="0">
                <a:cs typeface="Calibri"/>
              </a:rPr>
              <a:t>Prelim 2 just before assignment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637940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778770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Hide as appropriate</a:t>
            </a:r>
            <a:endParaRPr lang="en-GB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8411544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6113248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2592105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739205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4394125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640685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2955702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doing something again (and again), usually to improve it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780059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177519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153530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0958103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943256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230666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563523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5833420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8088379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765303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383297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277386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65852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1672329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476258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651336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0956725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r>
              <a:rPr lang="en-GB" dirty="0"/>
              <a:t>Letters to ensure </a:t>
            </a:r>
            <a:r>
              <a:rPr lang="en-GB"/>
              <a:t>correct flow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0683777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7646500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4528580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346983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868077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225389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70609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401738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3265246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720620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296784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543226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390635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7874059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858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S4 pupils, not S3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5480127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741120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672344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</a:t>
            </a:r>
            <a:r>
              <a:rPr lang="en-GB" dirty="0" err="1"/>
              <a:t>Replit</a:t>
            </a:r>
            <a:r>
              <a:rPr lang="en-GB" dirty="0"/>
              <a:t> to implement text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127379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</a:t>
            </a:r>
            <a:r>
              <a:rPr lang="en-GB" dirty="0" err="1"/>
              <a:t>Replit</a:t>
            </a:r>
            <a:r>
              <a:rPr lang="en-GB" dirty="0"/>
              <a:t> to implement text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662260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4569273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168F-6589-3385-F67C-2273253F0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940522-A573-0085-DE48-CC2B2E4977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09BDA-8DF8-5133-1AE3-E8D08ED58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7DE95-4A03-C041-97DF-B8D4C0367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845016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4336098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7D175-BC7C-AD85-01B8-6363A32B5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BAA6FE-612B-383B-BA51-07691C0F6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57AF7-044C-1A97-8121-4711DA6A7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43ABA-A1E5-E564-DEB4-58C87350B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138357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370274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6A04-585A-13EA-9761-9592E1361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21CB9-BEA6-175D-92EC-9BA854F0A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B5E45-A14A-0B4F-6F0D-B6767A639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7B64D-4DB8-3570-3B1C-AEDA5B6C2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50347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2358020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EF494-AA9A-78F9-7934-1CE3D86A1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B322B-EEE3-49CD-2464-4D41CDF3BF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C4027B-9D89-7935-C5EE-68C25914C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2F0B3-FE6B-5FBD-E5A8-1FCC376B53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488996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  Works in Thonny.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618317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053357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6659435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AEB9F-1146-912C-46AE-544C1DC33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A5E04-5EDC-345A-EB04-08B79B0B9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1E89C-22DF-1D2B-8A25-2E3062E5E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C25B8-3E81-9BA9-6984-03B710AAA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72983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463063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958DB-CB8A-7B9E-47FE-2FA1B47AE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7C3E1-0520-86FA-27AB-C8BEF93CF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CBDCD7-CAC2-F330-5A33-2510A354F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445B3-8D0C-8289-E825-4C96FE566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4259718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4607622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7729851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829573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87875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2398604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172244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603904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Keywords:  for,  in</a:t>
            </a:r>
          </a:p>
          <a:p>
            <a:r>
              <a:rPr lang="en-GB"/>
              <a:t>Function:</a:t>
            </a:r>
            <a:r>
              <a:rPr lang="en-GB" baseline="0"/>
              <a:t> range( )</a:t>
            </a:r>
          </a:p>
          <a:p>
            <a:endParaRPr lang="en-GB"/>
          </a:p>
          <a:p>
            <a:r>
              <a:rPr lang="en-GB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4268198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97985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9252006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046088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85270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Super size: ask how many times to loop (limit 2-5), ask for character to concatenate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1744692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246950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 size: ask how many times to loop (limit 1-6), ask for dice value (1-6)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Super-super size: display average of dice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972381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45849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07/11/2025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07/11/2025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07/11/2025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07/11/2025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 sz="3200"/>
            </a:lvl1pPr>
            <a:lvl2pPr>
              <a:lnSpc>
                <a:spcPct val="100000"/>
              </a:lnSpc>
              <a:spcAft>
                <a:spcPts val="1200"/>
              </a:spcAft>
              <a:defRPr sz="2800"/>
            </a:lvl2pPr>
            <a:lvl3pPr>
              <a:lnSpc>
                <a:spcPct val="100000"/>
              </a:lnSpc>
              <a:spcAft>
                <a:spcPts val="1200"/>
              </a:spcAft>
              <a:defRPr sz="24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lnSpc>
                <a:spcPct val="100000"/>
              </a:lnSpc>
              <a:spcAft>
                <a:spcPts val="1200"/>
              </a:spcAft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07/11/2025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07/11/2025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07/11/2025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noProof="0" smtClean="0"/>
              <a:t>07/11/2025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4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7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4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4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4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4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4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5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5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5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5.xml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4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4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5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5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5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5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6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6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6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6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6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6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6.xml"/></Relationships>
</file>

<file path=ppt/slides/_rels/slide2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6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6.xml"/></Relationships>
</file>

<file path=ppt/slides/_rels/slide2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6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6.xml"/></Relationships>
</file>

<file path=ppt/slides/_rels/slide2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2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/Relationships>
</file>

<file path=ppt/slides/_rels/slide2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2.xml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2.xml"/></Relationships>
</file>

<file path=ppt/slides/_rels/slide2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2.xml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2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4.xml"/></Relationships>
</file>

<file path=ppt/slides/_rels/slide2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4.xml"/></Relationships>
</file>

<file path=ppt/slides/_rels/slide2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4.xml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6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6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6.xml"/></Relationships>
</file>

<file path=ppt/slides/_rels/slide2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6.xml"/></Relationships>
</file>

<file path=ppt/slides/_rels/slide2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2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2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2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2.xml"/></Relationships>
</file>

<file path=ppt/slides/_rels/slide2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6.xml"/></Relationships>
</file>

<file path=ppt/slides/_rels/slide2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.xml"/></Relationships>
</file>

<file path=ppt/slides/_rels/slide2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6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6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6.xml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2.xml"/></Relationships>
</file>

<file path=ppt/slides/_rels/slide2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2.xml"/></Relationships>
</file>

<file path=ppt/slides/_rels/slide2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/Relationships>
</file>

<file path=ppt/slides/_rels/slide2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/Relationships>
</file>

<file path=ppt/slides/_rels/slide2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2.xml"/></Relationships>
</file>

<file path=ppt/slides/_rels/slide2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2.xml"/></Relationships>
</file>

<file path=ppt/slides/_rels/slide2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2.xml"/></Relationships>
</file>

<file path=ppt/slides/_rels/slide2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2.xml"/></Relationships>
</file>

<file path=ppt/slides/_rels/slide2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2.xml"/></Relationships>
</file>

<file path=ppt/slides/_rels/slide27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7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5.xml"/></Relationships>
</file>

<file path=ppt/slides/_rels/slide2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5.xml"/></Relationships>
</file>

<file path=ppt/slides/_rels/slide2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3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6.xml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6.xml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6.xml"/></Relationships>
</file>

<file path=ppt/slides/_rels/slide2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6.xml"/></Relationships>
</file>

<file path=ppt/slides/_rels/slide2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6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3.xml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2.xml"/></Relationships>
</file>

<file path=ppt/slides/_rels/slide2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2.xml"/></Relationships>
</file>

<file path=ppt/slides/_rels/slide2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3.xml"/></Relationships>
</file>

<file path=ppt/slides/_rels/slide2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2.xml"/></Relationships>
</file>

<file path=ppt/slides/_rels/slide2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6.xml"/></Relationships>
</file>

<file path=ppt/slides/_rels/slide3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6.xml"/></Relationships>
</file>

<file path=ppt/slides/_rels/slide3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6.xml"/></Relationships>
</file>

<file path=ppt/slides/_rels/slide3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6.xml"/></Relationships>
</file>

<file path=ppt/slides/_rels/slide3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6.xml"/></Relationships>
</file>

<file path=ppt/slides/_rels/slide3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6.xml"/></Relationships>
</file>

<file path=ppt/slides/_rels/slide3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2.xml"/></Relationships>
</file>

<file path=ppt/slides/_rels/slide3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2.xml"/></Relationships>
</file>

<file path=ppt/slides/_rels/slide3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2.xml"/></Relationships>
</file>

<file path=ppt/slides/_rels/slide3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6.xml"/></Relationships>
</file>

<file path=ppt/slides/_rels/slide3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6.xml"/></Relationships>
</file>

<file path=ppt/slides/_rels/slide3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6.xml"/></Relationships>
</file>

<file path=ppt/slides/_rels/slide3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6.xml"/></Relationships>
</file>

<file path=ppt/slides/_rels/slide3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4.xml"/></Relationships>
</file>

<file path=ppt/slides/_rels/slide3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4.xml"/></Relationships>
</file>

<file path=ppt/slides/_rels/slide3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4.xml"/></Relationships>
</file>

<file path=ppt/slides/_rels/slide3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4.xml"/></Relationships>
</file>

<file path=ppt/slides/_rels/slide3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4.xml"/></Relationships>
</file>

<file path=ppt/slides/_rels/slide3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4.xml"/></Relationships>
</file>

<file path=ppt/slides/_rels/slide3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4.xml"/></Relationships>
</file>

<file path=ppt/slides/_rels/slide3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4.xml"/></Relationships>
</file>

<file path=ppt/slides/_rels/slide3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4.xml"/></Relationships>
</file>

<file path=ppt/slides/_rels/slide3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4.xml"/></Relationships>
</file>

<file path=ppt/slides/_rels/slide3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2.xml"/></Relationships>
</file>

<file path=ppt/slides/_rels/slide3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6.xml"/></Relationships>
</file>

<file path=ppt/slides/_rels/slide3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6.xml"/></Relationships>
</file>

<file path=ppt/slides/_rels/slide3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2.xml"/></Relationships>
</file>

<file path=ppt/slides/_rels/slide3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2.xml"/></Relationships>
</file>

<file path=ppt/slides/_rels/slide3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2.xml"/></Relationships>
</file>

<file path=ppt/slides/_rels/slide3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3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3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2.xml"/></Relationships>
</file>

<file path=ppt/slides/_rels/slide3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2.xml"/></Relationships>
</file>

<file path=ppt/slides/_rels/slide3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2.xml"/></Relationships>
</file>

<file path=ppt/slides/_rels/slide3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2.xml"/></Relationships>
</file>

<file path=ppt/slides/_rels/slide3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2.xml"/></Relationships>
</file>

<file path=ppt/slides/_rels/slide3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2.xml"/></Relationships>
</file>

<file path=ppt/slides/_rels/slide3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1.xml"/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2.xml"/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3.xml"/><Relationship Id="rId1" Type="http://schemas.openxmlformats.org/officeDocument/2006/relationships/slideLayout" Target="../slideLayouts/slideLayout2.xml"/></Relationships>
</file>

<file path=ppt/slides/_rels/slide3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4.xml"/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5.xml"/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6.xml"/><Relationship Id="rId1" Type="http://schemas.openxmlformats.org/officeDocument/2006/relationships/slideLayout" Target="../slideLayouts/slideLayout2.xml"/></Relationships>
</file>

<file path=ppt/slides/_rels/slide3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7.xml"/><Relationship Id="rId1" Type="http://schemas.openxmlformats.org/officeDocument/2006/relationships/slideLayout" Target="../slideLayouts/slideLayout2.xml"/></Relationships>
</file>

<file path=ppt/slides/_rels/slide3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8.xml"/><Relationship Id="rId1" Type="http://schemas.openxmlformats.org/officeDocument/2006/relationships/slideLayout" Target="../slideLayouts/slideLayout2.xml"/></Relationships>
</file>

<file path=ppt/slides/_rels/slide3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9.xml"/><Relationship Id="rId1" Type="http://schemas.openxmlformats.org/officeDocument/2006/relationships/slideLayout" Target="../slideLayouts/slideLayout2.xml"/></Relationships>
</file>

<file path=ppt/slides/_rels/slide3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0.xml"/><Relationship Id="rId1" Type="http://schemas.openxmlformats.org/officeDocument/2006/relationships/slideLayout" Target="../slideLayouts/slideLayout2.xml"/></Relationships>
</file>

<file path=ppt/slides/_rels/slide3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1.xml"/><Relationship Id="rId1" Type="http://schemas.openxmlformats.org/officeDocument/2006/relationships/slideLayout" Target="../slideLayouts/slideLayout2.xml"/></Relationships>
</file>

<file path=ppt/slides/_rels/slide3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2.xml"/><Relationship Id="rId1" Type="http://schemas.openxmlformats.org/officeDocument/2006/relationships/slideLayout" Target="../slideLayouts/slideLayout6.xml"/></Relationships>
</file>

<file path=ppt/slides/_rels/slide3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3.xml"/><Relationship Id="rId1" Type="http://schemas.openxmlformats.org/officeDocument/2006/relationships/slideLayout" Target="../slideLayouts/slideLayout6.xml"/></Relationships>
</file>

<file path=ppt/slides/_rels/slide3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4.xml"/><Relationship Id="rId1" Type="http://schemas.openxmlformats.org/officeDocument/2006/relationships/slideLayout" Target="../slideLayouts/slideLayout6.xml"/></Relationships>
</file>

<file path=ppt/slides/_rels/slide3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5.xml"/><Relationship Id="rId1" Type="http://schemas.openxmlformats.org/officeDocument/2006/relationships/slideLayout" Target="../slideLayouts/slideLayout6.xml"/></Relationships>
</file>

<file path=ppt/slides/_rels/slide3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6.xml"/><Relationship Id="rId1" Type="http://schemas.openxmlformats.org/officeDocument/2006/relationships/slideLayout" Target="../slideLayouts/slideLayout6.xml"/></Relationships>
</file>

<file path=ppt/slides/_rels/slide3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7.xml"/><Relationship Id="rId1" Type="http://schemas.openxmlformats.org/officeDocument/2006/relationships/slideLayout" Target="../slideLayouts/slideLayout6.xml"/></Relationships>
</file>

<file path=ppt/slides/_rels/slide3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8.xml"/><Relationship Id="rId1" Type="http://schemas.openxmlformats.org/officeDocument/2006/relationships/slideLayout" Target="../slideLayouts/slideLayout6.xml"/></Relationships>
</file>

<file path=ppt/slides/_rels/slide3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9.xml"/><Relationship Id="rId1" Type="http://schemas.openxmlformats.org/officeDocument/2006/relationships/slideLayout" Target="../slideLayouts/slideLayout2.xml"/></Relationships>
</file>

<file path=ppt/slides/_rels/slide3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0.xml"/><Relationship Id="rId1" Type="http://schemas.openxmlformats.org/officeDocument/2006/relationships/slideLayout" Target="../slideLayouts/slideLayout2.xml"/></Relationships>
</file>

<file path=ppt/slides/_rels/slide3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1.xml"/><Relationship Id="rId1" Type="http://schemas.openxmlformats.org/officeDocument/2006/relationships/slideLayout" Target="../slideLayouts/slideLayout2.xml"/></Relationships>
</file>

<file path=ppt/slides/_rels/slide3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2.xml"/><Relationship Id="rId1" Type="http://schemas.openxmlformats.org/officeDocument/2006/relationships/slideLayout" Target="../slideLayouts/slideLayout2.xml"/></Relationships>
</file>

<file path=ppt/slides/_rels/slide3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N5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 – N5 Year 1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8565968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2397506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40E42-A232-4953-B8AF-3C563D79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Thonny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E8B3F-021B-4471-8E62-D99463A2F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thonny.org</a:t>
            </a:r>
          </a:p>
        </p:txBody>
      </p:sp>
    </p:spTree>
    <p:extLst>
      <p:ext uri="{BB962C8B-B14F-4D97-AF65-F5344CB8AC3E}">
        <p14:creationId xmlns:p14="http://schemas.microsoft.com/office/powerpoint/2010/main" val="3546585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50A0-D3A0-4968-A0D6-69B94F7DD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Sharepoint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F4A0D-0A8D-4D52-A96C-E69F5D05E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3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1666217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Use internal commentary in all </a:t>
            </a:r>
            <a:r>
              <a:rPr lang="en-GB" b="1" i="1" dirty="0"/>
              <a:t>programs</a:t>
            </a:r>
          </a:p>
          <a:p>
            <a:r>
              <a:rPr lang="en-GB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r>
              <a:rPr lang="en-GB" sz="3200" dirty="0">
                <a:effectLst/>
                <a:latin typeface="Consolas" panose="020B0609020204030204" pitchFamily="49" charset="0"/>
              </a:rPr>
              <a:t> My First Program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  <a:r>
              <a:rPr lang="en-GB" sz="3200" dirty="0">
                <a:latin typeface="Consolas" panose="020B0609020204030204" pitchFamily="49" charset="0"/>
              </a:rPr>
              <a:t> Mr Friend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fld id="{FDF541AA-BC80-4105-92E7-E0AC6EDB3C13}" type="datetime4">
              <a:rPr lang="en-GB" sz="3200" smtClean="0">
                <a:effectLst/>
                <a:latin typeface="Consolas" panose="020B0609020204030204" pitchFamily="49" charset="0"/>
              </a:rPr>
              <a:t>07 November 2025</a:t>
            </a:fld>
            <a:endParaRPr lang="en-GB" sz="32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4C0E60D4-1062-CF5D-18A7-CBAEF1C011B8}"/>
              </a:ext>
            </a:extLst>
          </p:cNvPr>
          <p:cNvSpPr/>
          <p:nvPr/>
        </p:nvSpPr>
        <p:spPr>
          <a:xfrm>
            <a:off x="2169692" y="5990665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187008"/>
              <a:gd name="adj6" fmla="val -16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Line numbers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E2BACD9B-5A07-8F41-709C-9234578D0B3A}"/>
              </a:ext>
            </a:extLst>
          </p:cNvPr>
          <p:cNvSpPr/>
          <p:nvPr/>
        </p:nvSpPr>
        <p:spPr>
          <a:xfrm>
            <a:off x="2631375" y="5394091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67856"/>
              <a:gd name="adj6" fmla="val -161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Hash symbol (comment)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A2DFA6-83BE-D060-BDA8-CF34E45D5A03}"/>
              </a:ext>
            </a:extLst>
          </p:cNvPr>
          <p:cNvGrpSpPr/>
          <p:nvPr/>
        </p:nvGrpSpPr>
        <p:grpSpPr>
          <a:xfrm>
            <a:off x="7512422" y="3280988"/>
            <a:ext cx="3861812" cy="1777041"/>
            <a:chOff x="7619999" y="3594339"/>
            <a:chExt cx="3861812" cy="1777041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9F364CEF-EF46-8D6E-A26D-C00C36BEFC0A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9C1467-17BF-2567-FC3A-6C13F40DD77F}"/>
                </a:ext>
              </a:extLst>
            </p:cNvPr>
            <p:cNvSpPr txBox="1"/>
            <p:nvPr/>
          </p:nvSpPr>
          <p:spPr>
            <a:xfrm>
              <a:off x="8167256" y="4221249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Ignored by computer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891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Start all programs with internal commentary</a:t>
            </a:r>
          </a:p>
          <a:p>
            <a:r>
              <a:rPr lang="en-GB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endParaRPr lang="en-GB" sz="320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endParaRPr lang="en-GB" sz="32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40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output to screen</a:t>
            </a:r>
          </a:p>
        </p:txBody>
      </p:sp>
    </p:spTree>
    <p:extLst>
      <p:ext uri="{BB962C8B-B14F-4D97-AF65-F5344CB8AC3E}">
        <p14:creationId xmlns:p14="http://schemas.microsoft.com/office/powerpoint/2010/main" val="3817082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098884" y="3573767"/>
            <a:ext cx="2573935" cy="429983"/>
          </a:xfrm>
          <a:prstGeom prst="callout2">
            <a:avLst>
              <a:gd name="adj1" fmla="val 50675"/>
              <a:gd name="adj2" fmla="val -405"/>
              <a:gd name="adj3" fmla="val 50388"/>
              <a:gd name="adj4" fmla="val -30119"/>
              <a:gd name="adj5" fmla="val -24903"/>
              <a:gd name="adj6" fmla="val -404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displayed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Display information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467787" y="5904900"/>
            <a:ext cx="3020368" cy="557477"/>
          </a:xfrm>
          <a:prstGeom prst="callout2">
            <a:avLst>
              <a:gd name="adj1" fmla="val 50675"/>
              <a:gd name="adj2" fmla="val -405"/>
              <a:gd name="adj3" fmla="val 52650"/>
              <a:gd name="adj4" fmla="val -23855"/>
              <a:gd name="adj5" fmla="val 3265"/>
              <a:gd name="adj6" fmla="val -3124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displayed</a:t>
            </a:r>
          </a:p>
        </p:txBody>
      </p:sp>
    </p:spTree>
    <p:extLst>
      <p:ext uri="{BB962C8B-B14F-4D97-AF65-F5344CB8AC3E}">
        <p14:creationId xmlns:p14="http://schemas.microsoft.com/office/powerpoint/2010/main" val="343646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Display information</a:t>
            </a:r>
          </a:p>
        </p:txBody>
      </p:sp>
    </p:spTree>
    <p:extLst>
      <p:ext uri="{BB962C8B-B14F-4D97-AF65-F5344CB8AC3E}">
        <p14:creationId xmlns:p14="http://schemas.microsoft.com/office/powerpoint/2010/main" val="2023129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identify syntax errors</a:t>
            </a:r>
          </a:p>
        </p:txBody>
      </p:sp>
    </p:spTree>
    <p:extLst>
      <p:ext uri="{BB962C8B-B14F-4D97-AF65-F5344CB8AC3E}">
        <p14:creationId xmlns:p14="http://schemas.microsoft.com/office/powerpoint/2010/main" val="4876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455138" y="3649967"/>
            <a:ext cx="5146061" cy="429983"/>
          </a:xfrm>
          <a:prstGeom prst="callout2">
            <a:avLst>
              <a:gd name="adj1" fmla="val 48459"/>
              <a:gd name="adj2" fmla="val -35"/>
              <a:gd name="adj3" fmla="val 49313"/>
              <a:gd name="adj4" fmla="val -8722"/>
              <a:gd name="adj5" fmla="val -34570"/>
              <a:gd name="adj6" fmla="val -191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Opening quotation mark missing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Syntax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3963188" y="5982466"/>
            <a:ext cx="5395955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8002"/>
              <a:gd name="adj5" fmla="val -5433"/>
              <a:gd name="adj6" fmla="val -233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Unexpected indentation (4 spaces)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7685590" y="987540"/>
            <a:ext cx="4111556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not run until </a:t>
            </a:r>
            <a:r>
              <a:rPr lang="en-GB" sz="4000" b="1" i="1" dirty="0">
                <a:solidFill>
                  <a:srgbClr val="7030A0"/>
                </a:solidFill>
              </a:rPr>
              <a:t>all</a:t>
            </a:r>
            <a:r>
              <a:rPr lang="en-GB" sz="4000" b="1" dirty="0">
                <a:solidFill>
                  <a:srgbClr val="7030A0"/>
                </a:solidFill>
              </a:rPr>
              <a:t> syntax errors corrected</a:t>
            </a:r>
          </a:p>
        </p:txBody>
      </p:sp>
    </p:spTree>
    <p:extLst>
      <p:ext uri="{BB962C8B-B14F-4D97-AF65-F5344CB8AC3E}">
        <p14:creationId xmlns:p14="http://schemas.microsoft.com/office/powerpoint/2010/main" val="106018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BC9CC3-EB4F-D7BE-280C-E8FAAF940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30F8E-E77E-AFFC-2C0F-135E042A8527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D8F336-5742-A558-1A66-FCE1305A6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Syntax Errors</a:t>
            </a:r>
          </a:p>
        </p:txBody>
      </p:sp>
    </p:spTree>
    <p:extLst>
      <p:ext uri="{BB962C8B-B14F-4D97-AF65-F5344CB8AC3E}">
        <p14:creationId xmlns:p14="http://schemas.microsoft.com/office/powerpoint/2010/main" val="364557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data types</a:t>
            </a:r>
          </a:p>
        </p:txBody>
      </p:sp>
    </p:spTree>
    <p:extLst>
      <p:ext uri="{BB962C8B-B14F-4D97-AF65-F5344CB8AC3E}">
        <p14:creationId xmlns:p14="http://schemas.microsoft.com/office/powerpoint/2010/main" val="141649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single character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symbol  –  "!", ";", "@"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9E65E-4CD8-AD3B-E4FF-F8E25C3558CA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2054127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symbol  –  "!", ";", "@"</a:t>
            </a:r>
          </a:p>
        </p:txBody>
      </p:sp>
    </p:spTree>
    <p:extLst>
      <p:ext uri="{BB962C8B-B14F-4D97-AF65-F5344CB8AC3E}">
        <p14:creationId xmlns:p14="http://schemas.microsoft.com/office/powerpoint/2010/main" val="224267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</a:t>
            </a:r>
            <a:r>
              <a:rPr lang="en-GB" b="1" dirty="0"/>
              <a:t>string</a:t>
            </a:r>
            <a:r>
              <a:rPr lang="en-GB" dirty="0"/>
              <a:t> of characters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Letters  –  "</a:t>
            </a:r>
            <a:r>
              <a:rPr lang="en-GB" dirty="0" err="1"/>
              <a:t>abcXYZ</a:t>
            </a:r>
            <a:r>
              <a:rPr lang="en-GB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Mixture  –  "Hello 2 u !!!!"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70F785-0B6E-6BE2-602D-B52C584E4F3E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3648223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b="1" dirty="0"/>
              <a:t> </a:t>
            </a:r>
            <a:endParaRPr lang="en-GB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Letters  –  "</a:t>
            </a:r>
            <a:r>
              <a:rPr lang="en-GB" dirty="0" err="1"/>
              <a:t>abcXYZ</a:t>
            </a:r>
            <a:r>
              <a:rPr lang="en-GB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Mixture  –  "Hello 2 u !!!!"</a:t>
            </a:r>
          </a:p>
        </p:txBody>
      </p:sp>
    </p:spTree>
    <p:extLst>
      <p:ext uri="{BB962C8B-B14F-4D97-AF65-F5344CB8AC3E}">
        <p14:creationId xmlns:p14="http://schemas.microsoft.com/office/powerpoint/2010/main" val="3477651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/>
              <a:t>Whole numbers</a:t>
            </a:r>
          </a:p>
          <a:p>
            <a:pPr>
              <a:spcBef>
                <a:spcPts val="0"/>
              </a:spcBef>
            </a:pPr>
            <a:r>
              <a:rPr lang="en-GB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dirty="0"/>
              <a:t>–9999</a:t>
            </a:r>
          </a:p>
          <a:p>
            <a:pPr>
              <a:spcBef>
                <a:spcPts val="0"/>
              </a:spcBef>
            </a:pPr>
            <a:r>
              <a:rPr lang="en-GB" dirty="0"/>
              <a:t>0</a:t>
            </a:r>
          </a:p>
          <a:p>
            <a:pPr>
              <a:spcBef>
                <a:spcPts val="0"/>
              </a:spcBef>
            </a:pPr>
            <a:r>
              <a:rPr lang="en-GB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3358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</a:pPr>
            <a:r>
              <a:rPr lang="en-GB" dirty="0"/>
              <a:t>–9999</a:t>
            </a:r>
          </a:p>
          <a:p>
            <a:pPr>
              <a:spcBef>
                <a:spcPts val="0"/>
              </a:spcBef>
            </a:pPr>
            <a:r>
              <a:rPr lang="en-GB" dirty="0"/>
              <a:t>0</a:t>
            </a:r>
          </a:p>
          <a:p>
            <a:pPr>
              <a:spcBef>
                <a:spcPts val="0"/>
              </a:spcBef>
            </a:pPr>
            <a:r>
              <a:rPr lang="en-GB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09097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dirty="0"/>
              <a:t>Decimal numbers</a:t>
            </a:r>
          </a:p>
          <a:p>
            <a:pPr>
              <a:spcBef>
                <a:spcPts val="0"/>
              </a:spcBef>
            </a:pPr>
            <a:r>
              <a:rPr lang="en-GB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dirty="0"/>
              <a:t>0·0</a:t>
            </a:r>
          </a:p>
          <a:p>
            <a:pPr>
              <a:spcBef>
                <a:spcPts val="0"/>
              </a:spcBef>
            </a:pPr>
            <a:r>
              <a:rPr lang="en-GB" dirty="0"/>
              <a:t>3·14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478D5C-2F95-46A2-9E5B-EA5D89BE250B}"/>
              </a:ext>
            </a:extLst>
          </p:cNvPr>
          <p:cNvSpPr txBox="1"/>
          <p:nvPr/>
        </p:nvSpPr>
        <p:spPr>
          <a:xfrm>
            <a:off x="3197995" y="5665569"/>
            <a:ext cx="57960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rgbClr val="7030A0"/>
                </a:solidFill>
              </a:rPr>
              <a:t>Also known as ‘Floating point’</a:t>
            </a:r>
          </a:p>
        </p:txBody>
      </p:sp>
    </p:spTree>
    <p:extLst>
      <p:ext uri="{BB962C8B-B14F-4D97-AF65-F5344CB8AC3E}">
        <p14:creationId xmlns:p14="http://schemas.microsoft.com/office/powerpoint/2010/main" val="2194216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</a:pPr>
            <a:r>
              <a:rPr lang="en-GB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dirty="0"/>
              <a:t>0·0</a:t>
            </a:r>
          </a:p>
          <a:p>
            <a:pPr>
              <a:spcBef>
                <a:spcPts val="0"/>
              </a:spcBef>
            </a:pPr>
            <a:r>
              <a:rPr lang="en-GB" dirty="0"/>
              <a:t>3·14</a:t>
            </a:r>
          </a:p>
        </p:txBody>
      </p:sp>
    </p:spTree>
    <p:extLst>
      <p:ext uri="{BB962C8B-B14F-4D97-AF65-F5344CB8AC3E}">
        <p14:creationId xmlns:p14="http://schemas.microsoft.com/office/powerpoint/2010/main" val="610443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/>
              <a:t>Binary choice</a:t>
            </a:r>
          </a:p>
          <a:p>
            <a:pPr>
              <a:spcBef>
                <a:spcPts val="0"/>
              </a:spcBef>
            </a:pPr>
            <a:r>
              <a:rPr lang="en-GB" b="1" dirty="0"/>
              <a:t>True</a:t>
            </a:r>
            <a:r>
              <a:rPr lang="en-GB" dirty="0"/>
              <a:t> or </a:t>
            </a:r>
            <a:r>
              <a:rPr lang="en-GB" b="1" dirty="0"/>
              <a:t>False</a:t>
            </a:r>
          </a:p>
          <a:p>
            <a:pPr>
              <a:spcBef>
                <a:spcPts val="0"/>
              </a:spcBef>
            </a:pPr>
            <a:r>
              <a:rPr lang="en-GB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dirty="0"/>
              <a:t>Yes / No</a:t>
            </a:r>
          </a:p>
          <a:p>
            <a:pPr lvl="1">
              <a:spcBef>
                <a:spcPts val="0"/>
              </a:spcBef>
            </a:pPr>
            <a:r>
              <a:rPr lang="en-GB" dirty="0"/>
              <a:t>On / Off</a:t>
            </a:r>
          </a:p>
          <a:p>
            <a:pPr lvl="1">
              <a:spcBef>
                <a:spcPts val="0"/>
              </a:spcBef>
            </a:pPr>
            <a:r>
              <a:rPr lang="en-GB" dirty="0"/>
              <a:t>1 / 0</a:t>
            </a:r>
          </a:p>
        </p:txBody>
      </p:sp>
    </p:spTree>
    <p:extLst>
      <p:ext uri="{BB962C8B-B14F-4D97-AF65-F5344CB8AC3E}">
        <p14:creationId xmlns:p14="http://schemas.microsoft.com/office/powerpoint/2010/main" val="189144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</a:pPr>
            <a:r>
              <a:rPr lang="en-GB" b="1" dirty="0"/>
              <a:t> </a:t>
            </a:r>
          </a:p>
          <a:p>
            <a:pPr>
              <a:spcBef>
                <a:spcPts val="0"/>
              </a:spcBef>
            </a:pPr>
            <a:r>
              <a:rPr lang="en-GB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1486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157004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4764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45636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single 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string of characters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Integer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Whole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Real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Decimal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Boolean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Binary – two states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950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496621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8474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34253793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a variable?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dirty="0"/>
              <a:t>Somewhere to store information</a:t>
            </a:r>
          </a:p>
          <a:p>
            <a:r>
              <a:rPr lang="en-GB" dirty="0"/>
              <a:t>Has a name</a:t>
            </a:r>
          </a:p>
          <a:p>
            <a:r>
              <a:rPr lang="en-GB" dirty="0"/>
              <a:t>Can be thought of as a box</a:t>
            </a:r>
          </a:p>
          <a:p>
            <a:r>
              <a:rPr lang="en-GB" i="1" dirty="0"/>
              <a:t>Can only store </a:t>
            </a:r>
            <a:r>
              <a:rPr lang="en-GB" b="1" i="1" dirty="0"/>
              <a:t>1</a:t>
            </a:r>
            <a:r>
              <a:rPr lang="en-GB" i="1" dirty="0"/>
              <a:t> piece of info</a:t>
            </a:r>
          </a:p>
          <a:p>
            <a:endParaRPr lang="en-GB" dirty="0"/>
          </a:p>
        </p:txBody>
      </p:sp>
      <p:pic>
        <p:nvPicPr>
          <p:cNvPr id="9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7755A727-B888-45BB-B4EA-D166B01732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7756" t="10108" r="8890" b="5325"/>
          <a:stretch/>
        </p:blipFill>
        <p:spPr>
          <a:xfrm>
            <a:off x="6172200" y="1922113"/>
            <a:ext cx="5181600" cy="415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6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How do they work?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dirty="0"/>
              <a:t>Store 11 in variable1</a:t>
            </a:r>
          </a:p>
          <a:p>
            <a:endParaRPr lang="en-GB" dirty="0"/>
          </a:p>
          <a:p>
            <a:r>
              <a:rPr lang="en-GB" dirty="0"/>
              <a:t>Copy variable1 to variable2</a:t>
            </a:r>
          </a:p>
          <a:p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8AC3A-2A1E-42A4-BC71-4A7E95E0F1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dirty="0"/>
              <a:t>Variable created, with a name</a:t>
            </a:r>
          </a:p>
          <a:p>
            <a:r>
              <a:rPr lang="en-GB" dirty="0"/>
              <a:t>Value stored in it</a:t>
            </a:r>
          </a:p>
        </p:txBody>
      </p:sp>
      <p:pic>
        <p:nvPicPr>
          <p:cNvPr id="8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A7BCE613-FF9E-4440-9741-AB313D95BFD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1170515" y="4236098"/>
            <a:ext cx="2042781" cy="16393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41B0E6-9DF9-4772-999E-16DA5B417DA1}"/>
              </a:ext>
            </a:extLst>
          </p:cNvPr>
          <p:cNvSpPr txBox="1"/>
          <p:nvPr/>
        </p:nvSpPr>
        <p:spPr>
          <a:xfrm>
            <a:off x="1508706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694A9D-B1C7-42AB-956F-2ECBBD2C6227}"/>
              </a:ext>
            </a:extLst>
          </p:cNvPr>
          <p:cNvSpPr txBox="1"/>
          <p:nvPr/>
        </p:nvSpPr>
        <p:spPr>
          <a:xfrm>
            <a:off x="1944080" y="3265666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  <p:pic>
        <p:nvPicPr>
          <p:cNvPr id="11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A2318D8-8A59-461A-8959-A7C0D25297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3823838" y="4236098"/>
            <a:ext cx="2042781" cy="16393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6CC5F24-E0D9-4592-8467-65313AA48870}"/>
              </a:ext>
            </a:extLst>
          </p:cNvPr>
          <p:cNvSpPr txBox="1"/>
          <p:nvPr/>
        </p:nvSpPr>
        <p:spPr>
          <a:xfrm>
            <a:off x="4162029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AB07D6-0C11-455D-9BC4-6E70C2899CC4}"/>
              </a:ext>
            </a:extLst>
          </p:cNvPr>
          <p:cNvSpPr txBox="1"/>
          <p:nvPr/>
        </p:nvSpPr>
        <p:spPr>
          <a:xfrm>
            <a:off x="1920896" y="4514033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9614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42" presetClass="path" presetSubtype="0" accel="50000" decel="5000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2.29167E-6 -2.22222E-6 L -0.0013 0.18773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93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4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069 L 0.05821 -0.06922 C 0.07032 -0.08496 0.08855 -0.09306 0.10782 -0.09306 C 0.12943 -0.09306 0.14675 -0.08496 0.15886 -0.06922 L 0.21693 0.00069 " pathEditMode="relative" rAng="0" ptsTypes="AAAAA">
                                      <p:cBhvr>
                                        <p:cTn id="4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33" y="-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4" grpId="0" uiExpand="1" build="p"/>
      <p:bldP spid="5" grpId="0"/>
      <p:bldP spid="10" grpId="0"/>
      <p:bldP spid="10" grpId="1"/>
      <p:bldP spid="12" grpId="0"/>
      <p:bldP spid="13" grpId="0"/>
      <p:bldP spid="13" grpId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10037-348E-4337-9A63-56426B0B8E18}"/>
              </a:ext>
            </a:extLst>
          </p:cNvPr>
          <p:cNvSpPr txBox="1"/>
          <p:nvPr/>
        </p:nvSpPr>
        <p:spPr>
          <a:xfrm>
            <a:off x="3917950" y="2089444"/>
            <a:ext cx="3761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 equals 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A7E741-9095-4924-A3CE-D56693D38A02}"/>
              </a:ext>
            </a:extLst>
          </p:cNvPr>
          <p:cNvSpPr txBox="1"/>
          <p:nvPr/>
        </p:nvSpPr>
        <p:spPr>
          <a:xfrm>
            <a:off x="3917903" y="4080307"/>
            <a:ext cx="6738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 assignment operator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0BC9D-ACFF-44C2-8712-B5611E1287BF}"/>
              </a:ext>
            </a:extLst>
          </p:cNvPr>
          <p:cNvSpPr txBox="1"/>
          <p:nvPr/>
        </p:nvSpPr>
        <p:spPr>
          <a:xfrm>
            <a:off x="4449347" y="4720367"/>
            <a:ext cx="452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assigned the value 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4C7FFA-961F-4F11-93A3-97FC5170CF3C}"/>
              </a:ext>
            </a:extLst>
          </p:cNvPr>
          <p:cNvGrpSpPr/>
          <p:nvPr/>
        </p:nvGrpSpPr>
        <p:grpSpPr>
          <a:xfrm>
            <a:off x="3985765" y="2057694"/>
            <a:ext cx="3847815" cy="1260000"/>
            <a:chOff x="3985765" y="2057694"/>
            <a:chExt cx="3847815" cy="1260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1C2BCDB-E4F7-4684-AC6B-AE8E43FD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3580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C40DF4E-7F5F-41CC-99A1-1515D29FAD4C}"/>
                </a:ext>
              </a:extLst>
            </p:cNvPr>
            <p:cNvCxnSpPr>
              <a:cxnSpLocks/>
            </p:cNvCxnSpPr>
            <p:nvPr/>
          </p:nvCxnSpPr>
          <p:spPr>
            <a:xfrm>
              <a:off x="3985765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B8133A3-A913-4568-9C50-9BB8FE6C7345}"/>
              </a:ext>
            </a:extLst>
          </p:cNvPr>
          <p:cNvSpPr txBox="1"/>
          <p:nvPr/>
        </p:nvSpPr>
        <p:spPr>
          <a:xfrm>
            <a:off x="4365263" y="2729504"/>
            <a:ext cx="3156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the same as)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A6217-AFE6-42E6-AA29-9FB9655EF390}"/>
              </a:ext>
            </a:extLst>
          </p:cNvPr>
          <p:cNvSpPr txBox="1"/>
          <p:nvPr/>
        </p:nvSpPr>
        <p:spPr>
          <a:xfrm>
            <a:off x="8213078" y="2175506"/>
            <a:ext cx="36610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This is computing, not maths!</a:t>
            </a:r>
          </a:p>
        </p:txBody>
      </p:sp>
    </p:spTree>
    <p:extLst>
      <p:ext uri="{BB962C8B-B14F-4D97-AF65-F5344CB8AC3E}">
        <p14:creationId xmlns:p14="http://schemas.microsoft.com/office/powerpoint/2010/main" val="2423056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1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D008A-6628-3F4C-EADB-FC076B316CBD}"/>
              </a:ext>
            </a:extLst>
          </p:cNvPr>
          <p:cNvSpPr txBox="1"/>
          <p:nvPr/>
        </p:nvSpPr>
        <p:spPr>
          <a:xfrm>
            <a:off x="3917950" y="2089444"/>
            <a:ext cx="1531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4A42C9-D6BA-4BBB-DF18-161FC00AE411}"/>
              </a:ext>
            </a:extLst>
          </p:cNvPr>
          <p:cNvSpPr txBox="1"/>
          <p:nvPr/>
        </p:nvSpPr>
        <p:spPr>
          <a:xfrm>
            <a:off x="3917903" y="4080307"/>
            <a:ext cx="2417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</a:t>
            </a:r>
          </a:p>
        </p:txBody>
      </p:sp>
    </p:spTree>
    <p:extLst>
      <p:ext uri="{BB962C8B-B14F-4D97-AF65-F5344CB8AC3E}">
        <p14:creationId xmlns:p14="http://schemas.microsoft.com/office/powerpoint/2010/main" val="4181298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1276222" y="2235023"/>
            <a:ext cx="2377416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46825"/>
              <a:gd name="adj6" fmla="val 1512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48526" y="4636219"/>
            <a:ext cx="3312460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8425809" y="2235023"/>
            <a:ext cx="2891765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151167"/>
              <a:gd name="adj6" fmla="val -397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824764" y="1864996"/>
            <a:ext cx="2696379" cy="1708003"/>
            <a:chOff x="4824764" y="1504780"/>
            <a:chExt cx="2696379" cy="1708003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4824764" y="1504780"/>
              <a:ext cx="269637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Value assigned</a:t>
              </a:r>
            </a:p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4133879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11689145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ED4BF0-E0AD-BDA4-B328-F92C1F902DFC}"/>
              </a:ext>
            </a:extLst>
          </p:cNvPr>
          <p:cNvSpPr txBox="1"/>
          <p:nvPr/>
        </p:nvSpPr>
        <p:spPr>
          <a:xfrm>
            <a:off x="1562291" y="6002565"/>
            <a:ext cx="9067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variable do not!</a:t>
            </a:r>
          </a:p>
        </p:txBody>
      </p:sp>
    </p:spTree>
    <p:extLst>
      <p:ext uri="{BB962C8B-B14F-4D97-AF65-F5344CB8AC3E}">
        <p14:creationId xmlns:p14="http://schemas.microsoft.com/office/powerpoint/2010/main" val="26222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9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</p:spTree>
    <p:extLst>
      <p:ext uri="{BB962C8B-B14F-4D97-AF65-F5344CB8AC3E}">
        <p14:creationId xmlns:p14="http://schemas.microsoft.com/office/powerpoint/2010/main" val="24640394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574ACC-C539-1CD1-BC98-E317BC1540EF}"/>
              </a:ext>
            </a:extLst>
          </p:cNvPr>
          <p:cNvSpPr txBox="1"/>
          <p:nvPr/>
        </p:nvSpPr>
        <p:spPr>
          <a:xfrm>
            <a:off x="1598134" y="6002565"/>
            <a:ext cx="89957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numbers do not!</a:t>
            </a:r>
          </a:p>
        </p:txBody>
      </p:sp>
    </p:spTree>
    <p:extLst>
      <p:ext uri="{BB962C8B-B14F-4D97-AF65-F5344CB8AC3E}">
        <p14:creationId xmlns:p14="http://schemas.microsoft.com/office/powerpoint/2010/main" val="162085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4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</p:spTree>
    <p:extLst>
      <p:ext uri="{BB962C8B-B14F-4D97-AF65-F5344CB8AC3E}">
        <p14:creationId xmlns:p14="http://schemas.microsoft.com/office/powerpoint/2010/main" val="22655298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172598015"/>
              </p:ext>
            </p:extLst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35B5FF7-85F2-49F9-B302-A022192365A4}"/>
              </a:ext>
            </a:extLst>
          </p:cNvPr>
          <p:cNvSpPr txBox="1"/>
          <p:nvPr/>
        </p:nvSpPr>
        <p:spPr>
          <a:xfrm>
            <a:off x="6623538" y="2516884"/>
            <a:ext cx="1609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"Hello"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0F80A-567C-48A4-99CA-F65D8680829C}"/>
              </a:ext>
            </a:extLst>
          </p:cNvPr>
          <p:cNvSpPr txBox="1"/>
          <p:nvPr/>
        </p:nvSpPr>
        <p:spPr>
          <a:xfrm>
            <a:off x="9099062" y="3208972"/>
            <a:ext cx="1668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"world"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93661-EF0A-4E73-9A02-6D6EC9AF4313}"/>
              </a:ext>
            </a:extLst>
          </p:cNvPr>
          <p:cNvSpPr txBox="1"/>
          <p:nvPr/>
        </p:nvSpPr>
        <p:spPr>
          <a:xfrm>
            <a:off x="6522914" y="3865878"/>
            <a:ext cx="18112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"What?"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F2ED12-6A72-43AC-9D0B-AAD6C2EC557B}"/>
              </a:ext>
            </a:extLst>
          </p:cNvPr>
          <p:cNvSpPr txBox="1"/>
          <p:nvPr/>
        </p:nvSpPr>
        <p:spPr>
          <a:xfrm>
            <a:off x="6744677" y="4552265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"Bye"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86F98-7FA8-481D-8DFC-58FA7EC7134B}"/>
              </a:ext>
            </a:extLst>
          </p:cNvPr>
          <p:cNvSpPr txBox="1"/>
          <p:nvPr/>
        </p:nvSpPr>
        <p:spPr>
          <a:xfrm>
            <a:off x="9249508" y="5238652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"all!"</a:t>
            </a:r>
          </a:p>
        </p:txBody>
      </p:sp>
    </p:spTree>
    <p:extLst>
      <p:ext uri="{BB962C8B-B14F-4D97-AF65-F5344CB8AC3E}">
        <p14:creationId xmlns:p14="http://schemas.microsoft.com/office/powerpoint/2010/main" val="191961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  <p:bldP spid="9" grpId="0"/>
      <p:bldP spid="1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60488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Display Variables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FB0881E0-E0ED-4CDC-9D9B-AC556EC99A52}"/>
              </a:ext>
            </a:extLst>
          </p:cNvPr>
          <p:cNvSpPr/>
          <p:nvPr/>
        </p:nvSpPr>
        <p:spPr>
          <a:xfrm>
            <a:off x="5467436" y="3612874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AD532591-0F85-4B1E-A25D-059E9F3FF297}"/>
              </a:ext>
            </a:extLst>
          </p:cNvPr>
          <p:cNvSpPr/>
          <p:nvPr/>
        </p:nvSpPr>
        <p:spPr>
          <a:xfrm>
            <a:off x="5168423" y="6154305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</p:spTree>
    <p:extLst>
      <p:ext uri="{BB962C8B-B14F-4D97-AF65-F5344CB8AC3E}">
        <p14:creationId xmlns:p14="http://schemas.microsoft.com/office/powerpoint/2010/main" val="901088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Display Variables</a:t>
            </a:r>
          </a:p>
        </p:txBody>
      </p:sp>
    </p:spTree>
    <p:extLst>
      <p:ext uri="{BB962C8B-B14F-4D97-AF65-F5344CB8AC3E}">
        <p14:creationId xmlns:p14="http://schemas.microsoft.com/office/powerpoint/2010/main" val="40478495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1713615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Start with a letter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Only contain letters, numbers, underscores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No spaces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dirty="0"/>
              <a:t>Unique</a:t>
            </a:r>
            <a:endParaRPr lang="en-GB" sz="1200" dirty="0"/>
          </a:p>
          <a:p>
            <a:pPr marL="0" indent="0">
              <a:spcBef>
                <a:spcPts val="0"/>
              </a:spcBef>
              <a:buNone/>
            </a:pPr>
            <a:r>
              <a:rPr lang="en-GB" dirty="0"/>
              <a:t>Examples</a:t>
            </a:r>
            <a:endParaRPr lang="en-GB" sz="120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7030A0"/>
                </a:solidFill>
              </a:rPr>
              <a:t>height		cost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7030A0"/>
                </a:solidFill>
              </a:rPr>
              <a:t>age		number_2			number1	</a:t>
            </a:r>
            <a:r>
              <a:rPr lang="en-GB" sz="320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413345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dirty="0"/>
              <a:t> </a:t>
            </a:r>
            <a:endParaRPr lang="en-GB" sz="1200" dirty="0"/>
          </a:p>
          <a:p>
            <a:pPr marL="0" indent="0">
              <a:spcBef>
                <a:spcPts val="0"/>
              </a:spcBef>
              <a:buNone/>
            </a:pPr>
            <a:r>
              <a:rPr lang="en-GB" dirty="0"/>
              <a:t>Examples</a:t>
            </a:r>
            <a:r>
              <a:rPr lang="en-GB" sz="3200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9754207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Camel case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Meaningful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Singular (not plural)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dirty="0"/>
          </a:p>
          <a:p>
            <a:pPr marL="0" indent="0">
              <a:spcBef>
                <a:spcPts val="0"/>
              </a:spcBef>
              <a:buNone/>
            </a:pPr>
            <a:r>
              <a:rPr lang="en-GB" dirty="0"/>
              <a:t>Examples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 err="1">
                <a:solidFill>
                  <a:srgbClr val="7030A0"/>
                </a:solidFill>
              </a:rPr>
              <a:t>pupilAge</a:t>
            </a:r>
            <a:r>
              <a:rPr lang="en-GB" sz="3200" dirty="0">
                <a:solidFill>
                  <a:srgbClr val="7030A0"/>
                </a:solidFill>
              </a:rPr>
              <a:t>		</a:t>
            </a:r>
            <a:r>
              <a:rPr lang="en-GB" sz="3200" dirty="0" err="1">
                <a:solidFill>
                  <a:srgbClr val="7030A0"/>
                </a:solidFill>
              </a:rPr>
              <a:t>costPerKilo</a:t>
            </a:r>
            <a:r>
              <a:rPr lang="en-GB" sz="3200" dirty="0">
                <a:solidFill>
                  <a:srgbClr val="7030A0"/>
                </a:solidFill>
              </a:rPr>
              <a:t>		kgs2lbs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 err="1">
                <a:solidFill>
                  <a:srgbClr val="7030A0"/>
                </a:solidFill>
              </a:rPr>
              <a:t>petName</a:t>
            </a:r>
            <a:r>
              <a:rPr lang="en-GB" sz="3200" dirty="0">
                <a:solidFill>
                  <a:srgbClr val="7030A0"/>
                </a:solidFill>
              </a:rPr>
              <a:t>		</a:t>
            </a:r>
            <a:r>
              <a:rPr lang="en-GB" sz="3200" dirty="0" err="1">
                <a:solidFill>
                  <a:srgbClr val="7030A0"/>
                </a:solidFill>
              </a:rPr>
              <a:t>examGrade</a:t>
            </a:r>
            <a:endParaRPr lang="en-GB" sz="32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5913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75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dirty="0"/>
          </a:p>
          <a:p>
            <a:pPr marL="0" indent="0">
              <a:spcBef>
                <a:spcPts val="0"/>
              </a:spcBef>
              <a:buNone/>
            </a:pPr>
            <a:r>
              <a:rPr lang="en-GB" dirty="0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8220081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arithmetic operations</a:t>
            </a:r>
          </a:p>
        </p:txBody>
      </p:sp>
    </p:spTree>
    <p:extLst>
      <p:ext uri="{BB962C8B-B14F-4D97-AF65-F5344CB8AC3E}">
        <p14:creationId xmlns:p14="http://schemas.microsoft.com/office/powerpoint/2010/main" val="14222932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+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–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*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/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**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3 + 7		=	10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9 – 4		=	5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2 * 3		=	6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8 / 4		=	2.0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3 ** 2	=	9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60516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3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9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2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8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3		=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593418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identify 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2982440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980980" y="4441520"/>
            <a:ext cx="2597267" cy="429982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22165"/>
              <a:gd name="adj5" fmla="val -17467"/>
              <a:gd name="adj6" fmla="val -297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Division by zero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Execution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945768" y="5366910"/>
            <a:ext cx="37657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34616"/>
              <a:gd name="adj5" fmla="val 93157"/>
              <a:gd name="adj6" fmla="val -407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Incompatible data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8181109" y="987540"/>
            <a:ext cx="317269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run but then stop (crash)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6387DDE0-23AC-4030-A34A-C0469CC6281A}"/>
              </a:ext>
            </a:extLst>
          </p:cNvPr>
          <p:cNvSpPr/>
          <p:nvPr/>
        </p:nvSpPr>
        <p:spPr>
          <a:xfrm>
            <a:off x="5064301" y="6419795"/>
            <a:ext cx="1294601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39C8B59-EF56-4083-84AF-72D3A09835EF}"/>
              </a:ext>
            </a:extLst>
          </p:cNvPr>
          <p:cNvSpPr/>
          <p:nvPr/>
        </p:nvSpPr>
        <p:spPr>
          <a:xfrm flipH="1">
            <a:off x="1778492" y="6390000"/>
            <a:ext cx="1227755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42603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uiExpand="1" animBg="1"/>
      <p:bldP spid="5" grpId="0" animBg="1"/>
      <p:bldP spid="4" grpId="0" animBg="1"/>
      <p:bldP spid="7" grpId="0" uiExpand="1" animBg="1"/>
      <p:bldP spid="10" grpId="0" uiExpand="1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13444133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17931-EF2A-3A29-73CD-6027DB72B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B8C47-05A4-AAAE-E860-57B225277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647E6-6CFD-51B2-7F03-5C7F60003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the predefined functions</a:t>
            </a:r>
          </a:p>
        </p:txBody>
      </p:sp>
    </p:spTree>
    <p:extLst>
      <p:ext uri="{BB962C8B-B14F-4D97-AF65-F5344CB8AC3E}">
        <p14:creationId xmlns:p14="http://schemas.microsoft.com/office/powerpoint/2010/main" val="225002213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05C76-4573-F9F1-CF6B-D83DB75C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6CC80-2259-02DB-6F1A-4275963C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ED33A8-98AC-8AF6-2018-F38A0EC8E6AD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F0FB8-FC9F-56DF-D376-28BB0E382DAD}"/>
              </a:ext>
            </a:extLst>
          </p:cNvPr>
          <p:cNvSpPr/>
          <p:nvPr/>
        </p:nvSpPr>
        <p:spPr>
          <a:xfrm>
            <a:off x="2297400" y="5586769"/>
            <a:ext cx="759720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name and p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arentheses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required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P</a:t>
            </a:r>
            <a:r>
              <a:rPr kumimoji="0" lang="en-GB" sz="3200" b="0" i="0" u="none" strike="noStrike" kern="1200" cap="none" spc="0" normalizeH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arameters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can be optional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4F7B6E4-60B2-D2E4-1004-906DC3A4F5EC}"/>
              </a:ext>
            </a:extLst>
          </p:cNvPr>
          <p:cNvSpPr/>
          <p:nvPr/>
        </p:nvSpPr>
        <p:spPr>
          <a:xfrm flipH="1">
            <a:off x="701613" y="419692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 name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875D0D12-1B55-8979-6A3E-0DF77FC02865}"/>
              </a:ext>
            </a:extLst>
          </p:cNvPr>
          <p:cNvSpPr/>
          <p:nvPr/>
        </p:nvSpPr>
        <p:spPr>
          <a:xfrm>
            <a:off x="7152286" y="4304663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Parameter(s)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CB88AAB-DE6D-CD20-B0DC-D8F699F0794F}"/>
              </a:ext>
            </a:extLst>
          </p:cNvPr>
          <p:cNvCxnSpPr>
            <a:cxnSpLocks/>
          </p:cNvCxnSpPr>
          <p:nvPr/>
        </p:nvCxnSpPr>
        <p:spPr>
          <a:xfrm>
            <a:off x="4760259" y="3813717"/>
            <a:ext cx="3832412" cy="15073"/>
          </a:xfrm>
          <a:prstGeom prst="line">
            <a:avLst/>
          </a:prstGeom>
          <a:ln w="38100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4082A42-98DA-8819-3C48-150B1A86C4A4}"/>
              </a:ext>
            </a:extLst>
          </p:cNvPr>
          <p:cNvSpPr txBox="1"/>
          <p:nvPr/>
        </p:nvSpPr>
        <p:spPr>
          <a:xfrm>
            <a:off x="5546910" y="1794128"/>
            <a:ext cx="2077571" cy="523220"/>
          </a:xfrm>
          <a:prstGeom prst="rect">
            <a:avLst/>
          </a:prstGeom>
          <a:noFill/>
          <a:ln w="38100">
            <a:noFill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800" b="1" i="0" u="none" strike="noStrike" cap="none" spc="0" normalizeH="0" baseline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ctr"/>
            <a:r>
              <a:rPr lang="en-GB" dirty="0"/>
              <a:t>Parentheses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1175986-3088-3479-3741-501A6C0BE786}"/>
              </a:ext>
            </a:extLst>
          </p:cNvPr>
          <p:cNvCxnSpPr>
            <a:stCxn id="19" idx="1"/>
          </p:cNvCxnSpPr>
          <p:nvPr/>
        </p:nvCxnSpPr>
        <p:spPr>
          <a:xfrm flipH="1">
            <a:off x="4672853" y="2055738"/>
            <a:ext cx="874057" cy="1090874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A0DF8A1-EC35-DA2B-A1E3-46C862DF479B}"/>
              </a:ext>
            </a:extLst>
          </p:cNvPr>
          <p:cNvCxnSpPr>
            <a:stCxn id="19" idx="3"/>
          </p:cNvCxnSpPr>
          <p:nvPr/>
        </p:nvCxnSpPr>
        <p:spPr>
          <a:xfrm>
            <a:off x="7624481" y="2055738"/>
            <a:ext cx="1048872" cy="106398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648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 uiExpand="1" build="p"/>
      <p:bldP spid="11" grpId="0" animBg="1"/>
      <p:bldP spid="16" grpId="0" animBg="1"/>
      <p:bldP spid="19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8588763-B6D9-8057-FA41-34663FF2B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AEA2-D7B7-16E6-3310-815F3F18C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A289F-A93A-2713-8BF7-ED70BB2DFE53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09B1D0-1FD1-FAA0-79C0-7EA22393933B}"/>
              </a:ext>
            </a:extLst>
          </p:cNvPr>
          <p:cNvSpPr/>
          <p:nvPr/>
        </p:nvSpPr>
        <p:spPr>
          <a:xfrm>
            <a:off x="2286314" y="5586769"/>
            <a:ext cx="761939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             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558759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/>
              <a:t>Process</a:t>
            </a:r>
            <a:endParaRPr lang="en-GB" sz="28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1D2B69-FD94-45FA-904D-026644A179F1}"/>
              </a:ext>
            </a:extLst>
          </p:cNvPr>
          <p:cNvGrpSpPr/>
          <p:nvPr/>
        </p:nvGrpSpPr>
        <p:grpSpPr>
          <a:xfrm>
            <a:off x="1289918" y="3233810"/>
            <a:ext cx="3060000" cy="1015663"/>
            <a:chOff x="1289918" y="3233810"/>
            <a:chExt cx="3060000" cy="101566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963B08-C212-4718-A8AA-458D4C59CEBA}"/>
                </a:ext>
              </a:extLst>
            </p:cNvPr>
            <p:cNvSpPr txBox="1"/>
            <p:nvPr/>
          </p:nvSpPr>
          <p:spPr>
            <a:xfrm>
              <a:off x="1289918" y="3233810"/>
              <a:ext cx="198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6000" b="1" dirty="0">
                  <a:solidFill>
                    <a:srgbClr val="7030A0"/>
                  </a:solidFill>
                </a:rPr>
                <a:t>Input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269918" y="374466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5DB94F7-9DD0-422E-92A8-35167F97B318}"/>
              </a:ext>
            </a:extLst>
          </p:cNvPr>
          <p:cNvGrpSpPr/>
          <p:nvPr/>
        </p:nvGrpSpPr>
        <p:grpSpPr>
          <a:xfrm>
            <a:off x="7839425" y="3233810"/>
            <a:ext cx="3600000" cy="1015663"/>
            <a:chOff x="7839425" y="3233810"/>
            <a:chExt cx="3600000" cy="101566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7839425" y="374164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2E98D8-233B-4694-9FD3-C4CE473126AC}"/>
                </a:ext>
              </a:extLst>
            </p:cNvPr>
            <p:cNvSpPr txBox="1"/>
            <p:nvPr/>
          </p:nvSpPr>
          <p:spPr>
            <a:xfrm>
              <a:off x="8919425" y="3233810"/>
              <a:ext cx="252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r">
                <a:defRPr sz="6000">
                  <a:solidFill>
                    <a:srgbClr val="7030A0"/>
                  </a:solidFill>
                </a:defRPr>
              </a:lvl1pPr>
            </a:lstStyle>
            <a:p>
              <a:pPr algn="l"/>
              <a:r>
                <a:rPr lang="en-GB" b="1" dirty="0"/>
                <a:t>Output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218AD5E-FB79-4236-A655-39ED72972315}"/>
              </a:ext>
            </a:extLst>
          </p:cNvPr>
          <p:cNvSpPr txBox="1"/>
          <p:nvPr/>
        </p:nvSpPr>
        <p:spPr>
          <a:xfrm flipH="1">
            <a:off x="3736732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A function does </a:t>
            </a:r>
            <a:r>
              <a:rPr lang="en-GB" sz="2800" b="1" i="1" dirty="0">
                <a:solidFill>
                  <a:srgbClr val="7030A0"/>
                </a:solidFill>
                <a:latin typeface="Calibri" panose="020F0502020204030204"/>
              </a:rPr>
              <a:t>'something</a:t>
            </a: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'</a:t>
            </a:r>
            <a:endParaRPr kumimoji="0" lang="en-GB" sz="28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064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9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8048921-01D2-4C58-8100-1F515D5423A2}"/>
              </a:ext>
            </a:extLst>
          </p:cNvPr>
          <p:cNvCxnSpPr/>
          <p:nvPr/>
        </p:nvCxnSpPr>
        <p:spPr>
          <a:xfrm>
            <a:off x="3269918" y="374466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3E1FF36-CE0E-4933-9E8E-C84914E59C64}"/>
              </a:ext>
            </a:extLst>
          </p:cNvPr>
          <p:cNvCxnSpPr/>
          <p:nvPr/>
        </p:nvCxnSpPr>
        <p:spPr>
          <a:xfrm>
            <a:off x="7839425" y="374164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05442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– Overview (2)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12516" y="2309726"/>
            <a:ext cx="306183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</a:rPr>
              <a:t>Dirty clothes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783019" y="2309725"/>
            <a:ext cx="3289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</a:rPr>
              <a:t>Clean clothes</a:t>
            </a:r>
            <a:endParaRPr lang="en-GB" sz="4400" dirty="0">
              <a:solidFill>
                <a:srgbClr val="7030A0"/>
              </a:solidFill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030147" y="3635289"/>
            <a:ext cx="23442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58685" y="3485665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Capitalise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783019" y="3635288"/>
            <a:ext cx="237883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27947" y="4960852"/>
            <a:ext cx="1646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7, 2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58685" y="4811228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Add together</a:t>
              </a:r>
              <a:endParaRPr lang="en-GB" sz="3200" b="1" baseline="300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783019" y="4960851"/>
            <a:ext cx="7576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338831" y="1241287"/>
            <a:ext cx="7652101" cy="1998815"/>
            <a:chOff x="2896884" y="882401"/>
            <a:chExt cx="7652101" cy="19988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Wash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70118" y="882401"/>
              <a:ext cx="1533240" cy="95410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</a:p>
            <a:p>
              <a:pPr algn="ctr"/>
              <a:r>
                <a:rPr lang="en-GB" sz="2800" b="1" dirty="0"/>
                <a:t>(Process)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9139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– Overview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8BB5CD-2D25-4988-8438-2F046C3CAEDF}"/>
              </a:ext>
            </a:extLst>
          </p:cNvPr>
          <p:cNvSpPr/>
          <p:nvPr/>
        </p:nvSpPr>
        <p:spPr>
          <a:xfrm>
            <a:off x="5044273" y="2279606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5508EC-10CA-444D-9646-590379AECB29}"/>
              </a:ext>
            </a:extLst>
          </p:cNvPr>
          <p:cNvCxnSpPr/>
          <p:nvPr/>
        </p:nvCxnSpPr>
        <p:spPr>
          <a:xfrm>
            <a:off x="36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6439D39-54D0-4A73-A61A-412CD2F3A1D8}"/>
              </a:ext>
            </a:extLst>
          </p:cNvPr>
          <p:cNvCxnSpPr/>
          <p:nvPr/>
        </p:nvCxnSpPr>
        <p:spPr>
          <a:xfrm>
            <a:off x="72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604273" y="3605169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604273" y="493073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869038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46DD7-6D8A-4951-0FED-75341181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AF594-D26E-4C90-2F43-F90D48B03CAC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18975-3AB8-38F9-DC85-5211A1E4E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Functions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15AAE337-7E2E-1D3C-32BD-3C23257E92D0}"/>
              </a:ext>
            </a:extLst>
          </p:cNvPr>
          <p:cNvSpPr/>
          <p:nvPr/>
        </p:nvSpPr>
        <p:spPr>
          <a:xfrm>
            <a:off x="7800495" y="2871523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Literal used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206828A7-A992-FDFF-9AED-7A982A0BAE7F}"/>
              </a:ext>
            </a:extLst>
          </p:cNvPr>
          <p:cNvSpPr/>
          <p:nvPr/>
        </p:nvSpPr>
        <p:spPr>
          <a:xfrm>
            <a:off x="5209604" y="5297282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used</a:t>
            </a:r>
          </a:p>
        </p:txBody>
      </p:sp>
    </p:spTree>
    <p:extLst>
      <p:ext uri="{BB962C8B-B14F-4D97-AF65-F5344CB8AC3E}">
        <p14:creationId xmlns:p14="http://schemas.microsoft.com/office/powerpoint/2010/main" val="26987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F75C56-0C46-AC48-0170-F19E7E00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160432-E730-E6AD-8D71-26BE83A4A3A8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2FF30E-AC8E-C09F-647B-30656EBB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Functions</a:t>
            </a:r>
          </a:p>
        </p:txBody>
      </p:sp>
    </p:spTree>
    <p:extLst>
      <p:ext uri="{BB962C8B-B14F-4D97-AF65-F5344CB8AC3E}">
        <p14:creationId xmlns:p14="http://schemas.microsoft.com/office/powerpoint/2010/main" val="65892603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the predefined function: round</a:t>
            </a:r>
          </a:p>
        </p:txBody>
      </p:sp>
    </p:spTree>
    <p:extLst>
      <p:ext uri="{BB962C8B-B14F-4D97-AF65-F5344CB8AC3E}">
        <p14:creationId xmlns:p14="http://schemas.microsoft.com/office/powerpoint/2010/main" val="16449683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Real, Integer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Real /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Round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3200" b="1" dirty="0">
                    <a:solidFill>
                      <a:prstClr val="white"/>
                    </a:solidFill>
                    <a:latin typeface="Calibri" panose="020F0502020204030204"/>
                  </a:rPr>
                  <a:t>to dp</a:t>
                </a: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0660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738834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430716" y="5586769"/>
            <a:ext cx="933056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6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variables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E719D43-6163-49D4-828A-B0B5B83BCCF0}"/>
              </a:ext>
            </a:extLst>
          </p:cNvPr>
          <p:cNvSpPr/>
          <p:nvPr/>
        </p:nvSpPr>
        <p:spPr>
          <a:xfrm flipH="1">
            <a:off x="3491882" y="413711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 cap="flat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711F4BC2-CAC9-4564-BA2A-43C8759C80A0}"/>
              </a:ext>
            </a:extLst>
          </p:cNvPr>
          <p:cNvSpPr/>
          <p:nvPr/>
        </p:nvSpPr>
        <p:spPr>
          <a:xfrm>
            <a:off x="9317254" y="423318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BF135F-CF4A-4C2A-A66B-246046943CF2}"/>
              </a:ext>
            </a:extLst>
          </p:cNvPr>
          <p:cNvCxnSpPr>
            <a:cxnSpLocks/>
          </p:cNvCxnSpPr>
          <p:nvPr/>
        </p:nvCxnSpPr>
        <p:spPr>
          <a:xfrm>
            <a:off x="7542401" y="3773526"/>
            <a:ext cx="2664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8769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  <p:bldP spid="11" grpId="0" animBg="1"/>
      <p:bldP spid="16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349059" y="5586769"/>
            <a:ext cx="949388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49252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6C26B92-F91E-40A5-88BF-7DAB633BA5F1}"/>
              </a:ext>
            </a:extLst>
          </p:cNvPr>
          <p:cNvSpPr txBox="1"/>
          <p:nvPr/>
        </p:nvSpPr>
        <p:spPr>
          <a:xfrm>
            <a:off x="735675" y="2348062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71B756-7078-43C7-9059-FD18A00C1590}"/>
              </a:ext>
            </a:extLst>
          </p:cNvPr>
          <p:cNvSpPr txBox="1"/>
          <p:nvPr/>
        </p:nvSpPr>
        <p:spPr>
          <a:xfrm>
            <a:off x="9949695" y="2435413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B74F1-891F-44A2-8E33-3FFF8D7077B3}"/>
              </a:ext>
            </a:extLst>
          </p:cNvPr>
          <p:cNvSpPr/>
          <p:nvPr/>
        </p:nvSpPr>
        <p:spPr>
          <a:xfrm>
            <a:off x="2753484" y="5908100"/>
            <a:ext cx="66850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Tied: rounds to nearest even integer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F48D3D-64A1-473B-8A75-FAFAF7003BE0}"/>
              </a:ext>
            </a:extLst>
          </p:cNvPr>
          <p:cNvSpPr txBox="1"/>
          <p:nvPr/>
        </p:nvSpPr>
        <p:spPr>
          <a:xfrm>
            <a:off x="1060845" y="4994042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298566-28FE-415F-96C1-9E66F22659EC}"/>
              </a:ext>
            </a:extLst>
          </p:cNvPr>
          <p:cNvSpPr txBox="1"/>
          <p:nvPr/>
        </p:nvSpPr>
        <p:spPr>
          <a:xfrm>
            <a:off x="6688089" y="4991425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4CD20B-A0C3-4F7A-AE7A-CE84AEAD8778}"/>
              </a:ext>
            </a:extLst>
          </p:cNvPr>
          <p:cNvGrpSpPr/>
          <p:nvPr/>
        </p:nvGrpSpPr>
        <p:grpSpPr>
          <a:xfrm>
            <a:off x="5442488" y="3573143"/>
            <a:ext cx="936000" cy="1546331"/>
            <a:chOff x="5442488" y="3573143"/>
            <a:chExt cx="936000" cy="1546331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29C506D-7BBC-47FC-81EB-DC1B35DABBF8}"/>
                </a:ext>
              </a:extLst>
            </p:cNvPr>
            <p:cNvGrpSpPr/>
            <p:nvPr/>
          </p:nvGrpSpPr>
          <p:grpSpPr>
            <a:xfrm>
              <a:off x="5442488" y="3573143"/>
              <a:ext cx="936000" cy="900000"/>
              <a:chOff x="523102" y="3725543"/>
              <a:chExt cx="936000" cy="90000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137C440-EAA7-45AB-AEAE-C359B80BA470}"/>
                  </a:ext>
                </a:extLst>
              </p:cNvPr>
              <p:cNvCxnSpPr/>
              <p:nvPr/>
            </p:nvCxnSpPr>
            <p:spPr>
              <a:xfrm>
                <a:off x="991102" y="3725543"/>
                <a:ext cx="0" cy="90000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229CCD2-2E9A-4665-B3BF-737C24DCF2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3102" y="4625543"/>
                <a:ext cx="93600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2814893-56ED-4E3A-A466-857CE93500CD}"/>
                </a:ext>
              </a:extLst>
            </p:cNvPr>
            <p:cNvSpPr txBox="1"/>
            <p:nvPr/>
          </p:nvSpPr>
          <p:spPr>
            <a:xfrm>
              <a:off x="5696783" y="4473143"/>
              <a:ext cx="3978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600" b="1" dirty="0">
                  <a:solidFill>
                    <a:srgbClr val="FF0000"/>
                  </a:solidFill>
                </a:rPr>
                <a:t>?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DDEC6D2B-AC52-4B95-9EC4-0A183FC39DEC}"/>
              </a:ext>
            </a:extLst>
          </p:cNvPr>
          <p:cNvSpPr txBox="1"/>
          <p:nvPr/>
        </p:nvSpPr>
        <p:spPr>
          <a:xfrm>
            <a:off x="4225468" y="4991425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303787-A1FF-43AC-A99A-8808ABDBDC70}"/>
              </a:ext>
            </a:extLst>
          </p:cNvPr>
          <p:cNvSpPr txBox="1"/>
          <p:nvPr/>
        </p:nvSpPr>
        <p:spPr>
          <a:xfrm>
            <a:off x="9889083" y="4991424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  <p:bldP spid="22" grpId="0"/>
      <p:bldP spid="23" grpId="0" build="p"/>
      <p:bldP spid="24" grpId="0"/>
      <p:bldP spid="25" grpId="0"/>
      <p:bldP spid="28" grpId="0"/>
      <p:bldP spid="29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23765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string concatenation</a:t>
            </a:r>
          </a:p>
        </p:txBody>
      </p:sp>
    </p:spTree>
    <p:extLst>
      <p:ext uri="{BB962C8B-B14F-4D97-AF65-F5344CB8AC3E}">
        <p14:creationId xmlns:p14="http://schemas.microsoft.com/office/powerpoint/2010/main" val="213381687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Joining words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18053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Hello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873" y="5365777"/>
            <a:ext cx="19809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world</a:t>
            </a:r>
          </a:p>
        </p:txBody>
      </p:sp>
    </p:spTree>
    <p:extLst>
      <p:ext uri="{BB962C8B-B14F-4D97-AF65-F5344CB8AC3E}">
        <p14:creationId xmlns:p14="http://schemas.microsoft.com/office/powerpoint/2010/main" val="196565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1.85185E-6 L 0.24583 0.2849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92" y="1423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022E-16 -1.48148E-6 L -0.30169 -0.25324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091" y="-1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Joining strings together - concatenation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24352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"Hello"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42892" y="5455718"/>
            <a:ext cx="26109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"world"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4459" y="3604861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338081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18398 0.28542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93" y="14259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4.44444E-6 L -0.22826 -0.2643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19" y="-132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5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56122622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"world"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21019462"/>
              </p:ext>
            </p:extLst>
          </p:nvPr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019284" y="3748362"/>
            <a:ext cx="2778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</a:t>
            </a:r>
            <a:r>
              <a:rPr lang="en-GB" sz="3600" dirty="0" err="1"/>
              <a:t>Helloworld</a:t>
            </a:r>
            <a:r>
              <a:rPr lang="en-GB" sz="3600" dirty="0"/>
              <a:t>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B9C1A-F8A3-4987-8CD4-2D2CB985B9F7}"/>
              </a:ext>
            </a:extLst>
          </p:cNvPr>
          <p:cNvSpPr txBox="1"/>
          <p:nvPr/>
        </p:nvSpPr>
        <p:spPr>
          <a:xfrm>
            <a:off x="7942051" y="4390005"/>
            <a:ext cx="2897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 world"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2FF736-3AE8-4D3D-9D8D-4DADD39BAF6C}"/>
              </a:ext>
            </a:extLst>
          </p:cNvPr>
          <p:cNvGrpSpPr/>
          <p:nvPr/>
        </p:nvGrpSpPr>
        <p:grpSpPr>
          <a:xfrm>
            <a:off x="4134937" y="2939118"/>
            <a:ext cx="3100247" cy="1418084"/>
            <a:chOff x="4138651" y="2898228"/>
            <a:chExt cx="3100247" cy="14180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1554E53-5CD9-44A2-832A-6042706CA65C}"/>
                </a:ext>
              </a:extLst>
            </p:cNvPr>
            <p:cNvSpPr/>
            <p:nvPr/>
          </p:nvSpPr>
          <p:spPr>
            <a:xfrm>
              <a:off x="4138651" y="3776312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Callout: Bent Line with No Border 8">
              <a:extLst>
                <a:ext uri="{FF2B5EF4-FFF2-40B4-BE49-F238E27FC236}">
                  <a16:creationId xmlns:a16="http://schemas.microsoft.com/office/drawing/2014/main" id="{FDAD8DE4-9B79-4C7B-84B6-854583B22E60}"/>
                </a:ext>
              </a:extLst>
            </p:cNvPr>
            <p:cNvSpPr/>
            <p:nvPr/>
          </p:nvSpPr>
          <p:spPr>
            <a:xfrm>
              <a:off x="5150236" y="2898228"/>
              <a:ext cx="2088662" cy="635696"/>
            </a:xfrm>
            <a:prstGeom prst="callout2">
              <a:avLst>
                <a:gd name="adj1" fmla="val 49150"/>
                <a:gd name="adj2" fmla="val 154"/>
                <a:gd name="adj3" fmla="val 50581"/>
                <a:gd name="adj4" fmla="val -19746"/>
                <a:gd name="adj5" fmla="val 133457"/>
                <a:gd name="adj6" fmla="val -32496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Concatenate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9A8AD2B-4076-454E-BB4A-73A68D3DBD63}"/>
              </a:ext>
            </a:extLst>
          </p:cNvPr>
          <p:cNvGrpSpPr/>
          <p:nvPr/>
        </p:nvGrpSpPr>
        <p:grpSpPr>
          <a:xfrm>
            <a:off x="4053255" y="4448745"/>
            <a:ext cx="2053896" cy="1063220"/>
            <a:chOff x="4053255" y="4448745"/>
            <a:chExt cx="2053896" cy="106322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87FC2A-30EF-4226-842A-FF7C94B6A31C}"/>
                </a:ext>
              </a:extLst>
            </p:cNvPr>
            <p:cNvSpPr/>
            <p:nvPr/>
          </p:nvSpPr>
          <p:spPr>
            <a:xfrm>
              <a:off x="5470589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D761425-3AE6-4705-AA4B-32B34522071A}"/>
                </a:ext>
              </a:extLst>
            </p:cNvPr>
            <p:cNvSpPr/>
            <p:nvPr/>
          </p:nvSpPr>
          <p:spPr>
            <a:xfrm>
              <a:off x="4123786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9B0F73-6051-42B9-BECD-16A492C860D3}"/>
                </a:ext>
              </a:extLst>
            </p:cNvPr>
            <p:cNvSpPr/>
            <p:nvPr/>
          </p:nvSpPr>
          <p:spPr>
            <a:xfrm>
              <a:off x="4053255" y="4988745"/>
              <a:ext cx="205389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Concatenate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7706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7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9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652078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Concatenation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90688"/>
            <a:ext cx="171713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42892" y="5455718"/>
            <a:ext cx="28885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4181" y="5822514"/>
            <a:ext cx="696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Not integers, real, or Boolean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455" y="2921169"/>
            <a:ext cx="22470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dirty="0">
                <a:solidFill>
                  <a:srgbClr val="FF0000"/>
                </a:solidFill>
              </a:rPr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2249139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1.85185E-6 L 0.20117 0.1794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52" y="895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44444E-6 L -0.1293 -0.36944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471" y="-184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5" grpId="0"/>
      <p:bldP spid="5" grpId="1"/>
      <p:bldP spid="10" grpId="0"/>
      <p:bldP spid="6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21501921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casting to a string</a:t>
            </a:r>
          </a:p>
        </p:txBody>
      </p:sp>
    </p:spTree>
    <p:extLst>
      <p:ext uri="{BB962C8B-B14F-4D97-AF65-F5344CB8AC3E}">
        <p14:creationId xmlns:p14="http://schemas.microsoft.com/office/powerpoint/2010/main" val="189428881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(convert) to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01153" y="2008715"/>
            <a:ext cx="90008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02759" y="3334278"/>
            <a:ext cx="14984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961239" y="4659841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20657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"True"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Non-string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string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(convert) to String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92301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92301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7187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92301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24992DE-6CE7-4192-8BD2-1739D6B0557D}"/>
              </a:ext>
            </a:extLst>
          </p:cNvPr>
          <p:cNvGrpSpPr/>
          <p:nvPr/>
        </p:nvGrpSpPr>
        <p:grpSpPr>
          <a:xfrm>
            <a:off x="2372447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CC03498-E52B-4879-AE2F-6C8D9FA27CA3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2CFFA7C-9945-4D85-97DC-ABBE38FBC643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12B0E79E-B616-4CBA-87AE-B30088755BF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A64D53E-459C-465F-A694-218502FC04C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BFCFFD06-7B9B-4C03-97F5-8BF4553627D1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D76964-7EBD-4A1E-AEA5-42294110E243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ADC3FDD-16CE-4DDD-96B4-07B62E953E1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0481329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94670" y="5416317"/>
            <a:ext cx="4802661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non-string to string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55882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12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F26195-16AC-49B6-9DD0-FA8C4EA41025}"/>
              </a:ext>
            </a:extLst>
          </p:cNvPr>
          <p:cNvSpPr/>
          <p:nvPr/>
        </p:nvSpPr>
        <p:spPr>
          <a:xfrm>
            <a:off x="3587942" y="5416317"/>
            <a:ext cx="501611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5069328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6467241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1.56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54629917"/>
              </p:ext>
            </p:extLst>
          </p:nvPr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73EE8-87CF-B14C-FC25-DCDD2B78EA0B}"/>
              </a:ext>
            </a:extLst>
          </p:cNvPr>
          <p:cNvSpPr txBox="1"/>
          <p:nvPr/>
        </p:nvSpPr>
        <p:spPr>
          <a:xfrm>
            <a:off x="4596961" y="3748362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" " 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E46508-CFEE-552E-DF28-6D508EC574F4}"/>
              </a:ext>
            </a:extLst>
          </p:cNvPr>
          <p:cNvSpPr txBox="1"/>
          <p:nvPr/>
        </p:nvSpPr>
        <p:spPr>
          <a:xfrm>
            <a:off x="5911745" y="3748362"/>
            <a:ext cx="22188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(num1</a:t>
            </a:r>
            <a:r>
              <a:rPr lang="en-GB" sz="3200" dirty="0"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EA73FCE-77CA-43D9-BC52-6771804AD930}"/>
              </a:ext>
            </a:extLst>
          </p:cNvPr>
          <p:cNvGrpSpPr/>
          <p:nvPr/>
        </p:nvGrpSpPr>
        <p:grpSpPr>
          <a:xfrm>
            <a:off x="5848062" y="4360128"/>
            <a:ext cx="2218876" cy="619816"/>
            <a:chOff x="5848062" y="4360128"/>
            <a:chExt cx="2218876" cy="61981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36ACC12-8002-46B7-808C-25B612F49837}"/>
                </a:ext>
              </a:extLst>
            </p:cNvPr>
            <p:cNvSpPr/>
            <p:nvPr/>
          </p:nvSpPr>
          <p:spPr>
            <a:xfrm>
              <a:off x="5848062" y="4456724"/>
              <a:ext cx="221887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Cast to string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5CE73B-25D0-4342-9EB9-40F35BE74219}"/>
                </a:ext>
              </a:extLst>
            </p:cNvPr>
            <p:cNvCxnSpPr/>
            <p:nvPr/>
          </p:nvCxnSpPr>
          <p:spPr>
            <a:xfrm>
              <a:off x="5967500" y="4360128"/>
              <a:ext cx="1980000" cy="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4EBB1E-DF1C-470D-834E-6135B98CFDB5}"/>
                </a:ext>
              </a:extLst>
            </p:cNvPr>
            <p:cNvCxnSpPr/>
            <p:nvPr/>
          </p:nvCxnSpPr>
          <p:spPr>
            <a:xfrm>
              <a:off x="6957500" y="4365502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6392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12" grpId="0"/>
      <p:bldP spid="13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"1.56"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</p:spTree>
    <p:extLst>
      <p:ext uri="{BB962C8B-B14F-4D97-AF65-F5344CB8AC3E}">
        <p14:creationId xmlns:p14="http://schemas.microsoft.com/office/powerpoint/2010/main" val="152789886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keyboard input</a:t>
            </a:r>
          </a:p>
        </p:txBody>
      </p:sp>
    </p:spTree>
    <p:extLst>
      <p:ext uri="{BB962C8B-B14F-4D97-AF65-F5344CB8AC3E}">
        <p14:creationId xmlns:p14="http://schemas.microsoft.com/office/powerpoint/2010/main" val="427805318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User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20" y="1950840"/>
            <a:ext cx="3932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name"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607291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"Tom"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60729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573521" y="4601966"/>
            <a:ext cx="36251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"Enter age"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607292" y="4601965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Get user input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2B1725C-FDAD-8E32-26CF-A25787BAC84D}"/>
              </a:ext>
            </a:extLst>
          </p:cNvPr>
          <p:cNvSpPr txBox="1"/>
          <p:nvPr/>
        </p:nvSpPr>
        <p:spPr>
          <a:xfrm>
            <a:off x="914400" y="3211912"/>
            <a:ext cx="32842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pi"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81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7" grpId="0"/>
      <p:bldP spid="28" grpId="0"/>
      <p:bldP spid="36" grpId="0"/>
      <p:bldP spid="40" grpId="0"/>
      <p:bldP spid="41" grpId="0"/>
      <p:bldP spid="4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User input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3708550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204506" y="4866978"/>
            <a:ext cx="2726823" cy="862642"/>
          </a:xfrm>
          <a:prstGeom prst="callout2">
            <a:avLst>
              <a:gd name="adj1" fmla="val 51327"/>
              <a:gd name="adj2" fmla="val -4474"/>
              <a:gd name="adj3" fmla="val 51580"/>
              <a:gd name="adj4" fmla="val -19869"/>
              <a:gd name="adj5" fmla="val -62274"/>
              <a:gd name="adj6" fmla="val -197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tx1"/>
                </a:solidFill>
              </a:rPr>
              <a:t>Displayed on the screen (optional)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3860002" y="2319867"/>
            <a:ext cx="2728236" cy="862642"/>
          </a:xfrm>
          <a:prstGeom prst="callout2">
            <a:avLst>
              <a:gd name="adj1" fmla="val 50169"/>
              <a:gd name="adj2" fmla="val -432"/>
              <a:gd name="adj3" fmla="val 50714"/>
              <a:gd name="adj4" fmla="val -13748"/>
              <a:gd name="adj5" fmla="val 164190"/>
              <a:gd name="adj6" fmla="val -1373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>
                <a:solidFill>
                  <a:schemeClr val="tx1"/>
                </a:solidFill>
              </a:rPr>
              <a:t>input</a:t>
            </a:r>
            <a:r>
              <a:rPr lang="en-GB" sz="2800">
                <a:solidFill>
                  <a:schemeClr val="tx1"/>
                </a:solidFill>
              </a:rPr>
              <a:t>( ) function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input() – Example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29BF46-84AE-42C7-A90E-9C70AB8384FA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Everything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62AA1A5-DE93-4C83-A1A1-16F8C77F7EA1}"/>
              </a:ext>
            </a:extLst>
          </p:cNvPr>
          <p:cNvGrpSpPr/>
          <p:nvPr/>
        </p:nvGrpSpPr>
        <p:grpSpPr>
          <a:xfrm>
            <a:off x="1463571" y="2486017"/>
            <a:ext cx="1433512" cy="1154006"/>
            <a:chOff x="5456197" y="2058777"/>
            <a:chExt cx="1433512" cy="1154006"/>
          </a:xfrm>
        </p:grpSpPr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74CD36F8-C7A2-46BF-8A0A-5AE363F7C1BC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3D5F880-BDAD-4CF9-B88B-2EE894125808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8032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animBg="1"/>
      <p:bldP spid="10" grpId="0" animBg="1"/>
      <p:bldP spid="14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input() – Example</a:t>
            </a:r>
          </a:p>
        </p:txBody>
      </p:sp>
    </p:spTree>
    <p:extLst>
      <p:ext uri="{BB962C8B-B14F-4D97-AF65-F5344CB8AC3E}">
        <p14:creationId xmlns:p14="http://schemas.microsoft.com/office/powerpoint/2010/main" val="183716077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8111408"/>
              </p:ext>
            </p:extLst>
          </p:nvPr>
        </p:nvGraphicFramePr>
        <p:xfrm>
          <a:off x="6888848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75687"/>
              </p:ext>
            </p:extLst>
          </p:nvPr>
        </p:nvGraphicFramePr>
        <p:xfrm>
          <a:off x="7582450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9C09C1D1-7764-47BE-89EB-824870F98D61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Everything</a:t>
            </a:r>
            <a:r>
              <a:rPr lang="en-GB" sz="3200" dirty="0">
                <a:solidFill>
                  <a:srgbClr val="7030A0"/>
                </a:solidFill>
              </a:rPr>
              <a:t>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79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1827392"/>
              </p:ext>
            </p:extLst>
          </p:nvPr>
        </p:nvGraphicFramePr>
        <p:xfrm>
          <a:off x="6882124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4915134"/>
              </p:ext>
            </p:extLst>
          </p:nvPr>
        </p:nvGraphicFramePr>
        <p:xfrm>
          <a:off x="7595904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413803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casting to a number</a:t>
            </a:r>
          </a:p>
        </p:txBody>
      </p:sp>
    </p:spTree>
    <p:extLst>
      <p:ext uri="{BB962C8B-B14F-4D97-AF65-F5344CB8AC3E}">
        <p14:creationId xmlns:p14="http://schemas.microsoft.com/office/powerpoint/2010/main" val="171094895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(convert)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D550B0-78F8-4609-ACA7-D01FA28DE5F0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9FCA59A-C6C8-4FE7-937D-F924D6025527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3E1E4FC-6C2F-4382-A28C-7A8F885DF0B5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C2826AC-7F44-4299-8866-DE1764F90F4A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4FD2816-373D-4177-B305-495048083F64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3F632AB-302E-41E3-885B-DC06229F5D2C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3BE8097-0B13-408B-A322-A52C7D9895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7C97C83-F114-4D54-B529-3C7158697F3F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37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(convert)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AACA79B-13CE-484A-9E10-BCEE8158831C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1089BF-E1D9-40B2-A628-58D0924934DF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A0F8047-9003-42F3-8C14-90236A33FDFA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C5F7325B-E9A4-490E-ACB6-0F71E2B1FA2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AC3DA51-3D32-4C03-B43A-5E3DDDF85D2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830847D-7E87-41A5-8202-EC479F705D49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DE27D93-022F-47DA-9FFC-6CCECF413F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58E1C9A-584A-4710-BE6A-5C6827CCC16B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939793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61198" y="5415657"/>
            <a:ext cx="486960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914699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818507" y="3697795"/>
            <a:ext cx="108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589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77411819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(convert) to Real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"4.2"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4.2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"-9.6"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-9.6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Real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real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64556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(convert) to Real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93554428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77500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021576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89" y="5415657"/>
            <a:ext cx="443602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real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2896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251341" y="3697795"/>
            <a:ext cx="1188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709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388819061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Multiple Functions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306662" y="2756911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-88048" y="2737408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"Age?"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5396153" y="2472253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576DB45-F478-4222-A26D-CCD548668595}"/>
              </a:ext>
            </a:extLst>
          </p:cNvPr>
          <p:cNvSpPr txBox="1"/>
          <p:nvPr/>
        </p:nvSpPr>
        <p:spPr>
          <a:xfrm>
            <a:off x="10306644" y="4469625"/>
            <a:ext cx="14953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397D43-024D-484C-86BC-4EEA6F6ED406}"/>
              </a:ext>
            </a:extLst>
          </p:cNvPr>
          <p:cNvSpPr txBox="1"/>
          <p:nvPr/>
        </p:nvSpPr>
        <p:spPr>
          <a:xfrm>
            <a:off x="223472" y="4450122"/>
            <a:ext cx="177951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"Pi?"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1742ED-D47A-4C3A-8F27-312B559A095D}"/>
              </a:ext>
            </a:extLst>
          </p:cNvPr>
          <p:cNvSpPr txBox="1"/>
          <p:nvPr/>
        </p:nvSpPr>
        <p:spPr>
          <a:xfrm>
            <a:off x="5041412" y="4183400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int()</a:t>
                </a:r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9CE8FF4E-A29A-4634-89AE-E045BD7C522D}"/>
              </a:ext>
            </a:extLst>
          </p:cNvPr>
          <p:cNvSpPr txBox="1"/>
          <p:nvPr/>
        </p:nvSpPr>
        <p:spPr>
          <a:xfrm>
            <a:off x="1226333" y="5822457"/>
            <a:ext cx="9739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Output 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input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176028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36" grpId="0"/>
      <p:bldP spid="33" grpId="0"/>
      <p:bldP spid="35" grpId="0"/>
      <p:bldP spid="42" grpId="0"/>
      <p:bldP spid="29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Multiple Functions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8010731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267828" y="4656268"/>
            <a:ext cx="174221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95878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111049" y="1890271"/>
            <a:ext cx="1518365" cy="1154006"/>
            <a:chOff x="5413771" y="2058777"/>
            <a:chExt cx="1518365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413771" y="2058777"/>
              <a:ext cx="15183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74787" y="4224947"/>
            <a:ext cx="1367576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D871A9-869C-4330-AED7-2432221214C9}"/>
              </a:ext>
            </a:extLst>
          </p:cNvPr>
          <p:cNvGrpSpPr/>
          <p:nvPr/>
        </p:nvGrpSpPr>
        <p:grpSpPr>
          <a:xfrm>
            <a:off x="4791915" y="1459387"/>
            <a:ext cx="1754005" cy="1584892"/>
            <a:chOff x="5295950" y="1627891"/>
            <a:chExt cx="1754005" cy="1584892"/>
          </a:xfrm>
        </p:grpSpPr>
        <p:sp>
          <p:nvSpPr>
            <p:cNvPr id="18" name="Arrow: Curved Down 17">
              <a:extLst>
                <a:ext uri="{FF2B5EF4-FFF2-40B4-BE49-F238E27FC236}">
                  <a16:creationId xmlns:a16="http://schemas.microsoft.com/office/drawing/2014/main" id="{422BF478-04B7-4F0F-ABC5-1085EA48040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AD92A7D-151E-46DB-BC41-671542C9120B}"/>
                </a:ext>
              </a:extLst>
            </p:cNvPr>
            <p:cNvSpPr txBox="1"/>
            <p:nvPr/>
          </p:nvSpPr>
          <p:spPr>
            <a:xfrm>
              <a:off x="5295950" y="1627891"/>
              <a:ext cx="175400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1 /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Input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28434900-09DB-4B16-8ABF-1E129B8B161E}"/>
              </a:ext>
            </a:extLst>
          </p:cNvPr>
          <p:cNvSpPr/>
          <p:nvPr/>
        </p:nvSpPr>
        <p:spPr>
          <a:xfrm flipH="1">
            <a:off x="2720712" y="4132699"/>
            <a:ext cx="174221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39977"/>
              <a:gd name="adj6" fmla="val -198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2</a:t>
            </a:r>
          </a:p>
        </p:txBody>
      </p:sp>
    </p:spTree>
    <p:extLst>
      <p:ext uri="{BB962C8B-B14F-4D97-AF65-F5344CB8AC3E}">
        <p14:creationId xmlns:p14="http://schemas.microsoft.com/office/powerpoint/2010/main" val="213409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1" grpId="0" animBg="1"/>
      <p:bldP spid="16" grpId="0"/>
      <p:bldP spid="20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</p:spTree>
    <p:extLst>
      <p:ext uri="{BB962C8B-B14F-4D97-AF65-F5344CB8AC3E}">
        <p14:creationId xmlns:p14="http://schemas.microsoft.com/office/powerpoint/2010/main" val="2446274386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58158"/>
              </p:ext>
            </p:extLst>
          </p:nvPr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78266"/>
              </p:ext>
            </p:extLst>
          </p:nvPr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44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/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value1 =    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/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255775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dirty="0"/>
              <a:t>Describe and use:</a:t>
            </a:r>
          </a:p>
          <a:p>
            <a:pPr lvl="1"/>
            <a:r>
              <a:rPr lang="en-GB" sz="3200">
                <a:ea typeface="Calibri"/>
                <a:cs typeface="Calibri"/>
              </a:rPr>
              <a:t>Python shell</a:t>
            </a:r>
            <a:endParaRPr lang="en-GB" sz="3200" dirty="0">
              <a:ea typeface="Calibri"/>
              <a:cs typeface="Calibri"/>
            </a:endParaRPr>
          </a:p>
          <a:p>
            <a:pPr lvl="1"/>
            <a:r>
              <a:rPr lang="en-GB" sz="3200">
                <a:ea typeface="Calibri"/>
                <a:cs typeface="Calibri"/>
              </a:rPr>
              <a:t>print</a:t>
            </a:r>
            <a:endParaRPr lang="en-GB" sz="3200" dirty="0">
              <a:ea typeface="Calibri"/>
              <a:cs typeface="Calibri"/>
            </a:endParaRPr>
          </a:p>
          <a:p>
            <a:pPr lvl="1"/>
            <a:r>
              <a:rPr lang="en-GB" sz="3200" i="1"/>
              <a:t>input</a:t>
            </a:r>
            <a:endParaRPr lang="en-GB" sz="3200" i="1" dirty="0"/>
          </a:p>
        </p:txBody>
      </p:sp>
    </p:spTree>
    <p:extLst>
      <p:ext uri="{BB962C8B-B14F-4D97-AF65-F5344CB8AC3E}">
        <p14:creationId xmlns:p14="http://schemas.microsoft.com/office/powerpoint/2010/main" val="943622109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use:</a:t>
            </a:r>
          </a:p>
          <a:p>
            <a:pPr lvl="1"/>
            <a:r>
              <a:rPr lang="en-GB" sz="3200" dirty="0"/>
              <a:t>meaningful identifiers</a:t>
            </a:r>
          </a:p>
          <a:p>
            <a:pPr lvl="1"/>
            <a:r>
              <a:rPr lang="en-GB" sz="3200" dirty="0"/>
              <a:t>internal commentary</a:t>
            </a:r>
          </a:p>
          <a:p>
            <a:pPr lvl="1"/>
            <a:r>
              <a:rPr lang="en-GB" sz="3200" dirty="0"/>
              <a:t>white space</a:t>
            </a:r>
          </a:p>
          <a:p>
            <a:pPr lvl="1"/>
            <a:r>
              <a:rPr lang="en-GB" sz="3200" i="1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2197832928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US" altLang="en-US" sz="260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US" altLang="en-US" sz="2600" dirty="0"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285373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US" altLang="en-US" sz="2600" dirty="0">
              <a:latin typeface="Arial" panose="020B0604020202020204" pitchFamily="34" charset="0"/>
            </a:endParaRPr>
          </a:p>
          <a:p>
            <a:pPr marL="0" indent="0">
              <a:spcAft>
                <a:spcPts val="600"/>
              </a:spcAft>
              <a:buNone/>
            </a:pP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total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255790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US" altLang="en-US" sz="260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US" altLang="en-US" sz="2600" dirty="0"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800" y="4001294"/>
            <a:ext cx="5321137" cy="27699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3. White space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4. Indentation (not shown)</a:t>
            </a:r>
          </a:p>
        </p:txBody>
      </p:sp>
    </p:spTree>
    <p:extLst>
      <p:ext uri="{BB962C8B-B14F-4D97-AF65-F5344CB8AC3E}">
        <p14:creationId xmlns:p14="http://schemas.microsoft.com/office/powerpoint/2010/main" val="3469933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6" grpId="0" uiExpand="1" build="p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US" altLang="en-US" sz="260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US" altLang="en-US" sz="2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874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TAD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Initialise variables – correct datatype(s)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Get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Use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Display results – concatenate, cast if necessary</a:t>
            </a:r>
          </a:p>
        </p:txBody>
      </p:sp>
    </p:spTree>
    <p:extLst>
      <p:ext uri="{BB962C8B-B14F-4D97-AF65-F5344CB8AC3E}">
        <p14:creationId xmlns:p14="http://schemas.microsoft.com/office/powerpoint/2010/main" val="81122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dirty="0"/>
              <a:t>TAD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dirty="0"/>
              <a:t>Initialise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dirty="0"/>
              <a:t>Get values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dirty="0"/>
              <a:t>Use values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dirty="0"/>
              <a:t>Display</a:t>
            </a:r>
          </a:p>
        </p:txBody>
      </p:sp>
    </p:spTree>
    <p:extLst>
      <p:ext uri="{BB962C8B-B14F-4D97-AF65-F5344CB8AC3E}">
        <p14:creationId xmlns:p14="http://schemas.microsoft.com/office/powerpoint/2010/main" val="2374843762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2663674367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049080" y="3350434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25887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55379" y="3366292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-36744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802588" y="5821213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72777"/>
              <a:gd name="adj6" fmla="val 48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571111" y="2568455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837825" y="4857546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0, 1, 2, 3, 4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068598" y="188631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26341"/>
              <a:gd name="adj6" fmla="val 132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613128" y="4965268"/>
            <a:ext cx="218963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are integers</a:t>
            </a:r>
            <a:endParaRPr lang="en-GB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98828-579F-4145-80AF-55779194683E}"/>
              </a:ext>
            </a:extLst>
          </p:cNvPr>
          <p:cNvSpPr txBox="1"/>
          <p:nvPr/>
        </p:nvSpPr>
        <p:spPr>
          <a:xfrm>
            <a:off x="6096000" y="1273497"/>
            <a:ext cx="53931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Stop – Start: Number of values</a:t>
            </a:r>
            <a:endParaRPr lang="en-GB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F49C59-7B1E-411C-8E49-CDBF3989209E}"/>
              </a:ext>
            </a:extLst>
          </p:cNvPr>
          <p:cNvSpPr txBox="1"/>
          <p:nvPr/>
        </p:nvSpPr>
        <p:spPr>
          <a:xfrm>
            <a:off x="8792571" y="6154320"/>
            <a:ext cx="33711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Last value: Stop - 1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1630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21" grpId="0" animBg="1"/>
      <p:bldP spid="22" grpId="0"/>
      <p:bldP spid="23" grpId="0"/>
      <p:bldP spid="24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59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4" grpId="0" build="p"/>
      <p:bldP spid="10" grpId="0" animBg="1"/>
      <p:bldP spid="16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5700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368495" y="1467915"/>
            <a:ext cx="108749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D5451DFE-FE85-4E33-8947-0DD215E1863A}"/>
              </a:ext>
            </a:extLst>
          </p:cNvPr>
          <p:cNvSpPr/>
          <p:nvPr/>
        </p:nvSpPr>
        <p:spPr>
          <a:xfrm>
            <a:off x="5748867" y="1465270"/>
            <a:ext cx="182118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82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</p:spTree>
    <p:extLst>
      <p:ext uri="{BB962C8B-B14F-4D97-AF65-F5344CB8AC3E}">
        <p14:creationId xmlns:p14="http://schemas.microsoft.com/office/powerpoint/2010/main" val="1286943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2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Start Value</a:t>
            </a:r>
          </a:p>
        </p:txBody>
      </p:sp>
    </p:spTree>
    <p:extLst>
      <p:ext uri="{BB962C8B-B14F-4D97-AF65-F5344CB8AC3E}">
        <p14:creationId xmlns:p14="http://schemas.microsoft.com/office/powerpoint/2010/main" val="314823601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80018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No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956384" y="1467915"/>
            <a:ext cx="1261117" cy="862642"/>
          </a:xfrm>
          <a:prstGeom prst="callout2">
            <a:avLst>
              <a:gd name="adj1" fmla="val 50315"/>
              <a:gd name="adj2" fmla="val 100204"/>
              <a:gd name="adj3" fmla="val 50115"/>
              <a:gd name="adj4" fmla="val 118027"/>
              <a:gd name="adj5" fmla="val 137110"/>
              <a:gd name="adj6" fmla="val 1182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562336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No Start Value</a:t>
            </a:r>
          </a:p>
        </p:txBody>
      </p:sp>
    </p:spTree>
    <p:extLst>
      <p:ext uri="{BB962C8B-B14F-4D97-AF65-F5344CB8AC3E}">
        <p14:creationId xmlns:p14="http://schemas.microsoft.com/office/powerpoint/2010/main" val="1073330507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use:</a:t>
            </a:r>
          </a:p>
          <a:p>
            <a:pPr lvl="1"/>
            <a:r>
              <a:rPr lang="en-GB" sz="3200" dirty="0"/>
              <a:t>meaningful identifiers</a:t>
            </a:r>
          </a:p>
          <a:p>
            <a:pPr lvl="1"/>
            <a:r>
              <a:rPr lang="en-GB" sz="3200" dirty="0"/>
              <a:t>internal commentary</a:t>
            </a:r>
          </a:p>
          <a:p>
            <a:pPr lvl="1"/>
            <a:r>
              <a:rPr lang="en-GB" sz="3200" dirty="0"/>
              <a:t>white space</a:t>
            </a:r>
          </a:p>
          <a:p>
            <a:pPr lvl="1"/>
            <a:r>
              <a:rPr lang="en-GB" sz="3200" b="1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3707300961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dirty="0"/>
              <a:t>spaces at the start of a line</a:t>
            </a:r>
          </a:p>
          <a:p>
            <a:r>
              <a:rPr lang="en-GB" dirty="0"/>
              <a:t>indicates a block of code</a:t>
            </a:r>
          </a:p>
          <a:p>
            <a:r>
              <a:rPr lang="en-GB" dirty="0"/>
              <a:t>Python: very important</a:t>
            </a:r>
          </a:p>
          <a:p>
            <a:r>
              <a:rPr lang="en-GB" dirty="0"/>
              <a:t>Python: follows a colon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US" altLang="en-US" sz="2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US" altLang="en-US" sz="2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US" altLang="en-US" sz="2600" dirty="0">
              <a:latin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11DBD42-74A9-1DFB-A9EA-639ED1939A01}"/>
              </a:ext>
            </a:extLst>
          </p:cNvPr>
          <p:cNvGrpSpPr/>
          <p:nvPr/>
        </p:nvGrpSpPr>
        <p:grpSpPr>
          <a:xfrm>
            <a:off x="6172202" y="2826075"/>
            <a:ext cx="1172127" cy="2350437"/>
            <a:chOff x="5756560" y="3130195"/>
            <a:chExt cx="1324529" cy="2350437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B801C745-1F92-46CB-A585-A4384156A181}"/>
                </a:ext>
              </a:extLst>
            </p:cNvPr>
            <p:cNvSpPr/>
            <p:nvPr/>
          </p:nvSpPr>
          <p:spPr>
            <a:xfrm flipH="1">
              <a:off x="6385639" y="3130195"/>
              <a:ext cx="695450" cy="2350437"/>
            </a:xfrm>
            <a:prstGeom prst="rightBrace">
              <a:avLst>
                <a:gd name="adj1" fmla="val 0"/>
                <a:gd name="adj2" fmla="val 5077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37ACA5-A063-A294-DB2A-3C5F940C669C}"/>
                </a:ext>
              </a:extLst>
            </p:cNvPr>
            <p:cNvSpPr txBox="1"/>
            <p:nvPr/>
          </p:nvSpPr>
          <p:spPr>
            <a:xfrm rot="16200000">
              <a:off x="5030127" y="4186025"/>
              <a:ext cx="197608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2800" b="1" dirty="0">
                  <a:solidFill>
                    <a:srgbClr val="7030A0"/>
                  </a:solidFill>
                </a:rPr>
                <a:t>Code block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3FB1337-ADE2-E7DB-57D3-BFDFE117AA48}"/>
              </a:ext>
            </a:extLst>
          </p:cNvPr>
          <p:cNvSpPr/>
          <p:nvPr/>
        </p:nvSpPr>
        <p:spPr>
          <a:xfrm>
            <a:off x="2694778" y="5285458"/>
            <a:ext cx="2476644" cy="525463"/>
          </a:xfrm>
          <a:prstGeom prst="callout2">
            <a:avLst>
              <a:gd name="adj1" fmla="val 50336"/>
              <a:gd name="adj2" fmla="val 99954"/>
              <a:gd name="adj3" fmla="val 50392"/>
              <a:gd name="adj4" fmla="val 131808"/>
              <a:gd name="adj5" fmla="val 98917"/>
              <a:gd name="adj6" fmla="val 15006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Code block end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(Not indented)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4A19A1FB-ECA6-4694-B637-300440FD5518}"/>
              </a:ext>
            </a:extLst>
          </p:cNvPr>
          <p:cNvSpPr/>
          <p:nvPr/>
        </p:nvSpPr>
        <p:spPr>
          <a:xfrm>
            <a:off x="9870723" y="1292163"/>
            <a:ext cx="1087495" cy="465993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404456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9" grpId="0" animBg="1"/>
      <p:bldP spid="11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dirty="0"/>
              <a:t>spaces at the </a:t>
            </a:r>
          </a:p>
          <a:p>
            <a:r>
              <a:rPr lang="en-GB" dirty="0"/>
              <a:t>indicates a </a:t>
            </a:r>
          </a:p>
          <a:p>
            <a:r>
              <a:rPr lang="en-GB" dirty="0"/>
              <a:t>Python: </a:t>
            </a:r>
          </a:p>
          <a:p>
            <a:r>
              <a:rPr lang="en-GB" dirty="0"/>
              <a:t>Python: follows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US" altLang="en-US" sz="2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US" altLang="en-US" sz="2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US" altLang="en-US" sz="2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5409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3805715408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40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US" altLang="en-US" sz="5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08E77E49-87FD-FA4E-E7EC-2A87609FF1A5}"/>
              </a:ext>
            </a:extLst>
          </p:cNvPr>
          <p:cNvSpPr/>
          <p:nvPr/>
        </p:nvSpPr>
        <p:spPr>
          <a:xfrm>
            <a:off x="8480367" y="3528432"/>
            <a:ext cx="2381413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9802"/>
              <a:gd name="adj5" fmla="val 157241"/>
              <a:gd name="adj6" fmla="val -67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new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6E1680AB-4214-D0B4-248A-DE6A61414F38}"/>
              </a:ext>
            </a:extLst>
          </p:cNvPr>
          <p:cNvSpPr/>
          <p:nvPr/>
        </p:nvSpPr>
        <p:spPr>
          <a:xfrm>
            <a:off x="8480367" y="5231238"/>
            <a:ext cx="2047933" cy="568516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8148"/>
              <a:gd name="adj6" fmla="val -5465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Add to total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419078-3ED5-EE44-3476-F3E305781F00}"/>
              </a:ext>
            </a:extLst>
          </p:cNvPr>
          <p:cNvGrpSpPr/>
          <p:nvPr/>
        </p:nvGrpSpPr>
        <p:grpSpPr>
          <a:xfrm>
            <a:off x="3611298" y="1844675"/>
            <a:ext cx="3767922" cy="1031875"/>
            <a:chOff x="7465700" y="4091601"/>
            <a:chExt cx="3767922" cy="1031875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02531D6E-4045-0BA1-B29F-D38C5ED32B2B}"/>
                </a:ext>
              </a:extLst>
            </p:cNvPr>
            <p:cNvSpPr/>
            <p:nvPr/>
          </p:nvSpPr>
          <p:spPr>
            <a:xfrm>
              <a:off x="7465700" y="4091601"/>
              <a:ext cx="383079" cy="1031875"/>
            </a:xfrm>
            <a:prstGeom prst="rightBrace">
              <a:avLst>
                <a:gd name="adj1" fmla="val 0"/>
                <a:gd name="adj2" fmla="val 49508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64A8F8-8253-D8AB-3C7E-49A1D6A6BDD7}"/>
                </a:ext>
              </a:extLst>
            </p:cNvPr>
            <p:cNvSpPr txBox="1"/>
            <p:nvPr/>
          </p:nvSpPr>
          <p:spPr>
            <a:xfrm>
              <a:off x="7919067" y="4345928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Initialise variables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A9ADD810-5765-5C6A-2884-D1A6959E4354}"/>
              </a:ext>
            </a:extLst>
          </p:cNvPr>
          <p:cNvSpPr/>
          <p:nvPr/>
        </p:nvSpPr>
        <p:spPr>
          <a:xfrm>
            <a:off x="7576833" y="2622791"/>
            <a:ext cx="3855000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4613"/>
              <a:gd name="adj5" fmla="val 148599"/>
              <a:gd name="adj6" fmla="val -241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many values to add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25EBCB-801E-43AF-A04E-FF70CB2F143D}"/>
              </a:ext>
            </a:extLst>
          </p:cNvPr>
          <p:cNvSpPr txBox="1"/>
          <p:nvPr/>
        </p:nvSpPr>
        <p:spPr>
          <a:xfrm>
            <a:off x="8197624" y="702955"/>
            <a:ext cx="31561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Add multiple values together in a loop</a:t>
            </a:r>
          </a:p>
        </p:txBody>
      </p:sp>
    </p:spTree>
    <p:extLst>
      <p:ext uri="{BB962C8B-B14F-4D97-AF65-F5344CB8AC3E}">
        <p14:creationId xmlns:p14="http://schemas.microsoft.com/office/powerpoint/2010/main" val="931807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9" grpId="0" animBg="1"/>
      <p:bldP spid="10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40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US" altLang="en-US" sz="5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52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30276252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/>
              <a:t>True</a:t>
            </a:r>
          </a:p>
          <a:p>
            <a:pPr marL="0" indent="0" algn="ctr">
              <a:buNone/>
            </a:pPr>
            <a:r>
              <a:rPr lang="en-GB"/>
              <a:t>1</a:t>
            </a:r>
          </a:p>
          <a:p>
            <a:pPr marL="0" indent="0" algn="ctr">
              <a:buNone/>
            </a:pPr>
            <a:r>
              <a:rPr lang="en-GB"/>
              <a:t>On</a:t>
            </a:r>
          </a:p>
          <a:p>
            <a:pPr marL="0" indent="0" algn="ctr">
              <a:buNone/>
            </a:pPr>
            <a:r>
              <a:rPr lang="en-GB"/>
              <a:t>Yes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/>
              <a:t>False</a:t>
            </a:r>
          </a:p>
          <a:p>
            <a:pPr marL="0" indent="0" algn="ctr">
              <a:buNone/>
            </a:pPr>
            <a:r>
              <a:rPr lang="en-GB"/>
              <a:t>0</a:t>
            </a:r>
          </a:p>
          <a:p>
            <a:pPr marL="0" indent="0" algn="ctr">
              <a:buNone/>
            </a:pPr>
            <a:r>
              <a:rPr lang="en-GB"/>
              <a:t>Off</a:t>
            </a:r>
          </a:p>
          <a:p>
            <a:pPr marL="0" indent="0" algn="ctr">
              <a:buNone/>
            </a:pPr>
            <a:r>
              <a:rPr lang="en-GB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73764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22041855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Equality, the same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Greater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Greater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Less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Less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Inequality, not the same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821E29-F4FD-43F1-874A-10D2E5647E0C}"/>
              </a:ext>
            </a:extLst>
          </p:cNvPr>
          <p:cNvSpPr txBox="1"/>
          <p:nvPr/>
        </p:nvSpPr>
        <p:spPr>
          <a:xfrm>
            <a:off x="5949386" y="643185"/>
            <a:ext cx="5150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b="1" dirty="0">
                <a:solidFill>
                  <a:srgbClr val="7030A0"/>
                </a:solidFill>
                <a:latin typeface="+mj-lt"/>
                <a:ea typeface="+mj-ea"/>
                <a:cs typeface="+mj-cs"/>
              </a:rPr>
              <a:t>/ Relational Operators</a:t>
            </a:r>
          </a:p>
        </p:txBody>
      </p:sp>
    </p:spTree>
    <p:extLst>
      <p:ext uri="{BB962C8B-B14F-4D97-AF65-F5344CB8AC3E}">
        <p14:creationId xmlns:p14="http://schemas.microsoft.com/office/powerpoint/2010/main" val="309158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81634499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720888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33182840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12879686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If your eyes are blue, raise your hand</a:t>
            </a:r>
          </a:p>
          <a:p>
            <a:endParaRPr lang="en-GB" dirty="0"/>
          </a:p>
          <a:p>
            <a:r>
              <a:rPr lang="en-GB" dirty="0"/>
              <a:t>If your hair is dark, put a finger </a:t>
            </a:r>
            <a:r>
              <a:rPr lang="en-GB" b="1" i="1" dirty="0"/>
              <a:t>on</a:t>
            </a:r>
            <a:r>
              <a:rPr lang="en-GB" dirty="0"/>
              <a:t> your nose</a:t>
            </a:r>
          </a:p>
          <a:p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6AED6-4DD3-5934-4B03-C13A9A9BD534}"/>
              </a:ext>
            </a:extLst>
          </p:cNvPr>
          <p:cNvSpPr txBox="1"/>
          <p:nvPr/>
        </p:nvSpPr>
        <p:spPr>
          <a:xfrm>
            <a:off x="2153611" y="4813055"/>
            <a:ext cx="78847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True, do something</a:t>
            </a:r>
          </a:p>
          <a:p>
            <a:pPr algn="ctr"/>
            <a:endParaRPr lang="en-GB" sz="3600" dirty="0">
              <a:solidFill>
                <a:srgbClr val="7030A0"/>
              </a:solidFill>
            </a:endParaRP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False, do nothing</a:t>
            </a:r>
          </a:p>
        </p:txBody>
      </p:sp>
    </p:spTree>
    <p:extLst>
      <p:ext uri="{BB962C8B-B14F-4D97-AF65-F5344CB8AC3E}">
        <p14:creationId xmlns:p14="http://schemas.microsoft.com/office/powerpoint/2010/main" val="285329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 1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47198320"/>
              </p:ext>
            </p:extLst>
          </p:nvPr>
        </p:nvGraphicFramePr>
        <p:xfrm>
          <a:off x="836612" y="2498769"/>
          <a:ext cx="4330589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Example 2</a:t>
            </a: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034396264"/>
              </p:ext>
            </p:extLst>
          </p:nvPr>
        </p:nvGraphicFramePr>
        <p:xfrm>
          <a:off x="6172200" y="2498769"/>
          <a:ext cx="4295613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019550" y="4159249"/>
            <a:ext cx="850900" cy="457198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9863975" y="4290812"/>
            <a:ext cx="354015" cy="2022876"/>
          </a:xfrm>
          <a:prstGeom prst="bentArrow">
            <a:avLst>
              <a:gd name="adj1" fmla="val 36850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7EBDCE5E-93E0-BA9E-F09E-E8A4C7655DFE}"/>
              </a:ext>
            </a:extLst>
          </p:cNvPr>
          <p:cNvSpPr/>
          <p:nvPr/>
        </p:nvSpPr>
        <p:spPr>
          <a:xfrm>
            <a:off x="2940050" y="5302250"/>
            <a:ext cx="311150" cy="65405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C4A1E-BEB6-4860-9E42-4E9463ED0A43}"/>
              </a:ext>
            </a:extLst>
          </p:cNvPr>
          <p:cNvGrpSpPr/>
          <p:nvPr/>
        </p:nvGrpSpPr>
        <p:grpSpPr>
          <a:xfrm>
            <a:off x="2070101" y="2947382"/>
            <a:ext cx="2670560" cy="892082"/>
            <a:chOff x="5729820" y="1874195"/>
            <a:chExt cx="5522683" cy="1519643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AFE68C80-03F9-4AD0-8A88-FD3DE07C519D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D9B3CD-18A8-4B63-B4C5-EE70A7A942C1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713C0FB-A865-41A5-A083-099A2DD612E5}"/>
              </a:ext>
            </a:extLst>
          </p:cNvPr>
          <p:cNvGrpSpPr/>
          <p:nvPr/>
        </p:nvGrpSpPr>
        <p:grpSpPr>
          <a:xfrm>
            <a:off x="7778750" y="2947381"/>
            <a:ext cx="2622957" cy="892082"/>
            <a:chOff x="5729820" y="1874195"/>
            <a:chExt cx="5522683" cy="1519643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5143CC03-D700-4CC5-BFAB-B7F96B163386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B8230E-5E55-432E-9C9F-A134DFD96783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56596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20" grpId="0" animBg="1"/>
      <p:bldP spid="21" grpId="0" animBg="1"/>
      <p:bldP spid="22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316262125"/>
              </p:ext>
            </p:extLst>
          </p:nvPr>
        </p:nvGraphicFramePr>
        <p:xfrm>
          <a:off x="836612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29411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2840514825"/>
              </p:ext>
            </p:extLst>
          </p:nvPr>
        </p:nvGraphicFramePr>
        <p:xfrm>
          <a:off x="6172200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64387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GB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5974423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992C3-7BE4-4687-2CB9-1CA420A5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5F57F88-BAC5-60CE-2F94-967E97FDB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88440499-B7BF-41F1-B37B-57D19C48F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3B184D2-D421-CDDC-6134-BE9317033B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E8A4088-0B6B-5BCA-5BEB-F79C67C5F670}"/>
              </a:ext>
            </a:extLst>
          </p:cNvPr>
          <p:cNvSpPr/>
          <p:nvPr/>
        </p:nvSpPr>
        <p:spPr>
          <a:xfrm>
            <a:off x="7642362" y="3039608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BE38946F-26FB-99A6-E0A3-C1F72F914B9D}"/>
              </a:ext>
            </a:extLst>
          </p:cNvPr>
          <p:cNvSpPr/>
          <p:nvPr/>
        </p:nvSpPr>
        <p:spPr>
          <a:xfrm>
            <a:off x="1156170" y="2414824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7BC6AF4-6952-D230-6541-F1A38A1567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25CCBCD-43D3-56BA-90E2-35B215CE29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3762346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F2EC54-9866-8270-1AA5-924BC4987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F47563A4-0AE6-1125-A12A-CF840E9DE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355E030-FBD0-2A6C-5B85-4FBEDBCD91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C57592A-2C22-B432-CFAE-AFA537FC80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1F1E60D-4BD7-4474-40BC-40C10202738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BEB22B2-30BB-FC56-1765-02A6ECB0F5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4007377518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544491002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If your eyes are blue, raise your hand</a:t>
            </a:r>
          </a:p>
          <a:p>
            <a:pPr marL="914400" lvl="2" indent="0">
              <a:buNone/>
            </a:pPr>
            <a:r>
              <a:rPr lang="en-GB" sz="3200" dirty="0"/>
              <a:t>Otherwise, put a finger </a:t>
            </a:r>
            <a:r>
              <a:rPr lang="en-GB" sz="3200" b="1" i="1" dirty="0"/>
              <a:t>on</a:t>
            </a:r>
            <a:r>
              <a:rPr lang="en-GB" sz="3200" dirty="0"/>
              <a:t> your nose</a:t>
            </a:r>
            <a:endParaRPr lang="en-GB" dirty="0"/>
          </a:p>
          <a:p>
            <a:pPr>
              <a:spcBef>
                <a:spcPts val="2400"/>
              </a:spcBef>
            </a:pPr>
            <a:r>
              <a:rPr lang="en-GB" dirty="0"/>
              <a:t>If your hair is dark, put a finger </a:t>
            </a:r>
            <a:r>
              <a:rPr lang="en-GB" b="1" i="1" dirty="0"/>
              <a:t>on</a:t>
            </a:r>
            <a:r>
              <a:rPr lang="en-GB" dirty="0"/>
              <a:t> your nose</a:t>
            </a:r>
          </a:p>
          <a:p>
            <a:pPr marL="914400" lvl="2" indent="0">
              <a:buNone/>
            </a:pPr>
            <a:r>
              <a:rPr lang="en-GB" sz="3200" dirty="0"/>
              <a:t>Otherwise, raise your hand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6F816-10F4-C44A-C790-5C532A225343}"/>
              </a:ext>
            </a:extLst>
          </p:cNvPr>
          <p:cNvSpPr txBox="1"/>
          <p:nvPr/>
        </p:nvSpPr>
        <p:spPr>
          <a:xfrm>
            <a:off x="2153611" y="5138658"/>
            <a:ext cx="7884777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If the test is True, do something</a:t>
            </a:r>
          </a:p>
          <a:p>
            <a:pPr algn="ctr">
              <a:spcBef>
                <a:spcPts val="1200"/>
              </a:spcBef>
            </a:pPr>
            <a:r>
              <a:rPr lang="en-GB" sz="3600" dirty="0"/>
              <a:t>If the test is False, do something else</a:t>
            </a:r>
          </a:p>
        </p:txBody>
      </p:sp>
    </p:spTree>
    <p:extLst>
      <p:ext uri="{BB962C8B-B14F-4D97-AF65-F5344CB8AC3E}">
        <p14:creationId xmlns:p14="http://schemas.microsoft.com/office/powerpoint/2010/main" val="33047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la-Latn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la-Latn" sz="36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  <a:endParaRPr lang="en-GB" sz="36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sz="36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la-Latn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la-Latn" sz="36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  <a:endParaRPr lang="en-GB" sz="36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False</a:t>
            </a:r>
            <a:endParaRPr lang="en-GB" sz="360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dirty="0"/>
              <a:t>if, else – Double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 1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Example 2</a:t>
            </a: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511876" y="4164999"/>
            <a:ext cx="593930" cy="476250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10010662" y="4164999"/>
            <a:ext cx="467925" cy="2046142"/>
          </a:xfrm>
          <a:prstGeom prst="bentArrow">
            <a:avLst>
              <a:gd name="adj1" fmla="val 31761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E056F0-518B-418C-ACDC-D4B9CCA8CACD}"/>
              </a:ext>
            </a:extLst>
          </p:cNvPr>
          <p:cNvGrpSpPr/>
          <p:nvPr/>
        </p:nvGrpSpPr>
        <p:grpSpPr>
          <a:xfrm>
            <a:off x="2146981" y="2888995"/>
            <a:ext cx="2837614" cy="892082"/>
            <a:chOff x="5729820" y="1874195"/>
            <a:chExt cx="5522683" cy="1519643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7EB92AF-D9FC-46BE-9D9B-E420D827C03B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F0656B-A3BF-4FBB-A1B2-9C35B2173F27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7FCDE0-6F37-4CB3-9210-1CE54931324C}"/>
              </a:ext>
            </a:extLst>
          </p:cNvPr>
          <p:cNvGrpSpPr/>
          <p:nvPr/>
        </p:nvGrpSpPr>
        <p:grpSpPr>
          <a:xfrm>
            <a:off x="7498848" y="2888995"/>
            <a:ext cx="2812682" cy="892082"/>
            <a:chOff x="5729820" y="1874195"/>
            <a:chExt cx="5522683" cy="1519643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B691B445-5BBC-498E-9860-50BEEDFA027C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C4C362-9F69-4F33-92CC-EBBA7430CADE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2147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build="p"/>
      <p:bldP spid="9" grpId="0" build="p"/>
      <p:bldP spid="10" grpId="0" build="p"/>
      <p:bldP spid="20" grpId="0" animBg="1"/>
      <p:bldP spid="21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la-Latn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la-Latn" sz="36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  <a:endParaRPr lang="en-GB" sz="36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sz="36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la-Latn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la-Latn" sz="36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  <a:endParaRPr lang="en-GB" sz="36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False</a:t>
            </a:r>
            <a:endParaRPr lang="en-GB" sz="360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dirty="0"/>
              <a:t>if, else – Double Selection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B82480-6F37-D13A-603C-BCFE2F8E2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23CAF82-E190-F144-BE19-C40F49313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664040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4067D-F2E8-4493-C2D2-DA54F76C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599E05C-6F6A-F79B-5E3F-B87AF509CB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3C3D323D-ABD3-7ADB-87F2-22C3E70C8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38F026-CF44-4C2D-F3F2-7ADA4D1C2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0B90243-CE24-4A5D-EF63-CD0FF82D70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9A7361B1-92CD-CDF5-C309-88A725511215}"/>
              </a:ext>
            </a:extLst>
          </p:cNvPr>
          <p:cNvSpPr/>
          <p:nvPr/>
        </p:nvSpPr>
        <p:spPr>
          <a:xfrm>
            <a:off x="7113400" y="30813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8006507F-8CD3-2327-B6F1-8CC14A00690F}"/>
              </a:ext>
            </a:extLst>
          </p:cNvPr>
          <p:cNvSpPr/>
          <p:nvPr/>
        </p:nvSpPr>
        <p:spPr>
          <a:xfrm>
            <a:off x="1445588" y="226698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3FF8145B-53DC-24EC-81C5-5C6D1B1ADAA5}"/>
              </a:ext>
            </a:extLst>
          </p:cNvPr>
          <p:cNvSpPr/>
          <p:nvPr/>
        </p:nvSpPr>
        <p:spPr>
          <a:xfrm>
            <a:off x="4930446" y="2997662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0C1A6742-C66E-B414-EE46-03A102ECCCE7}"/>
              </a:ext>
            </a:extLst>
          </p:cNvPr>
          <p:cNvSpPr/>
          <p:nvPr/>
        </p:nvSpPr>
        <p:spPr>
          <a:xfrm>
            <a:off x="10606860" y="4169664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5DA4A76-599D-D5D0-9B4C-B692D5C3C18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391925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  <p:bldP spid="27" grpId="0" animBg="1"/>
      <p:bldP spid="28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D96FF5-D9EC-D03F-E7BE-ED6B4865E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142BCF8-8BF5-60AC-34E6-6106EC3674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F3F5A714-A065-C8FD-7BD6-383C58CE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437F2E3-9C17-1CD8-2F82-E4D46399F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37CC5F6-C935-4A2A-2F8D-0727FAC3C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48D1149-4493-C939-0190-AEE29C6A2A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1854589234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919104682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90D3B-8DFE-B617-488C-B7106B7EF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695F01A-7D77-C7A1-8CA1-040E81AA2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5F726-4486-685C-793D-1FEBF6082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</a:t>
            </a:r>
            <a:r>
              <a:rPr lang="en-GB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     </a:t>
            </a:r>
            <a:r>
              <a:rPr lang="la-Latn" sz="28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 number</a:t>
            </a:r>
            <a:r>
              <a:rPr lang="en-GB" sz="280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la-Latn" sz="2800" dirty="0">
                <a:latin typeface="Consolas" panose="020B0609020204030204" pitchFamily="49" charset="0"/>
              </a:rPr>
              <a:t>    </a:t>
            </a:r>
            <a:r>
              <a:rPr lang="en-GB" sz="2800" dirty="0">
                <a:latin typeface="Consolas" panose="020B0609020204030204" pitchFamily="49" charset="0"/>
              </a:rPr>
              <a:t>     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la-Latn" sz="2800" dirty="0">
                <a:latin typeface="Consolas" panose="020B0609020204030204" pitchFamily="49" charset="0"/>
              </a:rPr>
              <a:t>   </a:t>
            </a:r>
            <a:r>
              <a:rPr lang="en-GB" sz="2800" dirty="0">
                <a:latin typeface="Consolas" panose="020B0609020204030204" pitchFamily="49" charset="0"/>
              </a:rPr>
              <a:t>      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False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6587E07-ED50-0D2E-1B23-25AF1D6B946E}"/>
              </a:ext>
            </a:extLst>
          </p:cNvPr>
          <p:cNvGrpSpPr/>
          <p:nvPr/>
        </p:nvGrpSpPr>
        <p:grpSpPr>
          <a:xfrm>
            <a:off x="5124105" y="4060711"/>
            <a:ext cx="2564806" cy="2136099"/>
            <a:chOff x="3838276" y="1277747"/>
            <a:chExt cx="4991731" cy="3702651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E848BD68-710E-1E2F-0EDC-E994A7D99853}"/>
                </a:ext>
              </a:extLst>
            </p:cNvPr>
            <p:cNvSpPr/>
            <p:nvPr/>
          </p:nvSpPr>
          <p:spPr>
            <a:xfrm>
              <a:off x="3838276" y="1277747"/>
              <a:ext cx="661352" cy="370265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B67CE3-72B9-8C33-4D20-98F7E68A7197}"/>
                </a:ext>
              </a:extLst>
            </p:cNvPr>
            <p:cNvSpPr txBox="1"/>
            <p:nvPr/>
          </p:nvSpPr>
          <p:spPr>
            <a:xfrm>
              <a:off x="4499628" y="2316421"/>
              <a:ext cx="4330379" cy="186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Nested if</a:t>
              </a:r>
            </a:p>
            <a:p>
              <a:r>
                <a:rPr lang="en-GB" sz="3200" b="1" dirty="0">
                  <a:solidFill>
                    <a:srgbClr val="7030A0"/>
                  </a:solidFill>
                </a:rPr>
                <a:t>(inside else)</a:t>
              </a:r>
            </a:p>
          </p:txBody>
        </p:sp>
      </p:grpSp>
      <p:sp>
        <p:nvSpPr>
          <p:cNvPr id="9" name="Arrow: Down 8">
            <a:extLst>
              <a:ext uri="{FF2B5EF4-FFF2-40B4-BE49-F238E27FC236}">
                <a16:creationId xmlns:a16="http://schemas.microsoft.com/office/drawing/2014/main" id="{79064034-05FC-10A4-AE95-E793A6DDDA6C}"/>
              </a:ext>
            </a:extLst>
          </p:cNvPr>
          <p:cNvSpPr/>
          <p:nvPr/>
        </p:nvSpPr>
        <p:spPr>
          <a:xfrm>
            <a:off x="6204781" y="2385550"/>
            <a:ext cx="590309" cy="1947912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2F1E7-FCA7-F3F8-86F8-0FAE52E0D504}"/>
              </a:ext>
            </a:extLst>
          </p:cNvPr>
          <p:cNvSpPr txBox="1"/>
          <p:nvPr/>
        </p:nvSpPr>
        <p:spPr>
          <a:xfrm>
            <a:off x="6795090" y="2385549"/>
            <a:ext cx="4074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374F5D-F43B-6781-E6B6-FC3C44D77427}"/>
              </a:ext>
            </a:extLst>
          </p:cNvPr>
          <p:cNvSpPr txBox="1"/>
          <p:nvPr/>
        </p:nvSpPr>
        <p:spPr>
          <a:xfrm>
            <a:off x="8186434" y="3666112"/>
            <a:ext cx="4074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Multiple nested</a:t>
            </a:r>
          </a:p>
          <a:p>
            <a:r>
              <a:rPr lang="en-GB" sz="3200" dirty="0">
                <a:solidFill>
                  <a:srgbClr val="FF0000"/>
                </a:solidFill>
              </a:rPr>
              <a:t>if</a:t>
            </a:r>
            <a:r>
              <a:rPr lang="en-GB" sz="3200" dirty="0">
                <a:solidFill>
                  <a:srgbClr val="7030A0"/>
                </a:solidFill>
              </a:rPr>
              <a:t>s allowed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7F5F95-C4BA-AD25-1A5A-ABED06908D88}"/>
              </a:ext>
            </a:extLst>
          </p:cNvPr>
          <p:cNvSpPr txBox="1"/>
          <p:nvPr/>
        </p:nvSpPr>
        <p:spPr>
          <a:xfrm>
            <a:off x="8186434" y="5273531"/>
            <a:ext cx="34402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not mandatory</a:t>
            </a:r>
          </a:p>
        </p:txBody>
      </p:sp>
    </p:spTree>
    <p:extLst>
      <p:ext uri="{BB962C8B-B14F-4D97-AF65-F5344CB8AC3E}">
        <p14:creationId xmlns:p14="http://schemas.microsoft.com/office/powerpoint/2010/main" val="3546177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76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76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26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7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1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0" grpId="0"/>
      <p:bldP spid="14" grpId="0"/>
      <p:bldP spid="15" grpId="0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8207EA-FE1E-ED8F-A50D-D59FB762D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367DB24-BDFC-5469-E678-B37F3141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044D0-902A-51CF-E9BD-5E2A175DA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</a:t>
            </a:r>
            <a:r>
              <a:rPr lang="en-GB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     </a:t>
            </a:r>
            <a:r>
              <a:rPr lang="la-Latn" sz="28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 number</a:t>
            </a:r>
            <a:r>
              <a:rPr lang="en-GB" sz="280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la-Latn" sz="2800" dirty="0">
                <a:latin typeface="Consolas" panose="020B0609020204030204" pitchFamily="49" charset="0"/>
              </a:rPr>
              <a:t>    </a:t>
            </a:r>
            <a:r>
              <a:rPr lang="en-GB" sz="2800" dirty="0">
                <a:latin typeface="Consolas" panose="020B0609020204030204" pitchFamily="49" charset="0"/>
              </a:rPr>
              <a:t>     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la-Latn" sz="2800" dirty="0">
                <a:latin typeface="Consolas" panose="020B0609020204030204" pitchFamily="49" charset="0"/>
              </a:rPr>
              <a:t>   </a:t>
            </a:r>
            <a:r>
              <a:rPr lang="en-GB" sz="2800" dirty="0">
                <a:latin typeface="Consolas" panose="020B0609020204030204" pitchFamily="49" charset="0"/>
              </a:rPr>
              <a:t>      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3070810508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4F0AC83-F85A-985E-655F-E1F686FF1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5CD7F2C-AE64-2579-A80F-397C67AC5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C74555B5-6022-E438-5DF2-5AB8DF7D3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E5D7955-9338-8A7E-8F1F-23C70EE686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4A82AD6-E7F3-2C63-B72A-CF59DE84963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77581982-8484-26E9-5C2D-270F22E9BA1E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EBDBB409-71FC-F04B-4C31-BF83053B3CA5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DE522466-D280-5937-7198-CBD2CF843320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032EBAFB-F98C-5FFD-E4C2-F0694E598DD1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FA0C2D9B-40C5-0C56-0615-B56D90FCE714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F6353200-0EE6-C2D6-05F9-7192010D4D5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FF48C2-C543-1698-6390-8A6546D1C50C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3588114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49A620-73E1-6152-C446-8B88DBFD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DF06FD7-5CE9-A583-47E6-C9E02FE2A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932DC2B-2B3A-9208-77F1-F5434CC37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16602F-ABB8-49B6-0764-CA8BFF1958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3C4815C-73B6-4ADC-E134-D64AE75B2DA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FC23685-F7C7-C94E-54F1-B50BE2216A0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76202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57617728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Length – String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C@t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"17"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Characters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8102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Length – String (Overview)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8195395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len</a:t>
            </a:r>
            <a:r>
              <a:rPr lang="en-GB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characters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51713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026500" y="3697794"/>
            <a:ext cx="1836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3648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len</a:t>
            </a:r>
            <a:r>
              <a:rPr lang="en-GB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58527" y="5545153"/>
            <a:ext cx="707495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236959173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2903346890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number </a:t>
            </a:r>
            <a:r>
              <a:rPr lang="en-GB" sz="28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la-Latn" sz="2800" dirty="0"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504595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D6E854-519F-F18A-D5BF-A24469934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93E0141-6A29-14A3-8102-C92EECCB2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0AF7C-B48F-46C4-E0FA-ECD3BE53F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number </a:t>
            </a:r>
            <a:r>
              <a:rPr lang="en-GB" sz="28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la-Latn" sz="2800" dirty="0"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305076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5C3BC-1A88-B879-7875-7AEF46418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CD71C94-05C0-F058-C04C-3D3FE3317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if, </a:t>
            </a:r>
            <a:r>
              <a:rPr lang="en-GB" dirty="0" err="1"/>
              <a:t>elif</a:t>
            </a:r>
            <a:r>
              <a:rPr lang="en-GB" dirty="0"/>
              <a:t>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0E7C121-710F-92F8-8835-897985ACE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A95F36A-80AD-D786-2B3F-5977006EEC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B43816E-A101-4B00-4551-BACE7E4D2F9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77D0DB2-5931-FF86-EB45-6B697DD37A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C28D95C6-49C5-8879-8465-063D387F99D4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652C7F5A-2496-F793-FCF4-7C87BEE44189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FA16FD8-DB0C-EA35-53EF-20418E62A70D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250761A0-BD40-A1C8-0212-8CDAD3F33A75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7F96A11F-1708-160D-CE28-31748E4AA818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2C7A1478-9397-44C4-B217-4C81E4BF29F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F045D2-75FE-67FA-EA80-062461A589BE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1238860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E88173-7226-5C54-0ACF-644EDA46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25121A-4934-5F5C-409C-4089852C8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if, else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B958BEA-2E93-26DA-E44D-3908872FD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8043D60-D11A-3424-D48F-DCC72D7E5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9121C6E-3A96-E786-97AE-C3F331AD56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FE9ED01-1264-6052-8F3A-DFDA6588963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864382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else if – Tip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number </a:t>
            </a:r>
            <a:r>
              <a:rPr lang="en-GB" sz="28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la-Latn" sz="2800" dirty="0"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245772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logical operators (AND, OR, NOT)</a:t>
            </a:r>
          </a:p>
        </p:txBody>
      </p:sp>
    </p:spTree>
    <p:extLst>
      <p:ext uri="{BB962C8B-B14F-4D97-AF65-F5344CB8AC3E}">
        <p14:creationId xmlns:p14="http://schemas.microsoft.com/office/powerpoint/2010/main" val="3663391718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2112920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519C1BE-4CA1-802A-9D2D-A40F83BF5302}"/>
              </a:ext>
            </a:extLst>
          </p:cNvPr>
          <p:cNvSpPr txBox="1"/>
          <p:nvPr/>
        </p:nvSpPr>
        <p:spPr>
          <a:xfrm>
            <a:off x="1236000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All conditions must be True – All or nothing!</a:t>
            </a:r>
          </a:p>
        </p:txBody>
      </p:sp>
    </p:spTree>
    <p:extLst>
      <p:ext uri="{BB962C8B-B14F-4D97-AF65-F5344CB8AC3E}">
        <p14:creationId xmlns:p14="http://schemas.microsoft.com/office/powerpoint/2010/main" val="41592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0079063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578545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4" cy="466725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5 &lt; 2   AND   9 &gt; 3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3 &gt; 1   AND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8 &gt; 7   AND   6 &lt; 2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89 &gt;= 98   AND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17 != 17   AND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"A" != "a"   AND   "B" &gt; "A"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4" y="1825625"/>
            <a:ext cx="4524736" cy="466725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True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F9DF1-8FD6-4D61-BE9E-723302362045}"/>
              </a:ext>
            </a:extLst>
          </p:cNvPr>
          <p:cNvSpPr txBox="1"/>
          <p:nvPr/>
        </p:nvSpPr>
        <p:spPr>
          <a:xfrm>
            <a:off x="1215482" y="16906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FC772E-5FF6-48A5-8AFC-2A7D89AAAB52}"/>
              </a:ext>
            </a:extLst>
          </p:cNvPr>
          <p:cNvSpPr txBox="1"/>
          <p:nvPr/>
        </p:nvSpPr>
        <p:spPr>
          <a:xfrm>
            <a:off x="1597855" y="408001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747279-7AE9-4EC7-B7B9-D380C680D740}"/>
              </a:ext>
            </a:extLst>
          </p:cNvPr>
          <p:cNvSpPr txBox="1"/>
          <p:nvPr/>
        </p:nvSpPr>
        <p:spPr>
          <a:xfrm>
            <a:off x="1606958" y="47899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2BCAA0-1CBD-4EA6-A423-512E935AAC87}"/>
              </a:ext>
            </a:extLst>
          </p:cNvPr>
          <p:cNvSpPr txBox="1"/>
          <p:nvPr/>
        </p:nvSpPr>
        <p:spPr>
          <a:xfrm>
            <a:off x="3613981" y="329356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8ECEE-D177-47E3-BF62-37B9805AC188}"/>
              </a:ext>
            </a:extLst>
          </p:cNvPr>
          <p:cNvSpPr txBox="1"/>
          <p:nvPr/>
        </p:nvSpPr>
        <p:spPr>
          <a:xfrm>
            <a:off x="1235300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1AD506-07DD-4316-9457-1BDED82248DF}"/>
              </a:ext>
            </a:extLst>
          </p:cNvPr>
          <p:cNvSpPr txBox="1"/>
          <p:nvPr/>
        </p:nvSpPr>
        <p:spPr>
          <a:xfrm>
            <a:off x="1250275" y="329356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D879FF-F496-47D7-A55F-12A399991132}"/>
              </a:ext>
            </a:extLst>
          </p:cNvPr>
          <p:cNvSpPr txBox="1"/>
          <p:nvPr/>
        </p:nvSpPr>
        <p:spPr>
          <a:xfrm>
            <a:off x="3619127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3D63B3-432C-4B97-B47D-BA97CFB54691}"/>
              </a:ext>
            </a:extLst>
          </p:cNvPr>
          <p:cNvSpPr txBox="1"/>
          <p:nvPr/>
        </p:nvSpPr>
        <p:spPr>
          <a:xfrm>
            <a:off x="1708171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13DBC5-2DBF-4872-82CE-1FA91D93D526}"/>
              </a:ext>
            </a:extLst>
          </p:cNvPr>
          <p:cNvSpPr txBox="1"/>
          <p:nvPr/>
        </p:nvSpPr>
        <p:spPr>
          <a:xfrm>
            <a:off x="4927156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617525-5C58-4AC5-9F8E-12333636B175}"/>
              </a:ext>
            </a:extLst>
          </p:cNvPr>
          <p:cNvSpPr txBox="1"/>
          <p:nvPr/>
        </p:nvSpPr>
        <p:spPr>
          <a:xfrm>
            <a:off x="8498185" y="3227014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False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</p:spTree>
    <p:extLst>
      <p:ext uri="{BB962C8B-B14F-4D97-AF65-F5344CB8AC3E}">
        <p14:creationId xmlns:p14="http://schemas.microsoft.com/office/powerpoint/2010/main" val="94376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3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5" grpId="0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0024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dirty="0"/>
              <a:t>5 &lt; 2   AND   9 &gt; 3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3 &gt; 1   AND   8 &gt; 4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8 &gt; 7   AND   6 &lt; 2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89 &gt;= 98   AND   8 == 9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17 != 17   AND   17 == 17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"A" != "a"   AND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EEAD3-4C8D-4D7E-98C8-903329DFE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0638" y="1825625"/>
            <a:ext cx="4513162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605574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4445917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FE1F3E-E510-1642-B4E5-33B6EE4A1846}"/>
              </a:ext>
            </a:extLst>
          </p:cNvPr>
          <p:cNvSpPr txBox="1"/>
          <p:nvPr/>
        </p:nvSpPr>
        <p:spPr>
          <a:xfrm>
            <a:off x="1236001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One or more conditions must be True – Any will do!</a:t>
            </a:r>
          </a:p>
        </p:txBody>
      </p:sp>
    </p:spTree>
    <p:extLst>
      <p:ext uri="{BB962C8B-B14F-4D97-AF65-F5344CB8AC3E}">
        <p14:creationId xmlns:p14="http://schemas.microsoft.com/office/powerpoint/2010/main" val="92136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4086876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29417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3" cy="448596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3 &gt; 1   OR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7 &gt; 8   OR   2 &lt; 6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89 &gt;= 98   OR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17 != 17   OR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9A5ACB-E7BB-4CC1-8948-E7DDC4562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8" cy="4485965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813EB-40D7-43FB-A6FD-178A8BAC9286}"/>
              </a:ext>
            </a:extLst>
          </p:cNvPr>
          <p:cNvSpPr txBox="1"/>
          <p:nvPr/>
        </p:nvSpPr>
        <p:spPr>
          <a:xfrm>
            <a:off x="8559609" y="2939960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True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F80D15-F6D3-4ACA-AF6A-04A905481E4B}"/>
              </a:ext>
            </a:extLst>
          </p:cNvPr>
          <p:cNvSpPr txBox="1"/>
          <p:nvPr/>
        </p:nvSpPr>
        <p:spPr>
          <a:xfrm>
            <a:off x="1274791" y="2431833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A6E668-ACD0-4119-AF0B-A8C98B5D2875}"/>
              </a:ext>
            </a:extLst>
          </p:cNvPr>
          <p:cNvSpPr txBox="1"/>
          <p:nvPr/>
        </p:nvSpPr>
        <p:spPr>
          <a:xfrm>
            <a:off x="3327940" y="2431833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23F8C-D4F7-4138-B6AF-CD667CD7DAA1}"/>
              </a:ext>
            </a:extLst>
          </p:cNvPr>
          <p:cNvSpPr txBox="1"/>
          <p:nvPr/>
        </p:nvSpPr>
        <p:spPr>
          <a:xfrm>
            <a:off x="1266760" y="162557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E91A82-FF6F-4388-9B7C-FD688D0C9964}"/>
              </a:ext>
            </a:extLst>
          </p:cNvPr>
          <p:cNvSpPr txBox="1"/>
          <p:nvPr/>
        </p:nvSpPr>
        <p:spPr>
          <a:xfrm>
            <a:off x="1589989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F46D7F-48EA-449B-BA7B-D28B8A03D3C7}"/>
              </a:ext>
            </a:extLst>
          </p:cNvPr>
          <p:cNvSpPr txBox="1"/>
          <p:nvPr/>
        </p:nvSpPr>
        <p:spPr>
          <a:xfrm>
            <a:off x="4129454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309BD-6CE1-4225-A9F9-073B78778CCE}"/>
              </a:ext>
            </a:extLst>
          </p:cNvPr>
          <p:cNvSpPr txBox="1"/>
          <p:nvPr/>
        </p:nvSpPr>
        <p:spPr>
          <a:xfrm>
            <a:off x="1589988" y="39685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3B2981-6B5E-4880-BE17-B07068B4EE03}"/>
              </a:ext>
            </a:extLst>
          </p:cNvPr>
          <p:cNvSpPr txBox="1"/>
          <p:nvPr/>
        </p:nvSpPr>
        <p:spPr>
          <a:xfrm>
            <a:off x="1742388" y="47374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FD61A5-A84F-4068-B66E-6F3F30DEC2DF}"/>
              </a:ext>
            </a:extLst>
          </p:cNvPr>
          <p:cNvSpPr txBox="1"/>
          <p:nvPr/>
        </p:nvSpPr>
        <p:spPr>
          <a:xfrm>
            <a:off x="4289596" y="396858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630BA0-2B82-4EA1-914B-132EF91E6F1B}"/>
              </a:ext>
            </a:extLst>
          </p:cNvPr>
          <p:cNvSpPr txBox="1"/>
          <p:nvPr/>
        </p:nvSpPr>
        <p:spPr>
          <a:xfrm>
            <a:off x="4701878" y="473748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21070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  <p:bldP spid="5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561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dirty="0"/>
              <a:t>3 &gt; 1   OR   8 &gt; 4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7 &gt; 8   OR   2 &lt; 6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89 &gt;= 98   OR   8 == 9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17 != 17   OR   17 == 17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ABEB41-F38B-407F-8A3F-ACE79A74B3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4339" y="1825625"/>
            <a:ext cx="4559461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1762990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9636071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05A53AC-3D36-AD61-092E-0DBB0EFFB9C4}"/>
              </a:ext>
            </a:extLst>
          </p:cNvPr>
          <p:cNvSpPr txBox="1"/>
          <p:nvPr/>
        </p:nvSpPr>
        <p:spPr>
          <a:xfrm>
            <a:off x="5138217" y="6075362"/>
            <a:ext cx="19155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Opposites!</a:t>
            </a:r>
          </a:p>
        </p:txBody>
      </p:sp>
    </p:spTree>
    <p:extLst>
      <p:ext uri="{BB962C8B-B14F-4D97-AF65-F5344CB8AC3E}">
        <p14:creationId xmlns:p14="http://schemas.microsoft.com/office/powerpoint/2010/main" val="1326733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8920699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865831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True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True</a:t>
            </a:r>
          </a:p>
          <a:p>
            <a:pPr>
              <a:spcBef>
                <a:spcPts val="1800"/>
              </a:spcBef>
            </a:pPr>
            <a:r>
              <a:rPr lang="en-GB" sz="3600" dirty="0"/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D22062-0B91-4260-AC01-05674FE98FC9}"/>
              </a:ext>
            </a:extLst>
          </p:cNvPr>
          <p:cNvSpPr txBox="1"/>
          <p:nvPr/>
        </p:nvSpPr>
        <p:spPr>
          <a:xfrm>
            <a:off x="2408477" y="167409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3C6D7-F63A-4304-80E0-2D08C6DC0A43}"/>
              </a:ext>
            </a:extLst>
          </p:cNvPr>
          <p:cNvSpPr txBox="1"/>
          <p:nvPr/>
        </p:nvSpPr>
        <p:spPr>
          <a:xfrm>
            <a:off x="2408477" y="320082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8ABE0D-ACF4-4ADD-A69A-1AADC393A9A2}"/>
              </a:ext>
            </a:extLst>
          </p:cNvPr>
          <p:cNvSpPr txBox="1"/>
          <p:nvPr/>
        </p:nvSpPr>
        <p:spPr>
          <a:xfrm>
            <a:off x="4776783" y="320082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204FEE-8162-4B12-BB5F-2FB62F6547EC}"/>
              </a:ext>
            </a:extLst>
          </p:cNvPr>
          <p:cNvSpPr txBox="1"/>
          <p:nvPr/>
        </p:nvSpPr>
        <p:spPr>
          <a:xfrm>
            <a:off x="2377508" y="4712151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F2082-981E-456B-9AB5-1B9DCB4A84F0}"/>
              </a:ext>
            </a:extLst>
          </p:cNvPr>
          <p:cNvSpPr txBox="1"/>
          <p:nvPr/>
        </p:nvSpPr>
        <p:spPr>
          <a:xfrm>
            <a:off x="4625215" y="4712151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DF7641-B86B-45FB-8921-5E0CB6570856}"/>
              </a:ext>
            </a:extLst>
          </p:cNvPr>
          <p:cNvSpPr txBox="1"/>
          <p:nvPr/>
        </p:nvSpPr>
        <p:spPr>
          <a:xfrm>
            <a:off x="2108199" y="3933234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 False           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AD2699-48D3-4D40-8088-2BB4EA262617}"/>
              </a:ext>
            </a:extLst>
          </p:cNvPr>
          <p:cNvSpPr txBox="1"/>
          <p:nvPr/>
        </p:nvSpPr>
        <p:spPr>
          <a:xfrm>
            <a:off x="2108199" y="5444557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True                           )</a:t>
            </a:r>
          </a:p>
        </p:txBody>
      </p:sp>
    </p:spTree>
    <p:extLst>
      <p:ext uri="{BB962C8B-B14F-4D97-AF65-F5344CB8AC3E}">
        <p14:creationId xmlns:p14="http://schemas.microsoft.com/office/powerpoint/2010/main" val="1281146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 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 </a:t>
            </a:r>
          </a:p>
          <a:p>
            <a:pPr>
              <a:spcBef>
                <a:spcPts val="1800"/>
              </a:spcBef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47640439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selection with complex conditions</a:t>
            </a:r>
          </a:p>
        </p:txBody>
      </p:sp>
    </p:spTree>
    <p:extLst>
      <p:ext uri="{BB962C8B-B14F-4D97-AF65-F5344CB8AC3E}">
        <p14:creationId xmlns:p14="http://schemas.microsoft.com/office/powerpoint/2010/main" val="80193231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"Body temp (deg C):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920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"Body temp (deg C):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How many extreme values (1 dp) are needed?</a:t>
            </a:r>
          </a:p>
        </p:txBody>
      </p:sp>
    </p:spTree>
    <p:extLst>
      <p:ext uri="{BB962C8B-B14F-4D97-AF65-F5344CB8AC3E}">
        <p14:creationId xmlns:p14="http://schemas.microsoft.com/office/powerpoint/2010/main" val="398413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>
                <a:solidFill>
                  <a:srgbClr val="183691"/>
                </a:solidFill>
                <a:latin typeface="Consolas" panose="020B0609020204030204" pitchFamily="49" charset="0"/>
              </a:rPr>
              <a:t>Height (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metres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):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17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"Height (</a:t>
            </a:r>
            <a:r>
              <a:rPr lang="en-US" altLang="en-US" dirty="0" err="1">
                <a:solidFill>
                  <a:srgbClr val="183691"/>
                </a:solidFill>
                <a:latin typeface="Consolas" panose="020B0609020204030204" pitchFamily="49" charset="0"/>
              </a:rPr>
              <a:t>metres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):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test.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212679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Consolas" panose="020B0609020204030204" pitchFamily="49" charset="0"/>
              </a:rPr>
              <a:t>	Maximum height of 1 metre, i.e.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	Maximum weight </a:t>
            </a:r>
            <a:r>
              <a:rPr lang="en-GB" dirty="0">
                <a:latin typeface="Consolas" panose="020B0609020204030204" pitchFamily="49" charset="0"/>
              </a:rPr>
              <a:t>of</a:t>
            </a:r>
            <a:r>
              <a:rPr lang="en-GB" sz="3200" dirty="0">
                <a:latin typeface="Consolas" panose="020B0609020204030204" pitchFamily="49" charset="0"/>
              </a:rPr>
              <a:t> 15 kg, i.e.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Display some kind words if there are / are not suitable.</a:t>
            </a:r>
            <a:endParaRPr lang="en-GB" sz="3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27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Consolas" panose="020B0609020204030204" pitchFamily="49" charset="0"/>
              </a:rPr>
              <a:t>	Maximum height of 1 metre, i.e.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	Maximum weight </a:t>
            </a:r>
            <a:r>
              <a:rPr lang="en-GB" dirty="0">
                <a:latin typeface="Consolas" panose="020B0609020204030204" pitchFamily="49" charset="0"/>
              </a:rPr>
              <a:t>of</a:t>
            </a:r>
            <a:r>
              <a:rPr lang="en-GB" sz="3200" dirty="0">
                <a:latin typeface="Consolas" panose="020B0609020204030204" pitchFamily="49" charset="0"/>
              </a:rPr>
              <a:t> 15 kg, i.e.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Display some kind words if they're not suitable.</a:t>
            </a:r>
            <a:endParaRPr lang="en-GB" sz="3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1382751" y="6050290"/>
            <a:ext cx="91663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Design user interface.  Create tests.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399313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efficient selection</a:t>
            </a:r>
          </a:p>
        </p:txBody>
      </p:sp>
    </p:spTree>
    <p:extLst>
      <p:ext uri="{BB962C8B-B14F-4D97-AF65-F5344CB8AC3E}">
        <p14:creationId xmlns:p14="http://schemas.microsoft.com/office/powerpoint/2010/main" val="2199854439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1473905" y="1681163"/>
            <a:ext cx="3640976" cy="82391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320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808835" y="1681163"/>
            <a:ext cx="3638458" cy="823912"/>
          </a:xfrm>
        </p:spPr>
        <p:txBody>
          <a:bodyPr>
            <a:normAutofit/>
          </a:bodyPr>
          <a:lstStyle/>
          <a:p>
            <a:pPr algn="ctr"/>
            <a:r>
              <a:rPr lang="en-GB" sz="320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9452978" y="1858783"/>
            <a:ext cx="2810150" cy="3170099"/>
            <a:chOff x="8947150" y="1880868"/>
            <a:chExt cx="2810150" cy="317009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6564B18-0785-4C04-B4D6-D0B610CFB32A}"/>
                </a:ext>
              </a:extLst>
            </p:cNvPr>
            <p:cNvSpPr txBox="1"/>
            <p:nvPr/>
          </p:nvSpPr>
          <p:spPr>
            <a:xfrm>
              <a:off x="9943983" y="1880868"/>
              <a:ext cx="1813317" cy="31700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One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</a:t>
              </a:r>
            </a:p>
            <a:p>
              <a:endParaRPr lang="en-GB" sz="4000" b="1" dirty="0">
                <a:solidFill>
                  <a:srgbClr val="FF0000"/>
                </a:solidFill>
              </a:endParaRP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Faster,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Simpler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BB07252-8A61-49F6-8BDB-F40E125FD0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47150" y="2304219"/>
              <a:ext cx="1035303" cy="31621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09CC64A-6EC1-5049-D29D-5FCD005D13FF}"/>
              </a:ext>
            </a:extLst>
          </p:cNvPr>
          <p:cNvGrpSpPr/>
          <p:nvPr/>
        </p:nvGrpSpPr>
        <p:grpSpPr>
          <a:xfrm>
            <a:off x="4379772" y="1858783"/>
            <a:ext cx="2254439" cy="1217765"/>
            <a:chOff x="3939988" y="1858783"/>
            <a:chExt cx="2254439" cy="1217765"/>
          </a:xfrm>
        </p:grpSpPr>
        <p:sp>
          <p:nvSpPr>
            <p:cNvPr id="32" name="Callout: Bent Line with No Border 31">
              <a:extLst>
                <a:ext uri="{FF2B5EF4-FFF2-40B4-BE49-F238E27FC236}">
                  <a16:creationId xmlns:a16="http://schemas.microsoft.com/office/drawing/2014/main" id="{CC593151-D36A-CFF7-C3D4-66D4F7B43CB8}"/>
                </a:ext>
              </a:extLst>
            </p:cNvPr>
            <p:cNvSpPr/>
            <p:nvPr/>
          </p:nvSpPr>
          <p:spPr>
            <a:xfrm>
              <a:off x="4849721" y="1858783"/>
              <a:ext cx="1344706" cy="1217765"/>
            </a:xfrm>
            <a:prstGeom prst="callout2">
              <a:avLst>
                <a:gd name="adj1" fmla="val 102120"/>
                <a:gd name="adj2" fmla="val 49667"/>
                <a:gd name="adj3" fmla="val 161393"/>
                <a:gd name="adj4" fmla="val 33711"/>
                <a:gd name="adj5" fmla="val 224608"/>
                <a:gd name="adj6" fmla="val -84388"/>
              </a:avLst>
            </a:prstGeom>
            <a:noFill/>
            <a:ln w="38100">
              <a:solidFill>
                <a:srgbClr val="548235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Two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tests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88832E9-ABF6-2AEB-9A49-FAF813C70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39988" y="2259106"/>
              <a:ext cx="824023" cy="366669"/>
            </a:xfrm>
            <a:prstGeom prst="straightConnector1">
              <a:avLst/>
            </a:prstGeom>
            <a:ln w="38100">
              <a:solidFill>
                <a:srgbClr val="54823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8341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pPr algn="ctr"/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2031242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/>
              <a:t>Generic</a:t>
            </a:r>
            <a:endParaRPr lang="en-GB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/>
              <a:t>IF &lt;condition 1&gt; is true THEN</a:t>
            </a:r>
          </a:p>
          <a:p>
            <a:pPr marL="0" indent="0">
              <a:buNone/>
            </a:pPr>
            <a:r>
              <a:rPr lang="en-GB"/>
              <a:t> 	do something</a:t>
            </a:r>
          </a:p>
          <a:p>
            <a:pPr marL="0" indent="0">
              <a:buNone/>
            </a:pPr>
            <a:r>
              <a:rPr lang="en-GB"/>
              <a:t>ELSE IF &lt;condition 2&gt; is true THEN</a:t>
            </a:r>
          </a:p>
          <a:p>
            <a:pPr marL="0" indent="0">
              <a:buNone/>
            </a:pPr>
            <a:r>
              <a:rPr lang="en-GB"/>
              <a:t> 	do something else</a:t>
            </a:r>
          </a:p>
          <a:p>
            <a:pPr marL="0" indent="0">
              <a:buNone/>
            </a:pPr>
            <a:r>
              <a:rPr lang="en-GB"/>
              <a:t>ELSE</a:t>
            </a:r>
          </a:p>
          <a:p>
            <a:pPr marL="0" indent="0">
              <a:buNone/>
            </a:pPr>
            <a:r>
              <a:rPr lang="en-GB"/>
              <a:t> 	do this instead</a:t>
            </a:r>
          </a:p>
          <a:p>
            <a:pPr marL="0" indent="0">
              <a:buNone/>
            </a:pPr>
            <a:r>
              <a:rPr lang="en-GB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/>
              <a:t>if 5 &lt; 2:</a:t>
            </a:r>
          </a:p>
          <a:p>
            <a:pPr marL="0" indent="361950">
              <a:buNone/>
            </a:pPr>
            <a:r>
              <a:rPr lang="en-GB"/>
              <a:t>print("True")</a:t>
            </a:r>
          </a:p>
          <a:p>
            <a:pPr marL="0" indent="0">
              <a:buNone/>
            </a:pPr>
            <a:r>
              <a:rPr lang="en-GB" err="1"/>
              <a:t>elif</a:t>
            </a:r>
            <a:r>
              <a:rPr lang="en-GB"/>
              <a:t> 5 == 2:</a:t>
            </a:r>
          </a:p>
          <a:p>
            <a:pPr marL="0" indent="361950">
              <a:buNone/>
            </a:pPr>
            <a:r>
              <a:rPr lang="en-GB"/>
              <a:t>print("Another option")</a:t>
            </a:r>
          </a:p>
          <a:p>
            <a:pPr marL="0" indent="0">
              <a:buNone/>
            </a:pPr>
            <a:r>
              <a:rPr lang="en-GB"/>
              <a:t>else:</a:t>
            </a:r>
          </a:p>
          <a:p>
            <a:pPr marL="0" indent="361950">
              <a:buNone/>
            </a:pPr>
            <a:r>
              <a:rPr lang="en-GB"/>
              <a:t>print("All False")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5E1D6-610B-4207-8925-2E4C64A3FECE}"/>
              </a:ext>
            </a:extLst>
          </p:cNvPr>
          <p:cNvSpPr txBox="1"/>
          <p:nvPr/>
        </p:nvSpPr>
        <p:spPr>
          <a:xfrm>
            <a:off x="4171868" y="5973177"/>
            <a:ext cx="38514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/>
              <a:t>Else can be omitted</a:t>
            </a:r>
          </a:p>
        </p:txBody>
      </p:sp>
    </p:spTree>
    <p:extLst>
      <p:ext uri="{BB962C8B-B14F-4D97-AF65-F5344CB8AC3E}">
        <p14:creationId xmlns:p14="http://schemas.microsoft.com/office/powerpoint/2010/main" val="90382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8" grpId="0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/>
              <a:t>Generic</a:t>
            </a:r>
            <a:endParaRPr lang="en-GB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/>
              <a:t>IF &lt;condition 1&gt; is true THEN</a:t>
            </a:r>
          </a:p>
          <a:p>
            <a:pPr marL="0" indent="0">
              <a:buNone/>
            </a:pPr>
            <a:r>
              <a:rPr lang="en-GB"/>
              <a:t> 	do something</a:t>
            </a:r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r>
              <a:rPr lang="en-GB"/>
              <a:t>ELSE</a:t>
            </a:r>
          </a:p>
          <a:p>
            <a:pPr marL="0" indent="0">
              <a:buNone/>
            </a:pPr>
            <a:r>
              <a:rPr lang="en-GB"/>
              <a:t> 	do this instead</a:t>
            </a:r>
          </a:p>
          <a:p>
            <a:pPr marL="0" indent="0">
              <a:buNone/>
            </a:pPr>
            <a:r>
              <a:rPr lang="en-GB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/>
              <a:t>if 5 &lt; 2:</a:t>
            </a:r>
          </a:p>
          <a:p>
            <a:pPr marL="0" indent="361950">
              <a:buNone/>
            </a:pPr>
            <a:r>
              <a:rPr lang="en-GB"/>
              <a:t>print("True")</a:t>
            </a:r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r>
              <a:rPr lang="en-GB"/>
              <a:t>else:</a:t>
            </a:r>
          </a:p>
          <a:p>
            <a:pPr marL="0" indent="361950">
              <a:buNone/>
            </a:pPr>
            <a:r>
              <a:rPr lang="en-GB"/>
              <a:t>print("All False")</a:t>
            </a:r>
          </a:p>
        </p:txBody>
      </p:sp>
    </p:spTree>
    <p:extLst>
      <p:ext uri="{BB962C8B-B14F-4D97-AF65-F5344CB8AC3E}">
        <p14:creationId xmlns:p14="http://schemas.microsoft.com/office/powerpoint/2010/main" val="35061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878286" y="1681163"/>
            <a:ext cx="5119289" cy="8239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dirty="0">
                <a:latin typeface="Consolas" panose="020B0609020204030204" pitchFamily="49" charset="0"/>
              </a:rPr>
              <a:t> </a:t>
            </a:r>
            <a:r>
              <a:rPr lang="en-GB" sz="2400" b="1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dirty="0">
                <a:latin typeface="Consolas" panose="020B0609020204030204" pitchFamily="49" charset="0"/>
              </a:rPr>
              <a:t>age &lt;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&lt;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579220" y="1681163"/>
            <a:ext cx="4776168" cy="823912"/>
          </a:xfrm>
        </p:spPr>
        <p:txBody>
          <a:bodyPr>
            <a:normAutofit/>
          </a:bodyPr>
          <a:lstStyle/>
          <a:p>
            <a:r>
              <a:rPr lang="en-GB" sz="320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elif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07C35B-5055-41D7-B87D-D4687B309006}"/>
              </a:ext>
            </a:extLst>
          </p:cNvPr>
          <p:cNvSpPr txBox="1"/>
          <p:nvPr/>
        </p:nvSpPr>
        <p:spPr>
          <a:xfrm>
            <a:off x="878286" y="6273225"/>
            <a:ext cx="4710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3 or 4 conditions tested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564B18-0785-4C04-B4D6-D0B610CFB32A}"/>
              </a:ext>
            </a:extLst>
          </p:cNvPr>
          <p:cNvSpPr txBox="1"/>
          <p:nvPr/>
        </p:nvSpPr>
        <p:spPr>
          <a:xfrm>
            <a:off x="6374471" y="6273225"/>
            <a:ext cx="4778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1 or 2 conditions tested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D22A54A3-1092-45EA-A1F5-BB22FABF230E}"/>
              </a:ext>
            </a:extLst>
          </p:cNvPr>
          <p:cNvSpPr/>
          <p:nvPr/>
        </p:nvSpPr>
        <p:spPr>
          <a:xfrm>
            <a:off x="6833672" y="1027906"/>
            <a:ext cx="3860243" cy="862642"/>
          </a:xfrm>
          <a:prstGeom prst="callout2">
            <a:avLst>
              <a:gd name="adj1" fmla="val 50533"/>
              <a:gd name="adj2" fmla="val 100113"/>
              <a:gd name="adj3" fmla="val 354949"/>
              <a:gd name="adj4" fmla="val 100313"/>
              <a:gd name="adj5" fmla="val 354141"/>
              <a:gd name="adj6" fmla="val 672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Else if (multiple allowed)</a:t>
            </a:r>
          </a:p>
        </p:txBody>
      </p:sp>
    </p:spTree>
    <p:extLst>
      <p:ext uri="{BB962C8B-B14F-4D97-AF65-F5344CB8AC3E}">
        <p14:creationId xmlns:p14="http://schemas.microsoft.com/office/powerpoint/2010/main" val="51372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5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5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25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5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75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3" grpId="0"/>
      <p:bldP spid="19" grpId="0"/>
      <p:bldP spid="10" grpId="0" animBg="1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dirty="0">
                <a:latin typeface="Consolas" panose="020B0609020204030204" pitchFamily="49" charset="0"/>
              </a:rPr>
              <a:t> </a:t>
            </a:r>
            <a:r>
              <a:rPr lang="en-GB" sz="2400" b="1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dirty="0">
                <a:latin typeface="Consolas" panose="020B0609020204030204" pitchFamily="49" charset="0"/>
              </a:rPr>
              <a:t>age &lt;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&lt;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elif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6922938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SQA Grades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Consolas" panose="020B0609020204030204" pitchFamily="49" charset="0"/>
              </a:rPr>
              <a:t>SQA exam results are graded: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		A	70-100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		B	60-69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		C	50-59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		D	40-49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No Award	0-39</a:t>
            </a:r>
          </a:p>
          <a:p>
            <a:pPr marL="0" indent="0">
              <a:spcAft>
                <a:spcPts val="600"/>
              </a:spcAft>
              <a:buNone/>
            </a:pPr>
            <a:endParaRPr lang="en-GB" sz="36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4227884" y="6050290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8013206" y="3500438"/>
            <a:ext cx="350089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  <a:p>
            <a:r>
              <a:rPr lang="en-GB" sz="3200" dirty="0"/>
              <a:t>Values will be 0-100</a:t>
            </a:r>
          </a:p>
        </p:txBody>
      </p:sp>
    </p:spTree>
    <p:extLst>
      <p:ext uri="{BB962C8B-B14F-4D97-AF65-F5344CB8AC3E}">
        <p14:creationId xmlns:p14="http://schemas.microsoft.com/office/powerpoint/2010/main" val="3459406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the predefined function: random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022404" y="1840311"/>
            <a:ext cx="6527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729597" y="3196651"/>
            <a:ext cx="20684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022403" y="3165874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E2AB23E-530F-4D8C-9B78-3898090BE265}"/>
              </a:ext>
            </a:extLst>
          </p:cNvPr>
          <p:cNvSpPr txBox="1"/>
          <p:nvPr/>
        </p:nvSpPr>
        <p:spPr>
          <a:xfrm>
            <a:off x="9022403" y="4497550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900A7BE-6369-4056-905A-7466FA1105E3}"/>
              </a:ext>
            </a:extLst>
          </p:cNvPr>
          <p:cNvGrpSpPr/>
          <p:nvPr/>
        </p:nvGrpSpPr>
        <p:grpSpPr>
          <a:xfrm>
            <a:off x="2293618" y="2503811"/>
            <a:ext cx="1600589" cy="403591"/>
            <a:chOff x="2293618" y="2434361"/>
            <a:chExt cx="1600589" cy="40359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0030311-795A-405A-8834-DD62D151D3A4}"/>
                </a:ext>
              </a:extLst>
            </p:cNvPr>
            <p:cNvSpPr txBox="1"/>
            <p:nvPr/>
          </p:nvSpPr>
          <p:spPr>
            <a:xfrm>
              <a:off x="22936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CA846B9-1F22-4447-BE10-82927557E73B}"/>
                </a:ext>
              </a:extLst>
            </p:cNvPr>
            <p:cNvSpPr txBox="1"/>
            <p:nvPr/>
          </p:nvSpPr>
          <p:spPr>
            <a:xfrm>
              <a:off x="32582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81893-E3C2-40F1-9682-75DB305A6AAF}"/>
              </a:ext>
            </a:extLst>
          </p:cNvPr>
          <p:cNvGrpSpPr/>
          <p:nvPr/>
        </p:nvGrpSpPr>
        <p:grpSpPr>
          <a:xfrm>
            <a:off x="1729597" y="3815306"/>
            <a:ext cx="1832089" cy="403591"/>
            <a:chOff x="2201018" y="2434361"/>
            <a:chExt cx="1832089" cy="40359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F4A68D3-4F84-4D59-BDAC-F627386EE8B3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5CE5968-4B74-40B1-8D86-AF171FD066B5}"/>
                </a:ext>
              </a:extLst>
            </p:cNvPr>
            <p:cNvSpPr txBox="1"/>
            <p:nvPr/>
          </p:nvSpPr>
          <p:spPr>
            <a:xfrm>
              <a:off x="33971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81E82D1-CDB7-4C43-A24B-D76E0EFE51C5}"/>
              </a:ext>
            </a:extLst>
          </p:cNvPr>
          <p:cNvGrpSpPr/>
          <p:nvPr/>
        </p:nvGrpSpPr>
        <p:grpSpPr>
          <a:xfrm>
            <a:off x="1550525" y="5154183"/>
            <a:ext cx="2017279" cy="403591"/>
            <a:chOff x="2201018" y="2434361"/>
            <a:chExt cx="2017279" cy="40359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B025A3-0F87-429F-9305-456125313D57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602FF9E-4F50-4152-8D5F-10C30A658988}"/>
                </a:ext>
              </a:extLst>
            </p:cNvPr>
            <p:cNvSpPr txBox="1"/>
            <p:nvPr/>
          </p:nvSpPr>
          <p:spPr>
            <a:xfrm>
              <a:off x="358235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229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40" grpId="0"/>
      <p:bldP spid="41" grpId="0"/>
      <p:bldP spid="26" grpId="0"/>
      <p:bldP spid="42" grpId="0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638067" y="3196651"/>
            <a:ext cx="21600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8855649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9" y="3906123"/>
            <a:ext cx="66681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338478" y="2752116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68589" y="5702276"/>
            <a:ext cx="805887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random module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  <p:sp>
        <p:nvSpPr>
          <p:cNvPr id="19" name="Callout: Bent Line with No Border 8">
            <a:extLst>
              <a:ext uri="{FF2B5EF4-FFF2-40B4-BE49-F238E27FC236}">
                <a16:creationId xmlns:a16="http://schemas.microsoft.com/office/drawing/2014/main" id="{153A0115-5B62-4307-AE68-7D8C10704C5D}"/>
              </a:ext>
            </a:extLst>
          </p:cNvPr>
          <p:cNvSpPr/>
          <p:nvPr/>
        </p:nvSpPr>
        <p:spPr>
          <a:xfrm flipH="1">
            <a:off x="4852658" y="477720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693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10155856" y="4871892"/>
            <a:ext cx="124334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460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BF7A1A-D0CB-4E5A-8363-747FE5AE7B15}"/>
              </a:ext>
            </a:extLst>
          </p:cNvPr>
          <p:cNvCxnSpPr>
            <a:cxnSpLocks/>
          </p:cNvCxnSpPr>
          <p:nvPr/>
        </p:nvCxnSpPr>
        <p:spPr>
          <a:xfrm>
            <a:off x="9193386" y="4627635"/>
            <a:ext cx="144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llout: Bent Line with No Border 8">
            <a:extLst>
              <a:ext uri="{FF2B5EF4-FFF2-40B4-BE49-F238E27FC236}">
                <a16:creationId xmlns:a16="http://schemas.microsoft.com/office/drawing/2014/main" id="{908D34ED-1B2C-481D-A47E-DB3794CA03CC}"/>
              </a:ext>
            </a:extLst>
          </p:cNvPr>
          <p:cNvSpPr/>
          <p:nvPr/>
        </p:nvSpPr>
        <p:spPr>
          <a:xfrm>
            <a:off x="10512923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max</a:t>
            </a:r>
          </a:p>
        </p:txBody>
      </p:sp>
      <p:sp>
        <p:nvSpPr>
          <p:cNvPr id="18" name="Callout: Bent Line with No Border 8">
            <a:extLst>
              <a:ext uri="{FF2B5EF4-FFF2-40B4-BE49-F238E27FC236}">
                <a16:creationId xmlns:a16="http://schemas.microsoft.com/office/drawing/2014/main" id="{E0D8F125-BB24-4B26-B738-0AC9E729E997}"/>
              </a:ext>
            </a:extLst>
          </p:cNvPr>
          <p:cNvSpPr/>
          <p:nvPr/>
        </p:nvSpPr>
        <p:spPr>
          <a:xfrm flipH="1">
            <a:off x="8258467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min</a:t>
            </a:r>
          </a:p>
        </p:txBody>
      </p:sp>
      <p:sp>
        <p:nvSpPr>
          <p:cNvPr id="22" name="Callout: Bent Line with No Border 8">
            <a:extLst>
              <a:ext uri="{FF2B5EF4-FFF2-40B4-BE49-F238E27FC236}">
                <a16:creationId xmlns:a16="http://schemas.microsoft.com/office/drawing/2014/main" id="{1382C6EE-2E1A-47AB-B083-8BD0BBC7C9BC}"/>
              </a:ext>
            </a:extLst>
          </p:cNvPr>
          <p:cNvSpPr/>
          <p:nvPr/>
        </p:nvSpPr>
        <p:spPr>
          <a:xfrm>
            <a:off x="4055234" y="1264981"/>
            <a:ext cx="2576186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32538"/>
              <a:gd name="adj6" fmla="val -344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extra code</a:t>
            </a:r>
          </a:p>
        </p:txBody>
      </p:sp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E4F413C9-109B-4D18-85DD-798311F20459}"/>
              </a:ext>
            </a:extLst>
          </p:cNvPr>
          <p:cNvSpPr/>
          <p:nvPr/>
        </p:nvSpPr>
        <p:spPr>
          <a:xfrm>
            <a:off x="6544621" y="1996026"/>
            <a:ext cx="3192503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3585"/>
              <a:gd name="adj5" fmla="val 55213"/>
              <a:gd name="adj6" fmla="val -317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extra code</a:t>
            </a:r>
          </a:p>
        </p:txBody>
      </p:sp>
    </p:spTree>
    <p:extLst>
      <p:ext uri="{BB962C8B-B14F-4D97-AF65-F5344CB8AC3E}">
        <p14:creationId xmlns:p14="http://schemas.microsoft.com/office/powerpoint/2010/main" val="177015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uiExpand="1" build="p"/>
      <p:bldP spid="7" grpId="0"/>
      <p:bldP spid="19" grpId="0" animBg="1"/>
      <p:bldP spid="20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8" y="3906123"/>
            <a:ext cx="665656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13097" y="5702276"/>
            <a:ext cx="816986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            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68003580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458F5-A0F0-4097-9B62-07D5FF84C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Throwing a dice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81F4B-98D7-4C22-B0E5-953B42181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Get extra code for random</a:t>
            </a:r>
          </a:p>
          <a:p>
            <a:r>
              <a:rPr lang="en-GB" dirty="0"/>
              <a:t>Loop 5 times</a:t>
            </a:r>
          </a:p>
          <a:p>
            <a:pPr lvl="1"/>
            <a:r>
              <a:rPr lang="en-GB" sz="3200" dirty="0"/>
              <a:t>'Throw' a dice</a:t>
            </a:r>
          </a:p>
          <a:p>
            <a:pPr lvl="1"/>
            <a:r>
              <a:rPr lang="en-GB" sz="3200" dirty="0"/>
              <a:t>Show what the computer threw</a:t>
            </a:r>
          </a:p>
        </p:txBody>
      </p:sp>
    </p:spTree>
    <p:extLst>
      <p:ext uri="{BB962C8B-B14F-4D97-AF65-F5344CB8AC3E}">
        <p14:creationId xmlns:p14="http://schemas.microsoft.com/office/powerpoint/2010/main" val="513135770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normal test data in a test table</a:t>
            </a:r>
          </a:p>
          <a:p>
            <a:r>
              <a:rPr lang="en-GB" dirty="0"/>
              <a:t>Describe and identify syntax, execution, and logic errors</a:t>
            </a:r>
          </a:p>
        </p:txBody>
      </p:sp>
    </p:spTree>
    <p:extLst>
      <p:ext uri="{BB962C8B-B14F-4D97-AF65-F5344CB8AC3E}">
        <p14:creationId xmlns:p14="http://schemas.microsoft.com/office/powerpoint/2010/main" val="297848099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Syntax – program won't run / compile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Execution – program stops running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Logic – executes but wrong result – hardest to find</a:t>
            </a:r>
          </a:p>
        </p:txBody>
      </p:sp>
    </p:spTree>
    <p:extLst>
      <p:ext uri="{BB962C8B-B14F-4D97-AF65-F5344CB8AC3E}">
        <p14:creationId xmlns:p14="http://schemas.microsoft.com/office/powerpoint/2010/main" val="742959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Syntax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Execution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Logic – </a:t>
            </a:r>
          </a:p>
        </p:txBody>
      </p:sp>
    </p:spTree>
    <p:extLst>
      <p:ext uri="{BB962C8B-B14F-4D97-AF65-F5344CB8AC3E}">
        <p14:creationId xmlns:p14="http://schemas.microsoft.com/office/powerpoint/2010/main" val="1970858162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Normal – values that are expected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Test Data – selected before testing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Expected output – what should be produced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Actual output – what is produced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C7B895-791D-56B1-25E2-49D6D617BD6E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686FEF-66C2-B332-5BF8-12FD07C8222C}"/>
              </a:ext>
            </a:extLst>
          </p:cNvPr>
          <p:cNvSpPr/>
          <p:nvPr/>
        </p:nvSpPr>
        <p:spPr>
          <a:xfrm>
            <a:off x="6037462" y="573205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222B3-55FA-7EBB-2D1C-8931A7CC715C}"/>
              </a:ext>
            </a:extLst>
          </p:cNvPr>
          <p:cNvSpPr txBox="1"/>
          <p:nvPr/>
        </p:nvSpPr>
        <p:spPr>
          <a:xfrm>
            <a:off x="7032275" y="5232064"/>
            <a:ext cx="1540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12394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Normal –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Test Data –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Expected output –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Actual output –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2B47F-65B5-AE1E-468C-EE0F504933F8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318823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6167054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table – Normal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8200" y="2993292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8200" y="355597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64848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3262" y="2993292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3262" y="355597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3262" y="416484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8565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002420"/>
            <a:ext cx="0" cy="3404761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905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3626221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table – Normal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9259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596915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extreme test data in a test table</a:t>
            </a:r>
          </a:p>
          <a:p>
            <a:r>
              <a:rPr lang="en-GB" dirty="0"/>
              <a:t>Describe and identify syntax, execution, and </a:t>
            </a:r>
            <a:r>
              <a:rPr lang="en-GB" b="1" dirty="0"/>
              <a:t>logic errors</a:t>
            </a:r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90069494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Extreme – at limit of </a:t>
            </a:r>
            <a:r>
              <a:rPr lang="en-GB" sz="320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764946"/>
              </p:ext>
            </p:extLst>
          </p:nvPr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1901F56-8847-4ED1-22AF-E0FE259B466B}"/>
              </a:ext>
            </a:extLst>
          </p:cNvPr>
          <p:cNvGrpSpPr/>
          <p:nvPr/>
        </p:nvGrpSpPr>
        <p:grpSpPr>
          <a:xfrm>
            <a:off x="6096000" y="4817964"/>
            <a:ext cx="2584537" cy="1781460"/>
            <a:chOff x="6096000" y="4817964"/>
            <a:chExt cx="2584537" cy="17814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20CE1FB-F213-948B-6A89-D8410F65254F}"/>
                </a:ext>
              </a:extLst>
            </p:cNvPr>
            <p:cNvSpPr/>
            <p:nvPr/>
          </p:nvSpPr>
          <p:spPr>
            <a:xfrm>
              <a:off x="6096000" y="5303444"/>
              <a:ext cx="2584537" cy="1295980"/>
            </a:xfrm>
            <a:prstGeom prst="rect">
              <a:avLst/>
            </a:prstGeom>
            <a:noFill/>
            <a:ln w="571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9AD9BC3-916B-DEB8-8933-17BA5040DD72}"/>
                </a:ext>
              </a:extLst>
            </p:cNvPr>
            <p:cNvSpPr txBox="1"/>
            <p:nvPr/>
          </p:nvSpPr>
          <p:spPr>
            <a:xfrm>
              <a:off x="6146485" y="4817964"/>
              <a:ext cx="24835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Extreme Values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8CED7C0-A3E7-B61A-9579-912948FB8574}"/>
              </a:ext>
            </a:extLst>
          </p:cNvPr>
          <p:cNvSpPr txBox="1"/>
          <p:nvPr/>
        </p:nvSpPr>
        <p:spPr>
          <a:xfrm>
            <a:off x="3660794" y="5941479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7655B3-E95E-416C-186A-4F401899A90F}"/>
              </a:ext>
            </a:extLst>
          </p:cNvPr>
          <p:cNvSpPr txBox="1"/>
          <p:nvPr/>
        </p:nvSpPr>
        <p:spPr>
          <a:xfrm>
            <a:off x="4953060" y="5956093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A4123E-D472-5B5B-CFA3-7760833B324F}"/>
              </a:ext>
            </a:extLst>
          </p:cNvPr>
          <p:cNvSpPr txBox="1"/>
          <p:nvPr/>
        </p:nvSpPr>
        <p:spPr>
          <a:xfrm>
            <a:off x="6245326" y="5945655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EAA3E2-7982-26BD-F3D8-DB6B382FD7DD}"/>
              </a:ext>
            </a:extLst>
          </p:cNvPr>
          <p:cNvSpPr txBox="1"/>
          <p:nvPr/>
        </p:nvSpPr>
        <p:spPr>
          <a:xfrm>
            <a:off x="7474962" y="5947743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F8EE4B-9E57-D976-2BB9-1913D7E05DD0}"/>
              </a:ext>
            </a:extLst>
          </p:cNvPr>
          <p:cNvSpPr txBox="1"/>
          <p:nvPr/>
        </p:nvSpPr>
        <p:spPr>
          <a:xfrm>
            <a:off x="8767228" y="5949831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E57EF-E573-9D88-6E1C-89437FDDF413}"/>
              </a:ext>
            </a:extLst>
          </p:cNvPr>
          <p:cNvSpPr txBox="1"/>
          <p:nvPr/>
        </p:nvSpPr>
        <p:spPr>
          <a:xfrm>
            <a:off x="10059494" y="5951919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74055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5" grpId="0"/>
      <p:bldP spid="7" grpId="0"/>
      <p:bldP spid="8" grpId="0"/>
      <p:bldP spid="9" grpId="0"/>
      <p:bldP spid="10" grpId="0"/>
      <p:bldP spid="11" grpId="0"/>
      <p:bldP spid="14" grpId="0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Extreme – at limit of </a:t>
            </a:r>
            <a:r>
              <a:rPr lang="en-GB" sz="320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</p:spTree>
    <p:extLst>
      <p:ext uri="{BB962C8B-B14F-4D97-AF65-F5344CB8AC3E}">
        <p14:creationId xmlns:p14="http://schemas.microsoft.com/office/powerpoint/2010/main" val="2605745702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902155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7224" y="297998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7224" y="354266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7223" y="412100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4238" y="2979985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4238" y="3542668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4238" y="4121006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32D23B8-95DD-4D8E-8EF1-0DEC0E440F4F}"/>
              </a:ext>
            </a:extLst>
          </p:cNvPr>
          <p:cNvGrpSpPr/>
          <p:nvPr/>
        </p:nvGrpSpPr>
        <p:grpSpPr>
          <a:xfrm>
            <a:off x="838199" y="4754657"/>
            <a:ext cx="6228000" cy="1125367"/>
            <a:chOff x="838199" y="3687227"/>
            <a:chExt cx="6305062" cy="1125367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78E8B41A-764A-4572-8841-22FCCC355E42}"/>
                </a:ext>
              </a:extLst>
            </p:cNvPr>
            <p:cNvSpPr/>
            <p:nvPr/>
          </p:nvSpPr>
          <p:spPr>
            <a:xfrm rot="5400000">
              <a:off x="3790712" y="734714"/>
              <a:ext cx="400036" cy="6305062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6EC5F4D-0D78-49EA-A9C1-5E451C4E03A0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D0DAC-C3AD-4F8F-84C2-BBC5C95E6465}"/>
              </a:ext>
            </a:extLst>
          </p:cNvPr>
          <p:cNvGrpSpPr/>
          <p:nvPr/>
        </p:nvGrpSpPr>
        <p:grpSpPr>
          <a:xfrm>
            <a:off x="7095525" y="4754657"/>
            <a:ext cx="4320819" cy="1141021"/>
            <a:chOff x="2966007" y="3687227"/>
            <a:chExt cx="4320819" cy="1141021"/>
          </a:xfrm>
        </p:grpSpPr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5DED7B09-4F60-4C56-99BF-0766618395BC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6AC275A-15BB-4410-B6AE-668BE67ED3BB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7F63B39-CBA4-4362-9FBC-F02855E067F2}"/>
              </a:ext>
            </a:extLst>
          </p:cNvPr>
          <p:cNvSpPr txBox="1"/>
          <p:nvPr/>
        </p:nvSpPr>
        <p:spPr>
          <a:xfrm>
            <a:off x="3535700" y="6048412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</p:spTree>
    <p:extLst>
      <p:ext uri="{BB962C8B-B14F-4D97-AF65-F5344CB8AC3E}">
        <p14:creationId xmlns:p14="http://schemas.microsoft.com/office/powerpoint/2010/main" val="264153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5" grpId="0" animBg="1"/>
      <p:bldP spid="6" grpId="0" animBg="1"/>
      <p:bldP spid="7" grpId="0" animBg="1"/>
      <p:bldP spid="15" grpId="0"/>
      <p:bldP spid="23" grpId="0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3419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8449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9192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95E0425-EBDF-46AE-BB76-85FFB091F368}"/>
              </a:ext>
            </a:extLst>
          </p:cNvPr>
          <p:cNvSpPr/>
          <p:nvPr/>
        </p:nvSpPr>
        <p:spPr>
          <a:xfrm rot="5400000">
            <a:off x="3752181" y="1910122"/>
            <a:ext cx="400036" cy="6228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6C682ADD-8674-4E17-A2A0-5AED272F7BE1}"/>
              </a:ext>
            </a:extLst>
          </p:cNvPr>
          <p:cNvSpPr/>
          <p:nvPr/>
        </p:nvSpPr>
        <p:spPr>
          <a:xfrm rot="5400000">
            <a:off x="9063504" y="3003294"/>
            <a:ext cx="400036" cy="4041655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88731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score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score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score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50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4914157" y="4682020"/>
            <a:ext cx="4043470" cy="515127"/>
          </a:xfrm>
          <a:prstGeom prst="callout2">
            <a:avLst>
              <a:gd name="adj1" fmla="val 49740"/>
              <a:gd name="adj2" fmla="val -432"/>
              <a:gd name="adj3" fmla="val 48737"/>
              <a:gd name="adj4" fmla="val -13283"/>
              <a:gd name="adj5" fmla="val -27194"/>
              <a:gd name="adj6" fmla="val -267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Overwrites random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22422" y="5702276"/>
            <a:ext cx="6551216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not being used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finished with</a:t>
            </a:r>
          </a:p>
        </p:txBody>
      </p:sp>
      <p:sp>
        <p:nvSpPr>
          <p:cNvPr id="25" name="Callout: Bent Line with No Border 8">
            <a:extLst>
              <a:ext uri="{FF2B5EF4-FFF2-40B4-BE49-F238E27FC236}">
                <a16:creationId xmlns:a16="http://schemas.microsoft.com/office/drawing/2014/main" id="{E9FC7320-B7AB-461E-BF12-78ED67DC5AED}"/>
              </a:ext>
            </a:extLst>
          </p:cNvPr>
          <p:cNvSpPr/>
          <p:nvPr/>
        </p:nvSpPr>
        <p:spPr>
          <a:xfrm>
            <a:off x="3269382" y="3316888"/>
            <a:ext cx="1594671" cy="379593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108658"/>
              <a:gd name="adj6" fmla="val -361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1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1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5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20" grpId="0" animBg="1"/>
      <p:bldP spid="24" grpId="0" uiExpand="1" build="p"/>
      <p:bldP spid="25" grpId="0" animBg="1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score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score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score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50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06393" y="5702276"/>
            <a:ext cx="658327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322486479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conditional loops</a:t>
            </a:r>
          </a:p>
        </p:txBody>
      </p:sp>
    </p:spTree>
    <p:extLst>
      <p:ext uri="{BB962C8B-B14F-4D97-AF65-F5344CB8AC3E}">
        <p14:creationId xmlns:p14="http://schemas.microsoft.com/office/powerpoint/2010/main" val="119494589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WHILE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latin typeface="Consolas" panose="020B0609020204030204" pitchFamily="49" charset="0"/>
              </a:rPr>
              <a:t>    </a:t>
            </a:r>
            <a:r>
              <a:rPr lang="en-GB" sz="4400">
                <a:effectLst/>
                <a:latin typeface="Consolas" panose="020B0609020204030204" pitchFamily="49" charset="0"/>
              </a:rPr>
              <a:t>something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 WHILE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5904787" y="3281504"/>
            <a:ext cx="3818630" cy="842994"/>
            <a:chOff x="7638411" y="4231473"/>
            <a:chExt cx="3818630" cy="84299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38411" y="4231473"/>
              <a:ext cx="285556" cy="84299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142486" y="4391360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/>
                <a:t>Code to be repeated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Conditional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AF66A-6F9F-42BF-A7C6-EC5E620A0C62}"/>
              </a:ext>
            </a:extLst>
          </p:cNvPr>
          <p:cNvSpPr txBox="1"/>
          <p:nvPr/>
        </p:nvSpPr>
        <p:spPr>
          <a:xfrm>
            <a:off x="2688945" y="5937418"/>
            <a:ext cx="6814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/>
              <a:t>Code is only run if the condition is True</a:t>
            </a:r>
          </a:p>
        </p:txBody>
      </p:sp>
    </p:spTree>
    <p:extLst>
      <p:ext uri="{BB962C8B-B14F-4D97-AF65-F5344CB8AC3E}">
        <p14:creationId xmlns:p14="http://schemas.microsoft.com/office/powerpoint/2010/main" val="277312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     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endParaRPr lang="en-GB" sz="4400"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75778711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grpSp>
        <p:nvGrpSpPr>
          <p:cNvPr id="7" name="Condition">
            <a:extLst>
              <a:ext uri="{FF2B5EF4-FFF2-40B4-BE49-F238E27FC236}">
                <a16:creationId xmlns:a16="http://schemas.microsoft.com/office/drawing/2014/main" id="{615AE7FF-1299-4FCF-AA38-D260E396347C}"/>
              </a:ext>
            </a:extLst>
          </p:cNvPr>
          <p:cNvGrpSpPr/>
          <p:nvPr/>
        </p:nvGrpSpPr>
        <p:grpSpPr>
          <a:xfrm>
            <a:off x="3595227" y="2712851"/>
            <a:ext cx="3515288" cy="950429"/>
            <a:chOff x="3522861" y="2214880"/>
            <a:chExt cx="2932650" cy="950429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3C90929-2D96-414B-A63A-EC0A40052831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FCABEC-3649-416B-A5C5-3CB102838FFF}"/>
                </a:ext>
              </a:extLst>
            </p:cNvPr>
            <p:cNvSpPr txBox="1"/>
            <p:nvPr/>
          </p:nvSpPr>
          <p:spPr>
            <a:xfrm>
              <a:off x="3793878" y="2214880"/>
              <a:ext cx="239061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Condition</a:t>
              </a:r>
            </a:p>
          </p:txBody>
        </p:sp>
      </p:grpSp>
      <p:sp>
        <p:nvSpPr>
          <p:cNvPr id="14" name="Comment">
            <a:extLst>
              <a:ext uri="{FF2B5EF4-FFF2-40B4-BE49-F238E27FC236}">
                <a16:creationId xmlns:a16="http://schemas.microsoft.com/office/drawing/2014/main" id="{22B6715E-B827-4AAB-A07D-11FD59183E4D}"/>
              </a:ext>
            </a:extLst>
          </p:cNvPr>
          <p:cNvSpPr txBox="1"/>
          <p:nvPr/>
        </p:nvSpPr>
        <p:spPr>
          <a:xfrm>
            <a:off x="1699626" y="6080640"/>
            <a:ext cx="70253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Code repeats while the condition is True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78CDFA89-7062-4624-A533-A1F90C9DB30E}"/>
              </a:ext>
            </a:extLst>
          </p:cNvPr>
          <p:cNvSpPr/>
          <p:nvPr/>
        </p:nvSpPr>
        <p:spPr>
          <a:xfrm>
            <a:off x="1100475" y="3827695"/>
            <a:ext cx="2143031" cy="2208414"/>
          </a:xfrm>
          <a:prstGeom prst="arc">
            <a:avLst>
              <a:gd name="adj1" fmla="val 2425293"/>
              <a:gd name="adj2" fmla="val 14897367"/>
            </a:avLst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3" name="False">
            <a:extLst>
              <a:ext uri="{FF2B5EF4-FFF2-40B4-BE49-F238E27FC236}">
                <a16:creationId xmlns:a16="http://schemas.microsoft.com/office/drawing/2014/main" id="{95A2025C-0F90-DEB5-0F07-23FBE8054851}"/>
              </a:ext>
            </a:extLst>
          </p:cNvPr>
          <p:cNvGrpSpPr/>
          <p:nvPr/>
        </p:nvGrpSpPr>
        <p:grpSpPr>
          <a:xfrm>
            <a:off x="8255688" y="3460457"/>
            <a:ext cx="1130497" cy="2722684"/>
            <a:chOff x="8255688" y="2793707"/>
            <a:chExt cx="1130497" cy="2722684"/>
          </a:xfrm>
        </p:grpSpPr>
        <p:sp>
          <p:nvSpPr>
            <p:cNvPr id="16" name="Arrow: Bent 15">
              <a:extLst>
                <a:ext uri="{FF2B5EF4-FFF2-40B4-BE49-F238E27FC236}">
                  <a16:creationId xmlns:a16="http://schemas.microsoft.com/office/drawing/2014/main" id="{127810C9-7F76-4773-A4B8-55C72C602687}"/>
                </a:ext>
              </a:extLst>
            </p:cNvPr>
            <p:cNvSpPr/>
            <p:nvPr/>
          </p:nvSpPr>
          <p:spPr>
            <a:xfrm rot="5400000">
              <a:off x="7715453" y="3883682"/>
              <a:ext cx="2277548" cy="987869"/>
            </a:xfrm>
            <a:prstGeom prst="bentArrow">
              <a:avLst>
                <a:gd name="adj1" fmla="val 13349"/>
                <a:gd name="adj2" fmla="val 13886"/>
                <a:gd name="adj3" fmla="val 13552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4D0376-0026-E663-9A3D-7E7A2E1BFF9F}"/>
                </a:ext>
              </a:extLst>
            </p:cNvPr>
            <p:cNvSpPr txBox="1"/>
            <p:nvPr/>
          </p:nvSpPr>
          <p:spPr>
            <a:xfrm>
              <a:off x="8255688" y="2793707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False</a:t>
              </a:r>
              <a:endParaRPr lang="en-GB" sz="3200" dirty="0"/>
            </a:p>
          </p:txBody>
        </p:sp>
      </p:grpSp>
      <p:grpSp>
        <p:nvGrpSpPr>
          <p:cNvPr id="22" name="True">
            <a:extLst>
              <a:ext uri="{FF2B5EF4-FFF2-40B4-BE49-F238E27FC236}">
                <a16:creationId xmlns:a16="http://schemas.microsoft.com/office/drawing/2014/main" id="{FD3F4644-29B6-F562-67FE-6121846F6FA0}"/>
              </a:ext>
            </a:extLst>
          </p:cNvPr>
          <p:cNvGrpSpPr/>
          <p:nvPr/>
        </p:nvGrpSpPr>
        <p:grpSpPr>
          <a:xfrm>
            <a:off x="7241652" y="3447616"/>
            <a:ext cx="1130497" cy="988263"/>
            <a:chOff x="7241652" y="2780866"/>
            <a:chExt cx="1130497" cy="988263"/>
          </a:xfrm>
        </p:grpSpPr>
        <p:sp>
          <p:nvSpPr>
            <p:cNvPr id="6" name="Arrow: Bent 5">
              <a:extLst>
                <a:ext uri="{FF2B5EF4-FFF2-40B4-BE49-F238E27FC236}">
                  <a16:creationId xmlns:a16="http://schemas.microsoft.com/office/drawing/2014/main" id="{1DEBE41E-516E-C2DF-B0C2-27A82EF2A3CB}"/>
                </a:ext>
              </a:extLst>
            </p:cNvPr>
            <p:cNvSpPr/>
            <p:nvPr/>
          </p:nvSpPr>
          <p:spPr>
            <a:xfrm rot="5400000">
              <a:off x="7577054" y="2998166"/>
              <a:ext cx="538578" cy="1003347"/>
            </a:xfrm>
            <a:prstGeom prst="bentArrow">
              <a:avLst>
                <a:gd name="adj1" fmla="val 24455"/>
                <a:gd name="adj2" fmla="val 26159"/>
                <a:gd name="adj3" fmla="val 24885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5D57EF-7EA7-0D6C-E46D-0700DC4BEE3C}"/>
                </a:ext>
              </a:extLst>
            </p:cNvPr>
            <p:cNvSpPr txBox="1"/>
            <p:nvPr/>
          </p:nvSpPr>
          <p:spPr>
            <a:xfrm>
              <a:off x="7241652" y="2780866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True</a:t>
              </a:r>
              <a:endParaRPr lang="en-GB" sz="3200" dirty="0"/>
            </a:p>
          </p:txBody>
        </p:sp>
      </p:grpSp>
      <p:grpSp>
        <p:nvGrpSpPr>
          <p:cNvPr id="19" name="Keyword">
            <a:extLst>
              <a:ext uri="{FF2B5EF4-FFF2-40B4-BE49-F238E27FC236}">
                <a16:creationId xmlns:a16="http://schemas.microsoft.com/office/drawing/2014/main" id="{67A40B78-ECD8-A6C0-1916-D63D15639F38}"/>
              </a:ext>
            </a:extLst>
          </p:cNvPr>
          <p:cNvGrpSpPr/>
          <p:nvPr/>
        </p:nvGrpSpPr>
        <p:grpSpPr>
          <a:xfrm>
            <a:off x="1795613" y="2715744"/>
            <a:ext cx="1518042" cy="950429"/>
            <a:chOff x="3522861" y="2214880"/>
            <a:chExt cx="2932652" cy="950429"/>
          </a:xfrm>
        </p:grpSpPr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7CC42D71-E8BB-7286-C217-248836E8595C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4FAF530-7836-0610-8CEB-22DDEB5D4FC0}"/>
                </a:ext>
              </a:extLst>
            </p:cNvPr>
            <p:cNvSpPr txBox="1"/>
            <p:nvPr/>
          </p:nvSpPr>
          <p:spPr>
            <a:xfrm>
              <a:off x="3522861" y="2214880"/>
              <a:ext cx="29326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Keyword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96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4" dur="2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/>
      <p:bldP spid="4" grpId="0" animBg="1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2438059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F5D933-FA5C-5580-2909-A3F887B33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FF0000"/>
                </a:solidFill>
              </a:rPr>
              <a:t>While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8412BD-F006-0DF8-F446-FC525ADAB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88" y="1999073"/>
            <a:ext cx="10455254" cy="335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90236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502536425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pax =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"Taxi for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(pax))</a:t>
            </a:r>
            <a:endParaRPr lang="en-GB" sz="40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User input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C3B351-CA70-DAE1-3985-CB9492668A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52450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    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6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Initialise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Get input from user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message if needed</a:t>
            </a:r>
            <a:b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Overview</a:t>
            </a:r>
          </a:p>
        </p:txBody>
      </p:sp>
    </p:spTree>
    <p:extLst>
      <p:ext uri="{BB962C8B-B14F-4D97-AF65-F5344CB8AC3E}">
        <p14:creationId xmlns:p14="http://schemas.microsoft.com/office/powerpoint/2010/main" val="29080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4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Initialise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variable used in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       until condition is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Get       from user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       user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             , if needed</a:t>
            </a:r>
            <a:b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Overview</a:t>
            </a:r>
          </a:p>
        </p:txBody>
      </p:sp>
    </p:spTree>
    <p:extLst>
      <p:ext uri="{BB962C8B-B14F-4D97-AF65-F5344CB8AC3E}">
        <p14:creationId xmlns:p14="http://schemas.microsoft.com/office/powerpoint/2010/main" val="2095477747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Input before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389451" y="2376098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1702"/>
              <a:gd name="adj6" fmla="val -31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might not be used</a:t>
            </a:r>
          </a:p>
        </p:txBody>
      </p:sp>
    </p:spTree>
    <p:extLst>
      <p:ext uri="{BB962C8B-B14F-4D97-AF65-F5344CB8AC3E}">
        <p14:creationId xmlns:p14="http://schemas.microsoft.com/office/powerpoint/2010/main" val="297975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b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Input before loop</a:t>
            </a:r>
          </a:p>
        </p:txBody>
      </p:sp>
    </p:spTree>
    <p:extLst>
      <p:ext uri="{BB962C8B-B14F-4D97-AF65-F5344CB8AC3E}">
        <p14:creationId xmlns:p14="http://schemas.microsoft.com/office/powerpoint/2010/main" val="3987474254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Input in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762106" y="174892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3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8924081" y="2723459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877232" y="4246437"/>
            <a:ext cx="4141630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2181"/>
              <a:gd name="adj5" fmla="val 103815"/>
              <a:gd name="adj6" fmla="val -1904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6245E37F-3CA9-49E3-8279-0D65D41C4E66}"/>
              </a:ext>
            </a:extLst>
          </p:cNvPr>
          <p:cNvSpPr/>
          <p:nvPr/>
        </p:nvSpPr>
        <p:spPr>
          <a:xfrm>
            <a:off x="4449817" y="1154951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8" name="An array is">
            <a:extLst>
              <a:ext uri="{FF2B5EF4-FFF2-40B4-BE49-F238E27FC236}">
                <a16:creationId xmlns:a16="http://schemas.microsoft.com/office/drawing/2014/main" id="{F8C2E59B-8A39-8FBF-D182-59B21B1C16F4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always used</a:t>
            </a:r>
          </a:p>
        </p:txBody>
      </p:sp>
    </p:spTree>
    <p:extLst>
      <p:ext uri="{BB962C8B-B14F-4D97-AF65-F5344CB8AC3E}">
        <p14:creationId xmlns:p14="http://schemas.microsoft.com/office/powerpoint/2010/main" val="159465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  <p:bldP spid="8" grpId="0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Input in loop</a:t>
            </a:r>
          </a:p>
        </p:txBody>
      </p:sp>
    </p:spTree>
    <p:extLst>
      <p:ext uri="{BB962C8B-B14F-4D97-AF65-F5344CB8AC3E}">
        <p14:creationId xmlns:p14="http://schemas.microsoft.com/office/powerpoint/2010/main" val="135220160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complex condition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749B9D9E-F05C-4A42-C77F-A7DED94DFBBE}"/>
              </a:ext>
            </a:extLst>
          </p:cNvPr>
          <p:cNvSpPr/>
          <p:nvPr/>
        </p:nvSpPr>
        <p:spPr>
          <a:xfrm>
            <a:off x="6484246" y="179977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08CBE1CD-BA70-67EC-F6A8-88F13CDD8F99}"/>
              </a:ext>
            </a:extLst>
          </p:cNvPr>
          <p:cNvSpPr/>
          <p:nvPr/>
        </p:nvSpPr>
        <p:spPr>
          <a:xfrm>
            <a:off x="8968686" y="2688267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9613E53F-FBA9-6CE4-8278-90AA7ECE8D18}"/>
              </a:ext>
            </a:extLst>
          </p:cNvPr>
          <p:cNvSpPr/>
          <p:nvPr/>
        </p:nvSpPr>
        <p:spPr>
          <a:xfrm>
            <a:off x="9150780" y="42977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43AAE39C-87F5-4FB2-9240-B6450E562734}"/>
              </a:ext>
            </a:extLst>
          </p:cNvPr>
          <p:cNvSpPr/>
          <p:nvPr/>
        </p:nvSpPr>
        <p:spPr>
          <a:xfrm>
            <a:off x="4494422" y="1175518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135701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complex condition</a:t>
            </a:r>
          </a:p>
        </p:txBody>
      </p:sp>
    </p:spTree>
    <p:extLst>
      <p:ext uri="{BB962C8B-B14F-4D97-AF65-F5344CB8AC3E}">
        <p14:creationId xmlns:p14="http://schemas.microsoft.com/office/powerpoint/2010/main" val="3138362847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6906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233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Add Input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dirty="0">
                <a:latin typeface="Calibri" panose="020F0502020204030204" pitchFamily="34" charset="0"/>
                <a:cs typeface="Calibri" panose="020F0502020204030204" pitchFamily="34" charset="0"/>
              </a:rPr>
              <a:t>Add input validation to the following Replit tasks: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N5 SDD Ask Questions – Loops: </a:t>
            </a:r>
            <a:r>
              <a:rPr lang="en-GB" sz="32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 1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dirty="0"/>
              <a:t>N5 SDD School Days Left – Days: </a:t>
            </a:r>
            <a:r>
              <a:rPr lang="en-GB" sz="3200" dirty="0">
                <a:solidFill>
                  <a:srgbClr val="FF0000"/>
                </a:solidFill>
              </a:rPr>
              <a:t>Min 0</a:t>
            </a:r>
            <a:r>
              <a:rPr lang="en-GB" sz="3200" dirty="0"/>
              <a:t>, </a:t>
            </a:r>
            <a:r>
              <a:rPr lang="en-GB" sz="3200" dirty="0">
                <a:solidFill>
                  <a:srgbClr val="7030A0"/>
                </a:solidFill>
              </a:rPr>
              <a:t>Max 190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dirty="0"/>
              <a:t>N5 SDD - Decisions </a:t>
            </a:r>
            <a:r>
              <a:rPr lang="en-GB" sz="3200" dirty="0" err="1"/>
              <a:t>Decisions</a:t>
            </a:r>
            <a:r>
              <a:rPr lang="en-GB" sz="3200" dirty="0"/>
              <a:t> – Voucher: </a:t>
            </a:r>
            <a:r>
              <a:rPr lang="en-GB" sz="3200" dirty="0">
                <a:solidFill>
                  <a:srgbClr val="FF0000"/>
                </a:solidFill>
              </a:rPr>
              <a:t>"yes" </a:t>
            </a:r>
            <a:r>
              <a:rPr lang="en-GB" sz="3200" dirty="0"/>
              <a:t>or </a:t>
            </a:r>
            <a:r>
              <a:rPr lang="en-GB" sz="3200" dirty="0">
                <a:solidFill>
                  <a:srgbClr val="7030A0"/>
                </a:solidFill>
              </a:rPr>
              <a:t>"no"</a:t>
            </a:r>
          </a:p>
        </p:txBody>
      </p:sp>
    </p:spTree>
    <p:extLst>
      <p:ext uri="{BB962C8B-B14F-4D97-AF65-F5344CB8AC3E}">
        <p14:creationId xmlns:p14="http://schemas.microsoft.com/office/powerpoint/2010/main" val="2494474455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University Degree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dirty="0">
                <a:latin typeface="Calibri" panose="020F0502020204030204" pitchFamily="34" charset="0"/>
                <a:cs typeface="Calibri" panose="020F0502020204030204" pitchFamily="34" charset="0"/>
              </a:rPr>
              <a:t>Degrees are given classifications: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dirty="0">
                <a:solidFill>
                  <a:srgbClr val="7030A0"/>
                </a:solidFill>
                <a:latin typeface="Consolas" panose="020B0609020204030204" pitchFamily="49" charset="0"/>
              </a:rPr>
              <a:t>First</a:t>
            </a:r>
            <a:r>
              <a:rPr lang="en-GB" sz="3600" dirty="0">
                <a:latin typeface="Consolas" panose="020B0609020204030204" pitchFamily="49" charset="0"/>
              </a:rPr>
              <a:t>	70-100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dirty="0">
                <a:solidFill>
                  <a:srgbClr val="7030A0"/>
                </a:solidFill>
                <a:latin typeface="Consolas" panose="020B0609020204030204" pitchFamily="49" charset="0"/>
              </a:rPr>
              <a:t>2-1	</a:t>
            </a:r>
            <a:r>
              <a:rPr lang="en-GB" sz="3600" dirty="0">
                <a:latin typeface="Consolas" panose="020B0609020204030204" pitchFamily="49" charset="0"/>
              </a:rPr>
              <a:t>60-69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dirty="0">
                <a:solidFill>
                  <a:srgbClr val="7030A0"/>
                </a:solidFill>
                <a:latin typeface="Consolas" panose="020B0609020204030204" pitchFamily="49" charset="0"/>
              </a:rPr>
              <a:t>2-2</a:t>
            </a:r>
            <a:r>
              <a:rPr lang="en-GB" sz="3600" dirty="0">
                <a:latin typeface="Consolas" panose="020B0609020204030204" pitchFamily="49" charset="0"/>
              </a:rPr>
              <a:t>	50-59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dirty="0">
                <a:solidFill>
                  <a:srgbClr val="7030A0"/>
                </a:solidFill>
                <a:latin typeface="Consolas" panose="020B0609020204030204" pitchFamily="49" charset="0"/>
              </a:rPr>
              <a:t>Third</a:t>
            </a:r>
            <a:r>
              <a:rPr lang="en-GB" sz="3600" dirty="0">
                <a:latin typeface="Consolas" panose="020B0609020204030204" pitchFamily="49" charset="0"/>
              </a:rPr>
              <a:t>	40-49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dirty="0">
                <a:solidFill>
                  <a:srgbClr val="7030A0"/>
                </a:solidFill>
                <a:latin typeface="Consolas" panose="020B0609020204030204" pitchFamily="49" charset="0"/>
              </a:rPr>
              <a:t>Fail</a:t>
            </a:r>
            <a:r>
              <a:rPr lang="en-GB" sz="3600" dirty="0">
                <a:latin typeface="Consolas" panose="020B0609020204030204" pitchFamily="49" charset="0"/>
              </a:rPr>
              <a:t>	0-39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6729620" y="5157695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6729620" y="3269449"/>
            <a:ext cx="31833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</p:txBody>
      </p:sp>
    </p:spTree>
    <p:extLst>
      <p:ext uri="{BB962C8B-B14F-4D97-AF65-F5344CB8AC3E}">
        <p14:creationId xmlns:p14="http://schemas.microsoft.com/office/powerpoint/2010/main" val="80350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extreme test data in a test table</a:t>
            </a:r>
          </a:p>
          <a:p>
            <a:r>
              <a:rPr lang="en-GB" dirty="0"/>
              <a:t>Describe and identify execution and logic errors</a:t>
            </a:r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5901384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Extreme – normal test data but at limit of:</a:t>
            </a:r>
          </a:p>
          <a:p>
            <a:pPr lvl="1"/>
            <a:r>
              <a:rPr lang="en-GB" sz="3200" dirty="0"/>
              <a:t>acceptable values</a:t>
            </a:r>
          </a:p>
          <a:p>
            <a:pPr lvl="1"/>
            <a:r>
              <a:rPr lang="en-GB" sz="320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C26289-1585-C6B2-10C0-12C23D1A44DC}"/>
              </a:ext>
            </a:extLst>
          </p:cNvPr>
          <p:cNvSpPr/>
          <p:nvPr/>
        </p:nvSpPr>
        <p:spPr>
          <a:xfrm>
            <a:off x="6019293" y="4841873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EBF77-B363-3E2D-E94F-9C354752CDA6}"/>
              </a:ext>
            </a:extLst>
          </p:cNvPr>
          <p:cNvSpPr txBox="1"/>
          <p:nvPr/>
        </p:nvSpPr>
        <p:spPr>
          <a:xfrm>
            <a:off x="7082628" y="4401225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4520F0-4126-3E48-DE02-313F037007F1}"/>
              </a:ext>
            </a:extLst>
          </p:cNvPr>
          <p:cNvSpPr/>
          <p:nvPr/>
        </p:nvSpPr>
        <p:spPr>
          <a:xfrm>
            <a:off x="6095999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0EAA3-7117-634C-FA65-3333936DA35D}"/>
              </a:ext>
            </a:extLst>
          </p:cNvPr>
          <p:cNvSpPr/>
          <p:nvPr/>
        </p:nvSpPr>
        <p:spPr>
          <a:xfrm>
            <a:off x="9047361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5F7D17-FF17-FD2B-E346-A4A5C444708F}"/>
              </a:ext>
            </a:extLst>
          </p:cNvPr>
          <p:cNvSpPr txBox="1"/>
          <p:nvPr/>
        </p:nvSpPr>
        <p:spPr>
          <a:xfrm>
            <a:off x="6984043" y="5336692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736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Extreme – normal test data but at limit of:</a:t>
            </a:r>
          </a:p>
          <a:p>
            <a:pPr lvl="1"/>
            <a:r>
              <a:rPr lang="en-GB" sz="3200" dirty="0"/>
              <a:t>acceptable values</a:t>
            </a:r>
          </a:p>
          <a:p>
            <a:pPr lvl="1"/>
            <a:r>
              <a:rPr lang="en-GB" sz="320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1708104018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4163827872"/>
      </p:ext>
    </p:extLst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Running total (Fixed loop)</a:t>
            </a:r>
          </a:p>
        </p:txBody>
      </p:sp>
    </p:spTree>
    <p:extLst>
      <p:ext uri="{BB962C8B-B14F-4D97-AF65-F5344CB8AC3E}">
        <p14:creationId xmlns:p14="http://schemas.microsoft.com/office/powerpoint/2010/main" val="326763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Running total (Conditional Loop)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B495D21B-CDC4-EB46-697D-A8BED59D3EB0}"/>
              </a:ext>
            </a:extLst>
          </p:cNvPr>
          <p:cNvSpPr/>
          <p:nvPr/>
        </p:nvSpPr>
        <p:spPr>
          <a:xfrm>
            <a:off x="5228751" y="1493227"/>
            <a:ext cx="3813649" cy="39492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116330"/>
              <a:gd name="adj6" fmla="val -269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13A63945-369C-16C3-A1F4-8E56B1D22D27}"/>
              </a:ext>
            </a:extLst>
          </p:cNvPr>
          <p:cNvSpPr/>
          <p:nvPr/>
        </p:nvSpPr>
        <p:spPr>
          <a:xfrm>
            <a:off x="7329623" y="2049002"/>
            <a:ext cx="2889416" cy="817450"/>
          </a:xfrm>
          <a:prstGeom prst="callout2">
            <a:avLst>
              <a:gd name="adj1" fmla="val 50517"/>
              <a:gd name="adj2" fmla="val 60"/>
              <a:gd name="adj3" fmla="val 51008"/>
              <a:gd name="adj4" fmla="val -20496"/>
              <a:gd name="adj5" fmla="val 65031"/>
              <a:gd name="adj6" fmla="val -383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 (Don't use!)</a:t>
            </a:r>
          </a:p>
        </p:txBody>
      </p:sp>
    </p:spTree>
    <p:extLst>
      <p:ext uri="{BB962C8B-B14F-4D97-AF65-F5344CB8AC3E}">
        <p14:creationId xmlns:p14="http://schemas.microsoft.com/office/powerpoint/2010/main" val="83293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</p:bldLst>
  </p:timing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Running total (Conditional Loop)</a:t>
            </a:r>
          </a:p>
        </p:txBody>
      </p:sp>
    </p:spTree>
    <p:extLst>
      <p:ext uri="{BB962C8B-B14F-4D97-AF65-F5344CB8AC3E}">
        <p14:creationId xmlns:p14="http://schemas.microsoft.com/office/powerpoint/2010/main" val="3598817836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exceptional test data in a test table</a:t>
            </a:r>
          </a:p>
          <a:p>
            <a:r>
              <a:rPr lang="en-GB" dirty="0"/>
              <a:t>Describe and identify syntax, execution, and logic errors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67295990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Exceptional – values that are not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951C5-575A-8E0B-3B52-56DD7992825D}"/>
              </a:ext>
            </a:extLst>
          </p:cNvPr>
          <p:cNvSpPr/>
          <p:nvPr/>
        </p:nvSpPr>
        <p:spPr>
          <a:xfrm>
            <a:off x="6019293" y="396454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F306C5-5991-B1DB-EA97-47036B98530C}"/>
              </a:ext>
            </a:extLst>
          </p:cNvPr>
          <p:cNvSpPr txBox="1"/>
          <p:nvPr/>
        </p:nvSpPr>
        <p:spPr>
          <a:xfrm>
            <a:off x="7082628" y="3523892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B77A6-55E9-3216-8D84-53136FC51A5F}"/>
              </a:ext>
            </a:extLst>
          </p:cNvPr>
          <p:cNvSpPr/>
          <p:nvPr/>
        </p:nvSpPr>
        <p:spPr>
          <a:xfrm>
            <a:off x="6095999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7D8319-CF32-011D-7A6F-42FD0B669CBE}"/>
              </a:ext>
            </a:extLst>
          </p:cNvPr>
          <p:cNvSpPr/>
          <p:nvPr/>
        </p:nvSpPr>
        <p:spPr>
          <a:xfrm>
            <a:off x="9047361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0261D5-DB8E-6A1B-F221-278FAF8C6F96}"/>
              </a:ext>
            </a:extLst>
          </p:cNvPr>
          <p:cNvSpPr txBox="1"/>
          <p:nvPr/>
        </p:nvSpPr>
        <p:spPr>
          <a:xfrm>
            <a:off x="6984043" y="445935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2C092EE-E111-A860-0385-ED579E77B637}"/>
              </a:ext>
            </a:extLst>
          </p:cNvPr>
          <p:cNvGrpSpPr/>
          <p:nvPr/>
        </p:nvGrpSpPr>
        <p:grpSpPr>
          <a:xfrm>
            <a:off x="5206649" y="3523892"/>
            <a:ext cx="722125" cy="1440000"/>
            <a:chOff x="5206649" y="4401225"/>
            <a:chExt cx="722125" cy="1440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5F13A4-373D-7082-4874-1A2918DEFE38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DFAB866-1597-28C0-0D89-FE4D5ED0A1B5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696CF68-1E95-7F79-054E-06251A10381F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B910C9-D12C-0148-7AA0-44001E3A68FD}"/>
              </a:ext>
            </a:extLst>
          </p:cNvPr>
          <p:cNvGrpSpPr/>
          <p:nvPr/>
        </p:nvGrpSpPr>
        <p:grpSpPr>
          <a:xfrm flipH="1">
            <a:off x="9611714" y="3523894"/>
            <a:ext cx="722125" cy="1440000"/>
            <a:chOff x="5206649" y="4401225"/>
            <a:chExt cx="722125" cy="1440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59DF8F-7FB5-976A-F9E1-2F0834C61B7E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5EECF21-571C-B244-7210-62EBA56E433D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7A33658-9FA5-EF81-AE46-F4BC2305F4D8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4002307-9F0C-6A39-5A88-E37DCDA228DE}"/>
              </a:ext>
            </a:extLst>
          </p:cNvPr>
          <p:cNvSpPr txBox="1"/>
          <p:nvPr/>
        </p:nvSpPr>
        <p:spPr>
          <a:xfrm>
            <a:off x="3665764" y="5129959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57AF6-970C-7170-C662-F019AFFDED60}"/>
              </a:ext>
            </a:extLst>
          </p:cNvPr>
          <p:cNvSpPr txBox="1"/>
          <p:nvPr/>
        </p:nvSpPr>
        <p:spPr>
          <a:xfrm>
            <a:off x="9549725" y="5129964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779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  <p:bldP spid="21" grpId="0"/>
      <p:bldP spid="22" grpId="0"/>
    </p:bldLst>
  </p:timing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Exceptional – values that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2440815322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4212367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table – Exceptional</a:t>
            </a:r>
          </a:p>
        </p:txBody>
      </p:sp>
      <p:sp>
        <p:nvSpPr>
          <p:cNvPr id="5" name="Hide 1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22816" y="295601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Hide 2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22816" y="3532656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Hide 3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33927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Hide 4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27878" y="295007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Hide 5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27877" y="352278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Hide 6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35570" y="4109891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1200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231030"/>
            <a:ext cx="0" cy="2988000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68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5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399746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table – Exceptional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7948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2270202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dirty="0"/>
              <a:t>Enter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dirty="0"/>
              <a:t>Stay in the loop – exceptional test (if appropriate)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dirty="0"/>
              <a:t>Exit the loop – extreme test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6739637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/>
                        <a:t>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/>
                        <a:t>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/>
                        <a:t>Exit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102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D65096-329B-4C42-90BD-449E2F98B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95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dirty="0"/>
              <a:t>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7152421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/>
                        <a:t>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/>
                        <a:t>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/>
                        <a:t>Exit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4CDB3C-C1E5-41DF-8F4F-4F628188D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190445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the 1-D array data structure</a:t>
            </a:r>
          </a:p>
        </p:txBody>
      </p:sp>
    </p:spTree>
    <p:extLst>
      <p:ext uri="{BB962C8B-B14F-4D97-AF65-F5344CB8AC3E}">
        <p14:creationId xmlns:p14="http://schemas.microsoft.com/office/powerpoint/2010/main" val="584668572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Variables – How many are needed?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A postcode</a:t>
            </a:r>
          </a:p>
          <a:p>
            <a:pPr>
              <a:spcAft>
                <a:spcPts val="0"/>
              </a:spcAft>
            </a:pPr>
            <a:r>
              <a:rPr lang="en-GB" dirty="0"/>
              <a:t>The ages of 5 pupils</a:t>
            </a:r>
          </a:p>
          <a:p>
            <a:pPr>
              <a:spcAft>
                <a:spcPts val="0"/>
              </a:spcAft>
            </a:pPr>
            <a:endParaRPr lang="en-GB" dirty="0"/>
          </a:p>
          <a:p>
            <a:pPr>
              <a:spcAft>
                <a:spcPts val="0"/>
              </a:spcAft>
            </a:pPr>
            <a:endParaRPr lang="en-GB" dirty="0"/>
          </a:p>
          <a:p>
            <a:pPr>
              <a:spcAft>
                <a:spcPts val="0"/>
              </a:spcAft>
            </a:pPr>
            <a:endParaRPr lang="en-GB" dirty="0"/>
          </a:p>
          <a:p>
            <a:pPr>
              <a:spcAft>
                <a:spcPts val="600"/>
              </a:spcAft>
            </a:pPr>
            <a:endParaRPr lang="en-GB" dirty="0"/>
          </a:p>
          <a:p>
            <a:pPr>
              <a:spcAft>
                <a:spcPts val="600"/>
              </a:spcAft>
            </a:pPr>
            <a:r>
              <a:rPr lang="en-GB" dirty="0"/>
              <a:t>Rainfall for every day of a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>
                <a:latin typeface="Consolas" panose="020B0609020204030204" pitchFamily="49" charset="0"/>
              </a:rPr>
              <a:t>postcode = "</a:t>
            </a:r>
            <a:r>
              <a:rPr lang="en-GB" dirty="0">
                <a:solidFill>
                  <a:srgbClr val="183691"/>
                </a:solidFill>
                <a:latin typeface="Consolas" panose="020B0609020204030204" pitchFamily="49" charset="0"/>
              </a:rPr>
              <a:t>HS9 5XD</a:t>
            </a:r>
            <a:r>
              <a:rPr lang="en-GB" dirty="0">
                <a:latin typeface="Consolas" panose="020B0609020204030204" pitchFamily="49" charset="0"/>
              </a:rPr>
              <a:t>"</a:t>
            </a:r>
          </a:p>
          <a:p>
            <a:pPr>
              <a:spcAft>
                <a:spcPts val="0"/>
              </a:spcAft>
            </a:pPr>
            <a:r>
              <a:rPr lang="en-GB" dirty="0">
                <a:latin typeface="Consolas" panose="020B0609020204030204" pitchFamily="49" charset="0"/>
              </a:rPr>
              <a:t>age1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Aft>
                <a:spcPts val="0"/>
              </a:spcAft>
            </a:pPr>
            <a:r>
              <a:rPr lang="en-GB" dirty="0">
                <a:latin typeface="Consolas" panose="020B0609020204030204" pitchFamily="49" charset="0"/>
              </a:rPr>
              <a:t>age2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Aft>
                <a:spcPts val="0"/>
              </a:spcAft>
            </a:pPr>
            <a:r>
              <a:rPr lang="en-GB" dirty="0">
                <a:latin typeface="Consolas" panose="020B0609020204030204" pitchFamily="49" charset="0"/>
              </a:rPr>
              <a:t>age3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Aft>
                <a:spcPts val="0"/>
              </a:spcAft>
            </a:pPr>
            <a:r>
              <a:rPr lang="en-GB" dirty="0">
                <a:latin typeface="Consolas" panose="020B0609020204030204" pitchFamily="49" charset="0"/>
              </a:rPr>
              <a:t>age4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r>
              <a:rPr lang="en-GB" dirty="0">
                <a:latin typeface="Consolas" panose="020B0609020204030204" pitchFamily="49" charset="0"/>
              </a:rPr>
              <a:t>age5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  <a:p>
            <a:r>
              <a:rPr lang="en-GB" dirty="0">
                <a:latin typeface="Consolas" panose="020B0609020204030204" pitchFamily="49" charset="0"/>
              </a:rPr>
              <a:t>365 or 366 variables!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3194538" y="6019512"/>
            <a:ext cx="580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Multiple variables are inefficient</a:t>
            </a:r>
          </a:p>
        </p:txBody>
      </p:sp>
    </p:spTree>
    <p:extLst>
      <p:ext uri="{BB962C8B-B14F-4D97-AF65-F5344CB8AC3E}">
        <p14:creationId xmlns:p14="http://schemas.microsoft.com/office/powerpoint/2010/main" val="189928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age1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age2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age3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age4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age5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70156" y="1735412"/>
            <a:ext cx="5181600" cy="4351338"/>
          </a:xfrm>
        </p:spPr>
        <p:txBody>
          <a:bodyPr/>
          <a:lstStyle/>
          <a:p>
            <a:pPr marL="0" indent="0">
              <a:buNone/>
            </a:pPr>
            <a:endParaRPr lang="en-GB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[   ,   ,   ,   ,   ]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1461477" y="5908100"/>
            <a:ext cx="9269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An array is a collection of values of the same datatype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36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30104 0.21597 " pathEditMode="relative" rAng="0" ptsTypes="AA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052" y="10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33333E-6 L 0.37239 0.12315 " pathEditMode="relative" rAng="0" ptsTypes="AA">
                                      <p:cBhvr>
                                        <p:cTn id="4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620" y="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48 0.00046 L 0.44922 0.03032 " pathEditMode="relative" rAng="0" ptsTypes="AA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578" y="148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0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65 0.00579 L 0.52161 -0.06227 " pathEditMode="relative" rAng="0" ptsTypes="AA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42" y="-340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0"/>
                            </p:stCondLst>
                            <p:childTnLst>
                              <p:par>
                                <p:cTn id="5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000"/>
                            </p:stCondLst>
                            <p:childTnLst>
                              <p:par>
                                <p:cTn id="5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7037E-7 L 0.59388 -0.15741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688" y="-78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9" grpId="0"/>
      <p:bldP spid="9" grpId="1"/>
      <p:bldP spid="10" grpId="0"/>
      <p:bldP spid="10" grpId="1"/>
      <p:bldP spid="11" grpId="0"/>
      <p:bldP spid="11" grpId="1"/>
      <p:bldP spid="12" grpId="0"/>
      <p:bldP spid="12" grpId="1"/>
      <p:bldP spid="5" grpId="0"/>
      <p:bldP spid="6" grpId="0" animBg="1"/>
    </p:bldLst>
  </p:timing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age1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age2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age3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age4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age5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55015" y="3099084"/>
            <a:ext cx="6126131" cy="637124"/>
          </a:xfrm>
        </p:spPr>
        <p:txBody>
          <a:bodyPr/>
          <a:lstStyle/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[    ,    ,    ,    ,    ]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2431928"/>
      </p:ext>
    </p:extLst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ages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662784" y="2198082"/>
            <a:ext cx="1907234" cy="862642"/>
          </a:xfrm>
          <a:prstGeom prst="callout2">
            <a:avLst>
              <a:gd name="adj1" fmla="val 50590"/>
              <a:gd name="adj2" fmla="val 100061"/>
              <a:gd name="adj3" fmla="val 50521"/>
              <a:gd name="adj4" fmla="val 122800"/>
              <a:gd name="adj5" fmla="val 147476"/>
              <a:gd name="adj6" fmla="val 1340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Array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11012" y="4599278"/>
            <a:ext cx="2188233" cy="862642"/>
          </a:xfrm>
          <a:prstGeom prst="callout2">
            <a:avLst>
              <a:gd name="adj1" fmla="val 50406"/>
              <a:gd name="adj2" fmla="val 100247"/>
              <a:gd name="adj3" fmla="val 50016"/>
              <a:gd name="adj4" fmla="val 120252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7982325" y="2198082"/>
            <a:ext cx="3097935" cy="862642"/>
          </a:xfrm>
          <a:prstGeom prst="callout2">
            <a:avLst>
              <a:gd name="adj1" fmla="val 50082"/>
              <a:gd name="adj2" fmla="val -221"/>
              <a:gd name="adj3" fmla="val 50888"/>
              <a:gd name="adj4" fmla="val -15354"/>
              <a:gd name="adj5" fmla="val 147610"/>
              <a:gd name="adj6" fmla="val -213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638723" y="1997519"/>
            <a:ext cx="2361609" cy="1530634"/>
            <a:chOff x="3620547" y="1580485"/>
            <a:chExt cx="2361609" cy="1530634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4084596" y="2480335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3620547" y="1580485"/>
              <a:ext cx="2361609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Array assigned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Assignment – array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96D04-BB43-4BA4-8072-F7743E84BEFD}"/>
              </a:ext>
            </a:extLst>
          </p:cNvPr>
          <p:cNvSpPr txBox="1"/>
          <p:nvPr/>
        </p:nvSpPr>
        <p:spPr>
          <a:xfrm>
            <a:off x="1246499" y="5969314"/>
            <a:ext cx="96990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Values are same data type.  Plural used for array names.</a:t>
            </a:r>
          </a:p>
        </p:txBody>
      </p:sp>
    </p:spTree>
    <p:extLst>
      <p:ext uri="{BB962C8B-B14F-4D97-AF65-F5344CB8AC3E}">
        <p14:creationId xmlns:p14="http://schemas.microsoft.com/office/powerpoint/2010/main" val="227237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10" grpId="0"/>
    </p:bldLst>
  </p:timing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Assignment – array</a:t>
            </a:r>
          </a:p>
        </p:txBody>
      </p:sp>
    </p:spTree>
    <p:extLst>
      <p:ext uri="{BB962C8B-B14F-4D97-AF65-F5344CB8AC3E}">
        <p14:creationId xmlns:p14="http://schemas.microsoft.com/office/powerpoint/2010/main" val="2359119037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Array elements / index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4397835" y="2284519"/>
            <a:ext cx="5522683" cy="1264224"/>
            <a:chOff x="5624289" y="2066809"/>
            <a:chExt cx="5522683" cy="1264224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8043891" y="227952"/>
              <a:ext cx="68347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7606474" y="2066809"/>
              <a:ext cx="155831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Elements</a:t>
              </a:r>
            </a:p>
          </p:txBody>
        </p:sp>
      </p:grp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220894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465620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6710346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955072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9199798" y="4536968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406862" y="458168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E675F0-A8C3-8AE6-4F58-8F56410BC255}"/>
              </a:ext>
            </a:extLst>
          </p:cNvPr>
          <p:cNvSpPr txBox="1"/>
          <p:nvPr/>
        </p:nvSpPr>
        <p:spPr>
          <a:xfrm>
            <a:off x="3653046" y="5908100"/>
            <a:ext cx="48735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An array is a </a:t>
            </a:r>
            <a:r>
              <a:rPr lang="en-GB" sz="3200" b="1" i="1" dirty="0">
                <a:solidFill>
                  <a:srgbClr val="7030A0"/>
                </a:solidFill>
              </a:rPr>
              <a:t>data structure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3" grpId="0"/>
    </p:bldLst>
  </p:timing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Array elements / index</a:t>
            </a:r>
          </a:p>
        </p:txBody>
      </p:sp>
    </p:spTree>
    <p:extLst>
      <p:ext uri="{BB962C8B-B14F-4D97-AF65-F5344CB8AC3E}">
        <p14:creationId xmlns:p14="http://schemas.microsoft.com/office/powerpoint/2010/main" val="187972752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8268CD0B-7B96-44A0-90F1-27E31781DD8A}"/>
              </a:ext>
            </a:extLst>
          </p:cNvPr>
          <p:cNvSpPr/>
          <p:nvPr/>
        </p:nvSpPr>
        <p:spPr>
          <a:xfrm>
            <a:off x="4569807" y="4337162"/>
            <a:ext cx="1121482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55244"/>
              <a:gd name="adj5" fmla="val -69019"/>
              <a:gd name="adj6" fmla="val -548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E81D353-2C10-8CA2-BAF1-3D553312FA1E}"/>
              </a:ext>
            </a:extLst>
          </p:cNvPr>
          <p:cNvSpPr/>
          <p:nvPr/>
        </p:nvSpPr>
        <p:spPr>
          <a:xfrm>
            <a:off x="4810473" y="2997679"/>
            <a:ext cx="3108487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143683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Subscript operator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A36950-1E92-4592-A3BB-8C692BBB4C8A}"/>
              </a:ext>
            </a:extLst>
          </p:cNvPr>
          <p:cNvSpPr/>
          <p:nvPr/>
        </p:nvSpPr>
        <p:spPr>
          <a:xfrm>
            <a:off x="3214341" y="1359939"/>
            <a:ext cx="404149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0          1        2         3         4</a:t>
            </a:r>
          </a:p>
        </p:txBody>
      </p:sp>
    </p:spTree>
    <p:extLst>
      <p:ext uri="{BB962C8B-B14F-4D97-AF65-F5344CB8AC3E}">
        <p14:creationId xmlns:p14="http://schemas.microsoft.com/office/powerpoint/2010/main" val="3790672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25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5" grpId="0"/>
    </p:bldLst>
  </p:timing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36431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C8FAA953-E58F-B376-0EE5-6DBEB58E5F9F}"/>
              </a:ext>
            </a:extLst>
          </p:cNvPr>
          <p:cNvSpPr/>
          <p:nvPr/>
        </p:nvSpPr>
        <p:spPr>
          <a:xfrm>
            <a:off x="5978901" y="2135037"/>
            <a:ext cx="2949946" cy="862642"/>
          </a:xfrm>
          <a:prstGeom prst="callout2">
            <a:avLst>
              <a:gd name="adj1" fmla="val 50910"/>
              <a:gd name="adj2" fmla="val 303"/>
              <a:gd name="adj3" fmla="val 51943"/>
              <a:gd name="adj4" fmla="val -17994"/>
              <a:gd name="adj5" fmla="val 18477"/>
              <a:gd name="adj6" fmla="val -3457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(Do use!)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CFFEFE53-A0CD-F6ED-CA2E-D1E58D901DBC}"/>
              </a:ext>
            </a:extLst>
          </p:cNvPr>
          <p:cNvSpPr/>
          <p:nvPr/>
        </p:nvSpPr>
        <p:spPr>
          <a:xfrm>
            <a:off x="3212674" y="2997679"/>
            <a:ext cx="1121482" cy="862642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90962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55167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677912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774891" y="3044279"/>
            <a:ext cx="46422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effectLst/>
                <a:latin typeface="Consolas" panose="020B0609020204030204" pitchFamily="49" charset="0"/>
              </a:rPr>
              <a:t>[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Say What You See!</a:t>
            </a:r>
          </a:p>
        </p:txBody>
      </p:sp>
    </p:spTree>
    <p:extLst>
      <p:ext uri="{BB962C8B-B14F-4D97-AF65-F5344CB8AC3E}">
        <p14:creationId xmlns:p14="http://schemas.microsoft.com/office/powerpoint/2010/main" val="322703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92835035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10786673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786673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10786673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4177225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Array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Elements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720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5015752" y="5911406"/>
            <a:ext cx="1986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7683160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3155A0-5160-2403-DBE4-C72ADD08DB9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elements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len</a:t>
            </a:r>
            <a:r>
              <a:rPr lang="en-GB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F3977A21-6ECB-4351-B02F-31195B657B3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2BFF8066-BD52-43B2-BD49-D7B924325A8B}"/>
              </a:ext>
            </a:extLst>
          </p:cNvPr>
          <p:cNvSpPr/>
          <p:nvPr/>
        </p:nvSpPr>
        <p:spPr>
          <a:xfrm>
            <a:off x="8743115" y="424322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978009A-1B83-4A4C-98C8-4B3C1EDA1ADF}"/>
              </a:ext>
            </a:extLst>
          </p:cNvPr>
          <p:cNvCxnSpPr>
            <a:cxnSpLocks/>
          </p:cNvCxnSpPr>
          <p:nvPr/>
        </p:nvCxnSpPr>
        <p:spPr>
          <a:xfrm>
            <a:off x="7156174" y="3793622"/>
            <a:ext cx="216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1519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12" grpId="0"/>
      <p:bldP spid="11" grpId="0" animBg="1"/>
      <p:bldP spid="16" grpId="0" animBg="1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len</a:t>
            </a:r>
            <a:r>
              <a:rPr lang="en-GB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6C300D-1659-B9D9-1E6B-F402C12B838A}"/>
              </a:ext>
            </a:extLst>
          </p:cNvPr>
          <p:cNvSpPr/>
          <p:nvPr/>
        </p:nvSpPr>
        <p:spPr>
          <a:xfrm>
            <a:off x="2598603" y="5545153"/>
            <a:ext cx="699480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661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3516298165"/>
      </p:ext>
    </p:extLst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Traversing an array – Data in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30F97B8D-F869-D1A2-C733-7A1876514411}"/>
              </a:ext>
            </a:extLst>
          </p:cNvPr>
          <p:cNvSpPr/>
          <p:nvPr/>
        </p:nvSpPr>
        <p:spPr>
          <a:xfrm>
            <a:off x="3299252" y="5880579"/>
            <a:ext cx="2581793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10584"/>
              <a:gd name="adj6" fmla="val 1273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 to array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B8CB9EC-9F6A-AAC5-5A79-96AB7446D536}"/>
              </a:ext>
            </a:extLst>
          </p:cNvPr>
          <p:cNvSpPr/>
          <p:nvPr/>
        </p:nvSpPr>
        <p:spPr>
          <a:xfrm>
            <a:off x="9429414" y="3107526"/>
            <a:ext cx="167247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9803"/>
              <a:gd name="adj6" fmla="val -398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value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4A68956-7E2A-3348-17D4-4BC45E17DCEC}"/>
              </a:ext>
            </a:extLst>
          </p:cNvPr>
          <p:cNvSpPr/>
          <p:nvPr/>
        </p:nvSpPr>
        <p:spPr>
          <a:xfrm>
            <a:off x="8446127" y="2244884"/>
            <a:ext cx="277380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8897"/>
              <a:gd name="adj6" fmla="val -3149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for 5 values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F5E7D1E4-DEC6-4D33-9D32-66CD086D0E72}"/>
              </a:ext>
            </a:extLst>
          </p:cNvPr>
          <p:cNvSpPr/>
          <p:nvPr/>
        </p:nvSpPr>
        <p:spPr>
          <a:xfrm>
            <a:off x="4421943" y="2675164"/>
            <a:ext cx="2466506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05924"/>
              <a:gd name="adj6" fmla="val -27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3363430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Traversing an array – Data in</a:t>
            </a:r>
          </a:p>
        </p:txBody>
      </p:sp>
    </p:spTree>
    <p:extLst>
      <p:ext uri="{BB962C8B-B14F-4D97-AF65-F5344CB8AC3E}">
        <p14:creationId xmlns:p14="http://schemas.microsoft.com/office/powerpoint/2010/main" val="1774096843"/>
      </p:ext>
    </p:extLst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26B05B-3283-457C-8B75-0E9D2B04137C}"/>
              </a:ext>
            </a:extLst>
          </p:cNvPr>
          <p:cNvSpPr/>
          <p:nvPr/>
        </p:nvSpPr>
        <p:spPr>
          <a:xfrm>
            <a:off x="1353739" y="6066411"/>
            <a:ext cx="948458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95151F-5273-4918-80CB-8C12AC5D0639}"/>
              </a:ext>
            </a:extLst>
          </p:cNvPr>
          <p:cNvSpPr/>
          <p:nvPr/>
        </p:nvSpPr>
        <p:spPr>
          <a:xfrm>
            <a:off x="1353739" y="6066411"/>
            <a:ext cx="583210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Loops for each element in array – </a:t>
            </a:r>
          </a:p>
        </p:txBody>
      </p:sp>
    </p:spTree>
    <p:extLst>
      <p:ext uri="{BB962C8B-B14F-4D97-AF65-F5344CB8AC3E}">
        <p14:creationId xmlns:p14="http://schemas.microsoft.com/office/powerpoint/2010/main" val="369632287"/>
      </p:ext>
    </p:extLst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Traversing an array – Data out (2)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257242-E1C1-4C44-AC32-A3EA4CD1B178}"/>
              </a:ext>
            </a:extLst>
          </p:cNvPr>
          <p:cNvSpPr/>
          <p:nvPr/>
        </p:nvSpPr>
        <p:spPr>
          <a:xfrm>
            <a:off x="1122876" y="5592188"/>
            <a:ext cx="994624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</a:t>
            </a:r>
            <a:r>
              <a:rPr lang="en-GB" sz="3200" b="1" i="1" dirty="0">
                <a:solidFill>
                  <a:srgbClr val="7030A0"/>
                </a:solidFill>
              </a:rPr>
              <a:t>For Each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0252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Traversing an array – Data out (2)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66E1B-6669-4F50-B0F6-F8E1F192CBB9}"/>
              </a:ext>
            </a:extLst>
          </p:cNvPr>
          <p:cNvSpPr/>
          <p:nvPr/>
        </p:nvSpPr>
        <p:spPr>
          <a:xfrm>
            <a:off x="1122875" y="5592188"/>
            <a:ext cx="6884303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7533146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4893266"/>
              </p:ext>
            </p:extLst>
          </p:nvPr>
        </p:nvGraphicFramePr>
        <p:xfrm>
          <a:off x="1996440" y="4519691"/>
          <a:ext cx="682752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6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432816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 11, -700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1, 10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en-GB" sz="2800" dirty="0"/>
                        <a:t>2, 3, 4, 5, 6,</a:t>
                      </a:r>
                      <a:r>
                        <a:rPr lang="en-GB" sz="2800" baseline="0" dirty="0"/>
                        <a:t> 7, 8, 9</a:t>
                      </a:r>
                      <a:r>
                        <a:rPr lang="en-GB" sz="2800" baseline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baseline="0" dirty="0">
                          <a:solidFill>
                            <a:srgbClr val="FF0000"/>
                          </a:solidFill>
                        </a:rPr>
                        <a:t> 10</a:t>
                      </a:r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4919498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 rejected / crash program</a:t>
                      </a:r>
                      <a:endParaRPr lang="en-GB" sz="32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 limit of what is acceptable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 acceptable 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4627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36169832"/>
              </p:ext>
            </p:extLst>
          </p:nvPr>
        </p:nvGraphicFramePr>
        <p:xfrm>
          <a:off x="1996439" y="4519691"/>
          <a:ext cx="7963107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8426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5634681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1049336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939264"/>
      </p:ext>
    </p:extLst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0612753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37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943659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4736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dirty="0"/>
              <a:t>SDD		67%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dirty="0"/>
              <a:t>DDD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dirty="0"/>
              <a:t>SDD		54%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dirty="0"/>
              <a:t>DDD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dirty="0"/>
              <a:t>Comp Sys		13%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280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b="1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910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4416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4 – 8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</a:t>
            </a:r>
            <a:endParaRPr lang="en-GB" b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0 – 5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10 – 14</a:t>
            </a:r>
            <a:endParaRPr lang="en-GB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4151910" y="612634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85016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7061350"/>
      </p:ext>
    </p:extLst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implement the phases of an iterative development process</a:t>
            </a:r>
          </a:p>
        </p:txBody>
      </p:sp>
    </p:spTree>
    <p:extLst>
      <p:ext uri="{BB962C8B-B14F-4D97-AF65-F5344CB8AC3E}">
        <p14:creationId xmlns:p14="http://schemas.microsoft.com/office/powerpoint/2010/main" val="2360124209"/>
      </p:ext>
    </p:extLst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0AFE5-85A2-FC16-06A5-C72718D0690D}"/>
              </a:ext>
            </a:extLst>
          </p:cNvPr>
          <p:cNvSpPr txBox="1"/>
          <p:nvPr/>
        </p:nvSpPr>
        <p:spPr>
          <a:xfrm>
            <a:off x="684772" y="5538768"/>
            <a:ext cx="42271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Note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r>
              <a:rPr lang="en-GB" sz="2800" dirty="0">
                <a:solidFill>
                  <a:srgbClr val="7030A0"/>
                </a:solidFill>
              </a:rPr>
              <a:t>Phases are different lengths</a:t>
            </a:r>
          </a:p>
        </p:txBody>
      </p:sp>
    </p:spTree>
    <p:extLst>
      <p:ext uri="{BB962C8B-B14F-4D97-AF65-F5344CB8AC3E}">
        <p14:creationId xmlns:p14="http://schemas.microsoft.com/office/powerpoint/2010/main" val="276977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uiExpand="1" build="p"/>
    </p:bldLst>
  </p:timing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171510851"/>
      </p:ext>
    </p:extLst>
  </p:cSld>
  <p:clrMapOvr>
    <a:masterClrMapping/>
  </p:clrMapOvr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/>
              <a:t>Analysis</a:t>
            </a:r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Design</a:t>
              </a:r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0" b="1" dirty="0"/>
                <a:t>Implementation</a:t>
              </a:r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Evaluation</a:t>
              </a:r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Documentation</a:t>
              </a:r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Testing</a:t>
              </a:r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486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  <a:noFill/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  <a:noFill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  <a:noFill/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  <a:noFill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  <a:noFill/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192042"/>
      </p:ext>
    </p:extLst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What's wanted?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How to do 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Make it happen!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work?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Write manuals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do what was wanted?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5844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548900"/>
      </p:ext>
    </p:extLst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Create user and technical guides</a:t>
                </a:r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000" b="1" dirty="0"/>
                  <a:t>Make it happen!</a:t>
                </a:r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How will it be done / look like?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What is wanted?</a:t>
              </a:r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do what was wanted?</a:t>
                </a:r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work?</a:t>
                </a:r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976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1530201"/>
      </p:ext>
    </p:extLst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Arrow: Bent 1">
            <a:extLst>
              <a:ext uri="{FF2B5EF4-FFF2-40B4-BE49-F238E27FC236}">
                <a16:creationId xmlns:a16="http://schemas.microsoft.com/office/drawing/2014/main" id="{7C25703A-BFB2-8460-9352-DAE1D8A970A9}"/>
              </a:ext>
            </a:extLst>
          </p:cNvPr>
          <p:cNvSpPr/>
          <p:nvPr/>
        </p:nvSpPr>
        <p:spPr>
          <a:xfrm rot="16200000">
            <a:off x="1849736" y="2706580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Arrow: Bent 3">
            <a:extLst>
              <a:ext uri="{FF2B5EF4-FFF2-40B4-BE49-F238E27FC236}">
                <a16:creationId xmlns:a16="http://schemas.microsoft.com/office/drawing/2014/main" id="{64063C47-0F6A-8AAD-ED8B-ACE391A6A4BF}"/>
              </a:ext>
            </a:extLst>
          </p:cNvPr>
          <p:cNvSpPr/>
          <p:nvPr/>
        </p:nvSpPr>
        <p:spPr>
          <a:xfrm rot="16200000">
            <a:off x="3394523" y="343867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Arrow: Bent 4">
            <a:extLst>
              <a:ext uri="{FF2B5EF4-FFF2-40B4-BE49-F238E27FC236}">
                <a16:creationId xmlns:a16="http://schemas.microsoft.com/office/drawing/2014/main" id="{91CEB591-734E-7998-1DAA-70003A8F3BE2}"/>
              </a:ext>
            </a:extLst>
          </p:cNvPr>
          <p:cNvSpPr/>
          <p:nvPr/>
        </p:nvSpPr>
        <p:spPr>
          <a:xfrm rot="16200000">
            <a:off x="4946021" y="4171302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D61F004A-D666-F6E6-53CE-98554F2885D9}"/>
              </a:ext>
            </a:extLst>
          </p:cNvPr>
          <p:cNvSpPr/>
          <p:nvPr/>
        </p:nvSpPr>
        <p:spPr>
          <a:xfrm rot="16200000">
            <a:off x="6498223" y="4907638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91618D2B-26C2-BE4D-276C-EB766B83E5D6}"/>
              </a:ext>
            </a:extLst>
          </p:cNvPr>
          <p:cNvSpPr/>
          <p:nvPr/>
        </p:nvSpPr>
        <p:spPr>
          <a:xfrm rot="16200000">
            <a:off x="8051427" y="563966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D651EF9C-05BC-D2BC-5129-FF85D96C789C}"/>
              </a:ext>
            </a:extLst>
          </p:cNvPr>
          <p:cNvSpPr/>
          <p:nvPr/>
        </p:nvSpPr>
        <p:spPr>
          <a:xfrm rot="16200000">
            <a:off x="3481392" y="2890266"/>
            <a:ext cx="1311169" cy="2372975"/>
          </a:xfrm>
          <a:prstGeom prst="bentArrow">
            <a:avLst>
              <a:gd name="adj1" fmla="val 7546"/>
              <a:gd name="adj2" fmla="val 7275"/>
              <a:gd name="adj3" fmla="val 7133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5655101A-C758-C7A4-1EAE-9F1DAB73918A}"/>
              </a:ext>
            </a:extLst>
          </p:cNvPr>
          <p:cNvSpPr/>
          <p:nvPr/>
        </p:nvSpPr>
        <p:spPr>
          <a:xfrm rot="16200000">
            <a:off x="2991219" y="746684"/>
            <a:ext cx="3494401" cy="7386781"/>
          </a:xfrm>
          <a:prstGeom prst="bentArrow">
            <a:avLst>
              <a:gd name="adj1" fmla="val 3048"/>
              <a:gd name="adj2" fmla="val 2642"/>
              <a:gd name="adj3" fmla="val 2294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32034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Do it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Improve each time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4DB392-22B1-BBDA-CF18-5AB8A022B844}"/>
              </a:ext>
            </a:extLst>
          </p:cNvPr>
          <p:cNvSpPr txBox="1"/>
          <p:nvPr/>
        </p:nvSpPr>
        <p:spPr>
          <a:xfrm>
            <a:off x="1945379" y="5144625"/>
            <a:ext cx="4215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7030A0"/>
                </a:solidFill>
              </a:rPr>
              <a:t>Go back to </a:t>
            </a:r>
            <a:r>
              <a:rPr lang="en-GB" sz="2800" b="1" i="1" dirty="0">
                <a:solidFill>
                  <a:srgbClr val="7030A0"/>
                </a:solidFill>
              </a:rPr>
              <a:t>any</a:t>
            </a:r>
            <a:r>
              <a:rPr lang="en-GB" sz="2800" dirty="0">
                <a:solidFill>
                  <a:srgbClr val="7030A0"/>
                </a:solidFill>
              </a:rPr>
              <a:t> earlier stage</a:t>
            </a:r>
          </a:p>
        </p:txBody>
      </p:sp>
    </p:spTree>
    <p:extLst>
      <p:ext uri="{BB962C8B-B14F-4D97-AF65-F5344CB8AC3E}">
        <p14:creationId xmlns:p14="http://schemas.microsoft.com/office/powerpoint/2010/main" val="2137337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3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" grpId="0" animBg="1"/>
      <p:bldP spid="4" grpId="0" animBg="1"/>
      <p:bldP spid="5" grpId="0" animBg="1"/>
      <p:bldP spid="6" grpId="0" animBg="1"/>
      <p:bldP spid="19" grpId="0" animBg="1"/>
      <p:bldP spid="20" grpId="0" animBg="1"/>
      <p:bldP spid="21" grpId="0" animBg="1"/>
      <p:bldP spid="22" grpId="0" uiExpand="1" build="p"/>
      <p:bldP spid="23" grpId="0"/>
    </p:bldLst>
  </p:timing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15347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7241627"/>
      </p:ext>
    </p:extLst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3212908"/>
      </p:ext>
    </p:extLst>
  </p:cSld>
  <p:clrMapOvr>
    <a:masterClrMapping/>
  </p:clrMapOvr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Identify the purpose and functional requirements of a problem that relates to the design and implementation, in terms of:</a:t>
            </a:r>
          </a:p>
          <a:p>
            <a:pPr lvl="1"/>
            <a:r>
              <a:rPr lang="en-GB" sz="3200" dirty="0"/>
              <a:t>inputs</a:t>
            </a:r>
          </a:p>
          <a:p>
            <a:pPr lvl="1"/>
            <a:r>
              <a:rPr lang="en-GB" sz="3200" dirty="0"/>
              <a:t>processes</a:t>
            </a:r>
          </a:p>
          <a:p>
            <a:pPr lvl="1"/>
            <a:r>
              <a:rPr lang="en-GB" sz="320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878298329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 statement of what the program is supposed to do: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316264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562494661"/>
      </p:ext>
    </p:extLst>
  </p:cSld>
  <p:clrMapOvr>
    <a:masterClrMapping/>
  </p:clrMapOvr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800686" y="4015184"/>
            <a:ext cx="23439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First value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800686" y="5004719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Add first value and second value together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336415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inputs, processes, and outputs </a:t>
            </a:r>
          </a:p>
          <a:p>
            <a:pPr marL="0" indent="0">
              <a:buNone/>
            </a:pPr>
            <a:endParaRPr lang="en-GB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</p:spTree>
    <p:extLst>
      <p:ext uri="{BB962C8B-B14F-4D97-AF65-F5344CB8AC3E}">
        <p14:creationId xmlns:p14="http://schemas.microsoft.com/office/powerpoint/2010/main" val="2200453781"/>
      </p:ext>
    </p:extLst>
  </p:cSld>
  <p:clrMapOvr>
    <a:masterClrMapping/>
  </p:clrMapOvr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5678143"/>
      </p:ext>
    </p:extLst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977772895"/>
      </p:ext>
    </p:extLst>
  </p:cSld>
  <p:clrMapOvr>
    <a:masterClrMapping/>
  </p:clrMapOvr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Describe, identify, and be able to read and understand:</a:t>
            </a:r>
          </a:p>
          <a:p>
            <a:pPr lvl="1"/>
            <a:r>
              <a:rPr lang="en-GB" sz="3200" b="1" dirty="0"/>
              <a:t>structure diagrams</a:t>
            </a:r>
          </a:p>
          <a:p>
            <a:pPr lvl="1"/>
            <a:r>
              <a:rPr lang="en-GB" sz="3200" dirty="0"/>
              <a:t>flowcharts</a:t>
            </a:r>
          </a:p>
          <a:p>
            <a:pPr lvl="1"/>
            <a:r>
              <a:rPr lang="en-GB" sz="3200" dirty="0"/>
              <a:t>pseudocode</a:t>
            </a:r>
          </a:p>
          <a:p>
            <a:r>
              <a:rPr lang="en-GB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3194918004"/>
      </p:ext>
    </p:extLst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dirty="0"/>
              <a:t>Steps to solve a problem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6F41F-DF58-4815-A8EE-C303DC0D3272}"/>
              </a:ext>
            </a:extLst>
          </p:cNvPr>
          <p:cNvSpPr/>
          <p:nvPr/>
        </p:nvSpPr>
        <p:spPr>
          <a:xfrm>
            <a:off x="3678077" y="3456306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95C42C-90A5-4617-A92A-BFE617B2F0A5}"/>
              </a:ext>
            </a:extLst>
          </p:cNvPr>
          <p:cNvSpPr/>
          <p:nvPr/>
        </p:nvSpPr>
        <p:spPr>
          <a:xfrm>
            <a:off x="3555672" y="5386334"/>
            <a:ext cx="15536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Selection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FE676F-FA69-46E0-9CB8-B5E5FACA38CC}"/>
              </a:ext>
            </a:extLst>
          </p:cNvPr>
          <p:cNvSpPr/>
          <p:nvPr/>
        </p:nvSpPr>
        <p:spPr>
          <a:xfrm>
            <a:off x="7402500" y="3457538"/>
            <a:ext cx="91403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Loop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B85371-BA95-4B24-9AF0-4E4EB1962580}"/>
              </a:ext>
            </a:extLst>
          </p:cNvPr>
          <p:cNvSpPr/>
          <p:nvPr/>
        </p:nvSpPr>
        <p:spPr>
          <a:xfrm>
            <a:off x="6894476" y="5170890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468069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7" grpId="0" animBg="1"/>
      <p:bldP spid="8" grpId="0" animBg="1"/>
      <p:bldP spid="17" grpId="0"/>
      <p:bldP spid="18" grpId="0"/>
      <p:bldP spid="19" grpId="0"/>
      <p:bldP spid="20" grpId="0"/>
    </p:bldLst>
  </p:timing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dirty="0"/>
              <a:t>Steps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852391780"/>
      </p:ext>
    </p:extLst>
  </p:cSld>
  <p:clrMapOvr>
    <a:masterClrMapping/>
  </p:clrMapOvr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dirty="0"/>
              <a:t>Read top to bottom, left to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two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124365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024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947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7560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529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1</a:t>
            </a:r>
          </a:p>
        </p:txBody>
      </p:sp>
      <p:sp>
        <p:nvSpPr>
          <p:cNvPr id="30" name="Callout: Bent Line with No Border 7">
            <a:extLst>
              <a:ext uri="{FF2B5EF4-FFF2-40B4-BE49-F238E27FC236}">
                <a16:creationId xmlns:a16="http://schemas.microsoft.com/office/drawing/2014/main" id="{EE6D944F-368C-49C4-BF8E-54FB76C2AC02}"/>
              </a:ext>
            </a:extLst>
          </p:cNvPr>
          <p:cNvSpPr/>
          <p:nvPr/>
        </p:nvSpPr>
        <p:spPr>
          <a:xfrm>
            <a:off x="7571531" y="1868522"/>
            <a:ext cx="2852629" cy="862642"/>
          </a:xfrm>
          <a:prstGeom prst="callout2">
            <a:avLst>
              <a:gd name="adj1" fmla="val 50321"/>
              <a:gd name="adj2" fmla="val -260"/>
              <a:gd name="adj3" fmla="val 50615"/>
              <a:gd name="adj4" fmla="val -16608"/>
              <a:gd name="adj5" fmla="val 96393"/>
              <a:gd name="adj6" fmla="val -232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Title / Description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420658-AD53-47C2-B15E-FC51B97CD17C}"/>
              </a:ext>
            </a:extLst>
          </p:cNvPr>
          <p:cNvSpPr txBox="1"/>
          <p:nvPr/>
        </p:nvSpPr>
        <p:spPr>
          <a:xfrm>
            <a:off x="4610185" y="244639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25" grpId="0"/>
      <p:bldP spid="27" grpId="0"/>
      <p:bldP spid="28" grpId="0"/>
      <p:bldP spid="29" grpId="0"/>
      <p:bldP spid="30" grpId="0" animBg="1"/>
      <p:bldP spid="24" grpId="0"/>
    </p:bldLst>
  </p:timing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dirty="0"/>
              <a:t>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1</a:t>
            </a:r>
          </a:p>
        </p:txBody>
      </p:sp>
    </p:spTree>
    <p:extLst>
      <p:ext uri="{BB962C8B-B14F-4D97-AF65-F5344CB8AC3E}">
        <p14:creationId xmlns:p14="http://schemas.microsoft.com/office/powerpoint/2010/main" val="553773557"/>
      </p:ext>
    </p:extLst>
  </p:cSld>
  <p:clrMapOvr>
    <a:masterClrMapping/>
  </p:clrMapOvr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Loop 4 times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Round to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1 dp 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29FA0E2-A8D0-4BCF-9F8F-1B7F11F9BC42}"/>
              </a:ext>
            </a:extLst>
          </p:cNvPr>
          <p:cNvSpPr txBox="1"/>
          <p:nvPr/>
        </p:nvSpPr>
        <p:spPr>
          <a:xfrm>
            <a:off x="322990" y="316911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E0C4BF-EA74-426C-8B6C-61EB980A55A3}"/>
              </a:ext>
            </a:extLst>
          </p:cNvPr>
          <p:cNvSpPr txBox="1"/>
          <p:nvPr/>
        </p:nvSpPr>
        <p:spPr>
          <a:xfrm>
            <a:off x="3280525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2845B0-9C90-4D73-AA2F-C515335F3EFC}"/>
              </a:ext>
            </a:extLst>
          </p:cNvPr>
          <p:cNvSpPr txBox="1"/>
          <p:nvPr/>
        </p:nvSpPr>
        <p:spPr>
          <a:xfrm>
            <a:off x="365619" y="486479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6A9CC-8F8A-43EF-A69B-D24E77D11705}"/>
              </a:ext>
            </a:extLst>
          </p:cNvPr>
          <p:cNvSpPr txBox="1"/>
          <p:nvPr/>
        </p:nvSpPr>
        <p:spPr>
          <a:xfrm>
            <a:off x="3225415" y="492991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ACEE0F-C65D-48B7-9B4F-1E52AF3B9A26}"/>
              </a:ext>
            </a:extLst>
          </p:cNvPr>
          <p:cNvSpPr txBox="1"/>
          <p:nvPr/>
        </p:nvSpPr>
        <p:spPr>
          <a:xfrm>
            <a:off x="6083248" y="3169114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D11D1F-5ED0-4A4C-BA74-C8CAAEECC6B3}"/>
              </a:ext>
            </a:extLst>
          </p:cNvPr>
          <p:cNvSpPr txBox="1"/>
          <p:nvPr/>
        </p:nvSpPr>
        <p:spPr>
          <a:xfrm>
            <a:off x="6062933" y="498175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7628E1-9772-4394-9D55-D0AE63DB8E93}"/>
              </a:ext>
            </a:extLst>
          </p:cNvPr>
          <p:cNvSpPr txBox="1"/>
          <p:nvPr/>
        </p:nvSpPr>
        <p:spPr>
          <a:xfrm>
            <a:off x="8850650" y="317307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567988-D8C8-49BC-932A-68CCC847F6C9}"/>
              </a:ext>
            </a:extLst>
          </p:cNvPr>
          <p:cNvSpPr txBox="1"/>
          <p:nvPr/>
        </p:nvSpPr>
        <p:spPr>
          <a:xfrm>
            <a:off x="4607557" y="142326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4EB6A7-AB6B-4241-B776-0AF13A1E554A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686795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50"/>
                            </p:stCondLst>
                            <p:childTnLst>
                              <p:par>
                                <p:cTn id="4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0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33" grpId="0"/>
      <p:bldP spid="41" grpId="0"/>
      <p:bldP spid="42" grpId="0"/>
      <p:bldP spid="43" grpId="0"/>
      <p:bldP spid="44" grpId="0"/>
      <p:bldP spid="45" grpId="0"/>
      <p:bldP spid="48" grpId="0"/>
      <p:bldP spid="49" grpId="0" build="p"/>
    </p:bldLst>
  </p:timing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749385"/>
      </p:ext>
    </p:extLst>
  </p:cSld>
  <p:clrMapOvr>
    <a:masterClrMapping/>
  </p:clrMapOvr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839067" y="4521700"/>
            <a:ext cx="696423" cy="650253"/>
            <a:chOff x="6839067" y="4521700"/>
            <a:chExt cx="696423" cy="650253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H="1" flipV="1">
              <a:off x="7531405" y="4521700"/>
              <a:ext cx="4085" cy="65025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6839067" y="459712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6035791" y="489991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87581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33" grpId="0"/>
      <p:bldP spid="35" grpId="0" build="p"/>
    </p:bldLst>
  </p:timing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83EC3F4-18C1-48AD-9F1A-83468A29F35F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31405" y="4521700"/>
            <a:ext cx="4085" cy="65025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</p:spTree>
    <p:extLst>
      <p:ext uri="{BB962C8B-B14F-4D97-AF65-F5344CB8AC3E}">
        <p14:creationId xmlns:p14="http://schemas.microsoft.com/office/powerpoint/2010/main" val="355651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2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5763152" y="4544089"/>
            <a:ext cx="3514089" cy="640828"/>
            <a:chOff x="5763152" y="4544089"/>
            <a:chExt cx="3514089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5763152" y="459999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9B0E230-F4FB-45F8-AAE4-7EB39C58E853}"/>
                </a:ext>
              </a:extLst>
            </p:cNvPr>
            <p:cNvSpPr txBox="1"/>
            <p:nvPr/>
          </p:nvSpPr>
          <p:spPr>
            <a:xfrm>
              <a:off x="8662969" y="4602893"/>
              <a:ext cx="6142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No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4420965" y="5908100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4a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06B98D-5A07-40AF-987F-406563A07C48}"/>
              </a:ext>
            </a:extLst>
          </p:cNvPr>
          <p:cNvSpPr txBox="1"/>
          <p:nvPr/>
        </p:nvSpPr>
        <p:spPr>
          <a:xfrm>
            <a:off x="10105730" y="5908100"/>
            <a:ext cx="6094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4b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B69F1F-BF9E-4FDE-BCA3-75D909F404DA}"/>
              </a:ext>
            </a:extLst>
          </p:cNvPr>
          <p:cNvSpPr txBox="1"/>
          <p:nvPr/>
        </p:nvSpPr>
        <p:spPr>
          <a:xfrm>
            <a:off x="5263868" y="6217434"/>
            <a:ext cx="45940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(Only </a:t>
            </a:r>
            <a:r>
              <a:rPr lang="en-GB" sz="3200" b="1" i="1" dirty="0">
                <a:solidFill>
                  <a:srgbClr val="FF0000"/>
                </a:solidFill>
              </a:rPr>
              <a:t>Yes</a:t>
            </a:r>
            <a:r>
              <a:rPr lang="en-GB" sz="3200" b="1" dirty="0">
                <a:solidFill>
                  <a:srgbClr val="FF0000"/>
                </a:solidFill>
              </a:rPr>
              <a:t> or </a:t>
            </a:r>
            <a:r>
              <a:rPr lang="en-GB" sz="3200" b="1" i="1" dirty="0">
                <a:solidFill>
                  <a:srgbClr val="FF0000"/>
                </a:solidFill>
              </a:rPr>
              <a:t>No</a:t>
            </a:r>
            <a:r>
              <a:rPr lang="en-GB" sz="3200" b="1" dirty="0">
                <a:solidFill>
                  <a:srgbClr val="FF0000"/>
                </a:solidFill>
              </a:rPr>
              <a:t>, not both)</a:t>
            </a:r>
          </a:p>
        </p:txBody>
      </p:sp>
    </p:spTree>
    <p:extLst>
      <p:ext uri="{BB962C8B-B14F-4D97-AF65-F5344CB8AC3E}">
        <p14:creationId xmlns:p14="http://schemas.microsoft.com/office/powerpoint/2010/main" val="509563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50" grpId="0"/>
      <p:bldP spid="33" grpId="0"/>
      <p:bldP spid="35" grpId="0" build="p"/>
      <p:bldP spid="36" grpId="0"/>
    </p:bldLst>
  </p:timing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129378" y="4544089"/>
            <a:ext cx="2840727" cy="640828"/>
            <a:chOff x="6129378" y="4544089"/>
            <a:chExt cx="2840727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941101"/>
      </p:ext>
    </p:extLst>
  </p:cSld>
  <p:clrMapOvr>
    <a:masterClrMapping/>
  </p:clrMapOvr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Describe, identify, and be able to read and understand:</a:t>
            </a:r>
          </a:p>
          <a:p>
            <a:pPr lvl="1"/>
            <a:r>
              <a:rPr lang="en-GB" sz="3200" dirty="0"/>
              <a:t>structure diagrams</a:t>
            </a:r>
          </a:p>
          <a:p>
            <a:pPr lvl="1"/>
            <a:r>
              <a:rPr lang="en-GB" sz="3200" b="1" dirty="0"/>
              <a:t>flowcharts</a:t>
            </a:r>
          </a:p>
          <a:p>
            <a:pPr lvl="1"/>
            <a:r>
              <a:rPr lang="en-GB" sz="3200" dirty="0"/>
              <a:t>pseudocode</a:t>
            </a:r>
          </a:p>
          <a:p>
            <a:r>
              <a:rPr lang="en-GB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1160263806"/>
      </p:ext>
    </p:extLst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Begin at </a:t>
            </a:r>
            <a:r>
              <a:rPr lang="en-GB" i="1" dirty="0">
                <a:solidFill>
                  <a:srgbClr val="7030A0"/>
                </a:solidFill>
              </a:rPr>
              <a:t>start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Follow the </a:t>
            </a:r>
            <a:r>
              <a:rPr lang="en-GB" i="1" dirty="0">
                <a:solidFill>
                  <a:srgbClr val="7030A0"/>
                </a:solidFill>
              </a:rPr>
              <a:t>arrows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Finish at </a:t>
            </a:r>
            <a:r>
              <a:rPr lang="en-GB" i="1" dirty="0">
                <a:solidFill>
                  <a:srgbClr val="7030A0"/>
                </a:solidFill>
              </a:rPr>
              <a:t>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D22231A-0AC7-856C-6189-14E0EE787E28}"/>
              </a:ext>
            </a:extLst>
          </p:cNvPr>
          <p:cNvSpPr/>
          <p:nvPr/>
        </p:nvSpPr>
        <p:spPr>
          <a:xfrm>
            <a:off x="4021930" y="532559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9E1FC2-8847-E419-81EE-A4E64D7849AA}"/>
              </a:ext>
            </a:extLst>
          </p:cNvPr>
          <p:cNvSpPr/>
          <p:nvPr/>
        </p:nvSpPr>
        <p:spPr>
          <a:xfrm>
            <a:off x="3620382" y="3574218"/>
            <a:ext cx="8972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Flow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A82F0E-862C-023D-13E6-DEF23788E7FD}"/>
              </a:ext>
            </a:extLst>
          </p:cNvPr>
          <p:cNvSpPr/>
          <p:nvPr/>
        </p:nvSpPr>
        <p:spPr>
          <a:xfrm>
            <a:off x="1090435" y="3766186"/>
            <a:ext cx="147931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Terminal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EACEEA-67C5-FC3E-C755-92BE55C51624}"/>
              </a:ext>
            </a:extLst>
          </p:cNvPr>
          <p:cNvSpPr/>
          <p:nvPr/>
        </p:nvSpPr>
        <p:spPr>
          <a:xfrm>
            <a:off x="6978173" y="5105755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740E34-E7CE-2A75-C144-725C378706FB}"/>
              </a:ext>
            </a:extLst>
          </p:cNvPr>
          <p:cNvSpPr/>
          <p:nvPr/>
        </p:nvSpPr>
        <p:spPr>
          <a:xfrm>
            <a:off x="5474793" y="3355280"/>
            <a:ext cx="204402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Initialisation</a:t>
            </a:r>
            <a:endParaRPr lang="en-GB" sz="2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211EFB-BA1B-A2F2-43AC-50C2B6BE2285}"/>
              </a:ext>
            </a:extLst>
          </p:cNvPr>
          <p:cNvSpPr/>
          <p:nvPr/>
        </p:nvSpPr>
        <p:spPr>
          <a:xfrm>
            <a:off x="8932493" y="3188149"/>
            <a:ext cx="125386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Input /</a:t>
            </a:r>
          </a:p>
          <a:p>
            <a:pPr algn="ctr"/>
            <a:r>
              <a:rPr lang="en-GB" sz="2800" b="1" dirty="0"/>
              <a:t>Output</a:t>
            </a:r>
            <a:endParaRPr lang="en-GB" sz="28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00DF69-E059-013C-28D9-35F145BAD9FF}"/>
              </a:ext>
            </a:extLst>
          </p:cNvPr>
          <p:cNvSpPr/>
          <p:nvPr/>
        </p:nvSpPr>
        <p:spPr>
          <a:xfrm>
            <a:off x="9489775" y="4797755"/>
            <a:ext cx="172643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Connector</a:t>
            </a:r>
            <a:endParaRPr lang="en-GB" sz="2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AC73A6-2ECD-B818-B4D6-60C99EE82704}"/>
              </a:ext>
            </a:extLst>
          </p:cNvPr>
          <p:cNvSpPr/>
          <p:nvPr/>
        </p:nvSpPr>
        <p:spPr>
          <a:xfrm>
            <a:off x="1090435" y="5317204"/>
            <a:ext cx="135806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600" b="1" dirty="0"/>
              <a:t>Decision</a:t>
            </a:r>
            <a:endParaRPr lang="en-GB" sz="2600" dirty="0"/>
          </a:p>
        </p:txBody>
      </p:sp>
    </p:spTree>
    <p:extLst>
      <p:ext uri="{BB962C8B-B14F-4D97-AF65-F5344CB8AC3E}">
        <p14:creationId xmlns:p14="http://schemas.microsoft.com/office/powerpoint/2010/main" val="164713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Begin 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Follow the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Finish at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926422631"/>
      </p:ext>
    </p:extLst>
  </p:cSld>
  <p:clrMapOvr>
    <a:masterClrMapping/>
  </p:clrMapOvr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Declare variables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result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240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3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1417108"/>
      </p:ext>
    </p:extLst>
  </p:cSld>
  <p:clrMapOvr>
    <a:masterClrMapping/>
  </p:clrMapOvr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= 4?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4F7B893-4B46-4405-BBC1-D321DB8854B8}"/>
              </a:ext>
            </a:extLst>
          </p:cNvPr>
          <p:cNvGrpSpPr/>
          <p:nvPr/>
        </p:nvGrpSpPr>
        <p:grpSpPr>
          <a:xfrm>
            <a:off x="5413121" y="3130620"/>
            <a:ext cx="2530155" cy="2455733"/>
            <a:chOff x="5413121" y="3130620"/>
            <a:chExt cx="2530155" cy="2455733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F80EE6B2-2E8B-4A70-BEC4-1A59869CF745}"/>
                </a:ext>
              </a:extLst>
            </p:cNvPr>
            <p:cNvCxnSpPr>
              <a:stCxn id="13" idx="1"/>
              <a:endCxn id="25" idx="2"/>
            </p:cNvCxnSpPr>
            <p:nvPr/>
          </p:nvCxnSpPr>
          <p:spPr>
            <a:xfrm rot="10800000">
              <a:off x="5413121" y="3130620"/>
              <a:ext cx="861147" cy="1458946"/>
            </a:xfrm>
            <a:prstGeom prst="bentConnector3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039D7D7-6C42-4338-9281-0F4F0D13D4FF}"/>
                </a:ext>
              </a:extLst>
            </p:cNvPr>
            <p:cNvGrpSpPr/>
            <p:nvPr/>
          </p:nvGrpSpPr>
          <p:grpSpPr>
            <a:xfrm>
              <a:off x="5799427" y="4084398"/>
              <a:ext cx="2143849" cy="1501955"/>
              <a:chOff x="5799427" y="4084398"/>
              <a:chExt cx="2143849" cy="1501955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C7EFB87-9B43-4920-B17B-EBA7F65B30A6}"/>
                  </a:ext>
                </a:extLst>
              </p:cNvPr>
              <p:cNvSpPr txBox="1"/>
              <p:nvPr/>
            </p:nvSpPr>
            <p:spPr>
              <a:xfrm>
                <a:off x="7277581" y="5063133"/>
                <a:ext cx="66569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Yes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3166625-9F8A-43A5-B3D5-F968B7F2DBFD}"/>
                  </a:ext>
                </a:extLst>
              </p:cNvPr>
              <p:cNvSpPr txBox="1"/>
              <p:nvPr/>
            </p:nvSpPr>
            <p:spPr>
              <a:xfrm>
                <a:off x="5799427" y="4084398"/>
                <a:ext cx="614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No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76251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7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r>
                <a:rPr lang="en-GB" sz="2000" dirty="0">
                  <a:solidFill>
                    <a:schemeClr val="tx1"/>
                  </a:solidFill>
                </a:rPr>
                <a:t>=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F80EE6B2-2E8B-4A70-BEC4-1A59869CF745}"/>
              </a:ext>
            </a:extLst>
          </p:cNvPr>
          <p:cNvCxnSpPr>
            <a:stCxn id="13" idx="1"/>
            <a:endCxn id="25" idx="2"/>
          </p:cNvCxnSpPr>
          <p:nvPr/>
        </p:nvCxnSpPr>
        <p:spPr>
          <a:xfrm rot="10800000">
            <a:off x="5413121" y="3130620"/>
            <a:ext cx="861147" cy="1458946"/>
          </a:xfrm>
          <a:prstGeom prst="bentConnector3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177526"/>
      </p:ext>
    </p:extLst>
  </p:cSld>
  <p:clrMapOvr>
    <a:masterClrMapping/>
  </p:clrMapOvr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75E1B3B-E80F-DF7F-4C09-3A56DC0668C3}"/>
              </a:ext>
            </a:extLst>
          </p:cNvPr>
          <p:cNvGrpSpPr/>
          <p:nvPr/>
        </p:nvGrpSpPr>
        <p:grpSpPr>
          <a:xfrm>
            <a:off x="4318000" y="2732183"/>
            <a:ext cx="4242106" cy="1987610"/>
            <a:chOff x="5512872" y="1284400"/>
            <a:chExt cx="4242106" cy="19876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3BF4846-E70C-EEF2-1359-7C5A6B77A880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A8FD28-5913-617B-C987-0655F92FD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1231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7161160"/>
      </p:ext>
    </p:extLst>
  </p:cSld>
  <p:clrMapOvr>
    <a:masterClrMapping/>
  </p:clrMapOvr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6FD9B4-1AB9-93D9-CF8D-0377828C2B5B}"/>
              </a:ext>
            </a:extLst>
          </p:cNvPr>
          <p:cNvGrpSpPr/>
          <p:nvPr/>
        </p:nvGrpSpPr>
        <p:grpSpPr>
          <a:xfrm>
            <a:off x="4151523" y="2854411"/>
            <a:ext cx="3917439" cy="1265898"/>
            <a:chOff x="5442333" y="2006112"/>
            <a:chExt cx="3917439" cy="1265898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0492247-207A-5B8E-7F23-E632EFC6530E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700127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B015F7E-58CB-C87D-FB90-1EB63029F3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2245" y="2006112"/>
              <a:ext cx="1237527" cy="126589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2595D27-B235-4125-9B79-A2A22521ABD5}"/>
              </a:ext>
            </a:extLst>
          </p:cNvPr>
          <p:cNvGrpSpPr/>
          <p:nvPr/>
        </p:nvGrpSpPr>
        <p:grpSpPr>
          <a:xfrm>
            <a:off x="5149441" y="4255245"/>
            <a:ext cx="2700127" cy="359959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ACB0-2BEE-47E0-A3E8-08954FA5A8A6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BAA6FC-5A79-4579-9EDD-4924E7404B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DF52BD-EA97-4945-9758-B3EB014A2DED}"/>
              </a:ext>
            </a:extLst>
          </p:cNvPr>
          <p:cNvGrpSpPr/>
          <p:nvPr/>
        </p:nvGrpSpPr>
        <p:grpSpPr>
          <a:xfrm>
            <a:off x="5817934" y="4615204"/>
            <a:ext cx="4018044" cy="1010286"/>
            <a:chOff x="5512872" y="-2306554"/>
            <a:chExt cx="6312655" cy="557856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ECD9A2F-EF12-455F-8673-1BE2FBE5D33F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3730672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4D661F-997B-47DF-A0D7-7E0376EB78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43544" y="-2306554"/>
              <a:ext cx="2581983" cy="5578564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8836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</p:spTree>
    <p:extLst>
      <p:ext uri="{BB962C8B-B14F-4D97-AF65-F5344CB8AC3E}">
        <p14:creationId xmlns:p14="http://schemas.microsoft.com/office/powerpoint/2010/main" val="3904918738"/>
      </p:ext>
    </p:extLst>
  </p:cSld>
  <p:clrMapOvr>
    <a:masterClrMapping/>
  </p:clrMapOvr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44A072D-34B1-2E6B-63DB-69C37DBB4868}"/>
              </a:ext>
            </a:extLst>
          </p:cNvPr>
          <p:cNvGrpSpPr/>
          <p:nvPr/>
        </p:nvGrpSpPr>
        <p:grpSpPr>
          <a:xfrm>
            <a:off x="4515080" y="2334974"/>
            <a:ext cx="3813580" cy="937036"/>
            <a:chOff x="5442333" y="2334974"/>
            <a:chExt cx="3813580" cy="937036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09314B4-2944-C2BA-6BFD-18012FF94BC1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882670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B9995E-B03E-1943-AF72-DFD3A4D664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9603" y="2334974"/>
              <a:ext cx="956310" cy="937036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828B97-4767-BC7D-C177-592C6516DB0F}"/>
              </a:ext>
            </a:extLst>
          </p:cNvPr>
          <p:cNvGrpSpPr/>
          <p:nvPr/>
        </p:nvGrpSpPr>
        <p:grpSpPr>
          <a:xfrm>
            <a:off x="4957590" y="3522875"/>
            <a:ext cx="4811250" cy="891049"/>
            <a:chOff x="4303923" y="2469097"/>
            <a:chExt cx="4811250" cy="891049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6FC4F5-3B34-D533-BB5B-13BBE46C12C6}"/>
                </a:ext>
              </a:extLst>
            </p:cNvPr>
            <p:cNvCxnSpPr>
              <a:cxnSpLocks/>
            </p:cNvCxnSpPr>
            <p:nvPr/>
          </p:nvCxnSpPr>
          <p:spPr>
            <a:xfrm>
              <a:off x="4303923" y="3360146"/>
              <a:ext cx="404353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CA352A9-F289-E0C0-22F9-4C8237028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8408" y="2469097"/>
              <a:ext cx="786765" cy="891049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4668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2994858"/>
      </p:ext>
    </p:extLst>
  </p:cSld>
  <p:clrMapOvr>
    <a:masterClrMapping/>
  </p:clrMapOvr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748266-0450-C23C-18A6-9C04F90EF5F9}"/>
              </a:ext>
            </a:extLst>
          </p:cNvPr>
          <p:cNvGrpSpPr/>
          <p:nvPr/>
        </p:nvGrpSpPr>
        <p:grpSpPr>
          <a:xfrm>
            <a:off x="5442333" y="3272010"/>
            <a:ext cx="4144580" cy="628478"/>
            <a:chOff x="5442333" y="3272010"/>
            <a:chExt cx="4144580" cy="6284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0EF9AC8-BB3C-CD17-5BF3-F1E368518477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406392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4F6FD44-B815-C632-19B8-A25812463291}"/>
                </a:ext>
              </a:extLst>
            </p:cNvPr>
            <p:cNvCxnSpPr>
              <a:cxnSpLocks/>
            </p:cNvCxnSpPr>
            <p:nvPr/>
          </p:nvCxnSpPr>
          <p:spPr>
            <a:xfrm>
              <a:off x="8829675" y="3272010"/>
              <a:ext cx="757238" cy="6284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26252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1803101682"/>
      </p:ext>
    </p:extLst>
  </p:cSld>
  <p:clrMapOvr>
    <a:masterClrMapping/>
  </p:clrMapOvr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DE1BA0-7782-AE3F-7D55-196E0B2E138C}"/>
              </a:ext>
            </a:extLst>
          </p:cNvPr>
          <p:cNvGrpSpPr/>
          <p:nvPr/>
        </p:nvGrpSpPr>
        <p:grpSpPr>
          <a:xfrm>
            <a:off x="6437868" y="3272009"/>
            <a:ext cx="3323969" cy="879861"/>
            <a:chOff x="5442333" y="3272010"/>
            <a:chExt cx="4309754" cy="5151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727276-F137-D185-7348-FD6DCD344C76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073749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19EFFA-E771-48B9-77AB-4E3F3F2FDA14}"/>
                </a:ext>
              </a:extLst>
            </p:cNvPr>
            <p:cNvCxnSpPr>
              <a:cxnSpLocks/>
            </p:cNvCxnSpPr>
            <p:nvPr/>
          </p:nvCxnSpPr>
          <p:spPr>
            <a:xfrm>
              <a:off x="8516082" y="3272010"/>
              <a:ext cx="1236005" cy="5151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74414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2428031427"/>
      </p:ext>
    </p:extLst>
  </p:cSld>
  <p:clrMapOvr>
    <a:masterClrMapping/>
  </p:clrMapOvr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Describe, identify, and be able to read and understand:</a:t>
            </a:r>
          </a:p>
          <a:p>
            <a:pPr lvl="1"/>
            <a:r>
              <a:rPr lang="en-GB" sz="3200" dirty="0"/>
              <a:t>structure diagrams</a:t>
            </a:r>
          </a:p>
          <a:p>
            <a:pPr lvl="1"/>
            <a:r>
              <a:rPr lang="en-GB" sz="3200" dirty="0"/>
              <a:t>flowcharts</a:t>
            </a:r>
          </a:p>
          <a:p>
            <a:pPr lvl="1"/>
            <a:r>
              <a:rPr lang="en-GB" sz="3200" b="1" dirty="0"/>
              <a:t>pseudocode</a:t>
            </a:r>
          </a:p>
          <a:p>
            <a:r>
              <a:rPr lang="en-GB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2112419833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Written in structured English</a:t>
            </a:r>
          </a:p>
          <a:p>
            <a:r>
              <a:rPr lang="en-GB" dirty="0"/>
              <a:t>Main steps show algorithm</a:t>
            </a:r>
          </a:p>
          <a:p>
            <a:r>
              <a:rPr lang="en-GB" dirty="0"/>
              <a:t>Refinements show detail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SQA Reference Language (</a:t>
            </a:r>
            <a:r>
              <a:rPr lang="en-GB" dirty="0" err="1"/>
              <a:t>SQARL</a:t>
            </a:r>
            <a:r>
              <a:rPr lang="en-GB" dirty="0"/>
              <a:t>) </a:t>
            </a:r>
            <a:r>
              <a:rPr lang="en-GB" b="1" dirty="0">
                <a:solidFill>
                  <a:srgbClr val="FF0000"/>
                </a:solidFill>
              </a:rPr>
              <a:t>!=</a:t>
            </a:r>
            <a:r>
              <a:rPr lang="en-GB" dirty="0"/>
              <a:t> Pseudocode</a:t>
            </a:r>
          </a:p>
        </p:txBody>
      </p:sp>
    </p:spTree>
    <p:extLst>
      <p:ext uri="{BB962C8B-B14F-4D97-AF65-F5344CB8AC3E}">
        <p14:creationId xmlns:p14="http://schemas.microsoft.com/office/powerpoint/2010/main" val="133884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Written in</a:t>
            </a:r>
          </a:p>
          <a:p>
            <a:r>
              <a:rPr lang="en-GB" dirty="0"/>
              <a:t>Main steps</a:t>
            </a:r>
          </a:p>
          <a:p>
            <a:r>
              <a:rPr lang="en-GB" dirty="0"/>
              <a:t>Refinements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SQA Reference Language (</a:t>
            </a:r>
            <a:r>
              <a:rPr lang="en-GB" dirty="0" err="1"/>
              <a:t>SQARL</a:t>
            </a:r>
            <a:r>
              <a:rPr lang="en-GB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03656443"/>
      </p:ext>
    </p:extLst>
  </p:cSld>
  <p:clrMapOvr>
    <a:masterClrMapping/>
  </p:clrMapOvr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D53E8-EAB2-4BD8-8482-989BD2396773}"/>
              </a:ext>
            </a:extLst>
          </p:cNvPr>
          <p:cNvSpPr txBox="1"/>
          <p:nvPr/>
        </p:nvSpPr>
        <p:spPr>
          <a:xfrm>
            <a:off x="7522434" y="5186362"/>
            <a:ext cx="45522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Not all refinements shown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E5243F4-436F-435A-83AB-A28916CFDC91}"/>
              </a:ext>
            </a:extLst>
          </p:cNvPr>
          <p:cNvSpPr/>
          <p:nvPr/>
        </p:nvSpPr>
        <p:spPr>
          <a:xfrm>
            <a:off x="7775118" y="299767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11654"/>
              <a:gd name="adj6" fmla="val -711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Algorithm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214ADA54-DEA2-4973-91F1-2A5500F29621}"/>
              </a:ext>
            </a:extLst>
          </p:cNvPr>
          <p:cNvSpPr/>
          <p:nvPr/>
        </p:nvSpPr>
        <p:spPr>
          <a:xfrm>
            <a:off x="7775118" y="412974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74959"/>
              <a:gd name="adj6" fmla="val -57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Refinements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DCE246A-303B-4751-9244-59F8ECCC4D26}"/>
              </a:ext>
            </a:extLst>
          </p:cNvPr>
          <p:cNvGrpSpPr/>
          <p:nvPr/>
        </p:nvGrpSpPr>
        <p:grpSpPr>
          <a:xfrm>
            <a:off x="420132" y="2348427"/>
            <a:ext cx="360000" cy="2664000"/>
            <a:chOff x="296562" y="2348427"/>
            <a:chExt cx="360000" cy="2702008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E1C5674-8031-4302-B44A-137554DAA928}"/>
                </a:ext>
              </a:extLst>
            </p:cNvPr>
            <p:cNvCxnSpPr/>
            <p:nvPr/>
          </p:nvCxnSpPr>
          <p:spPr>
            <a:xfrm>
              <a:off x="296562" y="5050435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77F5BB9-7625-42D7-980D-B4C15C5EA5D8}"/>
                </a:ext>
              </a:extLst>
            </p:cNvPr>
            <p:cNvCxnSpPr/>
            <p:nvPr/>
          </p:nvCxnSpPr>
          <p:spPr>
            <a:xfrm>
              <a:off x="296562" y="2348427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3039E6C-B538-4A0F-908C-E453658540B2}"/>
                </a:ext>
              </a:extLst>
            </p:cNvPr>
            <p:cNvCxnSpPr>
              <a:cxnSpLocks/>
            </p:cNvCxnSpPr>
            <p:nvPr/>
          </p:nvCxnSpPr>
          <p:spPr>
            <a:xfrm>
              <a:off x="296562" y="2348427"/>
              <a:ext cx="0" cy="270200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138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2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2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  <p:bldP spid="6" grpId="0" animBg="1"/>
      <p:bldP spid="7" grpId="0" animBg="1"/>
    </p:bldLst>
  </p:timing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</p:spTree>
    <p:extLst>
      <p:ext uri="{BB962C8B-B14F-4D97-AF65-F5344CB8AC3E}">
        <p14:creationId xmlns:p14="http://schemas.microsoft.com/office/powerpoint/2010/main" val="4002745072"/>
      </p:ext>
    </p:extLst>
  </p:cSld>
  <p:clrMapOvr>
    <a:masterClrMapping/>
  </p:clrMapOvr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Describe, exemplify,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1109456355"/>
      </p:ext>
    </p:extLst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/>
              <a:t>Used to show the inputs and outputs</a:t>
            </a:r>
          </a:p>
          <a:p>
            <a:pPr>
              <a:spcBef>
                <a:spcPts val="0"/>
              </a:spcBef>
            </a:pPr>
            <a:r>
              <a:rPr lang="en-GB" dirty="0"/>
              <a:t>Initially just a sketch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2100713" y="5091477"/>
            <a:ext cx="1267719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05661"/>
              <a:gd name="adj6" fmla="val 19316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9117159" y="5408498"/>
            <a:ext cx="2236641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54293"/>
              <a:gd name="adj6" fmla="val -517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(to processes)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8124040" y="3008842"/>
            <a:ext cx="1704172" cy="1777041"/>
            <a:chOff x="7619999" y="3594339"/>
            <a:chExt cx="1704172" cy="177704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67256" y="4221249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2507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8" grpId="0" animBg="1"/>
    </p:bldLst>
  </p:timing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/>
              <a:t>Used to show</a:t>
            </a:r>
          </a:p>
          <a:p>
            <a:pPr>
              <a:spcBef>
                <a:spcPts val="0"/>
              </a:spcBef>
            </a:pPr>
            <a:r>
              <a:rPr lang="en-GB" dirty="0"/>
              <a:t>Initially just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4877"/>
      </p:ext>
    </p:extLst>
  </p:cSld>
  <p:clrMapOvr>
    <a:masterClrMapping/>
  </p:clrMapOvr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r>
              <a:rPr lang="en-GB" dirty="0"/>
              <a:t>App Based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r>
              <a:rPr lang="en-GB" dirty="0"/>
              <a:t>Text Based</a:t>
            </a:r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19" name="Text">
            <a:extLst>
              <a:ext uri="{FF2B5EF4-FFF2-40B4-BE49-F238E27FC236}">
                <a16:creationId xmlns:a16="http://schemas.microsoft.com/office/drawing/2014/main" id="{259A6521-5767-43C4-B850-9BDFD790B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296" y="2211388"/>
            <a:ext cx="5468873" cy="3833167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7514014" y="5796282"/>
            <a:ext cx="1398938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-47592"/>
              <a:gd name="adj6" fmla="val 1408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Outputs</a:t>
            </a:r>
          </a:p>
        </p:txBody>
      </p:sp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  <p:pic>
        <p:nvPicPr>
          <p:cNvPr id="22" name="GUI">
            <a:extLst>
              <a:ext uri="{FF2B5EF4-FFF2-40B4-BE49-F238E27FC236}">
                <a16:creationId xmlns:a16="http://schemas.microsoft.com/office/drawing/2014/main" id="{5FC00170-16F8-4B44-9A4F-396CF3D9FB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54" y="2191840"/>
            <a:ext cx="4252770" cy="3987800"/>
          </a:xfrm>
          <a:prstGeom prst="rect">
            <a:avLst/>
          </a:prstGeom>
        </p:spPr>
      </p:pic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68066" y="4656138"/>
            <a:ext cx="1543443" cy="862642"/>
          </a:xfrm>
          <a:prstGeom prst="callout2">
            <a:avLst>
              <a:gd name="adj1" fmla="val 31"/>
              <a:gd name="adj2" fmla="val 49965"/>
              <a:gd name="adj3" fmla="val -41829"/>
              <a:gd name="adj4" fmla="val 102446"/>
              <a:gd name="adj5" fmla="val -42789"/>
              <a:gd name="adj6" fmla="val 1524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(process)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10445413" y="3058478"/>
            <a:ext cx="1394731" cy="918845"/>
            <a:chOff x="7886057" y="3608681"/>
            <a:chExt cx="1394731" cy="918845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886057" y="3608681"/>
              <a:ext cx="281197" cy="918845"/>
            </a:xfrm>
            <a:prstGeom prst="rightBrace">
              <a:avLst>
                <a:gd name="adj1" fmla="val 2473"/>
                <a:gd name="adj2" fmla="val 51171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23873" y="3806493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A8A4E87C-764A-4485-8DED-F3971A45F538}"/>
              </a:ext>
            </a:extLst>
          </p:cNvPr>
          <p:cNvSpPr/>
          <p:nvPr/>
        </p:nvSpPr>
        <p:spPr>
          <a:xfrm>
            <a:off x="2340291" y="6190110"/>
            <a:ext cx="1005243" cy="474858"/>
          </a:xfrm>
          <a:prstGeom prst="callout2">
            <a:avLst>
              <a:gd name="adj1" fmla="val 50343"/>
              <a:gd name="adj2" fmla="val 219"/>
              <a:gd name="adj3" fmla="val 50572"/>
              <a:gd name="adj4" fmla="val -23751"/>
              <a:gd name="adj5" fmla="val -93390"/>
              <a:gd name="adj6" fmla="val -239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Label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4D08E55-3D43-4932-9ABD-A89CCB2D13BC}"/>
              </a:ext>
            </a:extLst>
          </p:cNvPr>
          <p:cNvSpPr/>
          <p:nvPr/>
        </p:nvSpPr>
        <p:spPr>
          <a:xfrm>
            <a:off x="4672246" y="2276428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127506"/>
              <a:gd name="adj6" fmla="val -312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(input)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9C9F2111-EFA9-45BB-AD8F-FEB763B40BAD}"/>
              </a:ext>
            </a:extLst>
          </p:cNvPr>
          <p:cNvSpPr/>
          <p:nvPr/>
        </p:nvSpPr>
        <p:spPr>
          <a:xfrm>
            <a:off x="5123898" y="3930691"/>
            <a:ext cx="1274624" cy="474858"/>
          </a:xfrm>
          <a:prstGeom prst="callout2">
            <a:avLst>
              <a:gd name="adj1" fmla="val 50343"/>
              <a:gd name="adj2" fmla="val -302"/>
              <a:gd name="adj3" fmla="val 50171"/>
              <a:gd name="adj4" fmla="val -43858"/>
              <a:gd name="adj5" fmla="val 88274"/>
              <a:gd name="adj6" fmla="val -832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Button</a:t>
            </a:r>
          </a:p>
        </p:txBody>
      </p:sp>
      <p:sp>
        <p:nvSpPr>
          <p:cNvPr id="17" name="Callout: Bent Line with No Border 16">
            <a:extLst>
              <a:ext uri="{FF2B5EF4-FFF2-40B4-BE49-F238E27FC236}">
                <a16:creationId xmlns:a16="http://schemas.microsoft.com/office/drawing/2014/main" id="{824CC895-7CD2-4CBF-864C-B9889CF79289}"/>
              </a:ext>
            </a:extLst>
          </p:cNvPr>
          <p:cNvSpPr/>
          <p:nvPr/>
        </p:nvSpPr>
        <p:spPr>
          <a:xfrm>
            <a:off x="4717923" y="5736827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-29422"/>
              <a:gd name="adj6" fmla="val -2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(output)</a:t>
            </a:r>
          </a:p>
        </p:txBody>
      </p:sp>
    </p:spTree>
    <p:extLst>
      <p:ext uri="{BB962C8B-B14F-4D97-AF65-F5344CB8AC3E}">
        <p14:creationId xmlns:p14="http://schemas.microsoft.com/office/powerpoint/2010/main" val="237665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uild="p"/>
      <p:bldP spid="25" grpId="0" build="p"/>
      <p:bldP spid="6" grpId="0" animBg="1"/>
      <p:bldP spid="8" grpId="0" animBg="1"/>
      <p:bldP spid="13" grpId="0" animBg="1"/>
      <p:bldP spid="14" grpId="0" animBg="1"/>
      <p:bldP spid="15" grpId="0" animBg="1"/>
      <p:bldP spid="17" grpId="0" animBg="1"/>
    </p:bldLst>
  </p:timing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540475"/>
      </p:ext>
    </p:extLst>
  </p:cSld>
  <p:clrMapOvr>
    <a:masterClrMapping/>
  </p:clrMapOvr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740D69-8AEB-4008-96C4-3A8D73D31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Calculator Wireframe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72E8B36-48C7-4913-AE11-746A11B79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Create a wireframe for a simple calculator app that will only add, subtract, multiply and divide two numbers.</a:t>
            </a:r>
          </a:p>
        </p:txBody>
      </p:sp>
    </p:spTree>
    <p:extLst>
      <p:ext uri="{BB962C8B-B14F-4D97-AF65-F5344CB8AC3E}">
        <p14:creationId xmlns:p14="http://schemas.microsoft.com/office/powerpoint/2010/main" val="3622408940"/>
      </p:ext>
    </p:extLst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6745448"/>
      </p:ext>
    </p:extLst>
  </p:cSld>
  <p:clrMapOvr>
    <a:masterClrMapping/>
  </p:clrMapOvr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2800" dirty="0"/>
              <a:t>Describe, identify, and exemplify the evaluation of a solution in terms of: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dirty="0"/>
              <a:t>fitness for purpose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dirty="0"/>
              <a:t>efficient use of coding constructs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dirty="0"/>
              <a:t>robustness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dirty="0"/>
              <a:t>readability: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dirty="0"/>
              <a:t>internal commentary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dirty="0"/>
              <a:t>meaningful identifiers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dirty="0"/>
              <a:t>indentation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dirty="0"/>
              <a:t>white space</a:t>
            </a:r>
          </a:p>
        </p:txBody>
      </p:sp>
    </p:spTree>
    <p:extLst>
      <p:ext uri="{BB962C8B-B14F-4D97-AF65-F5344CB8AC3E}">
        <p14:creationId xmlns:p14="http://schemas.microsoft.com/office/powerpoint/2010/main" val="1306196538"/>
      </p:ext>
    </p:extLst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Fitness for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Comparison of solution (code and testing) with program analysis, not design, and expected output</a:t>
            </a:r>
          </a:p>
          <a:p>
            <a:r>
              <a:rPr lang="en-GB" dirty="0"/>
              <a:t>Does it do the requirements identified during analysis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3F2792-E588-4EC0-AC56-4097D666765C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6282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0AC7FB-6847-2977-D1AD-9C999557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24214-E9F2-DBFD-9FA0-CBC8C3AD2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Fitness for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B3186-500F-5CD8-A660-974428BC1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Comparison of solution (code and testing) with program </a:t>
            </a:r>
          </a:p>
          <a:p>
            <a:endParaRPr lang="en-GB" dirty="0"/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Does it do the requirements</a:t>
            </a:r>
          </a:p>
        </p:txBody>
      </p:sp>
    </p:spTree>
    <p:extLst>
      <p:ext uri="{BB962C8B-B14F-4D97-AF65-F5344CB8AC3E}">
        <p14:creationId xmlns:p14="http://schemas.microsoft.com/office/powerpoint/2010/main" val="2121032001"/>
      </p:ext>
    </p:extLst>
  </p:cSld>
  <p:clrMapOvr>
    <a:masterClrMapping/>
  </p:clrMapOvr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Describe efficiencies or inefficiencies such as</a:t>
            </a:r>
          </a:p>
          <a:p>
            <a:pPr lvl="1"/>
            <a:r>
              <a:rPr lang="en-GB" sz="3200" dirty="0"/>
              <a:t>Array vs multiple variables</a:t>
            </a:r>
          </a:p>
          <a:p>
            <a:pPr lvl="1"/>
            <a:r>
              <a:rPr lang="en-GB" sz="3200" dirty="0"/>
              <a:t>Nested ifs (else ifs) vs individual ifs</a:t>
            </a:r>
          </a:p>
          <a:p>
            <a:pPr lvl="1"/>
            <a:r>
              <a:rPr lang="en-GB" sz="3200" dirty="0"/>
              <a:t>Use of a loop vs repetition of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6159D-8FD4-464C-B796-BD4B0EEC3D2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4673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65FCD7-4A35-EC62-1017-DE4330910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9B7C4-B858-E614-65A6-B8B901B7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B27FF-91EA-AFE4-AF3C-59381AF37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Describe</a:t>
            </a:r>
          </a:p>
          <a:p>
            <a:pPr lvl="1">
              <a:spcAft>
                <a:spcPts val="2400"/>
              </a:spcAft>
            </a:pPr>
            <a:r>
              <a:rPr lang="en-GB" sz="3200" dirty="0"/>
              <a:t>Array </a:t>
            </a:r>
          </a:p>
          <a:p>
            <a:pPr lvl="1">
              <a:spcAft>
                <a:spcPts val="2400"/>
              </a:spcAft>
            </a:pPr>
            <a:r>
              <a:rPr lang="en-GB" sz="3200" dirty="0"/>
              <a:t>Nested ifs (else ifs) </a:t>
            </a:r>
          </a:p>
          <a:p>
            <a:pPr lvl="1">
              <a:spcAft>
                <a:spcPts val="2400"/>
              </a:spcAft>
            </a:pPr>
            <a:r>
              <a:rPr lang="en-GB" sz="3200" dirty="0"/>
              <a:t>Use of a loop</a:t>
            </a:r>
          </a:p>
        </p:txBody>
      </p:sp>
    </p:spTree>
    <p:extLst>
      <p:ext uri="{BB962C8B-B14F-4D97-AF65-F5344CB8AC3E}">
        <p14:creationId xmlns:p14="http://schemas.microsoft.com/office/powerpoint/2010/main" val="216236020"/>
      </p:ext>
    </p:extLst>
  </p:cSld>
  <p:clrMapOvr>
    <a:masterClrMapping/>
  </p:clrMapOvr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Robustness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Input validation (exceptional tests), or lack of it</a:t>
            </a:r>
          </a:p>
          <a:p>
            <a:r>
              <a:rPr lang="en-GB" dirty="0"/>
              <a:t>Potential for errors – possible to enter incorrect values?</a:t>
            </a:r>
          </a:p>
          <a:p>
            <a:r>
              <a:rPr lang="en-GB" dirty="0"/>
              <a:t>How it responds to unexpected data: text instead of number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50481-8A9C-447B-8B28-EDF38B332177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902434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7FB780-1215-6851-3DD0-BB91F11D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F2B89-DE10-F072-3FA1-EE561CD9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Robustness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8DDB0-5199-ED29-DA65-386708D00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Input validation (exceptional tests)</a:t>
            </a:r>
          </a:p>
          <a:p>
            <a:r>
              <a:rPr lang="en-GB" dirty="0"/>
              <a:t>Potential for errors </a:t>
            </a:r>
          </a:p>
          <a:p>
            <a:r>
              <a:rPr lang="en-GB" dirty="0"/>
              <a:t>How it responds to unexpected data</a:t>
            </a:r>
          </a:p>
        </p:txBody>
      </p:sp>
    </p:spTree>
    <p:extLst>
      <p:ext uri="{BB962C8B-B14F-4D97-AF65-F5344CB8AC3E}">
        <p14:creationId xmlns:p14="http://schemas.microsoft.com/office/powerpoint/2010/main" val="3367728991"/>
      </p:ext>
    </p:extLst>
  </p:cSld>
  <p:clrMapOvr>
    <a:masterClrMapping/>
  </p:clrMapOvr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Internal Commentary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Explains what the code does</a:t>
            </a:r>
          </a:p>
          <a:p>
            <a:r>
              <a:rPr lang="en-GB" dirty="0"/>
              <a:t>Helps clarify complex code</a:t>
            </a:r>
          </a:p>
          <a:p>
            <a:r>
              <a:rPr lang="en-GB" dirty="0"/>
              <a:t>Helps others / future self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FA60A-2AFC-4249-AF03-523EBFDEB22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08506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1E5A5-AB25-BA62-06B0-AA7C1F61B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DCD3A-1FE7-B355-57EE-1B4AFFBFF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6921E-94E1-267D-2F75-E5704AB17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Explains what </a:t>
            </a:r>
          </a:p>
          <a:p>
            <a:r>
              <a:rPr lang="en-GB" dirty="0"/>
              <a:t>Helps clarify</a:t>
            </a:r>
          </a:p>
          <a:p>
            <a:r>
              <a:rPr lang="en-GB" dirty="0"/>
              <a:t>Helps others</a:t>
            </a:r>
          </a:p>
        </p:txBody>
      </p:sp>
    </p:spTree>
    <p:extLst>
      <p:ext uri="{BB962C8B-B14F-4D97-AF65-F5344CB8AC3E}">
        <p14:creationId xmlns:p14="http://schemas.microsoft.com/office/powerpoint/2010/main" val="829291701"/>
      </p:ext>
    </p:extLst>
  </p:cSld>
  <p:clrMapOvr>
    <a:masterClrMapping/>
  </p:clrMapOvr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TODO:</a:t>
            </a:r>
            <a:r>
              <a:rPr lang="en-GB" sz="320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dirty="0">
                <a:latin typeface="Consolas" panose="020B0609020204030204" pitchFamily="49" charset="0"/>
              </a:rPr>
              <a:t> Not calculating correctly</a:t>
            </a:r>
            <a:endParaRPr lang="en-GB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2761064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TODO:</a:t>
            </a:r>
            <a:r>
              <a:rPr lang="en-GB" sz="320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dirty="0">
                <a:latin typeface="Consolas" panose="020B0609020204030204" pitchFamily="49" charset="0"/>
              </a:rPr>
              <a:t> Not calculating correctly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97185536"/>
      </p:ext>
    </p:extLst>
  </p:cSld>
  <p:clrMapOvr>
    <a:masterClrMapping/>
  </p:clrMapOvr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Meaningful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Names relate to the data</a:t>
            </a:r>
          </a:p>
          <a:p>
            <a:r>
              <a:rPr lang="en-GB" dirty="0"/>
              <a:t>Names indicate what they do / hold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4FEFF7-DD79-48A5-AAF5-8ED8761DE61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44131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D48915-1FB6-C9A6-F1AA-91928385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B90B3-B3A3-A9F2-9310-43DDF496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Meaningful Identifiers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C2928-E822-9527-042C-044E71272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Names</a:t>
            </a:r>
          </a:p>
          <a:p>
            <a:r>
              <a:rPr lang="en-GB" dirty="0"/>
              <a:t>Names indicate what</a:t>
            </a:r>
          </a:p>
        </p:txBody>
      </p:sp>
    </p:spTree>
    <p:extLst>
      <p:ext uri="{BB962C8B-B14F-4D97-AF65-F5344CB8AC3E}">
        <p14:creationId xmlns:p14="http://schemas.microsoft.com/office/powerpoint/2010/main" val="3111852903"/>
      </p:ext>
    </p:extLst>
  </p:cSld>
  <p:clrMapOvr>
    <a:masterClrMapping/>
  </p:clrMapOvr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Highlights structures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4420B0-6B59-41F7-B9F4-0C995052BDA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3004297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E721AE-69AA-2910-0EB6-66AA5FB6C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597C4-DE53-2774-14F8-A79CACFD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1C04D-998B-1732-0B11-A64334892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3028622"/>
      </p:ext>
    </p:extLst>
  </p:cSld>
  <p:clrMapOvr>
    <a:masterClrMapping/>
  </p:clrMapOvr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White Space (Blank lines)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Between structures in program</a:t>
            </a:r>
          </a:p>
          <a:p>
            <a:r>
              <a:rPr lang="en-GB" dirty="0"/>
              <a:t>Easier to see sections of code</a:t>
            </a:r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80524C-60AC-4670-BCA7-8F42D2524422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1326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White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Between</a:t>
            </a:r>
          </a:p>
          <a:p>
            <a:r>
              <a:rPr lang="en-GB" dirty="0"/>
              <a:t>Easier to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3481121380"/>
      </p:ext>
    </p:extLst>
  </p:cSld>
  <p:clrMapOvr>
    <a:masterClrMapping/>
  </p:clrMapOvr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TODO:</a:t>
            </a:r>
            <a:r>
              <a:rPr lang="en-GB" sz="320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dirty="0">
                <a:latin typeface="Consolas" panose="020B0609020204030204" pitchFamily="49" charset="0"/>
              </a:rPr>
              <a:t> Not calculating correctly</a:t>
            </a:r>
            <a:endParaRPr lang="en-GB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3860771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TODO:</a:t>
            </a:r>
            <a:r>
              <a:rPr lang="en-GB" sz="320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dirty="0">
                <a:latin typeface="Consolas" panose="020B0609020204030204" pitchFamily="49" charset="0"/>
              </a:rPr>
              <a:t> Not calculating correctly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85129834"/>
      </p:ext>
    </p:extLst>
  </p:cSld>
  <p:clrMapOvr>
    <a:masterClrMapping/>
  </p:clrMapOvr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3223773775"/>
      </p:ext>
    </p:extLst>
  </p:cSld>
  <p:clrMapOvr>
    <a:masterClrMapping/>
  </p:clrMapOvr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1"/>
            <a:ext cx="1800000" cy="792000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(exclusive)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99337" y="1441302"/>
            <a:ext cx="1800000" cy="790654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(inclusive)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474315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2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11211" y="166159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43786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93561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2822476"/>
      </p:ext>
    </p:extLst>
  </p:cSld>
  <p:clrMapOvr>
    <a:masterClrMapping/>
  </p:clrMapOvr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091528" y="3241404"/>
            <a:ext cx="3933923" cy="954107"/>
            <a:chOff x="7619999" y="3451213"/>
            <a:chExt cx="3933923" cy="954107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451213"/>
              <a:ext cx="3314555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Example 1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066477" y="1467915"/>
            <a:ext cx="3389514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07171"/>
              <a:gd name="adj5" fmla="val 141135"/>
              <a:gd name="adj6" fmla="val 1072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374E9A7B-5E59-46D3-B595-4C3A5B733AD4}"/>
              </a:ext>
            </a:extLst>
          </p:cNvPr>
          <p:cNvSpPr/>
          <p:nvPr/>
        </p:nvSpPr>
        <p:spPr>
          <a:xfrm>
            <a:off x="1166549" y="3997965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0639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25355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1" grpId="0" animBg="1"/>
    </p:bldLst>
  </p:timing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Example 1</a:t>
            </a:r>
          </a:p>
        </p:txBody>
      </p:sp>
    </p:spTree>
    <p:extLst>
      <p:ext uri="{BB962C8B-B14F-4D97-AF65-F5344CB8AC3E}">
        <p14:creationId xmlns:p14="http://schemas.microsoft.com/office/powerpoint/2010/main" val="1514352709"/>
      </p:ext>
    </p:extLst>
  </p:cSld>
  <p:clrMapOvr>
    <a:masterClrMapping/>
  </p:clrMapOvr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Example 2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169579" y="1937801"/>
            <a:ext cx="126401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4CFCA0-76F1-8009-8666-1F767214FD30}"/>
              </a:ext>
            </a:extLst>
          </p:cNvPr>
          <p:cNvSpPr/>
          <p:nvPr/>
        </p:nvSpPr>
        <p:spPr>
          <a:xfrm>
            <a:off x="2478579" y="6066411"/>
            <a:ext cx="723486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i="1" dirty="0">
                <a:solidFill>
                  <a:srgbClr val="7030A0"/>
                </a:solidFill>
              </a:rPr>
              <a:t>Start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b="1" dirty="0">
                <a:solidFill>
                  <a:srgbClr val="7030A0"/>
                </a:solidFill>
              </a:rPr>
              <a:t>and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i="1" dirty="0">
                <a:solidFill>
                  <a:srgbClr val="7030A0"/>
                </a:solidFill>
              </a:rPr>
              <a:t>Stop </a:t>
            </a:r>
            <a:r>
              <a:rPr lang="en-GB" sz="3200" dirty="0">
                <a:solidFill>
                  <a:srgbClr val="7030A0"/>
                </a:solidFill>
              </a:rPr>
              <a:t>values required if </a:t>
            </a:r>
            <a:r>
              <a:rPr lang="en-GB" sz="3200" i="1" dirty="0">
                <a:solidFill>
                  <a:srgbClr val="7030A0"/>
                </a:solidFill>
              </a:rPr>
              <a:t>Step</a:t>
            </a:r>
            <a:r>
              <a:rPr lang="en-GB" sz="3200" dirty="0">
                <a:solidFill>
                  <a:srgbClr val="7030A0"/>
                </a:solidFill>
              </a:rPr>
              <a:t> used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0230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7" grpId="0"/>
    </p:bldLst>
  </p:timing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Example 2</a:t>
            </a:r>
          </a:p>
        </p:txBody>
      </p:sp>
    </p:spTree>
    <p:extLst>
      <p:ext uri="{BB962C8B-B14F-4D97-AF65-F5344CB8AC3E}">
        <p14:creationId xmlns:p14="http://schemas.microsoft.com/office/powerpoint/2010/main" val="1183175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array concatenation</a:t>
            </a:r>
          </a:p>
        </p:txBody>
      </p:sp>
    </p:spTree>
    <p:extLst>
      <p:ext uri="{BB962C8B-B14F-4D97-AF65-F5344CB8AC3E}">
        <p14:creationId xmlns:p14="http://schemas.microsoft.com/office/powerpoint/2010/main" val="1142570854"/>
      </p:ext>
    </p:extLst>
  </p:cSld>
  <p:clrMapOvr>
    <a:masterClrMapping/>
  </p:clrMapOvr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dirty="0"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Concatenate – Strings – Revision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711E2920-5AA5-1352-38E3-6EF38457EB69}"/>
              </a:ext>
            </a:extLst>
          </p:cNvPr>
          <p:cNvSpPr/>
          <p:nvPr/>
        </p:nvSpPr>
        <p:spPr>
          <a:xfrm>
            <a:off x="4816902" y="193627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string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CFDA728-1EA1-3654-9FAF-22E9D12C2A79}"/>
              </a:ext>
            </a:extLst>
          </p:cNvPr>
          <p:cNvSpPr/>
          <p:nvPr/>
        </p:nvSpPr>
        <p:spPr>
          <a:xfrm>
            <a:off x="3485500" y="47254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53C6CBA-6305-5A16-A259-4D6280D09234}"/>
              </a:ext>
            </a:extLst>
          </p:cNvPr>
          <p:cNvSpPr/>
          <p:nvPr/>
        </p:nvSpPr>
        <p:spPr>
          <a:xfrm>
            <a:off x="8431180" y="4725479"/>
            <a:ext cx="2157445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</p:spTree>
    <p:extLst>
      <p:ext uri="{BB962C8B-B14F-4D97-AF65-F5344CB8AC3E}">
        <p14:creationId xmlns:p14="http://schemas.microsoft.com/office/powerpoint/2010/main" val="1922533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dirty="0"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Concatenate – Strings – Revision</a:t>
            </a:r>
          </a:p>
        </p:txBody>
      </p:sp>
    </p:spTree>
    <p:extLst>
      <p:ext uri="{BB962C8B-B14F-4D97-AF65-F5344CB8AC3E}">
        <p14:creationId xmlns:p14="http://schemas.microsoft.com/office/powerpoint/2010/main" val="3538730353"/>
      </p:ext>
    </p:extLst>
  </p:cSld>
  <p:clrMapOvr>
    <a:masterClrMapping/>
  </p:clrMapOvr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US" altLang="en-US" sz="400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Concatenate – Arrays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D28E4CAB-681F-0501-479E-20CE752CA307}"/>
              </a:ext>
            </a:extLst>
          </p:cNvPr>
          <p:cNvSpPr/>
          <p:nvPr/>
        </p:nvSpPr>
        <p:spPr>
          <a:xfrm>
            <a:off x="4552300" y="46873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D12044C-8BDF-2792-9AB1-684F0871E6E2}"/>
              </a:ext>
            </a:extLst>
          </p:cNvPr>
          <p:cNvSpPr/>
          <p:nvPr/>
        </p:nvSpPr>
        <p:spPr>
          <a:xfrm>
            <a:off x="8682005" y="4687910"/>
            <a:ext cx="2078407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array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64C0758C-D43C-241D-7D63-5B9BAC4CC6B8}"/>
              </a:ext>
            </a:extLst>
          </p:cNvPr>
          <p:cNvSpPr/>
          <p:nvPr/>
        </p:nvSpPr>
        <p:spPr>
          <a:xfrm>
            <a:off x="5264577" y="199342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array</a:t>
            </a:r>
          </a:p>
        </p:txBody>
      </p:sp>
    </p:spTree>
    <p:extLst>
      <p:ext uri="{BB962C8B-B14F-4D97-AF65-F5344CB8AC3E}">
        <p14:creationId xmlns:p14="http://schemas.microsoft.com/office/powerpoint/2010/main" val="3380378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</p:bldLst>
  </p:timing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US" altLang="en-US" sz="400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Concatenate – Arrays</a:t>
            </a:r>
          </a:p>
        </p:txBody>
      </p:sp>
    </p:spTree>
    <p:extLst>
      <p:ext uri="{BB962C8B-B14F-4D97-AF65-F5344CB8AC3E}">
        <p14:creationId xmlns:p14="http://schemas.microsoft.com/office/powerpoint/2010/main" val="950849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13686</Words>
  <Application>Microsoft Office PowerPoint</Application>
  <PresentationFormat>Widescreen</PresentationFormat>
  <Paragraphs>3444</Paragraphs>
  <Slides>366</Slides>
  <Notes>283</Notes>
  <HiddenSlides>155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366</vt:i4>
      </vt:variant>
    </vt:vector>
  </HeadingPairs>
  <TitlesOfParts>
    <vt:vector size="371" baseType="lpstr">
      <vt:lpstr>Arial</vt:lpstr>
      <vt:lpstr>Calibri</vt:lpstr>
      <vt:lpstr>Calibri Light</vt:lpstr>
      <vt:lpstr>Consolas</vt:lpstr>
      <vt:lpstr>Office Theme</vt:lpstr>
      <vt:lpstr>N5 Computing Science</vt:lpstr>
      <vt:lpstr>Plan – N5 Year 1</vt:lpstr>
      <vt:lpstr>Implementation</vt:lpstr>
      <vt:lpstr>Thonny</vt:lpstr>
      <vt:lpstr>Sharepoint</vt:lpstr>
      <vt:lpstr>Learning Intentions</vt:lpstr>
      <vt:lpstr>Internal Commentary</vt:lpstr>
      <vt:lpstr>Internal Commentary</vt:lpstr>
      <vt:lpstr>Learning Intentions</vt:lpstr>
      <vt:lpstr>Display information</vt:lpstr>
      <vt:lpstr>Display information</vt:lpstr>
      <vt:lpstr>Learning Intentions</vt:lpstr>
      <vt:lpstr>Syntax Errors</vt:lpstr>
      <vt:lpstr>Syntax Errors</vt:lpstr>
      <vt:lpstr>Learning Intentions</vt:lpstr>
      <vt:lpstr>Data type – Character</vt:lpstr>
      <vt:lpstr>Data type – Character</vt:lpstr>
      <vt:lpstr>Data type – String</vt:lpstr>
      <vt:lpstr>Data type – String</vt:lpstr>
      <vt:lpstr>Data type – Integer</vt:lpstr>
      <vt:lpstr>Data type – Integer</vt:lpstr>
      <vt:lpstr>Data type – Real</vt:lpstr>
      <vt:lpstr>Data type – Real</vt:lpstr>
      <vt:lpstr>Data type – Boolean</vt:lpstr>
      <vt:lpstr>Data type – Boolean</vt:lpstr>
      <vt:lpstr>Data types</vt:lpstr>
      <vt:lpstr>Data types</vt:lpstr>
      <vt:lpstr>Learning Intentions</vt:lpstr>
      <vt:lpstr>What is a variable?</vt:lpstr>
      <vt:lpstr>How do they work?</vt:lpstr>
      <vt:lpstr>What is it?</vt:lpstr>
      <vt:lpstr>What is it?</vt:lpstr>
      <vt:lpstr>Assignment – variable</vt:lpstr>
      <vt:lpstr>Assignment – variable</vt:lpstr>
      <vt:lpstr>Spot the Variables</vt:lpstr>
      <vt:lpstr>Spot the Variables</vt:lpstr>
      <vt:lpstr>Spot the Numbers</vt:lpstr>
      <vt:lpstr>Spot the Numbers</vt:lpstr>
      <vt:lpstr>Trace table</vt:lpstr>
      <vt:lpstr>Trace Table</vt:lpstr>
      <vt:lpstr>Display Variables</vt:lpstr>
      <vt:lpstr>Display Variables</vt:lpstr>
      <vt:lpstr>Learning Intentions</vt:lpstr>
      <vt:lpstr>Variable names – Rules</vt:lpstr>
      <vt:lpstr>Variable names – Rules</vt:lpstr>
      <vt:lpstr>Variable names – Conventions</vt:lpstr>
      <vt:lpstr>Variable names – Conventions</vt:lpstr>
      <vt:lpstr>Learning Intentions</vt:lpstr>
      <vt:lpstr>Arithmetic Operators</vt:lpstr>
      <vt:lpstr>Arithmetic Operators</vt:lpstr>
      <vt:lpstr>Learning Intentions</vt:lpstr>
      <vt:lpstr>Execution Errors</vt:lpstr>
      <vt:lpstr>Execution Errors</vt:lpstr>
      <vt:lpstr>Learning Intentions</vt:lpstr>
      <vt:lpstr>Function – Example</vt:lpstr>
      <vt:lpstr>Function – Example</vt:lpstr>
      <vt:lpstr>Functions – Overview (1)</vt:lpstr>
      <vt:lpstr>Functions – Overview (1)</vt:lpstr>
      <vt:lpstr>Functions – Overview (2)</vt:lpstr>
      <vt:lpstr>Functions – Overview (2)</vt:lpstr>
      <vt:lpstr>Using Functions</vt:lpstr>
      <vt:lpstr>Using Functions</vt:lpstr>
      <vt:lpstr>Learning Intentions</vt:lpstr>
      <vt:lpstr>Round (Overview)</vt:lpstr>
      <vt:lpstr>Round (Overview)</vt:lpstr>
      <vt:lpstr>round() – Example</vt:lpstr>
      <vt:lpstr>round() – Example</vt:lpstr>
      <vt:lpstr>Rounding to an Integer (Python)</vt:lpstr>
      <vt:lpstr>Rounding to an Integer (Python)</vt:lpstr>
      <vt:lpstr>Learning Intentions</vt:lpstr>
      <vt:lpstr>Joining words together</vt:lpstr>
      <vt:lpstr>Joining strings together - concatenation</vt:lpstr>
      <vt:lpstr>Concatenation Example</vt:lpstr>
      <vt:lpstr>Concatenation Example</vt:lpstr>
      <vt:lpstr>Concatenation</vt:lpstr>
      <vt:lpstr>Concatenation</vt:lpstr>
      <vt:lpstr>Learning Intentions</vt:lpstr>
      <vt:lpstr>Cast (convert) to String</vt:lpstr>
      <vt:lpstr>Cast (convert) to String</vt:lpstr>
      <vt:lpstr>str() - Example</vt:lpstr>
      <vt:lpstr>str() - Example</vt:lpstr>
      <vt:lpstr>Python Example – Casting</vt:lpstr>
      <vt:lpstr>Python Example – Casting</vt:lpstr>
      <vt:lpstr>Learning Intentions</vt:lpstr>
      <vt:lpstr>User input</vt:lpstr>
      <vt:lpstr>User input</vt:lpstr>
      <vt:lpstr>input() – Example</vt:lpstr>
      <vt:lpstr>input() – Example</vt:lpstr>
      <vt:lpstr>Python Example – input()</vt:lpstr>
      <vt:lpstr>Python Example – input()</vt:lpstr>
      <vt:lpstr>Learning Intentions</vt:lpstr>
      <vt:lpstr>Cast (convert) to Integer</vt:lpstr>
      <vt:lpstr>Cast (convert) to Integer</vt:lpstr>
      <vt:lpstr>int() - Example</vt:lpstr>
      <vt:lpstr>int() - Example</vt:lpstr>
      <vt:lpstr>Cast (convert) to Real</vt:lpstr>
      <vt:lpstr>Cast (convert) to Real</vt:lpstr>
      <vt:lpstr>float() - Example</vt:lpstr>
      <vt:lpstr>float() - Example</vt:lpstr>
      <vt:lpstr>Using Multiple Functions</vt:lpstr>
      <vt:lpstr>Using Multiple Functions</vt:lpstr>
      <vt:lpstr>input() &amp; int() - Example</vt:lpstr>
      <vt:lpstr>input() &amp; int() - Example</vt:lpstr>
      <vt:lpstr>Python Example – Functions</vt:lpstr>
      <vt:lpstr>Python Example – Functions</vt:lpstr>
      <vt:lpstr>Learning Intentions</vt:lpstr>
      <vt:lpstr>Learning Intentions</vt:lpstr>
      <vt:lpstr>Readability</vt:lpstr>
      <vt:lpstr>Readability</vt:lpstr>
      <vt:lpstr>Readability</vt:lpstr>
      <vt:lpstr>Readability</vt:lpstr>
      <vt:lpstr>Program Layout - Example</vt:lpstr>
      <vt:lpstr>Program Layout - Example</vt:lpstr>
      <vt:lpstr>Learning Intentions</vt:lpstr>
      <vt:lpstr>Sequences</vt:lpstr>
      <vt:lpstr>Sequences</vt:lpstr>
      <vt:lpstr>Fixed Loop – Start Value</vt:lpstr>
      <vt:lpstr>Fixed Loop – Start Value</vt:lpstr>
      <vt:lpstr>Fixed Loop – No Start Value</vt:lpstr>
      <vt:lpstr>Fixed Loop – No Start Value</vt:lpstr>
      <vt:lpstr>Learning Intentions</vt:lpstr>
      <vt:lpstr>Indentation</vt:lpstr>
      <vt:lpstr>Indentation</vt:lpstr>
      <vt:lpstr>Learning Intentions</vt:lpstr>
      <vt:lpstr>Running total (Fixed Loop)</vt:lpstr>
      <vt:lpstr>Running total (Fixed Loop)</vt:lpstr>
      <vt:lpstr>Learning Intentions</vt:lpstr>
      <vt:lpstr>Boolean</vt:lpstr>
      <vt:lpstr>Boolean</vt:lpstr>
      <vt:lpstr>Comparison Operators</vt:lpstr>
      <vt:lpstr>Comparison Operators</vt:lpstr>
      <vt:lpstr>True or False?</vt:lpstr>
      <vt:lpstr>True or False?</vt:lpstr>
      <vt:lpstr>Learning Intentions</vt:lpstr>
      <vt:lpstr>Decisions</vt:lpstr>
      <vt:lpstr>if – Single Selection</vt:lpstr>
      <vt:lpstr>if – Single Selection</vt:lpstr>
      <vt:lpstr>Design – if</vt:lpstr>
      <vt:lpstr>Design – if</vt:lpstr>
      <vt:lpstr>Learning Intentions</vt:lpstr>
      <vt:lpstr>Decisions</vt:lpstr>
      <vt:lpstr>if, else – Double Selection</vt:lpstr>
      <vt:lpstr>if, else – Double Selection</vt:lpstr>
      <vt:lpstr>Design – if, else</vt:lpstr>
      <vt:lpstr>Design – if, else</vt:lpstr>
      <vt:lpstr>Learning Intentions</vt:lpstr>
      <vt:lpstr>Nested if – Multiple Selection</vt:lpstr>
      <vt:lpstr>Nested if – Multiple Selection</vt:lpstr>
      <vt:lpstr>Design – Nested if</vt:lpstr>
      <vt:lpstr>Design – Nested if</vt:lpstr>
      <vt:lpstr>Learning Intentions</vt:lpstr>
      <vt:lpstr>Length – String (Overview)</vt:lpstr>
      <vt:lpstr>Length – String (Overview)</vt:lpstr>
      <vt:lpstr>len() – String – Example</vt:lpstr>
      <vt:lpstr>len() – String – Example</vt:lpstr>
      <vt:lpstr>Learning Intentions</vt:lpstr>
      <vt:lpstr>if, else if, else – Multiple Selection</vt:lpstr>
      <vt:lpstr>if, else if, else – Multiple Selection</vt:lpstr>
      <vt:lpstr>Design – if, elif, else</vt:lpstr>
      <vt:lpstr>Design – if, else if, else</vt:lpstr>
      <vt:lpstr>else if – Tip</vt:lpstr>
      <vt:lpstr>Learning Intentions</vt:lpstr>
      <vt:lpstr>AND – Logical Operator</vt:lpstr>
      <vt:lpstr>AND – Logical Operator</vt:lpstr>
      <vt:lpstr>AND – True or False?</vt:lpstr>
      <vt:lpstr>AND – True or False?</vt:lpstr>
      <vt:lpstr>OR – Logical Operator</vt:lpstr>
      <vt:lpstr>OR – Logical Operator</vt:lpstr>
      <vt:lpstr>OR – True or False?</vt:lpstr>
      <vt:lpstr>OR – True or False?</vt:lpstr>
      <vt:lpstr>NOT – Logical Operator</vt:lpstr>
      <vt:lpstr>NOT – Logical Operator</vt:lpstr>
      <vt:lpstr>NOT – True or False?</vt:lpstr>
      <vt:lpstr>NOT – True or False?</vt:lpstr>
      <vt:lpstr>Learning Intentions</vt:lpstr>
      <vt:lpstr>Example 1 – Body Temperature</vt:lpstr>
      <vt:lpstr>Example 1 – Body Temperature</vt:lpstr>
      <vt:lpstr>Example 2 – Theme Park Ride</vt:lpstr>
      <vt:lpstr>Example 2 – Theme Park Ride</vt:lpstr>
      <vt:lpstr>Task – Jockeys</vt:lpstr>
      <vt:lpstr>Task – Jockeys</vt:lpstr>
      <vt:lpstr>Learning Intentions</vt:lpstr>
      <vt:lpstr>Efficient coding (1)</vt:lpstr>
      <vt:lpstr>Efficient coding (1)</vt:lpstr>
      <vt:lpstr>Selection – if, else if, else (3 or more options)</vt:lpstr>
      <vt:lpstr>Selection – if, else if, else (3 or more options)</vt:lpstr>
      <vt:lpstr>Efficient coding (2)</vt:lpstr>
      <vt:lpstr>Efficient coding (2)</vt:lpstr>
      <vt:lpstr>Task – SQA Grades</vt:lpstr>
      <vt:lpstr>Learning Intentions</vt:lpstr>
      <vt:lpstr>Random (Overview)</vt:lpstr>
      <vt:lpstr>Random (Overview)</vt:lpstr>
      <vt:lpstr>random – Example</vt:lpstr>
      <vt:lpstr>random – Example</vt:lpstr>
      <vt:lpstr>Task – Throwing a dice</vt:lpstr>
      <vt:lpstr>Learning Intentions</vt:lpstr>
      <vt:lpstr>Error Types</vt:lpstr>
      <vt:lpstr>Error Types</vt:lpstr>
      <vt:lpstr>Normal Test Data</vt:lpstr>
      <vt:lpstr>Normal Test Data</vt:lpstr>
      <vt:lpstr>Test table – Normal</vt:lpstr>
      <vt:lpstr>Test table – Normal</vt:lpstr>
      <vt:lpstr>Learning Intentions</vt:lpstr>
      <vt:lpstr>Extreme Test Data</vt:lpstr>
      <vt:lpstr>Extreme Test Data</vt:lpstr>
      <vt:lpstr>Test table – Extreme</vt:lpstr>
      <vt:lpstr>Test table – Extreme</vt:lpstr>
      <vt:lpstr>random – Testing</vt:lpstr>
      <vt:lpstr>random – Testing</vt:lpstr>
      <vt:lpstr>Learning Intentions</vt:lpstr>
      <vt:lpstr>Conditional Loop</vt:lpstr>
      <vt:lpstr>Conditional Loop</vt:lpstr>
      <vt:lpstr>Conditional Loop</vt:lpstr>
      <vt:lpstr>Conditional Loop</vt:lpstr>
      <vt:lpstr>While</vt:lpstr>
      <vt:lpstr>Learning Intentions</vt:lpstr>
      <vt:lpstr>User input</vt:lpstr>
      <vt:lpstr>Input validation – Overview</vt:lpstr>
      <vt:lpstr>Input validation – Overview</vt:lpstr>
      <vt:lpstr>Input validation – Input before loop</vt:lpstr>
      <vt:lpstr>Input validation – Input before loop</vt:lpstr>
      <vt:lpstr>Input validation – Input in loop</vt:lpstr>
      <vt:lpstr>Input validation – Input in loop</vt:lpstr>
      <vt:lpstr>Input validation – complex condition</vt:lpstr>
      <vt:lpstr>Input validation – complex condition</vt:lpstr>
      <vt:lpstr>Input validation – simple string</vt:lpstr>
      <vt:lpstr>Task – Add Input Validation</vt:lpstr>
      <vt:lpstr>Task – University Degree Classifications</vt:lpstr>
      <vt:lpstr>Learning Intentions</vt:lpstr>
      <vt:lpstr>Extreme Test Data</vt:lpstr>
      <vt:lpstr>Extreme Test Data</vt:lpstr>
      <vt:lpstr>Learning Intentions</vt:lpstr>
      <vt:lpstr>Running total (Fixed loop)</vt:lpstr>
      <vt:lpstr>Running total (Conditional Loop)</vt:lpstr>
      <vt:lpstr>Running total (Conditional Loop)</vt:lpstr>
      <vt:lpstr>Learning Intentions</vt:lpstr>
      <vt:lpstr>Exceptional Test Data</vt:lpstr>
      <vt:lpstr>Exceptional Test Data</vt:lpstr>
      <vt:lpstr>Test table – Exceptional</vt:lpstr>
      <vt:lpstr>Test table – Exceptional</vt:lpstr>
      <vt:lpstr>Conditional Loop – Testing</vt:lpstr>
      <vt:lpstr>Conditional Loop – Testing</vt:lpstr>
      <vt:lpstr>Learning Intentions</vt:lpstr>
      <vt:lpstr>Variables – How many are needed?</vt:lpstr>
      <vt:lpstr>Multiple variables → An array</vt:lpstr>
      <vt:lpstr>Multiple variables → An array</vt:lpstr>
      <vt:lpstr>Assignment – array</vt:lpstr>
      <vt:lpstr>Assignment – array</vt:lpstr>
      <vt:lpstr>Array elements / index</vt:lpstr>
      <vt:lpstr>Array elements / index</vt:lpstr>
      <vt:lpstr>Python Example – Access Elements</vt:lpstr>
      <vt:lpstr>Python Example – Access Elements</vt:lpstr>
      <vt:lpstr>Python Example – Replace Elements</vt:lpstr>
      <vt:lpstr>Python Example – Replace Elements</vt:lpstr>
      <vt:lpstr>Say What You See!</vt:lpstr>
      <vt:lpstr>Learning Intentions</vt:lpstr>
      <vt:lpstr>Length – Array (Overview)</vt:lpstr>
      <vt:lpstr>Length – Array (Overview)</vt:lpstr>
      <vt:lpstr>len() – Array – Example</vt:lpstr>
      <vt:lpstr>len() – Array – Example</vt:lpstr>
      <vt:lpstr>Learning Intentions</vt:lpstr>
      <vt:lpstr>Traversing an array – Data in</vt:lpstr>
      <vt:lpstr>Traversing an array – Data in</vt:lpstr>
      <vt:lpstr>Traversing an array – Data out (1)</vt:lpstr>
      <vt:lpstr>Traversing an array – Data out (1)</vt:lpstr>
      <vt:lpstr>Traversing an array – Data out (2)</vt:lpstr>
      <vt:lpstr>Traversing an array – Data out (2)</vt:lpstr>
      <vt:lpstr>Test data - Summary</vt:lpstr>
      <vt:lpstr>Test data - Summary</vt:lpstr>
      <vt:lpstr>Plan – N5 Year 2</vt:lpstr>
      <vt:lpstr>Plan – N5 Year 2</vt:lpstr>
      <vt:lpstr>Assessment</vt:lpstr>
      <vt:lpstr>Assessment</vt:lpstr>
      <vt:lpstr>Development methodologies</vt:lpstr>
      <vt:lpstr>Learning Intentions</vt:lpstr>
      <vt:lpstr>Development Phases</vt:lpstr>
      <vt:lpstr>Development Phases</vt:lpstr>
      <vt:lpstr>Development Phases</vt:lpstr>
      <vt:lpstr>Development Phases</vt:lpstr>
      <vt:lpstr>Phases Overview</vt:lpstr>
      <vt:lpstr>Phases Overview</vt:lpstr>
      <vt:lpstr>Phases Overview</vt:lpstr>
      <vt:lpstr>Phases Overview</vt:lpstr>
      <vt:lpstr>Iterative Process</vt:lpstr>
      <vt:lpstr>Iterative Process</vt:lpstr>
      <vt:lpstr>Analysis</vt:lpstr>
      <vt:lpstr>Learning Intentions</vt:lpstr>
      <vt:lpstr>Purpose</vt:lpstr>
      <vt:lpstr>Purpose</vt:lpstr>
      <vt:lpstr>Functional Requirements</vt:lpstr>
      <vt:lpstr>Functional Requirements</vt:lpstr>
      <vt:lpstr>Design</vt:lpstr>
      <vt:lpstr>Learning Intentions</vt:lpstr>
      <vt:lpstr>Learning Intentions</vt:lpstr>
      <vt:lpstr>Structure Diagrams</vt:lpstr>
      <vt:lpstr>Structure Diagrams</vt:lpstr>
      <vt:lpstr>Structure Diagrams – Example 1</vt:lpstr>
      <vt:lpstr>Structure Diagrams – Example 1</vt:lpstr>
      <vt:lpstr>Structure Diagrams – Example 2</vt:lpstr>
      <vt:lpstr>Structure Diagrams – Example 2</vt:lpstr>
      <vt:lpstr>Structure Diagrams – Example 3</vt:lpstr>
      <vt:lpstr>Structure Diagrams – Example 3</vt:lpstr>
      <vt:lpstr>Structure Diagrams – Example 4</vt:lpstr>
      <vt:lpstr>Structure Diagrams – Example 4</vt:lpstr>
      <vt:lpstr>Learning Intentions</vt:lpstr>
      <vt:lpstr>Flowcharts</vt:lpstr>
      <vt:lpstr>Flowcharts</vt:lpstr>
      <vt:lpstr>Flowcharts – Example 1</vt:lpstr>
      <vt:lpstr>Flowcharts – Example 1</vt:lpstr>
      <vt:lpstr>Flowcharts – Example 2</vt:lpstr>
      <vt:lpstr>Flowcharts – Example 2</vt:lpstr>
      <vt:lpstr>Flowchart – If</vt:lpstr>
      <vt:lpstr>Flowchart – If</vt:lpstr>
      <vt:lpstr>Flowchart – Else</vt:lpstr>
      <vt:lpstr>Flowchart – Else</vt:lpstr>
      <vt:lpstr>Flowchart – Else If</vt:lpstr>
      <vt:lpstr>Flowchart – Else If</vt:lpstr>
      <vt:lpstr>Flowchart – While (Repeat … Until)</vt:lpstr>
      <vt:lpstr>Flowchart – While (Repeat … Until)</vt:lpstr>
      <vt:lpstr>Flowchart – For</vt:lpstr>
      <vt:lpstr>Flowchart – For</vt:lpstr>
      <vt:lpstr>Learning Intentions</vt:lpstr>
      <vt:lpstr>Pseudocode</vt:lpstr>
      <vt:lpstr>Pseudocode</vt:lpstr>
      <vt:lpstr>Pseudocode – Example</vt:lpstr>
      <vt:lpstr>Pseudocode – Example</vt:lpstr>
      <vt:lpstr>Learning Intentions</vt:lpstr>
      <vt:lpstr>UI Wireframe</vt:lpstr>
      <vt:lpstr>UI Wireframe</vt:lpstr>
      <vt:lpstr>UI Wireframe – Example</vt:lpstr>
      <vt:lpstr>UI Wireframe – Example</vt:lpstr>
      <vt:lpstr>Calculator Wireframe</vt:lpstr>
      <vt:lpstr>Evaluation</vt:lpstr>
      <vt:lpstr>Learning Intentions</vt:lpstr>
      <vt:lpstr>Fitness for Purpose</vt:lpstr>
      <vt:lpstr>Fitness for Purpose</vt:lpstr>
      <vt:lpstr>Efficiency</vt:lpstr>
      <vt:lpstr>Efficiency</vt:lpstr>
      <vt:lpstr>Robustness</vt:lpstr>
      <vt:lpstr>Robustness</vt:lpstr>
      <vt:lpstr>Internal Commentary</vt:lpstr>
      <vt:lpstr>Internal Commentary</vt:lpstr>
      <vt:lpstr>Special Comments</vt:lpstr>
      <vt:lpstr>Special Comments</vt:lpstr>
      <vt:lpstr>Meaningful Identifiers</vt:lpstr>
      <vt:lpstr>Meaningful Identifiers</vt:lpstr>
      <vt:lpstr>Indentation</vt:lpstr>
      <vt:lpstr>Indentation</vt:lpstr>
      <vt:lpstr>White Space (Blank lines)</vt:lpstr>
      <vt:lpstr>White Space</vt:lpstr>
      <vt:lpstr>Learning Intentions</vt:lpstr>
      <vt:lpstr>Special Comments</vt:lpstr>
      <vt:lpstr>Special Comments</vt:lpstr>
      <vt:lpstr>Learning Intentions</vt:lpstr>
      <vt:lpstr>Sequences</vt:lpstr>
      <vt:lpstr>Sequences</vt:lpstr>
      <vt:lpstr>Sequences</vt:lpstr>
      <vt:lpstr>Fixed Loop – Example 1</vt:lpstr>
      <vt:lpstr>Fixed Loop – Example 1</vt:lpstr>
      <vt:lpstr>Fixed Loop – Example 2</vt:lpstr>
      <vt:lpstr>Fixed Loop – Example 2</vt:lpstr>
      <vt:lpstr>Learning Intentions</vt:lpstr>
      <vt:lpstr>Concatenate – Strings – Revision</vt:lpstr>
      <vt:lpstr>Concatenate – Strings – Revision</vt:lpstr>
      <vt:lpstr>Concatenate – Arrays</vt:lpstr>
      <vt:lpstr>Concatenate – Arrays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N5 Computing Science</dc:title>
  <dc:creator/>
  <cp:lastModifiedBy/>
  <cp:revision>29</cp:revision>
  <dcterms:created xsi:type="dcterms:W3CDTF">2023-06-15T12:40:24Z</dcterms:created>
  <dcterms:modified xsi:type="dcterms:W3CDTF">2025-11-07T11:38:40Z</dcterms:modified>
</cp:coreProperties>
</file>
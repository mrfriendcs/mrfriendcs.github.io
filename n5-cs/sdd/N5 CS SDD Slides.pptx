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69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402" r:id="rId128"/>
    <p:sldId id="571" r:id="rId129"/>
    <p:sldId id="572" r:id="rId130"/>
    <p:sldId id="564" r:id="rId131"/>
    <p:sldId id="566" r:id="rId132"/>
    <p:sldId id="404" r:id="rId133"/>
    <p:sldId id="405" r:id="rId134"/>
    <p:sldId id="765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8" r:id="rId149"/>
    <p:sldId id="443" r:id="rId150"/>
    <p:sldId id="453" r:id="rId151"/>
    <p:sldId id="669" r:id="rId152"/>
    <p:sldId id="876" r:id="rId153"/>
    <p:sldId id="877" r:id="rId154"/>
    <p:sldId id="879" r:id="rId155"/>
    <p:sldId id="863" r:id="rId156"/>
    <p:sldId id="867" r:id="rId157"/>
    <p:sldId id="688" r:id="rId158"/>
    <p:sldId id="871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391" r:id="rId171"/>
    <p:sldId id="567" r:id="rId172"/>
    <p:sldId id="676" r:id="rId173"/>
    <p:sldId id="393" r:id="rId174"/>
    <p:sldId id="394" r:id="rId175"/>
    <p:sldId id="272" r:id="rId176"/>
    <p:sldId id="343" r:id="rId177"/>
    <p:sldId id="352" r:id="rId178"/>
    <p:sldId id="349" r:id="rId179"/>
    <p:sldId id="671" r:id="rId180"/>
    <p:sldId id="340" r:id="rId181"/>
    <p:sldId id="351" r:id="rId182"/>
    <p:sldId id="348" r:id="rId183"/>
    <p:sldId id="670" r:id="rId184"/>
    <p:sldId id="346" r:id="rId185"/>
    <p:sldId id="353" r:id="rId186"/>
    <p:sldId id="350" r:id="rId187"/>
    <p:sldId id="672" r:id="rId188"/>
    <p:sldId id="319" r:id="rId189"/>
    <p:sldId id="589" r:id="rId190"/>
    <p:sldId id="884" r:id="rId191"/>
    <p:sldId id="883" r:id="rId192"/>
    <p:sldId id="677" r:id="rId193"/>
    <p:sldId id="592" r:id="rId194"/>
    <p:sldId id="882" r:id="rId195"/>
    <p:sldId id="673" r:id="rId196"/>
    <p:sldId id="674" r:id="rId197"/>
    <p:sldId id="675" r:id="rId198"/>
    <p:sldId id="430" r:id="rId199"/>
    <p:sldId id="622" r:id="rId200"/>
    <p:sldId id="767" r:id="rId201"/>
    <p:sldId id="327" r:id="rId202"/>
    <p:sldId id="429" r:id="rId203"/>
    <p:sldId id="437" r:id="rId204"/>
    <p:sldId id="768" r:id="rId205"/>
    <p:sldId id="594" r:id="rId206"/>
    <p:sldId id="275" r:id="rId207"/>
    <p:sldId id="473" r:id="rId208"/>
    <p:sldId id="563" r:id="rId209"/>
    <p:sldId id="474" r:id="rId210"/>
    <p:sldId id="652" r:id="rId211"/>
    <p:sldId id="655" r:id="rId212"/>
    <p:sldId id="817" r:id="rId213"/>
    <p:sldId id="818" r:id="rId214"/>
    <p:sldId id="270" r:id="rId215"/>
    <p:sldId id="363" r:id="rId216"/>
    <p:sldId id="367" r:id="rId217"/>
    <p:sldId id="362" r:id="rId218"/>
    <p:sldId id="682" r:id="rId219"/>
    <p:sldId id="763" r:id="rId220"/>
    <p:sldId id="274" r:id="rId221"/>
    <p:sldId id="365" r:id="rId222"/>
    <p:sldId id="678" r:id="rId223"/>
    <p:sldId id="691" r:id="rId224"/>
    <p:sldId id="769" r:id="rId225"/>
    <p:sldId id="770" r:id="rId226"/>
    <p:sldId id="690" r:id="rId227"/>
    <p:sldId id="680" r:id="rId228"/>
    <p:sldId id="679" r:id="rId229"/>
    <p:sldId id="681" r:id="rId230"/>
    <p:sldId id="684" r:id="rId231"/>
    <p:sldId id="595" r:id="rId232"/>
    <p:sldId id="683" r:id="rId233"/>
    <p:sldId id="458" r:id="rId234"/>
    <p:sldId id="459" r:id="rId235"/>
    <p:sldId id="481" r:id="rId236"/>
    <p:sldId id="796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273" r:id="rId245"/>
    <p:sldId id="354" r:id="rId246"/>
    <p:sldId id="356" r:id="rId247"/>
    <p:sldId id="805" r:id="rId248"/>
    <p:sldId id="258" r:id="rId249"/>
    <p:sldId id="357" r:id="rId250"/>
    <p:sldId id="358" r:id="rId251"/>
    <p:sldId id="647" r:id="rId252"/>
    <p:sldId id="629" r:id="rId253"/>
    <p:sldId id="636" r:id="rId254"/>
    <p:sldId id="361" r:id="rId255"/>
    <p:sldId id="637" r:id="rId256"/>
    <p:sldId id="797" r:id="rId257"/>
    <p:sldId id="787" r:id="rId258"/>
    <p:sldId id="792" r:id="rId259"/>
    <p:sldId id="793" r:id="rId260"/>
    <p:sldId id="794" r:id="rId261"/>
    <p:sldId id="795" r:id="rId262"/>
    <p:sldId id="277" r:id="rId263"/>
    <p:sldId id="434" r:id="rId264"/>
    <p:sldId id="648" r:id="rId265"/>
    <p:sldId id="380" r:id="rId266"/>
    <p:sldId id="689" r:id="rId267"/>
    <p:sldId id="455" r:id="rId268"/>
    <p:sldId id="64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507" r:id="rId292"/>
    <p:sldId id="751" r:id="rId293"/>
    <p:sldId id="494" r:id="rId294"/>
    <p:sldId id="495" r:id="rId295"/>
    <p:sldId id="496" r:id="rId296"/>
    <p:sldId id="548" r:id="rId297"/>
    <p:sldId id="549" r:id="rId298"/>
    <p:sldId id="420" r:id="rId299"/>
    <p:sldId id="550" r:id="rId300"/>
    <p:sldId id="554" r:id="rId301"/>
    <p:sldId id="557" r:id="rId302"/>
    <p:sldId id="551" r:id="rId303"/>
    <p:sldId id="862" r:id="rId304"/>
    <p:sldId id="861" r:id="rId305"/>
    <p:sldId id="556" r:id="rId306"/>
    <p:sldId id="552" r:id="rId307"/>
    <p:sldId id="419" r:id="rId308"/>
    <p:sldId id="558" r:id="rId309"/>
    <p:sldId id="559" r:id="rId310"/>
    <p:sldId id="561" r:id="rId311"/>
    <p:sldId id="560" r:id="rId312"/>
    <p:sldId id="562" r:id="rId313"/>
    <p:sldId id="579" r:id="rId314"/>
    <p:sldId id="831" r:id="rId315"/>
    <p:sldId id="581" r:id="rId316"/>
    <p:sldId id="832" r:id="rId317"/>
    <p:sldId id="580" r:id="rId318"/>
    <p:sldId id="833" r:id="rId319"/>
    <p:sldId id="585" r:id="rId320"/>
    <p:sldId id="834" r:id="rId321"/>
    <p:sldId id="822" r:id="rId322"/>
    <p:sldId id="837" r:id="rId323"/>
    <p:sldId id="553" r:id="rId324"/>
    <p:sldId id="418" r:id="rId325"/>
    <p:sldId id="654" r:id="rId326"/>
    <p:sldId id="586" r:id="rId327"/>
    <p:sldId id="632" r:id="rId328"/>
    <p:sldId id="500" r:id="rId329"/>
    <p:sldId id="565" r:id="rId330"/>
    <p:sldId id="634" r:id="rId331"/>
    <p:sldId id="587" r:id="rId332"/>
    <p:sldId id="657" r:id="rId333"/>
    <p:sldId id="838" r:id="rId334"/>
    <p:sldId id="503" r:id="rId335"/>
    <p:sldId id="504" r:id="rId336"/>
    <p:sldId id="798" r:id="rId337"/>
    <p:sldId id="808" r:id="rId338"/>
    <p:sldId id="803" r:id="rId339"/>
    <p:sldId id="809" r:id="rId340"/>
    <p:sldId id="804" r:id="rId341"/>
    <p:sldId id="810" r:id="rId342"/>
    <p:sldId id="802" r:id="rId343"/>
    <p:sldId id="811" r:id="rId344"/>
    <p:sldId id="841" r:id="rId345"/>
    <p:sldId id="842" r:id="rId346"/>
    <p:sldId id="799" r:id="rId347"/>
    <p:sldId id="812" r:id="rId348"/>
    <p:sldId id="800" r:id="rId349"/>
    <p:sldId id="813" r:id="rId350"/>
    <p:sldId id="801" r:id="rId351"/>
    <p:sldId id="814" r:id="rId352"/>
    <p:sldId id="860" r:id="rId353"/>
    <p:sldId id="806" r:id="rId354"/>
    <p:sldId id="807" r:id="rId355"/>
    <p:sldId id="847" r:id="rId356"/>
    <p:sldId id="848" r:id="rId357"/>
    <p:sldId id="849" r:id="rId358"/>
    <p:sldId id="850" r:id="rId359"/>
    <p:sldId id="851" r:id="rId360"/>
    <p:sldId id="852" r:id="rId361"/>
    <p:sldId id="853" r:id="rId362"/>
    <p:sldId id="854" r:id="rId363"/>
    <p:sldId id="731" r:id="rId364"/>
    <p:sldId id="732" r:id="rId365"/>
    <p:sldId id="734" r:id="rId366"/>
    <p:sldId id="733" r:id="rId367"/>
    <p:sldId id="735" r:id="rId368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  <p14:sldId id="765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Testing - Extreme 1" id="{84316217-DE4B-4C3C-A4BE-C8DE44862DAE}">
          <p14:sldIdLst>
            <p14:sldId id="391"/>
            <p14:sldId id="567"/>
            <p14:sldId id="676"/>
            <p14:sldId id="393"/>
            <p14:sldId id="394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Selection - while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" id="{A769AF5A-7466-4756-B97E-427C1719D541}">
          <p14:sldIdLst>
            <p14:sldId id="274"/>
            <p14:sldId id="365"/>
            <p14:sldId id="678"/>
            <p14:sldId id="691"/>
            <p14:sldId id="769"/>
            <p14:sldId id="770"/>
            <p14:sldId id="690"/>
            <p14:sldId id="680"/>
            <p14:sldId id="679"/>
            <p14:sldId id="681"/>
            <p14:sldId id="684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2181" autoAdjust="0"/>
  </p:normalViewPr>
  <p:slideViewPr>
    <p:cSldViewPr snapToGrid="0" showGuides="1">
      <p:cViewPr varScale="1">
        <p:scale>
          <a:sx n="55" d="100"/>
          <a:sy n="55" d="100"/>
        </p:scale>
        <p:origin x="848" y="3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commentAuthors" Target="commentAuthors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371" Type="http://schemas.openxmlformats.org/officeDocument/2006/relationships/presProps" Target="presProps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viewProps" Target="viewProps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tableStyles" Target="tableStyles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notesMaster" Target="notesMasters/notesMaster1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n5-sdd-normal-testing.esafriend1r.repl.co/" TargetMode="External"/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  <a:p>
            <a:r>
              <a:rPr lang="en-GB" sz="1800" dirty="0">
                <a:effectLst/>
                <a:latin typeface="Arial" panose="020B0604020202020204" pitchFamily="34" charset="0"/>
                <a:hlinkClick r:id="rId3"/>
              </a:rPr>
              <a:t>https://n5-sdd-normal-testing.esafriend1r.repl.co/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981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8570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662877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03/11/2025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4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5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5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5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5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6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5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3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3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Thonny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Sharepoint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internal commentary in all </a:t>
            </a:r>
            <a:r>
              <a:rPr lang="en-GB" b="1" i="1" dirty="0"/>
              <a:t>programs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smtClean="0">
                <a:effectLst/>
                <a:latin typeface="Consolas" panose="020B0609020204030204" pitchFamily="49" charset="0"/>
              </a:rPr>
              <a:t>03 November 2025</a:t>
            </a:fld>
            <a:endParaRPr lang="en-GB" sz="32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all programs with internal commentary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</a:t>
            </a:r>
            <a:r>
              <a:rPr lang="en-GB" b="1" dirty="0"/>
              <a:t>string</a:t>
            </a:r>
            <a:r>
              <a:rPr lang="en-GB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dirty="0"/>
              <a:t> </a:t>
            </a:r>
            <a:endParaRPr lang="en-GB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dirty="0"/>
              <a:t>True</a:t>
            </a:r>
            <a:r>
              <a:rPr lang="en-GB" dirty="0"/>
              <a:t> or </a:t>
            </a:r>
            <a:r>
              <a:rPr lang="en-GB" b="1" dirty="0"/>
              <a:t>False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b="1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Somewhere to store information</a:t>
            </a:r>
          </a:p>
          <a:p>
            <a:r>
              <a:rPr lang="en-GB" dirty="0"/>
              <a:t>Has a name</a:t>
            </a:r>
          </a:p>
          <a:p>
            <a:r>
              <a:rPr lang="en-GB" dirty="0"/>
              <a:t>Can be thought of as a box</a:t>
            </a:r>
          </a:p>
          <a:p>
            <a:r>
              <a:rPr lang="en-GB" i="1" dirty="0"/>
              <a:t>Can only store </a:t>
            </a:r>
            <a:r>
              <a:rPr lang="en-GB" b="1" i="1" dirty="0"/>
              <a:t>1</a:t>
            </a:r>
            <a:r>
              <a:rPr lang="en-GB" i="1" dirty="0"/>
              <a:t> piece of info</a:t>
            </a:r>
          </a:p>
          <a:p>
            <a:endParaRPr lang="en-GB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Store 11 in variable1</a:t>
            </a:r>
          </a:p>
          <a:p>
            <a:endParaRPr lang="en-GB" dirty="0"/>
          </a:p>
          <a:p>
            <a:r>
              <a:rPr lang="en-GB" dirty="0"/>
              <a:t>Copy variable1 to variable2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Variable created, with a name</a:t>
            </a:r>
          </a:p>
          <a:p>
            <a:r>
              <a:rPr lang="en-GB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Unique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age		number_2			number1	</a:t>
            </a:r>
            <a:r>
              <a:rPr lang="en-GB" sz="3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 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r>
              <a:rPr lang="en-GB" sz="320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pupilAge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costPerKilo</a:t>
            </a:r>
            <a:r>
              <a:rPr lang="en-GB" sz="320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petName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examGrade</a:t>
            </a:r>
            <a:endParaRPr lang="en-GB" sz="32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>
                <a:ea typeface="Calibri"/>
                <a:cs typeface="Calibri"/>
              </a:rPr>
              <a:t>Python shell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>
                <a:ea typeface="Calibri"/>
                <a:cs typeface="Calibri"/>
              </a:rPr>
              <a:t>print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 i="1"/>
              <a:t>input</a:t>
            </a:r>
            <a:endParaRPr lang="en-GB" sz="3200" i="1" dirty="0"/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i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b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start of a line</a:t>
            </a:r>
          </a:p>
          <a:p>
            <a:r>
              <a:rPr lang="en-GB" dirty="0"/>
              <a:t>indicates a block of code</a:t>
            </a:r>
          </a:p>
          <a:p>
            <a:r>
              <a:rPr lang="en-GB" dirty="0"/>
              <a:t>Python: very important</a:t>
            </a:r>
          </a:p>
          <a:p>
            <a:r>
              <a:rPr lang="en-GB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</a:t>
            </a:r>
          </a:p>
          <a:p>
            <a:r>
              <a:rPr lang="en-GB" dirty="0"/>
              <a:t>indicates a </a:t>
            </a:r>
          </a:p>
          <a:p>
            <a:r>
              <a:rPr lang="en-GB" dirty="0"/>
              <a:t>Python: </a:t>
            </a:r>
          </a:p>
          <a:p>
            <a:r>
              <a:rPr lang="en-GB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normal test data in a test table</a:t>
            </a:r>
          </a:p>
          <a:p>
            <a:r>
              <a:rPr lang="en-GB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237088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342690"/>
              </p:ext>
            </p:extLst>
          </p:nvPr>
        </p:nvGraphicFramePr>
        <p:xfrm>
          <a:off x="838200" y="2380517"/>
          <a:ext cx="105156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10837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 - Practise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</a:t>
            </a:r>
          </a:p>
        </p:txBody>
      </p:sp>
    </p:spTree>
    <p:extLst>
      <p:ext uri="{BB962C8B-B14F-4D97-AF65-F5344CB8AC3E}">
        <p14:creationId xmlns:p14="http://schemas.microsoft.com/office/powerpoint/2010/main" val="1381354689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True</a:t>
            </a:r>
          </a:p>
          <a:p>
            <a:pPr marL="0" indent="0" algn="ctr">
              <a:buNone/>
            </a:pPr>
            <a:r>
              <a:rPr lang="en-GB"/>
              <a:t>1</a:t>
            </a:r>
          </a:p>
          <a:p>
            <a:pPr marL="0" indent="0" algn="ctr">
              <a:buNone/>
            </a:pPr>
            <a:r>
              <a:rPr lang="en-GB"/>
              <a:t>On</a:t>
            </a:r>
          </a:p>
          <a:p>
            <a:pPr marL="0" indent="0" algn="ctr">
              <a:buNone/>
            </a:pPr>
            <a:r>
              <a:rPr lang="en-GB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False</a:t>
            </a:r>
          </a:p>
          <a:p>
            <a:pPr marL="0" indent="0" algn="ctr">
              <a:buNone/>
            </a:pPr>
            <a:r>
              <a:rPr lang="en-GB"/>
              <a:t>0</a:t>
            </a:r>
          </a:p>
          <a:p>
            <a:pPr marL="0" indent="0" algn="ctr">
              <a:buNone/>
            </a:pPr>
            <a:r>
              <a:rPr lang="en-GB"/>
              <a:t>Off</a:t>
            </a:r>
          </a:p>
          <a:p>
            <a:pPr marL="0" indent="0" algn="ctr">
              <a:buNone/>
            </a:pPr>
            <a:r>
              <a:rPr lang="en-GB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endParaRPr lang="en-GB" dirty="0"/>
          </a:p>
          <a:p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dirty="0"/>
              <a:t>Otherwise, put a finger </a:t>
            </a:r>
            <a:r>
              <a:rPr lang="en-GB" sz="3200" b="1" i="1" dirty="0"/>
              <a:t>on</a:t>
            </a:r>
            <a:r>
              <a:rPr lang="en-GB" sz="3200" dirty="0"/>
              <a:t> your nose</a:t>
            </a:r>
            <a:endParaRPr lang="en-GB" dirty="0"/>
          </a:p>
          <a:p>
            <a:pPr>
              <a:spcBef>
                <a:spcPts val="2400"/>
              </a:spcBef>
            </a:pPr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pPr marL="914400" lvl="2" indent="0">
              <a:buNone/>
            </a:pPr>
            <a:r>
              <a:rPr lang="en-GB" sz="320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</a:t>
            </a:r>
            <a:r>
              <a:rPr lang="en-GB" dirty="0" err="1"/>
              <a:t>elif</a:t>
            </a:r>
            <a:r>
              <a:rPr lang="en-GB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</a:t>
            </a:r>
            <a:r>
              <a:rPr lang="en-GB"/>
              <a:t>and identify execution and </a:t>
            </a:r>
            <a:r>
              <a:rPr lang="en-GB" dirty="0"/>
              <a:t>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either side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72659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9548027"/>
              </p:ext>
            </p:extLst>
          </p:nvPr>
        </p:nvGraphicFramePr>
        <p:xfrm>
          <a:off x="1246092" y="5288974"/>
          <a:ext cx="9699816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13575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657801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Number: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Boolean: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4374778" y="5304851"/>
            <a:ext cx="63257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-2           -1          0            1            2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either side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72659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405381"/>
              </p:ext>
            </p:extLst>
          </p:nvPr>
        </p:nvGraphicFramePr>
        <p:xfrm>
          <a:off x="1246092" y="5288974"/>
          <a:ext cx="9699816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13575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657801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Number: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Boolean: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67079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integer bigger than 10?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>
                <a:solidFill>
                  <a:srgbClr val="183691"/>
                </a:solidFill>
                <a:latin typeface="Consolas" panose="020B0609020204030204" pitchFamily="49" charset="0"/>
              </a:rPr>
              <a:t>Height 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 (</a:t>
            </a:r>
            <a:r>
              <a:rPr lang="en-US" altLang="en-US" dirty="0" err="1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execution and 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r>
              <a:rPr lang="en-GB"/>
              <a:t>ELSE IF &lt;condition 2&gt; is true THEN</a:t>
            </a:r>
          </a:p>
          <a:p>
            <a:pPr marL="0" indent="0">
              <a:buNone/>
            </a:pPr>
            <a:r>
              <a:rPr lang="en-GB"/>
              <a:t> 	do something else</a:t>
            </a:r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r>
              <a:rPr lang="en-GB" err="1"/>
              <a:t>elif</a:t>
            </a:r>
            <a:r>
              <a:rPr lang="en-GB"/>
              <a:t> 5 == 2:</a:t>
            </a:r>
          </a:p>
          <a:p>
            <a:pPr marL="0" indent="361950">
              <a:buNone/>
            </a:pPr>
            <a:r>
              <a:rPr lang="en-GB"/>
              <a:t>print("Another option")</a:t>
            </a:r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SQA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SQA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random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Gets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Get extra code for random</a:t>
            </a:r>
          </a:p>
          <a:p>
            <a:r>
              <a:rPr lang="en-GB" dirty="0"/>
              <a:t>Loop 5 times</a:t>
            </a:r>
          </a:p>
          <a:p>
            <a:pPr lvl="1"/>
            <a:r>
              <a:rPr lang="en-GB" sz="3200" dirty="0"/>
              <a:t>'Throw' a dice</a:t>
            </a:r>
          </a:p>
          <a:p>
            <a:pPr lvl="1"/>
            <a:r>
              <a:rPr lang="en-GB" sz="320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86192"/>
            <a:ext cx="10447091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used for testing logic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5778917" y="4354886"/>
            <a:ext cx="4043470" cy="862642"/>
          </a:xfrm>
          <a:prstGeom prst="callout2">
            <a:avLst>
              <a:gd name="adj1" fmla="val 49740"/>
              <a:gd name="adj2" fmla="val -432"/>
              <a:gd name="adj3" fmla="val 51169"/>
              <a:gd name="adj4" fmla="val -19788"/>
              <a:gd name="adj5" fmla="val 50618"/>
              <a:gd name="adj6" fmla="val -19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369141" y="2996056"/>
            <a:ext cx="159467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92159"/>
              <a:gd name="adj6" fmla="val -19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86192"/>
            <a:ext cx="10447091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used for testing logic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(pax))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input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       until condition is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     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     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             ,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09547774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might not be used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6906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Replit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N5 SDD Ask Questions – Loops: </a:t>
            </a:r>
            <a:r>
              <a:rPr lang="en-GB" sz="32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School Days Left – Days: </a:t>
            </a:r>
            <a:r>
              <a:rPr lang="en-GB" sz="3200" dirty="0">
                <a:solidFill>
                  <a:srgbClr val="FF0000"/>
                </a:solidFill>
              </a:rPr>
              <a:t>Min 0</a:t>
            </a:r>
            <a:r>
              <a:rPr lang="en-GB" sz="3200" dirty="0"/>
              <a:t>, </a:t>
            </a:r>
            <a:r>
              <a:rPr lang="en-GB" sz="320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- Decisions </a:t>
            </a:r>
            <a:r>
              <a:rPr lang="en-GB" sz="3200" dirty="0" err="1"/>
              <a:t>Decisions</a:t>
            </a:r>
            <a:r>
              <a:rPr lang="en-GB" sz="3200" dirty="0"/>
              <a:t> – Voucher: </a:t>
            </a:r>
            <a:r>
              <a:rPr lang="en-GB" sz="3200" dirty="0">
                <a:solidFill>
                  <a:srgbClr val="FF0000"/>
                </a:solidFill>
              </a:rPr>
              <a:t>"yes" </a:t>
            </a:r>
            <a:r>
              <a:rPr lang="en-GB" sz="3200" dirty="0"/>
              <a:t>or </a:t>
            </a:r>
            <a:r>
              <a:rPr lang="en-GB" sz="320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exceptional test data in a test table</a:t>
            </a:r>
          </a:p>
          <a:p>
            <a:r>
              <a:rPr lang="en-GB" dirty="0"/>
              <a:t>Describe and identify syntax, execution, and logic errors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739637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152421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dirty="0"/>
              <a:t>The ages of 5 pupils</a:t>
            </a:r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r>
              <a:rPr lang="en-GB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>
                <a:latin typeface="Consolas" panose="020B0609020204030204" pitchFamily="49" charset="0"/>
              </a:rPr>
              <a:t>postcode = "</a:t>
            </a:r>
            <a:r>
              <a:rPr lang="en-GB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10 – 14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dirty="0"/>
              <a:t>inputs</a:t>
            </a:r>
          </a:p>
          <a:p>
            <a:pPr lvl="1"/>
            <a:r>
              <a:rPr lang="en-GB" sz="3200" dirty="0"/>
              <a:t>processes</a:t>
            </a:r>
          </a:p>
          <a:p>
            <a:pPr lvl="1"/>
            <a:r>
              <a:rPr lang="en-GB" sz="32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</a:t>
            </a:r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b="1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b="1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 </a:t>
            </a:r>
            <a:r>
              <a:rPr lang="en-GB" i="1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 </a:t>
            </a:r>
            <a:r>
              <a:rPr lang="en-GB" i="1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  <a:r>
              <a:rPr lang="en-GB" i="1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b="1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 structured English</a:t>
            </a:r>
          </a:p>
          <a:p>
            <a:r>
              <a:rPr lang="en-GB" dirty="0"/>
              <a:t>Main steps show algorithm</a:t>
            </a:r>
          </a:p>
          <a:p>
            <a:r>
              <a:rPr lang="en-GB" dirty="0"/>
              <a:t>Refinements show detail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 </a:t>
            </a:r>
            <a:r>
              <a:rPr lang="en-GB" b="1" dirty="0">
                <a:solidFill>
                  <a:srgbClr val="FF0000"/>
                </a:solidFill>
              </a:rPr>
              <a:t>!=</a:t>
            </a:r>
            <a:r>
              <a:rPr lang="en-GB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</a:t>
            </a:r>
          </a:p>
          <a:p>
            <a:r>
              <a:rPr lang="en-GB" dirty="0"/>
              <a:t>Main steps</a:t>
            </a:r>
          </a:p>
          <a:p>
            <a:r>
              <a:rPr lang="en-GB" dirty="0"/>
              <a:t>Refinements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analysis, not design, and expected output</a:t>
            </a:r>
          </a:p>
          <a:p>
            <a:r>
              <a:rPr lang="en-GB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 efficiencies or inefficiencies such as</a:t>
            </a:r>
          </a:p>
          <a:p>
            <a:pPr lvl="1"/>
            <a:r>
              <a:rPr lang="en-GB" sz="3200" dirty="0"/>
              <a:t>Array vs multiple variables</a:t>
            </a:r>
          </a:p>
          <a:p>
            <a:pPr lvl="1"/>
            <a:r>
              <a:rPr lang="en-GB" sz="3200" dirty="0"/>
              <a:t>Nested ifs (else ifs) vs individual ifs</a:t>
            </a:r>
          </a:p>
          <a:p>
            <a:pPr lvl="1"/>
            <a:r>
              <a:rPr lang="en-GB" sz="320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tests), or lack of it</a:t>
            </a:r>
          </a:p>
          <a:p>
            <a:r>
              <a:rPr lang="en-GB" dirty="0"/>
              <a:t>Potential for errors – possible to enter incorrect values?</a:t>
            </a:r>
          </a:p>
          <a:p>
            <a:r>
              <a:rPr lang="en-GB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</a:t>
            </a:r>
          </a:p>
          <a:p>
            <a:r>
              <a:rPr lang="en-GB" dirty="0"/>
              <a:t>Potential for errors </a:t>
            </a:r>
          </a:p>
          <a:p>
            <a:r>
              <a:rPr lang="en-GB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the code does</a:t>
            </a:r>
          </a:p>
          <a:p>
            <a:r>
              <a:rPr lang="en-GB" dirty="0"/>
              <a:t>Helps clarify complex code</a:t>
            </a:r>
          </a:p>
          <a:p>
            <a:r>
              <a:rPr lang="en-GB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</a:t>
            </a:r>
          </a:p>
          <a:p>
            <a:r>
              <a:rPr lang="en-GB" dirty="0"/>
              <a:t>Helps clarify</a:t>
            </a:r>
          </a:p>
          <a:p>
            <a:r>
              <a:rPr lang="en-GB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 relate to the data</a:t>
            </a:r>
          </a:p>
          <a:p>
            <a:r>
              <a:rPr lang="en-GB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</a:t>
            </a:r>
          </a:p>
          <a:p>
            <a:r>
              <a:rPr lang="en-GB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 structures in program</a:t>
            </a:r>
          </a:p>
          <a:p>
            <a:r>
              <a:rPr lang="en-GB" dirty="0"/>
              <a:t>Easier to see sections of code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</a:t>
            </a:r>
          </a:p>
          <a:p>
            <a:r>
              <a:rPr lang="en-GB" dirty="0"/>
              <a:t>Easier to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13670</Words>
  <Application>Microsoft Office PowerPoint</Application>
  <PresentationFormat>Widescreen</PresentationFormat>
  <Paragraphs>3437</Paragraphs>
  <Slides>367</Slides>
  <Notes>284</Notes>
  <HiddenSlides>156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367</vt:i4>
      </vt:variant>
    </vt:vector>
  </HeadingPairs>
  <TitlesOfParts>
    <vt:vector size="372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Test table – Normal - Practise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Extreme Test Data</vt:lpstr>
      <vt:lpstr>Extreme Test Data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Overview</vt:lpstr>
      <vt:lpstr>Input validation – Overview</vt:lpstr>
      <vt:lpstr>Input validation – Input before loop</vt:lpstr>
      <vt:lpstr>Input validation – Input before loop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2025-11-03T14:09:08Z</dcterms:modified>
</cp:coreProperties>
</file>
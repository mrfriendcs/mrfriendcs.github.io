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1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72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8" r:id="rId141"/>
    <p:sldId id="443" r:id="rId142"/>
    <p:sldId id="453" r:id="rId143"/>
    <p:sldId id="669" r:id="rId144"/>
    <p:sldId id="876" r:id="rId145"/>
    <p:sldId id="877" r:id="rId146"/>
    <p:sldId id="879" r:id="rId147"/>
    <p:sldId id="863" r:id="rId148"/>
    <p:sldId id="867" r:id="rId149"/>
    <p:sldId id="688" r:id="rId150"/>
    <p:sldId id="871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391" r:id="rId204"/>
    <p:sldId id="567" r:id="rId205"/>
    <p:sldId id="885" r:id="rId206"/>
    <p:sldId id="393" r:id="rId207"/>
    <p:sldId id="394" r:id="rId208"/>
    <p:sldId id="817" r:id="rId209"/>
    <p:sldId id="818" r:id="rId210"/>
    <p:sldId id="270" r:id="rId211"/>
    <p:sldId id="363" r:id="rId212"/>
    <p:sldId id="367" r:id="rId213"/>
    <p:sldId id="362" r:id="rId214"/>
    <p:sldId id="682" r:id="rId215"/>
    <p:sldId id="763" r:id="rId216"/>
    <p:sldId id="274" r:id="rId217"/>
    <p:sldId id="365" r:id="rId218"/>
    <p:sldId id="886" r:id="rId219"/>
    <p:sldId id="887" r:id="rId220"/>
    <p:sldId id="769" r:id="rId221"/>
    <p:sldId id="770" r:id="rId222"/>
    <p:sldId id="678" r:id="rId223"/>
    <p:sldId id="888" r:id="rId224"/>
    <p:sldId id="690" r:id="rId225"/>
    <p:sldId id="680" r:id="rId226"/>
    <p:sldId id="679" r:id="rId227"/>
    <p:sldId id="681" r:id="rId228"/>
    <p:sldId id="684" r:id="rId229"/>
    <p:sldId id="889" r:id="rId230"/>
    <p:sldId id="890" r:id="rId231"/>
    <p:sldId id="595" r:id="rId232"/>
    <p:sldId id="683" r:id="rId233"/>
    <p:sldId id="673" r:id="rId234"/>
    <p:sldId id="674" r:id="rId235"/>
    <p:sldId id="675" r:id="rId236"/>
    <p:sldId id="458" r:id="rId237"/>
    <p:sldId id="459" r:id="rId238"/>
    <p:sldId id="481" r:id="rId239"/>
    <p:sldId id="796" r:id="rId240"/>
    <p:sldId id="406" r:id="rId241"/>
    <p:sldId id="644" r:id="rId242"/>
    <p:sldId id="771" r:id="rId243"/>
    <p:sldId id="612" r:id="rId244"/>
    <p:sldId id="613" r:id="rId245"/>
    <p:sldId id="820" r:id="rId246"/>
    <p:sldId id="821" r:id="rId247"/>
    <p:sldId id="273" r:id="rId248"/>
    <p:sldId id="354" r:id="rId249"/>
    <p:sldId id="356" r:id="rId250"/>
    <p:sldId id="805" r:id="rId251"/>
    <p:sldId id="258" r:id="rId252"/>
    <p:sldId id="357" r:id="rId253"/>
    <p:sldId id="358" r:id="rId254"/>
    <p:sldId id="647" r:id="rId255"/>
    <p:sldId id="629" r:id="rId256"/>
    <p:sldId id="636" r:id="rId257"/>
    <p:sldId id="361" r:id="rId258"/>
    <p:sldId id="637" r:id="rId259"/>
    <p:sldId id="797" r:id="rId260"/>
    <p:sldId id="787" r:id="rId261"/>
    <p:sldId id="792" r:id="rId262"/>
    <p:sldId id="793" r:id="rId263"/>
    <p:sldId id="794" r:id="rId264"/>
    <p:sldId id="795" r:id="rId265"/>
    <p:sldId id="277" r:id="rId266"/>
    <p:sldId id="434" r:id="rId267"/>
    <p:sldId id="648" r:id="rId268"/>
    <p:sldId id="380" r:id="rId269"/>
    <p:sldId id="689" r:id="rId270"/>
    <p:sldId id="455" r:id="rId271"/>
    <p:sldId id="649" r:id="rId272"/>
    <p:sldId id="439" r:id="rId273"/>
    <p:sldId id="440" r:id="rId274"/>
    <p:sldId id="461" r:id="rId275"/>
    <p:sldId id="743" r:id="rId276"/>
    <p:sldId id="729" r:id="rId277"/>
    <p:sldId id="819" r:id="rId278"/>
    <p:sldId id="490" r:id="rId279"/>
    <p:sldId id="487" r:id="rId280"/>
    <p:sldId id="744" r:id="rId281"/>
    <p:sldId id="745" r:id="rId282"/>
    <p:sldId id="482" r:id="rId283"/>
    <p:sldId id="483" r:id="rId284"/>
    <p:sldId id="752" r:id="rId285"/>
    <p:sldId id="753" r:id="rId286"/>
    <p:sldId id="484" r:id="rId287"/>
    <p:sldId id="489" r:id="rId288"/>
    <p:sldId id="748" r:id="rId289"/>
    <p:sldId id="749" r:id="rId290"/>
    <p:sldId id="492" r:id="rId291"/>
    <p:sldId id="493" r:id="rId292"/>
    <p:sldId id="525" r:id="rId293"/>
    <p:sldId id="526" r:id="rId294"/>
    <p:sldId id="507" r:id="rId295"/>
    <p:sldId id="751" r:id="rId296"/>
    <p:sldId id="494" r:id="rId297"/>
    <p:sldId id="495" r:id="rId298"/>
    <p:sldId id="496" r:id="rId299"/>
    <p:sldId id="548" r:id="rId300"/>
    <p:sldId id="549" r:id="rId301"/>
    <p:sldId id="420" r:id="rId302"/>
    <p:sldId id="550" r:id="rId303"/>
    <p:sldId id="554" r:id="rId304"/>
    <p:sldId id="557" r:id="rId305"/>
    <p:sldId id="551" r:id="rId306"/>
    <p:sldId id="862" r:id="rId307"/>
    <p:sldId id="861" r:id="rId308"/>
    <p:sldId id="556" r:id="rId309"/>
    <p:sldId id="552" r:id="rId310"/>
    <p:sldId id="419" r:id="rId311"/>
    <p:sldId id="558" r:id="rId312"/>
    <p:sldId id="559" r:id="rId313"/>
    <p:sldId id="561" r:id="rId314"/>
    <p:sldId id="560" r:id="rId315"/>
    <p:sldId id="562" r:id="rId316"/>
    <p:sldId id="579" r:id="rId317"/>
    <p:sldId id="831" r:id="rId318"/>
    <p:sldId id="581" r:id="rId319"/>
    <p:sldId id="832" r:id="rId320"/>
    <p:sldId id="580" r:id="rId321"/>
    <p:sldId id="833" r:id="rId322"/>
    <p:sldId id="585" r:id="rId323"/>
    <p:sldId id="834" r:id="rId324"/>
    <p:sldId id="822" r:id="rId325"/>
    <p:sldId id="837" r:id="rId326"/>
    <p:sldId id="553" r:id="rId327"/>
    <p:sldId id="418" r:id="rId328"/>
    <p:sldId id="654" r:id="rId329"/>
    <p:sldId id="586" r:id="rId330"/>
    <p:sldId id="632" r:id="rId331"/>
    <p:sldId id="500" r:id="rId332"/>
    <p:sldId id="565" r:id="rId333"/>
    <p:sldId id="634" r:id="rId334"/>
    <p:sldId id="587" r:id="rId335"/>
    <p:sldId id="657" r:id="rId336"/>
    <p:sldId id="838" r:id="rId337"/>
    <p:sldId id="503" r:id="rId338"/>
    <p:sldId id="504" r:id="rId339"/>
    <p:sldId id="798" r:id="rId340"/>
    <p:sldId id="808" r:id="rId341"/>
    <p:sldId id="803" r:id="rId342"/>
    <p:sldId id="809" r:id="rId343"/>
    <p:sldId id="804" r:id="rId344"/>
    <p:sldId id="810" r:id="rId345"/>
    <p:sldId id="802" r:id="rId346"/>
    <p:sldId id="811" r:id="rId347"/>
    <p:sldId id="841" r:id="rId348"/>
    <p:sldId id="842" r:id="rId349"/>
    <p:sldId id="799" r:id="rId350"/>
    <p:sldId id="812" r:id="rId351"/>
    <p:sldId id="800" r:id="rId352"/>
    <p:sldId id="813" r:id="rId353"/>
    <p:sldId id="801" r:id="rId354"/>
    <p:sldId id="814" r:id="rId355"/>
    <p:sldId id="860" r:id="rId356"/>
    <p:sldId id="806" r:id="rId357"/>
    <p:sldId id="807" r:id="rId358"/>
    <p:sldId id="847" r:id="rId359"/>
    <p:sldId id="848" r:id="rId360"/>
    <p:sldId id="849" r:id="rId361"/>
    <p:sldId id="850" r:id="rId362"/>
    <p:sldId id="851" r:id="rId363"/>
    <p:sldId id="852" r:id="rId364"/>
    <p:sldId id="853" r:id="rId365"/>
    <p:sldId id="854" r:id="rId366"/>
    <p:sldId id="731" r:id="rId367"/>
    <p:sldId id="732" r:id="rId368"/>
    <p:sldId id="734" r:id="rId369"/>
    <p:sldId id="733" r:id="rId370"/>
    <p:sldId id="735" r:id="rId371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Testing - Random" id="{B53A5A28-8189-4647-8F53-925E15674DD6}">
          <p14:sldIdLst>
            <p14:sldId id="817"/>
            <p14:sldId id="818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  <p14:sldId id="455"/>
            <p14:sldId id="64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 autoAdjust="0"/>
    <p:restoredTop sz="82181" autoAdjust="0"/>
  </p:normalViewPr>
  <p:slideViewPr>
    <p:cSldViewPr snapToGrid="0" showGuides="1">
      <p:cViewPr varScale="1">
        <p:scale>
          <a:sx n="55" d="100"/>
          <a:sy n="55" d="100"/>
        </p:scale>
        <p:origin x="352" y="3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377" Type="http://schemas.openxmlformats.org/officeDocument/2006/relationships/tableStyles" Target="tableStyles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101" Type="http://schemas.openxmlformats.org/officeDocument/2006/relationships/slide" Target="slides/slide100.xml"/><Relationship Id="rId143" Type="http://schemas.openxmlformats.org/officeDocument/2006/relationships/slide" Target="slides/slide142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273" Type="http://schemas.openxmlformats.org/officeDocument/2006/relationships/slide" Target="slides/slide272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329" Type="http://schemas.openxmlformats.org/officeDocument/2006/relationships/slide" Target="slides/slide328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notesMaster" Target="notesMasters/notesMaster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presProps" Target="presProps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viewProps" Target="viewProps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theme" Target="theme/theme1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8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6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Camel case – lower case with humps</a:t>
            </a:r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181403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8029592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12/11/2025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6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6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6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6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4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4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4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6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2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5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5.xml"/></Relationships>
</file>

<file path=ppt/slides/_rels/slide2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3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6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6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6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3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3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2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2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6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6.xml"/></Relationships>
</file>

<file path=ppt/slides/_rels/slide3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6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4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4.xml"/></Relationships>
</file>

<file path=ppt/slides/_rels/slide3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4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6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6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6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6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6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6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Thonny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Sharepoint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Use internal commentary in all </a:t>
            </a:r>
            <a:r>
              <a:rPr lang="en-GB" b="1" i="1" dirty="0"/>
              <a:t>programs</a:t>
            </a:r>
          </a:p>
          <a:p>
            <a:r>
              <a:rPr lang="en-GB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smtClean="0">
                <a:effectLst/>
                <a:latin typeface="Consolas" panose="020B0609020204030204" pitchFamily="49" charset="0"/>
              </a:rPr>
              <a:t>12 November 2025</a:t>
            </a:fld>
            <a:endParaRPr lang="en-GB" sz="32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Start all programs with internal commentary</a:t>
            </a:r>
          </a:p>
          <a:p>
            <a:r>
              <a:rPr lang="en-GB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output to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098884" y="3573767"/>
            <a:ext cx="2573935" cy="429983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467787" y="5904900"/>
            <a:ext cx="3020368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395955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(4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</a:t>
            </a:r>
            <a:r>
              <a:rPr lang="en-GB" b="1" dirty="0"/>
              <a:t>string</a:t>
            </a:r>
            <a:r>
              <a:rPr lang="en-GB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Letters  –  "</a:t>
            </a:r>
            <a:r>
              <a:rPr lang="en-GB" dirty="0" err="1"/>
              <a:t>abcXYZ</a:t>
            </a:r>
            <a:r>
              <a:rPr lang="en-GB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dirty="0"/>
              <a:t> </a:t>
            </a:r>
            <a:endParaRPr lang="en-GB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Letters  –  "</a:t>
            </a:r>
            <a:r>
              <a:rPr lang="en-GB" dirty="0" err="1"/>
              <a:t>abcXYZ</a:t>
            </a:r>
            <a:r>
              <a:rPr lang="en-GB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dirty="0"/>
              <a:t>–9999</a:t>
            </a:r>
          </a:p>
          <a:p>
            <a:pPr>
              <a:spcBef>
                <a:spcPts val="0"/>
              </a:spcBef>
            </a:pPr>
            <a:r>
              <a:rPr lang="en-GB" dirty="0"/>
              <a:t>0</a:t>
            </a:r>
          </a:p>
          <a:p>
            <a:pPr>
              <a:spcBef>
                <a:spcPts val="0"/>
              </a:spcBef>
            </a:pPr>
            <a:r>
              <a:rPr lang="en-GB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–9999</a:t>
            </a:r>
          </a:p>
          <a:p>
            <a:pPr>
              <a:spcBef>
                <a:spcPts val="0"/>
              </a:spcBef>
            </a:pPr>
            <a:r>
              <a:rPr lang="en-GB" dirty="0"/>
              <a:t>0</a:t>
            </a:r>
          </a:p>
          <a:p>
            <a:pPr>
              <a:spcBef>
                <a:spcPts val="0"/>
              </a:spcBef>
            </a:pPr>
            <a:r>
              <a:rPr lang="en-GB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dirty="0"/>
              <a:t>0·0</a:t>
            </a:r>
          </a:p>
          <a:p>
            <a:pPr>
              <a:spcBef>
                <a:spcPts val="0"/>
              </a:spcBef>
            </a:pPr>
            <a:r>
              <a:rPr lang="en-GB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dirty="0"/>
              <a:t>0·0</a:t>
            </a:r>
          </a:p>
          <a:p>
            <a:pPr>
              <a:spcBef>
                <a:spcPts val="0"/>
              </a:spcBef>
            </a:pPr>
            <a:r>
              <a:rPr lang="en-GB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dirty="0"/>
              <a:t>True</a:t>
            </a:r>
            <a:r>
              <a:rPr lang="en-GB" dirty="0"/>
              <a:t> or </a:t>
            </a:r>
            <a:r>
              <a:rPr lang="en-GB" b="1" dirty="0"/>
              <a:t>False</a:t>
            </a:r>
          </a:p>
          <a:p>
            <a:pPr>
              <a:spcBef>
                <a:spcPts val="0"/>
              </a:spcBef>
            </a:pPr>
            <a:r>
              <a:rPr lang="en-GB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b="1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Somewhere to store information</a:t>
            </a:r>
          </a:p>
          <a:p>
            <a:r>
              <a:rPr lang="en-GB" dirty="0"/>
              <a:t>Has a name</a:t>
            </a:r>
          </a:p>
          <a:p>
            <a:r>
              <a:rPr lang="en-GB" dirty="0"/>
              <a:t>Can be thought of as a box</a:t>
            </a:r>
          </a:p>
          <a:p>
            <a:r>
              <a:rPr lang="en-GB" i="1" dirty="0"/>
              <a:t>Can only store </a:t>
            </a:r>
            <a:r>
              <a:rPr lang="en-GB" b="1" i="1" dirty="0"/>
              <a:t>1</a:t>
            </a:r>
            <a:r>
              <a:rPr lang="en-GB" i="1" dirty="0"/>
              <a:t> piece of info</a:t>
            </a:r>
          </a:p>
          <a:p>
            <a:endParaRPr lang="en-GB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Store 11 in variable1</a:t>
            </a:r>
          </a:p>
          <a:p>
            <a:endParaRPr lang="en-GB" dirty="0"/>
          </a:p>
          <a:p>
            <a:r>
              <a:rPr lang="en-GB" dirty="0"/>
              <a:t>Copy variable1 to variable2</a:t>
            </a:r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Variable created, with a name</a:t>
            </a:r>
          </a:p>
          <a:p>
            <a:r>
              <a:rPr lang="en-GB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 do not!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dirty="0"/>
              <a:t>Unique</a:t>
            </a: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  <a:endParaRPr lang="en-GB" sz="12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7030A0"/>
                </a:solidFill>
              </a:rPr>
              <a:t>age		number_2			number1	</a:t>
            </a:r>
            <a:r>
              <a:rPr lang="en-GB" sz="32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dirty="0"/>
              <a:t> </a:t>
            </a: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  <a:r>
              <a:rPr lang="en-GB" sz="320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Camel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 err="1">
                <a:solidFill>
                  <a:srgbClr val="7030A0"/>
                </a:solidFill>
              </a:rPr>
              <a:t>pupilAge</a:t>
            </a:r>
            <a:r>
              <a:rPr lang="en-GB" sz="3200" dirty="0">
                <a:solidFill>
                  <a:srgbClr val="7030A0"/>
                </a:solidFill>
              </a:rPr>
              <a:t>		</a:t>
            </a:r>
            <a:r>
              <a:rPr lang="en-GB" sz="3200" dirty="0" err="1">
                <a:solidFill>
                  <a:srgbClr val="7030A0"/>
                </a:solidFill>
              </a:rPr>
              <a:t>costPerKilo</a:t>
            </a:r>
            <a:r>
              <a:rPr lang="en-GB" sz="320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 err="1">
                <a:solidFill>
                  <a:srgbClr val="7030A0"/>
                </a:solidFill>
              </a:rPr>
              <a:t>petName</a:t>
            </a:r>
            <a:r>
              <a:rPr lang="en-GB" sz="3200" dirty="0">
                <a:solidFill>
                  <a:srgbClr val="7030A0"/>
                </a:solidFill>
              </a:rPr>
              <a:t>		</a:t>
            </a:r>
            <a:r>
              <a:rPr lang="en-GB" sz="3200" dirty="0" err="1">
                <a:solidFill>
                  <a:srgbClr val="7030A0"/>
                </a:solidFill>
              </a:rPr>
              <a:t>examGrade</a:t>
            </a:r>
            <a:endParaRPr lang="en-GB" sz="32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>
                <a:ea typeface="Calibri"/>
                <a:cs typeface="Calibri"/>
              </a:rPr>
              <a:t>Python shell</a:t>
            </a:r>
            <a:endParaRPr lang="en-GB" sz="3200" dirty="0">
              <a:ea typeface="Calibri"/>
              <a:cs typeface="Calibri"/>
            </a:endParaRPr>
          </a:p>
          <a:p>
            <a:pPr lvl="1"/>
            <a:r>
              <a:rPr lang="en-GB" sz="3200">
                <a:ea typeface="Calibri"/>
                <a:cs typeface="Calibri"/>
              </a:rPr>
              <a:t>print</a:t>
            </a:r>
            <a:endParaRPr lang="en-GB" sz="3200" dirty="0">
              <a:ea typeface="Calibri"/>
              <a:cs typeface="Calibri"/>
            </a:endParaRPr>
          </a:p>
          <a:p>
            <a:pPr lvl="1"/>
            <a:r>
              <a:rPr lang="en-GB" sz="3200" i="1"/>
              <a:t>input</a:t>
            </a:r>
            <a:endParaRPr lang="en-GB" sz="3200" i="1" dirty="0"/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 dirty="0"/>
              <a:t>meaningful identifiers</a:t>
            </a:r>
          </a:p>
          <a:p>
            <a:pPr lvl="1"/>
            <a:r>
              <a:rPr lang="en-GB" sz="3200" dirty="0"/>
              <a:t>internal commentary</a:t>
            </a:r>
          </a:p>
          <a:p>
            <a:pPr lvl="1"/>
            <a:r>
              <a:rPr lang="en-GB" sz="3200" dirty="0"/>
              <a:t>white space</a:t>
            </a:r>
          </a:p>
          <a:p>
            <a:pPr lvl="1"/>
            <a:r>
              <a:rPr lang="en-GB" sz="3200" i="1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 dirty="0"/>
              <a:t>meaningful identifiers</a:t>
            </a:r>
          </a:p>
          <a:p>
            <a:pPr lvl="1"/>
            <a:r>
              <a:rPr lang="en-GB" sz="3200" dirty="0"/>
              <a:t>internal commentary</a:t>
            </a:r>
          </a:p>
          <a:p>
            <a:pPr lvl="1"/>
            <a:r>
              <a:rPr lang="en-GB" sz="3200" dirty="0"/>
              <a:t>white space</a:t>
            </a:r>
          </a:p>
          <a:p>
            <a:pPr lvl="1"/>
            <a:r>
              <a:rPr lang="en-GB" sz="3200" b="1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dirty="0"/>
              <a:t>spaces at the start of a line</a:t>
            </a:r>
          </a:p>
          <a:p>
            <a:r>
              <a:rPr lang="en-GB" dirty="0"/>
              <a:t>indicates a block of code</a:t>
            </a:r>
          </a:p>
          <a:p>
            <a:r>
              <a:rPr lang="en-GB" dirty="0"/>
              <a:t>Python: very important</a:t>
            </a:r>
          </a:p>
          <a:p>
            <a:r>
              <a:rPr lang="en-GB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dirty="0"/>
              <a:t>spaces at the </a:t>
            </a:r>
          </a:p>
          <a:p>
            <a:r>
              <a:rPr lang="en-GB" dirty="0"/>
              <a:t>indicates a </a:t>
            </a:r>
          </a:p>
          <a:p>
            <a:r>
              <a:rPr lang="en-GB" dirty="0"/>
              <a:t>Python: </a:t>
            </a:r>
          </a:p>
          <a:p>
            <a:r>
              <a:rPr lang="en-GB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/>
              <a:t>True</a:t>
            </a:r>
          </a:p>
          <a:p>
            <a:pPr marL="0" indent="0" algn="ctr">
              <a:buNone/>
            </a:pPr>
            <a:r>
              <a:rPr lang="en-GB"/>
              <a:t>1</a:t>
            </a:r>
          </a:p>
          <a:p>
            <a:pPr marL="0" indent="0" algn="ctr">
              <a:buNone/>
            </a:pPr>
            <a:r>
              <a:rPr lang="en-GB"/>
              <a:t>On</a:t>
            </a:r>
          </a:p>
          <a:p>
            <a:pPr marL="0" indent="0" algn="ctr">
              <a:buNone/>
            </a:pPr>
            <a:r>
              <a:rPr lang="en-GB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/>
              <a:t>False</a:t>
            </a:r>
          </a:p>
          <a:p>
            <a:pPr marL="0" indent="0" algn="ctr">
              <a:buNone/>
            </a:pPr>
            <a:r>
              <a:rPr lang="en-GB"/>
              <a:t>0</a:t>
            </a:r>
          </a:p>
          <a:p>
            <a:pPr marL="0" indent="0" algn="ctr">
              <a:buNone/>
            </a:pPr>
            <a:r>
              <a:rPr lang="en-GB"/>
              <a:t>Off</a:t>
            </a:r>
          </a:p>
          <a:p>
            <a:pPr marL="0" indent="0" algn="ctr">
              <a:buNone/>
            </a:pPr>
            <a:r>
              <a:rPr lang="en-GB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your eyes are blue, raise your hand</a:t>
            </a:r>
          </a:p>
          <a:p>
            <a:endParaRPr lang="en-GB" dirty="0"/>
          </a:p>
          <a:p>
            <a:r>
              <a:rPr lang="en-GB" dirty="0"/>
              <a:t>If your hair is dark, put a finger </a:t>
            </a:r>
            <a:r>
              <a:rPr lang="en-GB" b="1" i="1" dirty="0"/>
              <a:t>on</a:t>
            </a:r>
            <a:r>
              <a:rPr lang="en-GB" dirty="0"/>
              <a:t> your nose</a:t>
            </a:r>
          </a:p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dirty="0"/>
              <a:t>Otherwise, put a finger </a:t>
            </a:r>
            <a:r>
              <a:rPr lang="en-GB" sz="3200" b="1" i="1" dirty="0"/>
              <a:t>on</a:t>
            </a:r>
            <a:r>
              <a:rPr lang="en-GB" sz="3200" dirty="0"/>
              <a:t> your nose</a:t>
            </a:r>
            <a:endParaRPr lang="en-GB" dirty="0"/>
          </a:p>
          <a:p>
            <a:pPr>
              <a:spcBef>
                <a:spcPts val="2400"/>
              </a:spcBef>
            </a:pPr>
            <a:r>
              <a:rPr lang="en-GB" dirty="0"/>
              <a:t>If your hair is dark, put a finger </a:t>
            </a:r>
            <a:r>
              <a:rPr lang="en-GB" b="1" i="1" dirty="0"/>
              <a:t>on</a:t>
            </a:r>
            <a:r>
              <a:rPr lang="en-GB" dirty="0"/>
              <a:t> your nose</a:t>
            </a:r>
          </a:p>
          <a:p>
            <a:pPr marL="914400" lvl="2" indent="0">
              <a:buNone/>
            </a:pPr>
            <a:r>
              <a:rPr lang="en-GB" sz="320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3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  <a:endParaRPr lang="en-GB" sz="3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3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  <a:endParaRPr lang="en-GB" sz="3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en-GB" sz="2800" dirty="0"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la-Latn" sz="2800" dirty="0">
                <a:latin typeface="Consolas" panose="020B0609020204030204" pitchFamily="49" charset="0"/>
              </a:rPr>
              <a:t>   </a:t>
            </a:r>
            <a:r>
              <a:rPr lang="en-GB" sz="2800" dirty="0">
                <a:latin typeface="Consolas" panose="020B0609020204030204" pitchFamily="49" charset="0"/>
              </a:rPr>
              <a:t> 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en-GB" sz="2800" dirty="0"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la-Latn" sz="2800" dirty="0">
                <a:latin typeface="Consolas" panose="020B0609020204030204" pitchFamily="49" charset="0"/>
              </a:rPr>
              <a:t>   </a:t>
            </a:r>
            <a:r>
              <a:rPr lang="en-GB" sz="2800" dirty="0">
                <a:latin typeface="Consolas" panose="020B0609020204030204" pitchFamily="49" charset="0"/>
              </a:rPr>
              <a:t> 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</a:t>
            </a:r>
            <a:r>
              <a:rPr lang="en-GB" dirty="0" err="1"/>
              <a:t>elif</a:t>
            </a:r>
            <a:r>
              <a:rPr lang="en-GB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"Body temp (deg C):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"Body temp (deg C):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>
                <a:solidFill>
                  <a:srgbClr val="183691"/>
                </a:solidFill>
                <a:latin typeface="Consolas" panose="020B0609020204030204" pitchFamily="49" charset="0"/>
              </a:rPr>
              <a:t>Height 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metres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 (</a:t>
            </a:r>
            <a:r>
              <a:rPr lang="en-US" altLang="en-US" dirty="0" err="1">
                <a:solidFill>
                  <a:srgbClr val="183691"/>
                </a:solidFill>
                <a:latin typeface="Consolas" panose="020B0609020204030204" pitchFamily="49" charset="0"/>
              </a:rPr>
              <a:t>metres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	Maximum height of 1 metre,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Maximum weight </a:t>
            </a:r>
            <a:r>
              <a:rPr lang="en-GB" dirty="0">
                <a:latin typeface="Consolas" panose="020B0609020204030204" pitchFamily="49" charset="0"/>
              </a:rPr>
              <a:t>of</a:t>
            </a:r>
            <a:r>
              <a:rPr lang="en-GB" sz="3200" dirty="0">
                <a:latin typeface="Consolas" panose="020B0609020204030204" pitchFamily="49" charset="0"/>
              </a:rPr>
              <a:t> 15 kg,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	Maximum height of 1 metre,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Maximum weight </a:t>
            </a:r>
            <a:r>
              <a:rPr lang="en-GB" dirty="0">
                <a:latin typeface="Consolas" panose="020B0609020204030204" pitchFamily="49" charset="0"/>
              </a:rPr>
              <a:t>of</a:t>
            </a:r>
            <a:r>
              <a:rPr lang="en-GB" sz="3200" dirty="0">
                <a:latin typeface="Consolas" panose="020B0609020204030204" pitchFamily="49" charset="0"/>
              </a:rPr>
              <a:t> 15 kg,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/>
              <a:t>Generic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/>
              <a:t>IF &lt;condition 1&gt; is true THEN</a:t>
            </a:r>
          </a:p>
          <a:p>
            <a:pPr marL="0" indent="0">
              <a:buNone/>
            </a:pPr>
            <a:r>
              <a:rPr lang="en-GB"/>
              <a:t> 	do something</a:t>
            </a:r>
          </a:p>
          <a:p>
            <a:pPr marL="0" indent="0">
              <a:buNone/>
            </a:pPr>
            <a:r>
              <a:rPr lang="en-GB"/>
              <a:t>ELSE IF &lt;condition 2&gt; is true THEN</a:t>
            </a:r>
          </a:p>
          <a:p>
            <a:pPr marL="0" indent="0">
              <a:buNone/>
            </a:pPr>
            <a:r>
              <a:rPr lang="en-GB"/>
              <a:t> 	do something else</a:t>
            </a:r>
          </a:p>
          <a:p>
            <a:pPr marL="0" indent="0">
              <a:buNone/>
            </a:pPr>
            <a:r>
              <a:rPr lang="en-GB"/>
              <a:t>ELSE</a:t>
            </a:r>
          </a:p>
          <a:p>
            <a:pPr marL="0" indent="0">
              <a:buNone/>
            </a:pPr>
            <a:r>
              <a:rPr lang="en-GB"/>
              <a:t> 	do this instead</a:t>
            </a:r>
          </a:p>
          <a:p>
            <a:pPr marL="0" indent="0">
              <a:buNone/>
            </a:pPr>
            <a:r>
              <a:rPr lang="en-GB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/>
              <a:t>if 5 &lt; 2:</a:t>
            </a:r>
          </a:p>
          <a:p>
            <a:pPr marL="0" indent="361950">
              <a:buNone/>
            </a:pPr>
            <a:r>
              <a:rPr lang="en-GB"/>
              <a:t>print("True")</a:t>
            </a:r>
          </a:p>
          <a:p>
            <a:pPr marL="0" indent="0">
              <a:buNone/>
            </a:pPr>
            <a:r>
              <a:rPr lang="en-GB" err="1"/>
              <a:t>elif</a:t>
            </a:r>
            <a:r>
              <a:rPr lang="en-GB"/>
              <a:t> 5 == 2:</a:t>
            </a:r>
          </a:p>
          <a:p>
            <a:pPr marL="0" indent="361950">
              <a:buNone/>
            </a:pPr>
            <a:r>
              <a:rPr lang="en-GB"/>
              <a:t>print("Another option")</a:t>
            </a:r>
          </a:p>
          <a:p>
            <a:pPr marL="0" indent="0">
              <a:buNone/>
            </a:pPr>
            <a:r>
              <a:rPr lang="en-GB"/>
              <a:t>else:</a:t>
            </a:r>
          </a:p>
          <a:p>
            <a:pPr marL="0" indent="361950">
              <a:buNone/>
            </a:pPr>
            <a:r>
              <a:rPr lang="en-GB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/>
              <a:t>Generic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/>
              <a:t>IF &lt;condition 1&gt; is true THEN</a:t>
            </a:r>
          </a:p>
          <a:p>
            <a:pPr marL="0" indent="0">
              <a:buNone/>
            </a:pPr>
            <a:r>
              <a:rPr lang="en-GB"/>
              <a:t> 	do something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/>
              <a:t>ELSE</a:t>
            </a:r>
          </a:p>
          <a:p>
            <a:pPr marL="0" indent="0">
              <a:buNone/>
            </a:pPr>
            <a:r>
              <a:rPr lang="en-GB"/>
              <a:t> 	do this instead</a:t>
            </a:r>
          </a:p>
          <a:p>
            <a:pPr marL="0" indent="0">
              <a:buNone/>
            </a:pPr>
            <a:r>
              <a:rPr lang="en-GB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/>
              <a:t>if 5 &lt; 2:</a:t>
            </a:r>
          </a:p>
          <a:p>
            <a:pPr marL="0" indent="361950">
              <a:buNone/>
            </a:pPr>
            <a:r>
              <a:rPr lang="en-GB"/>
              <a:t>print("True")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/>
              <a:t>else:</a:t>
            </a:r>
          </a:p>
          <a:p>
            <a:pPr marL="0" indent="361950">
              <a:buNone/>
            </a:pPr>
            <a:r>
              <a:rPr lang="en-GB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 </a:t>
            </a:r>
            <a:r>
              <a:rPr lang="en-GB" sz="2400" b="1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dirty="0">
                <a:latin typeface="Consolas" panose="020B0609020204030204" pitchFamily="49" charset="0"/>
              </a:rPr>
              <a:t>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 </a:t>
            </a:r>
            <a:r>
              <a:rPr lang="en-GB" sz="2400" b="1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dirty="0">
                <a:latin typeface="Consolas" panose="020B0609020204030204" pitchFamily="49" charset="0"/>
              </a:rPr>
              <a:t>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SQA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SQA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random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Get extra code for random</a:t>
            </a:r>
          </a:p>
          <a:p>
            <a:r>
              <a:rPr lang="en-GB" dirty="0"/>
              <a:t>Loop 5 times</a:t>
            </a:r>
          </a:p>
          <a:p>
            <a:pPr lvl="1"/>
            <a:r>
              <a:rPr lang="en-GB" sz="3200" dirty="0"/>
              <a:t>'Throw' a dice</a:t>
            </a:r>
          </a:p>
          <a:p>
            <a:pPr lvl="1"/>
            <a:r>
              <a:rPr lang="en-GB" sz="320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normal test data in a test table</a:t>
            </a:r>
          </a:p>
          <a:p>
            <a:r>
              <a:rPr lang="en-GB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extreme test data in a test table</a:t>
            </a:r>
          </a:p>
          <a:p>
            <a:r>
              <a:rPr lang="en-GB" dirty="0"/>
              <a:t>Describe and identify syntax, execution, and </a:t>
            </a:r>
            <a:r>
              <a:rPr lang="en-GB" b="1" dirty="0"/>
              <a:t>logic errors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at limit of </a:t>
            </a:r>
            <a:r>
              <a:rPr lang="en-GB" sz="320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at limit of </a:t>
            </a:r>
            <a:r>
              <a:rPr lang="en-GB" sz="320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26938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(pax))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Before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be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Before Loop</a:t>
            </a:r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Initialise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Initialise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Replit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N5 SDD Ask Questions – Loops: </a:t>
            </a:r>
            <a:r>
              <a:rPr lang="en-GB" sz="32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/>
              <a:t>N5 SDD School Days Left – Days: </a:t>
            </a:r>
            <a:r>
              <a:rPr lang="en-GB" sz="3200" dirty="0">
                <a:solidFill>
                  <a:srgbClr val="FF0000"/>
                </a:solidFill>
              </a:rPr>
              <a:t>Min 0</a:t>
            </a:r>
            <a:r>
              <a:rPr lang="en-GB" sz="3200" dirty="0"/>
              <a:t>, </a:t>
            </a:r>
            <a:r>
              <a:rPr lang="en-GB" sz="320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/>
              <a:t>N5 SDD - Decisions </a:t>
            </a:r>
            <a:r>
              <a:rPr lang="en-GB" sz="3200" dirty="0" err="1"/>
              <a:t>Decisions</a:t>
            </a:r>
            <a:r>
              <a:rPr lang="en-GB" sz="3200" dirty="0"/>
              <a:t> – Voucher: </a:t>
            </a:r>
            <a:r>
              <a:rPr lang="en-GB" sz="3200" dirty="0">
                <a:solidFill>
                  <a:srgbClr val="FF0000"/>
                </a:solidFill>
              </a:rPr>
              <a:t>"yes" </a:t>
            </a:r>
            <a:r>
              <a:rPr lang="en-GB" sz="3200" dirty="0"/>
              <a:t>or </a:t>
            </a:r>
            <a:r>
              <a:rPr lang="en-GB" sz="320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extreme test data in a test table</a:t>
            </a:r>
          </a:p>
          <a:p>
            <a:r>
              <a:rPr lang="en-GB" dirty="0"/>
              <a:t>Describe and identify execution and logic errors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normal test data but at limit of:</a:t>
            </a:r>
          </a:p>
          <a:p>
            <a:pPr lvl="1"/>
            <a:r>
              <a:rPr lang="en-GB" sz="3200" dirty="0"/>
              <a:t>acceptable values</a:t>
            </a:r>
          </a:p>
          <a:p>
            <a:pPr lvl="1"/>
            <a:r>
              <a:rPr lang="en-GB" sz="320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normal test data but at limit of:</a:t>
            </a:r>
          </a:p>
          <a:p>
            <a:pPr lvl="1"/>
            <a:r>
              <a:rPr lang="en-GB" sz="3200" dirty="0"/>
              <a:t>acceptable values</a:t>
            </a:r>
          </a:p>
          <a:p>
            <a:pPr lvl="1"/>
            <a:r>
              <a:rPr lang="en-GB" sz="320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exceptional test data in a test table</a:t>
            </a:r>
          </a:p>
          <a:p>
            <a:r>
              <a:rPr lang="en-GB" dirty="0"/>
              <a:t>Describe and identify syntax, execution, and logic errors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Stay in the loop – exceptional test (if appropriate)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739637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Exit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152421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Exit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dirty="0"/>
              <a:t>The ages of 5 pupils</a:t>
            </a:r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600"/>
              </a:spcAft>
            </a:pPr>
            <a:endParaRPr lang="en-GB" dirty="0"/>
          </a:p>
          <a:p>
            <a:pPr>
              <a:spcAft>
                <a:spcPts val="600"/>
              </a:spcAft>
            </a:pPr>
            <a:r>
              <a:rPr lang="en-GB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>
                <a:latin typeface="Consolas" panose="020B0609020204030204" pitchFamily="49" charset="0"/>
              </a:rPr>
              <a:t>postcode = "</a:t>
            </a:r>
            <a:r>
              <a:rPr lang="en-GB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ages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0252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688430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533146"/>
      </p:ext>
    </p:extLst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919498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 / crash program</a:t>
                      </a:r>
                      <a:endParaRPr lang="en-GB" sz="32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6169832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8426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634681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SDD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DDD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SDD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DDD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10 – 14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dirty="0"/>
              <a:t>inputs</a:t>
            </a:r>
          </a:p>
          <a:p>
            <a:pPr lvl="1"/>
            <a:r>
              <a:rPr lang="en-GB" sz="3200" dirty="0"/>
              <a:t>processes</a:t>
            </a:r>
          </a:p>
          <a:p>
            <a:pPr lvl="1"/>
            <a:r>
              <a:rPr lang="en-GB" sz="32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inputs, processes, and outputs </a:t>
            </a:r>
          </a:p>
          <a:p>
            <a:pPr marL="0" indent="0">
              <a:buNone/>
            </a:pP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b="1" dirty="0"/>
              <a:t>structure diagrams</a:t>
            </a:r>
          </a:p>
          <a:p>
            <a:pPr lvl="1"/>
            <a:r>
              <a:rPr lang="en-GB" sz="3200" dirty="0"/>
              <a:t>flowcharts</a:t>
            </a:r>
          </a:p>
          <a:p>
            <a:pPr lvl="1"/>
            <a:r>
              <a:rPr lang="en-GB" sz="3200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dirty="0"/>
              <a:t>structure diagrams</a:t>
            </a:r>
          </a:p>
          <a:p>
            <a:pPr lvl="1"/>
            <a:r>
              <a:rPr lang="en-GB" sz="3200" b="1" dirty="0"/>
              <a:t>flowcharts</a:t>
            </a:r>
          </a:p>
          <a:p>
            <a:pPr lvl="1"/>
            <a:r>
              <a:rPr lang="en-GB" sz="3200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Begin at </a:t>
            </a:r>
            <a:r>
              <a:rPr lang="en-GB" i="1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Follow the </a:t>
            </a:r>
            <a:r>
              <a:rPr lang="en-GB" i="1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Finish at </a:t>
            </a:r>
            <a:r>
              <a:rPr lang="en-GB" i="1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dirty="0"/>
              <a:t>structure diagrams</a:t>
            </a:r>
          </a:p>
          <a:p>
            <a:pPr lvl="1"/>
            <a:r>
              <a:rPr lang="en-GB" sz="3200" dirty="0"/>
              <a:t>flowcharts</a:t>
            </a:r>
          </a:p>
          <a:p>
            <a:pPr lvl="1"/>
            <a:r>
              <a:rPr lang="en-GB" sz="3200" b="1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Written in structured English</a:t>
            </a:r>
          </a:p>
          <a:p>
            <a:r>
              <a:rPr lang="en-GB" dirty="0"/>
              <a:t>Main steps show algorithm</a:t>
            </a:r>
          </a:p>
          <a:p>
            <a:r>
              <a:rPr lang="en-GB" dirty="0"/>
              <a:t>Refinements show detail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SQA Reference Language (</a:t>
            </a:r>
            <a:r>
              <a:rPr lang="en-GB" dirty="0" err="1"/>
              <a:t>SQARL</a:t>
            </a:r>
            <a:r>
              <a:rPr lang="en-GB" dirty="0"/>
              <a:t>) </a:t>
            </a:r>
            <a:r>
              <a:rPr lang="en-GB" b="1" dirty="0">
                <a:solidFill>
                  <a:srgbClr val="FF0000"/>
                </a:solidFill>
              </a:rPr>
              <a:t>!=</a:t>
            </a:r>
            <a:r>
              <a:rPr lang="en-GB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Written in</a:t>
            </a:r>
          </a:p>
          <a:p>
            <a:r>
              <a:rPr lang="en-GB" dirty="0"/>
              <a:t>Main steps</a:t>
            </a:r>
          </a:p>
          <a:p>
            <a:r>
              <a:rPr lang="en-GB" dirty="0"/>
              <a:t>Refinements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SQA Reference Language (</a:t>
            </a:r>
            <a:r>
              <a:rPr lang="en-GB" dirty="0" err="1"/>
              <a:t>SQARL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Comparison of solution (code and testing) with program analysis, not design, and expected output</a:t>
            </a:r>
          </a:p>
          <a:p>
            <a:r>
              <a:rPr lang="en-GB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Comparison of solution (code and testing) with program 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 efficiencies or inefficiencies such as</a:t>
            </a:r>
          </a:p>
          <a:p>
            <a:pPr lvl="1"/>
            <a:r>
              <a:rPr lang="en-GB" sz="3200" dirty="0"/>
              <a:t>Array vs multiple variables</a:t>
            </a:r>
          </a:p>
          <a:p>
            <a:pPr lvl="1"/>
            <a:r>
              <a:rPr lang="en-GB" sz="3200" dirty="0"/>
              <a:t>Nested ifs (else ifs) vs individual ifs</a:t>
            </a:r>
          </a:p>
          <a:p>
            <a:pPr lvl="1"/>
            <a:r>
              <a:rPr lang="en-GB" sz="320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Input validation (exceptional tests), or lack of it</a:t>
            </a:r>
          </a:p>
          <a:p>
            <a:r>
              <a:rPr lang="en-GB" dirty="0"/>
              <a:t>Potential for errors – possible to enter incorrect values?</a:t>
            </a:r>
          </a:p>
          <a:p>
            <a:r>
              <a:rPr lang="en-GB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Input validation (exceptional tests)</a:t>
            </a:r>
          </a:p>
          <a:p>
            <a:r>
              <a:rPr lang="en-GB" dirty="0"/>
              <a:t>Potential for errors </a:t>
            </a:r>
          </a:p>
          <a:p>
            <a:r>
              <a:rPr lang="en-GB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Explains what the code does</a:t>
            </a:r>
          </a:p>
          <a:p>
            <a:r>
              <a:rPr lang="en-GB" dirty="0"/>
              <a:t>Helps clarify complex code</a:t>
            </a:r>
          </a:p>
          <a:p>
            <a:r>
              <a:rPr lang="en-GB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Explains what </a:t>
            </a:r>
          </a:p>
          <a:p>
            <a:r>
              <a:rPr lang="en-GB" dirty="0"/>
              <a:t>Helps clarify</a:t>
            </a:r>
          </a:p>
          <a:p>
            <a:r>
              <a:rPr lang="en-GB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Names relate to the data</a:t>
            </a:r>
          </a:p>
          <a:p>
            <a:r>
              <a:rPr lang="en-GB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Names</a:t>
            </a:r>
          </a:p>
          <a:p>
            <a:r>
              <a:rPr lang="en-GB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Between structures in program</a:t>
            </a:r>
          </a:p>
          <a:p>
            <a:r>
              <a:rPr lang="en-GB" dirty="0"/>
              <a:t>Easier to see sections of code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Between</a:t>
            </a:r>
          </a:p>
          <a:p>
            <a:r>
              <a:rPr lang="en-GB" dirty="0"/>
              <a:t>Easier to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dirty="0"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dirty="0"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US" altLang="en-US" sz="400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US" altLang="en-US" sz="400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13894</Words>
  <Application>Microsoft Office PowerPoint</Application>
  <PresentationFormat>Widescreen</PresentationFormat>
  <Paragraphs>3486</Paragraphs>
  <Slides>370</Slides>
  <Notes>287</Notes>
  <HiddenSlides>157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370</vt:i4>
      </vt:variant>
    </vt:vector>
  </HeadingPairs>
  <TitlesOfParts>
    <vt:vector size="375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random – Testing</vt:lpstr>
      <vt:lpstr>random – Testing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Input Before Loop</vt:lpstr>
      <vt:lpstr>Input validation – Input Before Loop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Extreme Test Data</vt:lpstr>
      <vt:lpstr>Extreme Test Data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Traversing an array – Data out (2)</vt:lpstr>
      <vt:lpstr>Traversing an array – Data out (2)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4</vt:lpstr>
      <vt:lpstr>Structure Diagrams – Example 4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2025-11-12T16:23:52Z</dcterms:modified>
</cp:coreProperties>
</file>
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0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387"/>
  </p:notesMasterIdLst>
  <p:sldIdLst>
    <p:sldId id="262" r:id="rId5"/>
    <p:sldId id="424" r:id="rId6"/>
    <p:sldId id="505" r:id="rId7"/>
    <p:sldId id="829" r:id="rId8"/>
    <p:sldId id="830" r:id="rId9"/>
    <p:sldId id="488" r:id="rId10"/>
    <p:sldId id="596" r:id="rId11"/>
    <p:sldId id="614" r:id="rId12"/>
    <p:sldId id="658" r:id="rId13"/>
    <p:sldId id="260" r:id="rId14"/>
    <p:sldId id="659" r:id="rId15"/>
    <p:sldId id="660" r:id="rId16"/>
    <p:sldId id="661" r:id="rId17"/>
    <p:sldId id="825" r:id="rId18"/>
    <p:sldId id="383" r:id="rId19"/>
    <p:sldId id="282" r:id="rId20"/>
    <p:sldId id="738" r:id="rId21"/>
    <p:sldId id="283" r:id="rId22"/>
    <p:sldId id="739" r:id="rId23"/>
    <p:sldId id="284" r:id="rId24"/>
    <p:sldId id="740" r:id="rId25"/>
    <p:sldId id="285" r:id="rId26"/>
    <p:sldId id="741" r:id="rId27"/>
    <p:sldId id="286" r:id="rId28"/>
    <p:sldId id="742" r:id="rId29"/>
    <p:sldId id="287" r:id="rId30"/>
    <p:sldId id="323" r:id="rId31"/>
    <p:sldId id="264" r:id="rId32"/>
    <p:sldId id="320" r:id="rId33"/>
    <p:sldId id="382" r:id="rId34"/>
    <p:sldId id="384" r:id="rId35"/>
    <p:sldId id="385" r:id="rId36"/>
    <p:sldId id="280" r:id="rId37"/>
    <p:sldId id="281" r:id="rId38"/>
    <p:sldId id="605" r:id="rId39"/>
    <p:sldId id="616" r:id="rId40"/>
    <p:sldId id="615" r:id="rId41"/>
    <p:sldId id="617" r:id="rId42"/>
    <p:sldId id="370" r:id="rId43"/>
    <p:sldId id="754" r:id="rId44"/>
    <p:sldId id="638" r:id="rId45"/>
    <p:sldId id="755" r:id="rId46"/>
    <p:sldId id="663" r:id="rId47"/>
    <p:sldId id="265" r:id="rId48"/>
    <p:sldId id="626" r:id="rId49"/>
    <p:sldId id="266" r:id="rId50"/>
    <p:sldId id="625" r:id="rId51"/>
    <p:sldId id="542" r:id="rId52"/>
    <p:sldId id="296" r:id="rId53"/>
    <p:sldId id="544" r:id="rId54"/>
    <p:sldId id="664" r:id="rId55"/>
    <p:sldId id="665" r:id="rId56"/>
    <p:sldId id="667" r:id="rId57"/>
    <p:sldId id="913" r:id="rId58"/>
    <p:sldId id="909" r:id="rId59"/>
    <p:sldId id="914" r:id="rId60"/>
    <p:sldId id="911" r:id="rId61"/>
    <p:sldId id="912" r:id="rId62"/>
    <p:sldId id="823" r:id="rId63"/>
    <p:sldId id="915" r:id="rId64"/>
    <p:sldId id="916" r:id="rId65"/>
    <p:sldId id="826" r:id="rId66"/>
    <p:sldId id="827" r:id="rId67"/>
    <p:sldId id="535" r:id="rId68"/>
    <p:sldId id="840" r:id="rId69"/>
    <p:sldId id="839" r:id="rId70"/>
    <p:sldId id="470" r:id="rId71"/>
    <p:sldId id="824" r:id="rId72"/>
    <p:sldId id="828" r:id="rId73"/>
    <p:sldId id="772" r:id="rId74"/>
    <p:sldId id="781" r:id="rId75"/>
    <p:sldId id="782" r:id="rId76"/>
    <p:sldId id="784" r:id="rId77"/>
    <p:sldId id="785" r:id="rId78"/>
    <p:sldId id="815" r:id="rId79"/>
    <p:sldId id="816" r:id="rId80"/>
    <p:sldId id="267" r:id="rId81"/>
    <p:sldId id="288" r:id="rId82"/>
    <p:sldId id="289" r:id="rId83"/>
    <p:sldId id="290" r:id="rId84"/>
    <p:sldId id="619" r:id="rId85"/>
    <p:sldId id="291" r:id="rId86"/>
    <p:sldId id="322" r:id="rId87"/>
    <p:sldId id="844" r:id="rId88"/>
    <p:sldId id="512" r:id="rId89"/>
    <p:sldId id="516" r:id="rId90"/>
    <p:sldId id="514" r:id="rId91"/>
    <p:sldId id="515" r:id="rId92"/>
    <p:sldId id="620" r:id="rId93"/>
    <p:sldId id="621" r:id="rId94"/>
    <p:sldId id="268" r:id="rId95"/>
    <p:sldId id="529" r:id="rId96"/>
    <p:sldId id="531" r:id="rId97"/>
    <p:sldId id="259" r:id="rId98"/>
    <p:sldId id="300" r:id="rId99"/>
    <p:sldId id="608" r:id="rId100"/>
    <p:sldId id="609" r:id="rId101"/>
    <p:sldId id="843" r:id="rId102"/>
    <p:sldId id="517" r:id="rId103"/>
    <p:sldId id="518" r:id="rId104"/>
    <p:sldId id="519" r:id="rId105"/>
    <p:sldId id="524" r:id="rId106"/>
    <p:sldId id="520" r:id="rId107"/>
    <p:sldId id="521" r:id="rId108"/>
    <p:sldId id="522" r:id="rId109"/>
    <p:sldId id="523" r:id="rId110"/>
    <p:sldId id="532" r:id="rId111"/>
    <p:sldId id="533" r:id="rId112"/>
    <p:sldId id="534" r:id="rId113"/>
    <p:sldId id="545" r:id="rId114"/>
    <p:sldId id="371" r:id="rId115"/>
    <p:sldId id="607" r:id="rId116"/>
    <p:sldId id="269" r:id="rId117"/>
    <p:sldId id="737" r:id="rId118"/>
    <p:sldId id="855" r:id="rId119"/>
    <p:sldId id="856" r:id="rId120"/>
    <p:sldId id="858" r:id="rId121"/>
    <p:sldId id="857" r:id="rId122"/>
    <p:sldId id="859" r:id="rId123"/>
    <p:sldId id="276" r:id="rId124"/>
    <p:sldId id="381" r:id="rId125"/>
    <p:sldId id="766" r:id="rId126"/>
    <p:sldId id="410" r:id="rId127"/>
    <p:sldId id="764" r:id="rId128"/>
    <p:sldId id="411" r:id="rId129"/>
    <p:sldId id="413" r:id="rId130"/>
    <p:sldId id="412" r:id="rId131"/>
    <p:sldId id="606" r:id="rId132"/>
    <p:sldId id="758" r:id="rId133"/>
    <p:sldId id="759" r:id="rId134"/>
    <p:sldId id="760" r:id="rId135"/>
    <p:sldId id="845" r:id="rId136"/>
    <p:sldId id="846" r:id="rId137"/>
    <p:sldId id="271" r:id="rId138"/>
    <p:sldId id="311" r:id="rId139"/>
    <p:sldId id="312" r:id="rId140"/>
    <p:sldId id="313" r:id="rId141"/>
    <p:sldId id="427" r:id="rId142"/>
    <p:sldId id="316" r:id="rId143"/>
    <p:sldId id="642" r:id="rId144"/>
    <p:sldId id="318" r:id="rId145"/>
    <p:sldId id="442" r:id="rId146"/>
    <p:sldId id="451" r:id="rId147"/>
    <p:sldId id="452" r:id="rId148"/>
    <p:sldId id="874" r:id="rId149"/>
    <p:sldId id="875" r:id="rId150"/>
    <p:sldId id="878" r:id="rId151"/>
    <p:sldId id="443" r:id="rId152"/>
    <p:sldId id="453" r:id="rId153"/>
    <p:sldId id="669" r:id="rId154"/>
    <p:sldId id="876" r:id="rId155"/>
    <p:sldId id="877" r:id="rId156"/>
    <p:sldId id="879" r:id="rId157"/>
    <p:sldId id="863" r:id="rId158"/>
    <p:sldId id="867" r:id="rId159"/>
    <p:sldId id="688" r:id="rId160"/>
    <p:sldId id="871" r:id="rId161"/>
    <p:sldId id="786" r:id="rId162"/>
    <p:sldId id="773" r:id="rId163"/>
    <p:sldId id="774" r:id="rId164"/>
    <p:sldId id="775" r:id="rId165"/>
    <p:sldId id="776" r:id="rId166"/>
    <p:sldId id="880" r:id="rId167"/>
    <p:sldId id="685" r:id="rId168"/>
    <p:sldId id="868" r:id="rId169"/>
    <p:sldId id="872" r:id="rId170"/>
    <p:sldId id="873" r:id="rId171"/>
    <p:sldId id="881" r:id="rId172"/>
    <p:sldId id="272" r:id="rId173"/>
    <p:sldId id="343" r:id="rId174"/>
    <p:sldId id="352" r:id="rId175"/>
    <p:sldId id="349" r:id="rId176"/>
    <p:sldId id="671" r:id="rId177"/>
    <p:sldId id="340" r:id="rId178"/>
    <p:sldId id="351" r:id="rId179"/>
    <p:sldId id="348" r:id="rId180"/>
    <p:sldId id="670" r:id="rId181"/>
    <p:sldId id="346" r:id="rId182"/>
    <p:sldId id="353" r:id="rId183"/>
    <p:sldId id="350" r:id="rId184"/>
    <p:sldId id="672" r:id="rId185"/>
    <p:sldId id="319" r:id="rId186"/>
    <p:sldId id="589" r:id="rId187"/>
    <p:sldId id="884" r:id="rId188"/>
    <p:sldId id="883" r:id="rId189"/>
    <p:sldId id="677" r:id="rId190"/>
    <p:sldId id="592" r:id="rId191"/>
    <p:sldId id="882" r:id="rId192"/>
    <p:sldId id="430" r:id="rId193"/>
    <p:sldId id="622" r:id="rId194"/>
    <p:sldId id="767" r:id="rId195"/>
    <p:sldId id="327" r:id="rId196"/>
    <p:sldId id="429" r:id="rId197"/>
    <p:sldId id="437" r:id="rId198"/>
    <p:sldId id="768" r:id="rId199"/>
    <p:sldId id="594" r:id="rId200"/>
    <p:sldId id="275" r:id="rId201"/>
    <p:sldId id="473" r:id="rId202"/>
    <p:sldId id="563" r:id="rId203"/>
    <p:sldId id="474" r:id="rId204"/>
    <p:sldId id="652" r:id="rId205"/>
    <p:sldId id="655" r:id="rId206"/>
    <p:sldId id="402" r:id="rId207"/>
    <p:sldId id="571" r:id="rId208"/>
    <p:sldId id="572" r:id="rId209"/>
    <p:sldId id="564" r:id="rId210"/>
    <p:sldId id="566" r:id="rId211"/>
    <p:sldId id="404" r:id="rId212"/>
    <p:sldId id="405" r:id="rId213"/>
    <p:sldId id="391" r:id="rId214"/>
    <p:sldId id="567" r:id="rId215"/>
    <p:sldId id="885" r:id="rId216"/>
    <p:sldId id="393" r:id="rId217"/>
    <p:sldId id="394" r:id="rId218"/>
    <p:sldId id="270" r:id="rId219"/>
    <p:sldId id="363" r:id="rId220"/>
    <p:sldId id="367" r:id="rId221"/>
    <p:sldId id="362" r:id="rId222"/>
    <p:sldId id="682" r:id="rId223"/>
    <p:sldId id="763" r:id="rId224"/>
    <p:sldId id="274" r:id="rId225"/>
    <p:sldId id="365" r:id="rId226"/>
    <p:sldId id="886" r:id="rId227"/>
    <p:sldId id="887" r:id="rId228"/>
    <p:sldId id="769" r:id="rId229"/>
    <p:sldId id="770" r:id="rId230"/>
    <p:sldId id="892" r:id="rId231"/>
    <p:sldId id="893" r:id="rId232"/>
    <p:sldId id="894" r:id="rId233"/>
    <p:sldId id="895" r:id="rId234"/>
    <p:sldId id="673" r:id="rId235"/>
    <p:sldId id="674" r:id="rId236"/>
    <p:sldId id="675" r:id="rId237"/>
    <p:sldId id="406" r:id="rId238"/>
    <p:sldId id="644" r:id="rId239"/>
    <p:sldId id="771" r:id="rId240"/>
    <p:sldId id="612" r:id="rId241"/>
    <p:sldId id="613" r:id="rId242"/>
    <p:sldId id="820" r:id="rId243"/>
    <p:sldId id="821" r:id="rId244"/>
    <p:sldId id="817" r:id="rId245"/>
    <p:sldId id="818" r:id="rId246"/>
    <p:sldId id="897" r:id="rId247"/>
    <p:sldId id="898" r:id="rId248"/>
    <p:sldId id="273" r:id="rId249"/>
    <p:sldId id="354" r:id="rId250"/>
    <p:sldId id="356" r:id="rId251"/>
    <p:sldId id="805" r:id="rId252"/>
    <p:sldId id="258" r:id="rId253"/>
    <p:sldId id="357" r:id="rId254"/>
    <p:sldId id="358" r:id="rId255"/>
    <p:sldId id="647" r:id="rId256"/>
    <p:sldId id="629" r:id="rId257"/>
    <p:sldId id="636" r:id="rId258"/>
    <p:sldId id="361" r:id="rId259"/>
    <p:sldId id="637" r:id="rId260"/>
    <p:sldId id="797" r:id="rId261"/>
    <p:sldId id="787" r:id="rId262"/>
    <p:sldId id="792" r:id="rId263"/>
    <p:sldId id="793" r:id="rId264"/>
    <p:sldId id="794" r:id="rId265"/>
    <p:sldId id="795" r:id="rId266"/>
    <p:sldId id="277" r:id="rId267"/>
    <p:sldId id="434" r:id="rId268"/>
    <p:sldId id="648" r:id="rId269"/>
    <p:sldId id="380" r:id="rId270"/>
    <p:sldId id="689" r:id="rId271"/>
    <p:sldId id="439" r:id="rId272"/>
    <p:sldId id="440" r:id="rId273"/>
    <p:sldId id="461" r:id="rId274"/>
    <p:sldId id="743" r:id="rId275"/>
    <p:sldId id="729" r:id="rId276"/>
    <p:sldId id="819" r:id="rId277"/>
    <p:sldId id="490" r:id="rId278"/>
    <p:sldId id="487" r:id="rId279"/>
    <p:sldId id="744" r:id="rId280"/>
    <p:sldId id="745" r:id="rId281"/>
    <p:sldId id="482" r:id="rId282"/>
    <p:sldId id="483" r:id="rId283"/>
    <p:sldId id="752" r:id="rId284"/>
    <p:sldId id="753" r:id="rId285"/>
    <p:sldId id="484" r:id="rId286"/>
    <p:sldId id="489" r:id="rId287"/>
    <p:sldId id="748" r:id="rId288"/>
    <p:sldId id="749" r:id="rId289"/>
    <p:sldId id="492" r:id="rId290"/>
    <p:sldId id="493" r:id="rId291"/>
    <p:sldId id="525" r:id="rId292"/>
    <p:sldId id="526" r:id="rId293"/>
    <p:sldId id="906" r:id="rId294"/>
    <p:sldId id="907" r:id="rId295"/>
    <p:sldId id="908" r:id="rId296"/>
    <p:sldId id="507" r:id="rId297"/>
    <p:sldId id="751" r:id="rId298"/>
    <p:sldId id="494" r:id="rId299"/>
    <p:sldId id="495" r:id="rId300"/>
    <p:sldId id="496" r:id="rId301"/>
    <p:sldId id="548" r:id="rId302"/>
    <p:sldId id="549" r:id="rId303"/>
    <p:sldId id="420" r:id="rId304"/>
    <p:sldId id="550" r:id="rId305"/>
    <p:sldId id="554" r:id="rId306"/>
    <p:sldId id="557" r:id="rId307"/>
    <p:sldId id="551" r:id="rId308"/>
    <p:sldId id="862" r:id="rId309"/>
    <p:sldId id="861" r:id="rId310"/>
    <p:sldId id="556" r:id="rId311"/>
    <p:sldId id="552" r:id="rId312"/>
    <p:sldId id="419" r:id="rId313"/>
    <p:sldId id="558" r:id="rId314"/>
    <p:sldId id="559" r:id="rId315"/>
    <p:sldId id="561" r:id="rId316"/>
    <p:sldId id="560" r:id="rId317"/>
    <p:sldId id="562" r:id="rId318"/>
    <p:sldId id="579" r:id="rId319"/>
    <p:sldId id="831" r:id="rId320"/>
    <p:sldId id="581" r:id="rId321"/>
    <p:sldId id="832" r:id="rId322"/>
    <p:sldId id="580" r:id="rId323"/>
    <p:sldId id="833" r:id="rId324"/>
    <p:sldId id="585" r:id="rId325"/>
    <p:sldId id="834" r:id="rId326"/>
    <p:sldId id="822" r:id="rId327"/>
    <p:sldId id="837" r:id="rId328"/>
    <p:sldId id="553" r:id="rId329"/>
    <p:sldId id="418" r:id="rId330"/>
    <p:sldId id="654" r:id="rId331"/>
    <p:sldId id="586" r:id="rId332"/>
    <p:sldId id="632" r:id="rId333"/>
    <p:sldId id="500" r:id="rId334"/>
    <p:sldId id="565" r:id="rId335"/>
    <p:sldId id="634" r:id="rId336"/>
    <p:sldId id="587" r:id="rId337"/>
    <p:sldId id="657" r:id="rId338"/>
    <p:sldId id="838" r:id="rId339"/>
    <p:sldId id="503" r:id="rId340"/>
    <p:sldId id="504" r:id="rId341"/>
    <p:sldId id="798" r:id="rId342"/>
    <p:sldId id="808" r:id="rId343"/>
    <p:sldId id="803" r:id="rId344"/>
    <p:sldId id="809" r:id="rId345"/>
    <p:sldId id="804" r:id="rId346"/>
    <p:sldId id="810" r:id="rId347"/>
    <p:sldId id="802" r:id="rId348"/>
    <p:sldId id="811" r:id="rId349"/>
    <p:sldId id="799" r:id="rId350"/>
    <p:sldId id="812" r:id="rId351"/>
    <p:sldId id="800" r:id="rId352"/>
    <p:sldId id="813" r:id="rId353"/>
    <p:sldId id="801" r:id="rId354"/>
    <p:sldId id="814" r:id="rId355"/>
    <p:sldId id="860" r:id="rId356"/>
    <p:sldId id="841" r:id="rId357"/>
    <p:sldId id="842" r:id="rId358"/>
    <p:sldId id="731" r:id="rId359"/>
    <p:sldId id="732" r:id="rId360"/>
    <p:sldId id="734" r:id="rId361"/>
    <p:sldId id="733" r:id="rId362"/>
    <p:sldId id="735" r:id="rId363"/>
    <p:sldId id="899" r:id="rId364"/>
    <p:sldId id="904" r:id="rId365"/>
    <p:sldId id="905" r:id="rId366"/>
    <p:sldId id="847" r:id="rId367"/>
    <p:sldId id="849" r:id="rId368"/>
    <p:sldId id="850" r:id="rId369"/>
    <p:sldId id="853" r:id="rId370"/>
    <p:sldId id="854" r:id="rId371"/>
    <p:sldId id="891" r:id="rId372"/>
    <p:sldId id="678" r:id="rId373"/>
    <p:sldId id="888" r:id="rId374"/>
    <p:sldId id="690" r:id="rId375"/>
    <p:sldId id="680" r:id="rId376"/>
    <p:sldId id="679" r:id="rId377"/>
    <p:sldId id="681" r:id="rId378"/>
    <p:sldId id="684" r:id="rId379"/>
    <p:sldId id="889" r:id="rId380"/>
    <p:sldId id="595" r:id="rId381"/>
    <p:sldId id="683" r:id="rId382"/>
    <p:sldId id="458" r:id="rId383"/>
    <p:sldId id="459" r:id="rId384"/>
    <p:sldId id="481" r:id="rId385"/>
    <p:sldId id="796" r:id="rId386"/>
  </p:sldIdLst>
  <p:sldSz cx="12192000" cy="6858000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Year 1 Intro" id="{8CD916D4-C61B-4DE1-BA53-06CFF0F5F6D1}">
          <p14:sldIdLst>
            <p14:sldId id="262"/>
            <p14:sldId id="424"/>
          </p14:sldIdLst>
        </p14:section>
        <p14:section name="Implementation" id="{C894BD4A-1EC5-4DFE-824D-FCF254DCC3B5}">
          <p14:sldIdLst>
            <p14:sldId id="505"/>
            <p14:sldId id="829"/>
            <p14:sldId id="830"/>
          </p14:sldIdLst>
        </p14:section>
        <p14:section name="Internal commentary 1" id="{F48CE9D6-5A7C-4F79-BE32-61B6A5D712AE}">
          <p14:sldIdLst>
            <p14:sldId id="488"/>
            <p14:sldId id="596"/>
            <p14:sldId id="614"/>
          </p14:sldIdLst>
        </p14:section>
        <p14:section name="Display" id="{61D4BC7C-1FE9-49F0-BAC2-84376D44BF63}">
          <p14:sldIdLst>
            <p14:sldId id="658"/>
            <p14:sldId id="260"/>
            <p14:sldId id="659"/>
          </p14:sldIdLst>
        </p14:section>
        <p14:section name="Syntax errors" id="{E032A279-D7FC-4D87-9147-A544F59DD61E}">
          <p14:sldIdLst>
            <p14:sldId id="660"/>
            <p14:sldId id="661"/>
            <p14:sldId id="825"/>
          </p14:sldIdLst>
        </p14:section>
        <p14:section name="Data types" id="{51780C24-7719-42B9-A514-02339AAFE6FB}">
          <p14:sldIdLst>
            <p14:sldId id="383"/>
            <p14:sldId id="282"/>
            <p14:sldId id="738"/>
            <p14:sldId id="283"/>
            <p14:sldId id="739"/>
            <p14:sldId id="284"/>
            <p14:sldId id="740"/>
            <p14:sldId id="285"/>
            <p14:sldId id="741"/>
            <p14:sldId id="286"/>
            <p14:sldId id="742"/>
            <p14:sldId id="287"/>
            <p14:sldId id="323"/>
          </p14:sldIdLst>
        </p14:section>
        <p14:section name="Assignment" id="{AC7E2348-C7BA-4F01-B49C-81C14173C507}">
          <p14:sldIdLst>
            <p14:sldId id="264"/>
            <p14:sldId id="320"/>
            <p14:sldId id="382"/>
            <p14:sldId id="384"/>
            <p14:sldId id="385"/>
            <p14:sldId id="280"/>
            <p14:sldId id="281"/>
            <p14:sldId id="605"/>
            <p14:sldId id="616"/>
            <p14:sldId id="615"/>
            <p14:sldId id="617"/>
            <p14:sldId id="370"/>
            <p14:sldId id="754"/>
            <p14:sldId id="638"/>
            <p14:sldId id="755"/>
          </p14:sldIdLst>
        </p14:section>
        <p14:section name="Meaningful identifiers" id="{9927FD92-510E-4E59-8CFD-EB8E2450C868}">
          <p14:sldIdLst>
            <p14:sldId id="663"/>
            <p14:sldId id="265"/>
            <p14:sldId id="626"/>
            <p14:sldId id="266"/>
            <p14:sldId id="625"/>
          </p14:sldIdLst>
        </p14:section>
        <p14:section name="Arithmetic" id="{1214522F-CD4D-40E3-AD37-8C4BC7C7F7E2}">
          <p14:sldIdLst>
            <p14:sldId id="542"/>
            <p14:sldId id="296"/>
            <p14:sldId id="544"/>
          </p14:sldIdLst>
        </p14:section>
        <p14:section name="Execution errors" id="{5903B3A8-68D8-43B5-BB9E-1A6D69530BC2}">
          <p14:sldIdLst>
            <p14:sldId id="664"/>
            <p14:sldId id="665"/>
            <p14:sldId id="667"/>
          </p14:sldIdLst>
        </p14:section>
        <p14:section name="Type Hinting" id="{D5151E64-844C-4DDC-9BD9-3775F2A81EE9}">
          <p14:sldIdLst>
            <p14:sldId id="913"/>
            <p14:sldId id="909"/>
            <p14:sldId id="914"/>
            <p14:sldId id="911"/>
            <p14:sldId id="912"/>
          </p14:sldIdLst>
        </p14:section>
        <p14:section name="Functions" id="{BFBB0AED-3E39-4C84-BFB8-9612A95540D3}">
          <p14:sldIdLst>
            <p14:sldId id="823"/>
            <p14:sldId id="915"/>
            <p14:sldId id="916"/>
            <p14:sldId id="826"/>
            <p14:sldId id="827"/>
            <p14:sldId id="535"/>
            <p14:sldId id="840"/>
            <p14:sldId id="839"/>
            <p14:sldId id="470"/>
            <p14:sldId id="824"/>
            <p14:sldId id="828"/>
          </p14:sldIdLst>
        </p14:section>
        <p14:section name="Round" id="{E017A670-FFA2-43EA-8353-8A44B70A55B4}">
          <p14:sldIdLst>
            <p14:sldId id="772"/>
            <p14:sldId id="781"/>
            <p14:sldId id="782"/>
            <p14:sldId id="784"/>
            <p14:sldId id="785"/>
            <p14:sldId id="815"/>
            <p14:sldId id="816"/>
          </p14:sldIdLst>
        </p14:section>
        <p14:section name="Concatenate - Strings" id="{E8559E69-4575-4183-B75B-6483E13034B8}">
          <p14:sldIdLst>
            <p14:sldId id="267"/>
            <p14:sldId id="288"/>
            <p14:sldId id="289"/>
            <p14:sldId id="290"/>
            <p14:sldId id="619"/>
            <p14:sldId id="291"/>
            <p14:sldId id="322"/>
          </p14:sldIdLst>
        </p14:section>
        <p14:section name="Cast to a string" id="{51A4EDD3-6F00-45A6-8B7F-E24A04830D53}">
          <p14:sldIdLst>
            <p14:sldId id="844"/>
            <p14:sldId id="512"/>
            <p14:sldId id="516"/>
            <p14:sldId id="514"/>
            <p14:sldId id="515"/>
            <p14:sldId id="620"/>
            <p14:sldId id="621"/>
          </p14:sldIdLst>
        </p14:section>
        <p14:section name="User input" id="{ADC58B8B-3142-4814-A7C6-D7A8CEC5CBBF}">
          <p14:sldIdLst>
            <p14:sldId id="268"/>
            <p14:sldId id="529"/>
            <p14:sldId id="531"/>
            <p14:sldId id="259"/>
            <p14:sldId id="300"/>
            <p14:sldId id="608"/>
            <p14:sldId id="609"/>
          </p14:sldIdLst>
        </p14:section>
        <p14:section name="Cast to a number" id="{926EB746-ADDB-4B49-97E4-D66823A64267}">
          <p14:sldIdLst>
            <p14:sldId id="843"/>
            <p14:sldId id="517"/>
            <p14:sldId id="518"/>
            <p14:sldId id="519"/>
            <p14:sldId id="524"/>
            <p14:sldId id="520"/>
            <p14:sldId id="521"/>
            <p14:sldId id="522"/>
            <p14:sldId id="523"/>
            <p14:sldId id="532"/>
            <p14:sldId id="533"/>
            <p14:sldId id="534"/>
            <p14:sldId id="545"/>
            <p14:sldId id="371"/>
            <p14:sldId id="607"/>
          </p14:sldIdLst>
        </p14:section>
        <p14:section name="Fixed loops" id="{8D9CA22F-4B86-4299-9530-C871352FFF89}">
          <p14:sldIdLst>
            <p14:sldId id="269"/>
            <p14:sldId id="737"/>
            <p14:sldId id="855"/>
            <p14:sldId id="856"/>
            <p14:sldId id="858"/>
            <p14:sldId id="857"/>
            <p14:sldId id="859"/>
          </p14:sldIdLst>
        </p14:section>
        <p14:section name="Running total - Fixed loop" id="{E76D1E1A-4061-40E5-8313-5CFD391A9B39}">
          <p14:sldIdLst>
            <p14:sldId id="276"/>
            <p14:sldId id="381"/>
            <p14:sldId id="766"/>
          </p14:sldIdLst>
        </p14:section>
        <p14:section name="Debugging 1" id="{C9089AF2-6D56-423A-814E-BA099C5C9F9F}">
          <p14:sldIdLst>
            <p14:sldId id="410"/>
          </p14:sldIdLst>
        </p14:section>
        <p14:section name="Readability 1" id="{80F25DB9-90BE-4EC4-9339-96FA884E1615}">
          <p14:sldIdLst>
            <p14:sldId id="764"/>
            <p14:sldId id="411"/>
            <p14:sldId id="413"/>
            <p14:sldId id="412"/>
            <p14:sldId id="606"/>
          </p14:sldIdLst>
        </p14:section>
        <p14:section name="Readability 2" id="{E9F36645-FAF1-492B-AA18-6210C088FA40}">
          <p14:sldIdLst>
            <p14:sldId id="758"/>
            <p14:sldId id="759"/>
            <p14:sldId id="760"/>
          </p14:sldIdLst>
        </p14:section>
        <p14:section name="Program layout" id="{D38FD29E-9983-4FBA-AA9C-C1A5AC5BFE9E}">
          <p14:sldIdLst>
            <p14:sldId id="845"/>
            <p14:sldId id="846"/>
          </p14:sldIdLst>
        </p14:section>
        <p14:section name="Comparison operators" id="{502AF4AC-A2CA-43AB-B340-03419F3112F5}">
          <p14:sldIdLst>
            <p14:sldId id="271"/>
            <p14:sldId id="311"/>
            <p14:sldId id="312"/>
            <p14:sldId id="313"/>
            <p14:sldId id="427"/>
            <p14:sldId id="316"/>
            <p14:sldId id="642"/>
          </p14:sldIdLst>
        </p14:section>
        <p14:section name="Selection - if" id="{23B890E6-00E8-435C-932B-6DC621F1AE2B}">
          <p14:sldIdLst>
            <p14:sldId id="318"/>
            <p14:sldId id="442"/>
            <p14:sldId id="451"/>
            <p14:sldId id="452"/>
            <p14:sldId id="874"/>
            <p14:sldId id="875"/>
          </p14:sldIdLst>
        </p14:section>
        <p14:section name="Selection - else" id="{87A7B68C-ACAA-43CB-B4C4-3E68A4DF2C4E}">
          <p14:sldIdLst>
            <p14:sldId id="878"/>
            <p14:sldId id="443"/>
            <p14:sldId id="453"/>
            <p14:sldId id="669"/>
            <p14:sldId id="876"/>
            <p14:sldId id="877"/>
          </p14:sldIdLst>
        </p14:section>
        <p14:section name="Selection - Nested if" id="{4D827472-D1E5-4549-9AE0-C44092901E09}">
          <p14:sldIdLst>
            <p14:sldId id="879"/>
            <p14:sldId id="863"/>
            <p14:sldId id="867"/>
            <p14:sldId id="688"/>
            <p14:sldId id="871"/>
          </p14:sldIdLst>
        </p14:section>
        <p14:section name="Length - String" id="{D3701108-E0EF-4A9B-8DEA-829965B7AC15}">
          <p14:sldIdLst>
            <p14:sldId id="786"/>
            <p14:sldId id="773"/>
            <p14:sldId id="774"/>
            <p14:sldId id="775"/>
            <p14:sldId id="776"/>
          </p14:sldIdLst>
        </p14:section>
        <p14:section name="Selection - elif" id="{6F72A299-1E16-4A1A-B7EA-E33790AB6F41}">
          <p14:sldIdLst>
            <p14:sldId id="880"/>
            <p14:sldId id="685"/>
            <p14:sldId id="868"/>
            <p14:sldId id="872"/>
            <p14:sldId id="873"/>
            <p14:sldId id="881"/>
          </p14:sldIdLst>
        </p14:section>
        <p14:section name="Logical operators" id="{561ACB5A-F170-4C94-9A15-53AE68C559F1}">
          <p14:sldIdLst>
            <p14:sldId id="272"/>
            <p14:sldId id="343"/>
            <p14:sldId id="352"/>
            <p14:sldId id="349"/>
            <p14:sldId id="671"/>
            <p14:sldId id="340"/>
            <p14:sldId id="351"/>
            <p14:sldId id="348"/>
            <p14:sldId id="670"/>
            <p14:sldId id="346"/>
            <p14:sldId id="353"/>
            <p14:sldId id="350"/>
            <p14:sldId id="672"/>
          </p14:sldIdLst>
        </p14:section>
        <p14:section name="Selection - Complex" id="{10100EB6-A3F1-4651-95C5-C3C37EF55B27}">
          <p14:sldIdLst>
            <p14:sldId id="319"/>
            <p14:sldId id="589"/>
            <p14:sldId id="884"/>
            <p14:sldId id="883"/>
            <p14:sldId id="677"/>
            <p14:sldId id="592"/>
            <p14:sldId id="882"/>
          </p14:sldIdLst>
        </p14:section>
        <p14:section name="Efficient selection" id="{F5BD28ED-1011-40F4-A2F9-084B4DF3CCAF}">
          <p14:sldIdLst>
            <p14:sldId id="430"/>
            <p14:sldId id="622"/>
            <p14:sldId id="767"/>
            <p14:sldId id="327"/>
            <p14:sldId id="429"/>
            <p14:sldId id="437"/>
            <p14:sldId id="768"/>
            <p14:sldId id="594"/>
          </p14:sldIdLst>
        </p14:section>
        <p14:section name="Random" id="{AB33E1CE-C8A1-4BEC-99B5-6A27F6298ACD}">
          <p14:sldIdLst>
            <p14:sldId id="275"/>
            <p14:sldId id="473"/>
            <p14:sldId id="563"/>
            <p14:sldId id="474"/>
            <p14:sldId id="652"/>
            <p14:sldId id="655"/>
          </p14:sldIdLst>
        </p14:section>
        <p14:section name="Testing - normal" id="{2663D83E-C05C-44E1-A363-C04F2DEFB54B}">
          <p14:sldIdLst>
            <p14:sldId id="402"/>
            <p14:sldId id="571"/>
            <p14:sldId id="572"/>
            <p14:sldId id="564"/>
            <p14:sldId id="566"/>
            <p14:sldId id="404"/>
            <p14:sldId id="405"/>
          </p14:sldIdLst>
        </p14:section>
        <p14:section name="Testing - Extreme 1" id="{84316217-DE4B-4C3C-A4BE-C8DE44862DAE}">
          <p14:sldIdLst>
            <p14:sldId id="391"/>
            <p14:sldId id="567"/>
            <p14:sldId id="885"/>
            <p14:sldId id="393"/>
            <p14:sldId id="394"/>
          </p14:sldIdLst>
        </p14:section>
        <p14:section name="Conditional loop" id="{07A810B4-6CAE-4FBF-A5A6-B3BBD9C7C056}">
          <p14:sldIdLst>
            <p14:sldId id="270"/>
            <p14:sldId id="363"/>
            <p14:sldId id="367"/>
            <p14:sldId id="362"/>
            <p14:sldId id="682"/>
            <p14:sldId id="763"/>
          </p14:sldIdLst>
        </p14:section>
        <p14:section name="Input validation - Before loop" id="{A769AF5A-7466-4756-B97E-427C1719D541}">
          <p14:sldIdLst>
            <p14:sldId id="274"/>
            <p14:sldId id="365"/>
            <p14:sldId id="886"/>
            <p14:sldId id="887"/>
            <p14:sldId id="769"/>
            <p14:sldId id="770"/>
            <p14:sldId id="892"/>
            <p14:sldId id="893"/>
            <p14:sldId id="894"/>
            <p14:sldId id="895"/>
          </p14:sldIdLst>
        </p14:section>
        <p14:section name="Testing - Extreme 2" id="{EF7AEE41-0FC3-41E3-92A5-7A0A51E2B383}">
          <p14:sldIdLst>
            <p14:sldId id="673"/>
            <p14:sldId id="674"/>
            <p14:sldId id="675"/>
          </p14:sldIdLst>
        </p14:section>
        <p14:section name="Testing - Exceptional" id="{386F86A6-D32D-4AFA-8187-8C0443DBF24C}">
          <p14:sldIdLst>
            <p14:sldId id="406"/>
            <p14:sldId id="644"/>
            <p14:sldId id="771"/>
            <p14:sldId id="612"/>
            <p14:sldId id="613"/>
            <p14:sldId id="820"/>
            <p14:sldId id="821"/>
          </p14:sldIdLst>
        </p14:section>
        <p14:section name="Testing - Random" id="{B53A5A28-8189-4647-8F53-925E15674DD6}">
          <p14:sldIdLst>
            <p14:sldId id="817"/>
            <p14:sldId id="818"/>
            <p14:sldId id="897"/>
            <p14:sldId id="898"/>
          </p14:sldIdLst>
        </p14:section>
        <p14:section name="Arrays" id="{1CC24082-6A83-49E7-A175-C316E5F18DFD}">
          <p14:sldIdLst>
            <p14:sldId id="273"/>
            <p14:sldId id="354"/>
            <p14:sldId id="356"/>
            <p14:sldId id="805"/>
            <p14:sldId id="258"/>
            <p14:sldId id="357"/>
            <p14:sldId id="358"/>
            <p14:sldId id="647"/>
            <p14:sldId id="629"/>
            <p14:sldId id="636"/>
            <p14:sldId id="361"/>
            <p14:sldId id="637"/>
            <p14:sldId id="797"/>
          </p14:sldIdLst>
        </p14:section>
        <p14:section name="Length - Array" id="{E306E784-EBA3-419B-B259-3CB9770C343F}">
          <p14:sldIdLst>
            <p14:sldId id="787"/>
            <p14:sldId id="792"/>
            <p14:sldId id="793"/>
            <p14:sldId id="794"/>
            <p14:sldId id="795"/>
          </p14:sldIdLst>
        </p14:section>
        <p14:section name="Traversing 1-D Array" id="{302B0B0A-4E2E-462B-99AF-144F1E5430B9}">
          <p14:sldIdLst>
            <p14:sldId id="277"/>
            <p14:sldId id="434"/>
            <p14:sldId id="648"/>
            <p14:sldId id="380"/>
            <p14:sldId id="689"/>
          </p14:sldIdLst>
        </p14:section>
        <p14:section name="Test data summary" id="{4D1B4333-BFD5-4508-BD9E-7323B1FB1AAA}">
          <p14:sldIdLst>
            <p14:sldId id="439"/>
            <p14:sldId id="440"/>
            <p14:sldId id="461"/>
          </p14:sldIdLst>
        </p14:section>
        <p14:section name="Year 2 Intro" id="{6965EF3A-1AAE-4DA4-AF49-93CA267C9281}">
          <p14:sldIdLst>
            <p14:sldId id="743"/>
            <p14:sldId id="729"/>
            <p14:sldId id="819"/>
          </p14:sldIdLst>
        </p14:section>
        <p14:section name="Development" id="{24D8D50E-5EBE-4989-A7F2-B6DE88C26050}">
          <p14:sldIdLst>
            <p14:sldId id="490"/>
            <p14:sldId id="487"/>
            <p14:sldId id="744"/>
            <p14:sldId id="745"/>
            <p14:sldId id="482"/>
            <p14:sldId id="483"/>
            <p14:sldId id="752"/>
            <p14:sldId id="753"/>
            <p14:sldId id="484"/>
            <p14:sldId id="489"/>
            <p14:sldId id="748"/>
            <p14:sldId id="749"/>
          </p14:sldIdLst>
        </p14:section>
        <p14:section name="Analysis" id="{6D6D1729-990E-4C42-8EE1-4AC994C03D0B}">
          <p14:sldIdLst>
            <p14:sldId id="492"/>
            <p14:sldId id="493"/>
            <p14:sldId id="525"/>
            <p14:sldId id="526"/>
            <p14:sldId id="906"/>
            <p14:sldId id="907"/>
            <p14:sldId id="908"/>
            <p14:sldId id="507"/>
            <p14:sldId id="751"/>
          </p14:sldIdLst>
        </p14:section>
        <p14:section name="Design" id="{2E0C8EC8-2672-4957-A9DA-5C14D4009499}">
          <p14:sldIdLst>
            <p14:sldId id="494"/>
            <p14:sldId id="495"/>
          </p14:sldIdLst>
        </p14:section>
        <p14:section name="Structure diagrams" id="{87A8BE3B-AA4E-4E70-B605-C97903EEC575}">
          <p14:sldIdLst>
            <p14:sldId id="496"/>
            <p14:sldId id="548"/>
            <p14:sldId id="549"/>
            <p14:sldId id="420"/>
            <p14:sldId id="550"/>
            <p14:sldId id="554"/>
            <p14:sldId id="557"/>
            <p14:sldId id="551"/>
            <p14:sldId id="862"/>
            <p14:sldId id="861"/>
            <p14:sldId id="556"/>
          </p14:sldIdLst>
        </p14:section>
        <p14:section name="Flowcharts" id="{53254EEF-F2AD-4A1D-92F1-1AA01C8A7DB5}">
          <p14:sldIdLst>
            <p14:sldId id="552"/>
            <p14:sldId id="419"/>
            <p14:sldId id="558"/>
            <p14:sldId id="559"/>
            <p14:sldId id="561"/>
            <p14:sldId id="560"/>
            <p14:sldId id="562"/>
            <p14:sldId id="579"/>
            <p14:sldId id="831"/>
            <p14:sldId id="581"/>
            <p14:sldId id="832"/>
            <p14:sldId id="580"/>
            <p14:sldId id="833"/>
            <p14:sldId id="585"/>
            <p14:sldId id="834"/>
            <p14:sldId id="822"/>
            <p14:sldId id="837"/>
          </p14:sldIdLst>
        </p14:section>
        <p14:section name="Psuedocode" id="{D6695B65-25F3-401F-94AB-383629BB4F9D}">
          <p14:sldIdLst>
            <p14:sldId id="553"/>
            <p14:sldId id="418"/>
            <p14:sldId id="654"/>
            <p14:sldId id="586"/>
            <p14:sldId id="632"/>
          </p14:sldIdLst>
        </p14:section>
        <p14:section name="UI" id="{649B6B0C-967C-4368-BE3E-2BDE4E40D6B0}">
          <p14:sldIdLst>
            <p14:sldId id="500"/>
            <p14:sldId id="565"/>
            <p14:sldId id="634"/>
            <p14:sldId id="587"/>
            <p14:sldId id="657"/>
            <p14:sldId id="838"/>
          </p14:sldIdLst>
        </p14:section>
        <p14:section name="Evaluation" id="{57F9B6F5-27CC-415C-97AC-589CF53FC82E}">
          <p14:sldIdLst>
            <p14:sldId id="503"/>
            <p14:sldId id="504"/>
            <p14:sldId id="798"/>
            <p14:sldId id="808"/>
            <p14:sldId id="803"/>
            <p14:sldId id="809"/>
            <p14:sldId id="804"/>
            <p14:sldId id="810"/>
            <p14:sldId id="802"/>
            <p14:sldId id="811"/>
            <p14:sldId id="799"/>
            <p14:sldId id="812"/>
            <p14:sldId id="800"/>
            <p14:sldId id="813"/>
            <p14:sldId id="801"/>
            <p14:sldId id="814"/>
          </p14:sldIdLst>
        </p14:section>
        <p14:section name="Internal commentary 2" id="{CBA0CC72-2D40-4AF8-9A1E-1F67A1CC30FD}">
          <p14:sldIdLst>
            <p14:sldId id="860"/>
            <p14:sldId id="841"/>
            <p14:sldId id="842"/>
          </p14:sldIdLst>
        </p14:section>
        <p14:section name="Concatenate - Arrays" id="{33E9A2F1-B63C-4044-9E91-F2413C7752F3}">
          <p14:sldIdLst>
            <p14:sldId id="731"/>
            <p14:sldId id="732"/>
            <p14:sldId id="734"/>
            <p14:sldId id="733"/>
            <p14:sldId id="735"/>
          </p14:sldIdLst>
        </p14:section>
        <p14:section name="For Each loop" id="{A7979518-F93C-47A9-BB09-869261A0E69B}">
          <p14:sldIdLst>
            <p14:sldId id="899"/>
            <p14:sldId id="904"/>
            <p14:sldId id="905"/>
          </p14:sldIdLst>
        </p14:section>
        <p14:section name="Fxed loop - Steps" id="{CBC31685-3044-4267-8198-D5DC304E5F81}">
          <p14:sldIdLst>
            <p14:sldId id="847"/>
            <p14:sldId id="849"/>
            <p14:sldId id="850"/>
            <p14:sldId id="853"/>
            <p14:sldId id="854"/>
          </p14:sldIdLst>
        </p14:section>
        <p14:section name="Input validation - In loop" id="{C01F10CC-F84F-4E54-B968-77F160551168}">
          <p14:sldIdLst>
            <p14:sldId id="891"/>
            <p14:sldId id="678"/>
            <p14:sldId id="888"/>
            <p14:sldId id="690"/>
            <p14:sldId id="680"/>
            <p14:sldId id="679"/>
            <p14:sldId id="681"/>
            <p14:sldId id="684"/>
            <p14:sldId id="889"/>
            <p14:sldId id="595"/>
            <p14:sldId id="683"/>
          </p14:sldIdLst>
        </p14:section>
        <p14:section name="Running total - Conditional loop" id="{7434FE26-9E16-424B-817B-CD20F08C3E21}">
          <p14:sldIdLst>
            <p14:sldId id="458"/>
            <p14:sldId id="459"/>
            <p14:sldId id="481"/>
            <p14:sldId id="7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3691"/>
    <a:srgbClr val="548235"/>
    <a:srgbClr val="B2B2B2"/>
    <a:srgbClr val="0086B3"/>
    <a:srgbClr val="4472C4"/>
    <a:srgbClr val="2F528F"/>
    <a:srgbClr val="BD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3" autoAdjust="0"/>
    <p:restoredTop sz="79595" autoAdjust="0"/>
  </p:normalViewPr>
  <p:slideViewPr>
    <p:cSldViewPr snapToGrid="0" showGuides="1">
      <p:cViewPr varScale="1">
        <p:scale>
          <a:sx n="53" d="100"/>
          <a:sy n="53" d="100"/>
        </p:scale>
        <p:origin x="928" y="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97472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99" Type="http://schemas.openxmlformats.org/officeDocument/2006/relationships/slide" Target="slides/slide295.xml"/><Relationship Id="rId21" Type="http://schemas.openxmlformats.org/officeDocument/2006/relationships/slide" Target="slides/slide17.xml"/><Relationship Id="rId63" Type="http://schemas.openxmlformats.org/officeDocument/2006/relationships/slide" Target="slides/slide59.xml"/><Relationship Id="rId159" Type="http://schemas.openxmlformats.org/officeDocument/2006/relationships/slide" Target="slides/slide155.xml"/><Relationship Id="rId324" Type="http://schemas.openxmlformats.org/officeDocument/2006/relationships/slide" Target="slides/slide320.xml"/><Relationship Id="rId366" Type="http://schemas.openxmlformats.org/officeDocument/2006/relationships/slide" Target="slides/slide362.xml"/><Relationship Id="rId170" Type="http://schemas.openxmlformats.org/officeDocument/2006/relationships/slide" Target="slides/slide166.xml"/><Relationship Id="rId226" Type="http://schemas.openxmlformats.org/officeDocument/2006/relationships/slide" Target="slides/slide222.xml"/><Relationship Id="rId268" Type="http://schemas.openxmlformats.org/officeDocument/2006/relationships/slide" Target="slides/slide264.xml"/><Relationship Id="rId32" Type="http://schemas.openxmlformats.org/officeDocument/2006/relationships/slide" Target="slides/slide28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335" Type="http://schemas.openxmlformats.org/officeDocument/2006/relationships/slide" Target="slides/slide331.xml"/><Relationship Id="rId377" Type="http://schemas.openxmlformats.org/officeDocument/2006/relationships/slide" Target="slides/slide373.xml"/><Relationship Id="rId5" Type="http://schemas.openxmlformats.org/officeDocument/2006/relationships/slide" Target="slides/slide1.xml"/><Relationship Id="rId181" Type="http://schemas.openxmlformats.org/officeDocument/2006/relationships/slide" Target="slides/slide177.xml"/><Relationship Id="rId237" Type="http://schemas.openxmlformats.org/officeDocument/2006/relationships/slide" Target="slides/slide233.xml"/><Relationship Id="rId279" Type="http://schemas.openxmlformats.org/officeDocument/2006/relationships/slide" Target="slides/slide275.xml"/><Relationship Id="rId43" Type="http://schemas.openxmlformats.org/officeDocument/2006/relationships/slide" Target="slides/slide39.xml"/><Relationship Id="rId139" Type="http://schemas.openxmlformats.org/officeDocument/2006/relationships/slide" Target="slides/slide135.xml"/><Relationship Id="rId290" Type="http://schemas.openxmlformats.org/officeDocument/2006/relationships/slide" Target="slides/slide286.xml"/><Relationship Id="rId304" Type="http://schemas.openxmlformats.org/officeDocument/2006/relationships/slide" Target="slides/slide300.xml"/><Relationship Id="rId346" Type="http://schemas.openxmlformats.org/officeDocument/2006/relationships/slide" Target="slides/slide342.xml"/><Relationship Id="rId388" Type="http://schemas.openxmlformats.org/officeDocument/2006/relationships/commentAuthors" Target="commentAuthors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92" Type="http://schemas.openxmlformats.org/officeDocument/2006/relationships/slide" Target="slides/slide188.xml"/><Relationship Id="rId206" Type="http://schemas.openxmlformats.org/officeDocument/2006/relationships/slide" Target="slides/slide202.xml"/><Relationship Id="rId248" Type="http://schemas.openxmlformats.org/officeDocument/2006/relationships/slide" Target="slides/slide244.xml"/><Relationship Id="rId12" Type="http://schemas.openxmlformats.org/officeDocument/2006/relationships/slide" Target="slides/slide8.xml"/><Relationship Id="rId108" Type="http://schemas.openxmlformats.org/officeDocument/2006/relationships/slide" Target="slides/slide104.xml"/><Relationship Id="rId315" Type="http://schemas.openxmlformats.org/officeDocument/2006/relationships/slide" Target="slides/slide311.xml"/><Relationship Id="rId357" Type="http://schemas.openxmlformats.org/officeDocument/2006/relationships/slide" Target="slides/slide353.xml"/><Relationship Id="rId54" Type="http://schemas.openxmlformats.org/officeDocument/2006/relationships/slide" Target="slides/slide50.xml"/><Relationship Id="rId96" Type="http://schemas.openxmlformats.org/officeDocument/2006/relationships/slide" Target="slides/slide92.xml"/><Relationship Id="rId161" Type="http://schemas.openxmlformats.org/officeDocument/2006/relationships/slide" Target="slides/slide157.xml"/><Relationship Id="rId217" Type="http://schemas.openxmlformats.org/officeDocument/2006/relationships/slide" Target="slides/slide213.xml"/><Relationship Id="rId259" Type="http://schemas.openxmlformats.org/officeDocument/2006/relationships/slide" Target="slides/slide255.xml"/><Relationship Id="rId23" Type="http://schemas.openxmlformats.org/officeDocument/2006/relationships/slide" Target="slides/slide19.xml"/><Relationship Id="rId119" Type="http://schemas.openxmlformats.org/officeDocument/2006/relationships/slide" Target="slides/slide115.xml"/><Relationship Id="rId270" Type="http://schemas.openxmlformats.org/officeDocument/2006/relationships/slide" Target="slides/slide266.xml"/><Relationship Id="rId326" Type="http://schemas.openxmlformats.org/officeDocument/2006/relationships/slide" Target="slides/slide322.xml"/><Relationship Id="rId65" Type="http://schemas.openxmlformats.org/officeDocument/2006/relationships/slide" Target="slides/slide61.xml"/><Relationship Id="rId130" Type="http://schemas.openxmlformats.org/officeDocument/2006/relationships/slide" Target="slides/slide126.xml"/><Relationship Id="rId368" Type="http://schemas.openxmlformats.org/officeDocument/2006/relationships/slide" Target="slides/slide364.xml"/><Relationship Id="rId172" Type="http://schemas.openxmlformats.org/officeDocument/2006/relationships/slide" Target="slides/slide168.xml"/><Relationship Id="rId228" Type="http://schemas.openxmlformats.org/officeDocument/2006/relationships/slide" Target="slides/slide224.xml"/><Relationship Id="rId281" Type="http://schemas.openxmlformats.org/officeDocument/2006/relationships/slide" Target="slides/slide277.xml"/><Relationship Id="rId337" Type="http://schemas.openxmlformats.org/officeDocument/2006/relationships/slide" Target="slides/slide333.xml"/><Relationship Id="rId34" Type="http://schemas.openxmlformats.org/officeDocument/2006/relationships/slide" Target="slides/slide30.xml"/><Relationship Id="rId76" Type="http://schemas.openxmlformats.org/officeDocument/2006/relationships/slide" Target="slides/slide72.xml"/><Relationship Id="rId141" Type="http://schemas.openxmlformats.org/officeDocument/2006/relationships/slide" Target="slides/slide137.xml"/><Relationship Id="rId379" Type="http://schemas.openxmlformats.org/officeDocument/2006/relationships/slide" Target="slides/slide375.xml"/><Relationship Id="rId7" Type="http://schemas.openxmlformats.org/officeDocument/2006/relationships/slide" Target="slides/slide3.xml"/><Relationship Id="rId183" Type="http://schemas.openxmlformats.org/officeDocument/2006/relationships/slide" Target="slides/slide179.xml"/><Relationship Id="rId239" Type="http://schemas.openxmlformats.org/officeDocument/2006/relationships/slide" Target="slides/slide235.xml"/><Relationship Id="rId390" Type="http://schemas.openxmlformats.org/officeDocument/2006/relationships/viewProps" Target="viewProps.xml"/><Relationship Id="rId250" Type="http://schemas.openxmlformats.org/officeDocument/2006/relationships/slide" Target="slides/slide246.xml"/><Relationship Id="rId292" Type="http://schemas.openxmlformats.org/officeDocument/2006/relationships/slide" Target="slides/slide288.xml"/><Relationship Id="rId306" Type="http://schemas.openxmlformats.org/officeDocument/2006/relationships/slide" Target="slides/slide302.xml"/><Relationship Id="rId45" Type="http://schemas.openxmlformats.org/officeDocument/2006/relationships/slide" Target="slides/slide41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348" Type="http://schemas.openxmlformats.org/officeDocument/2006/relationships/slide" Target="slides/slide344.xml"/><Relationship Id="rId152" Type="http://schemas.openxmlformats.org/officeDocument/2006/relationships/slide" Target="slides/slide148.xml"/><Relationship Id="rId194" Type="http://schemas.openxmlformats.org/officeDocument/2006/relationships/slide" Target="slides/slide190.xml"/><Relationship Id="rId208" Type="http://schemas.openxmlformats.org/officeDocument/2006/relationships/slide" Target="slides/slide204.xml"/><Relationship Id="rId261" Type="http://schemas.openxmlformats.org/officeDocument/2006/relationships/slide" Target="slides/slide257.xml"/><Relationship Id="rId14" Type="http://schemas.openxmlformats.org/officeDocument/2006/relationships/slide" Target="slides/slide10.xml"/><Relationship Id="rId56" Type="http://schemas.openxmlformats.org/officeDocument/2006/relationships/slide" Target="slides/slide52.xml"/><Relationship Id="rId317" Type="http://schemas.openxmlformats.org/officeDocument/2006/relationships/slide" Target="slides/slide313.xml"/><Relationship Id="rId359" Type="http://schemas.openxmlformats.org/officeDocument/2006/relationships/slide" Target="slides/slide355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63" Type="http://schemas.openxmlformats.org/officeDocument/2006/relationships/slide" Target="slides/slide159.xml"/><Relationship Id="rId219" Type="http://schemas.openxmlformats.org/officeDocument/2006/relationships/slide" Target="slides/slide215.xml"/><Relationship Id="rId370" Type="http://schemas.openxmlformats.org/officeDocument/2006/relationships/slide" Target="slides/slide366.xml"/><Relationship Id="rId230" Type="http://schemas.openxmlformats.org/officeDocument/2006/relationships/slide" Target="slides/slide226.xml"/><Relationship Id="rId25" Type="http://schemas.openxmlformats.org/officeDocument/2006/relationships/slide" Target="slides/slide21.xml"/><Relationship Id="rId67" Type="http://schemas.openxmlformats.org/officeDocument/2006/relationships/slide" Target="slides/slide63.xml"/><Relationship Id="rId272" Type="http://schemas.openxmlformats.org/officeDocument/2006/relationships/slide" Target="slides/slide268.xml"/><Relationship Id="rId328" Type="http://schemas.openxmlformats.org/officeDocument/2006/relationships/slide" Target="slides/slide324.xml"/><Relationship Id="rId132" Type="http://schemas.openxmlformats.org/officeDocument/2006/relationships/slide" Target="slides/slide128.xml"/><Relationship Id="rId174" Type="http://schemas.openxmlformats.org/officeDocument/2006/relationships/slide" Target="slides/slide170.xml"/><Relationship Id="rId381" Type="http://schemas.openxmlformats.org/officeDocument/2006/relationships/slide" Target="slides/slide377.xml"/><Relationship Id="rId241" Type="http://schemas.openxmlformats.org/officeDocument/2006/relationships/slide" Target="slides/slide237.xml"/><Relationship Id="rId36" Type="http://schemas.openxmlformats.org/officeDocument/2006/relationships/slide" Target="slides/slide32.xml"/><Relationship Id="rId283" Type="http://schemas.openxmlformats.org/officeDocument/2006/relationships/slide" Target="slides/slide279.xml"/><Relationship Id="rId339" Type="http://schemas.openxmlformats.org/officeDocument/2006/relationships/slide" Target="slides/slide335.xml"/><Relationship Id="rId78" Type="http://schemas.openxmlformats.org/officeDocument/2006/relationships/slide" Target="slides/slide74.xml"/><Relationship Id="rId101" Type="http://schemas.openxmlformats.org/officeDocument/2006/relationships/slide" Target="slides/slide97.xml"/><Relationship Id="rId143" Type="http://schemas.openxmlformats.org/officeDocument/2006/relationships/slide" Target="slides/slide139.xml"/><Relationship Id="rId185" Type="http://schemas.openxmlformats.org/officeDocument/2006/relationships/slide" Target="slides/slide181.xml"/><Relationship Id="rId350" Type="http://schemas.openxmlformats.org/officeDocument/2006/relationships/slide" Target="slides/slide346.xml"/><Relationship Id="rId9" Type="http://schemas.openxmlformats.org/officeDocument/2006/relationships/slide" Target="slides/slide5.xml"/><Relationship Id="rId210" Type="http://schemas.openxmlformats.org/officeDocument/2006/relationships/slide" Target="slides/slide206.xml"/><Relationship Id="rId392" Type="http://schemas.openxmlformats.org/officeDocument/2006/relationships/tableStyles" Target="tableStyles.xml"/><Relationship Id="rId252" Type="http://schemas.openxmlformats.org/officeDocument/2006/relationships/slide" Target="slides/slide248.xml"/><Relationship Id="rId294" Type="http://schemas.openxmlformats.org/officeDocument/2006/relationships/slide" Target="slides/slide290.xml"/><Relationship Id="rId308" Type="http://schemas.openxmlformats.org/officeDocument/2006/relationships/slide" Target="slides/slide304.xml"/><Relationship Id="rId47" Type="http://schemas.openxmlformats.org/officeDocument/2006/relationships/slide" Target="slides/slide43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54" Type="http://schemas.openxmlformats.org/officeDocument/2006/relationships/slide" Target="slides/slide150.xml"/><Relationship Id="rId361" Type="http://schemas.openxmlformats.org/officeDocument/2006/relationships/slide" Target="slides/slide357.xml"/><Relationship Id="rId196" Type="http://schemas.openxmlformats.org/officeDocument/2006/relationships/slide" Target="slides/slide192.xml"/><Relationship Id="rId200" Type="http://schemas.openxmlformats.org/officeDocument/2006/relationships/slide" Target="slides/slide196.xml"/><Relationship Id="rId382" Type="http://schemas.openxmlformats.org/officeDocument/2006/relationships/slide" Target="slides/slide378.xml"/><Relationship Id="rId16" Type="http://schemas.openxmlformats.org/officeDocument/2006/relationships/slide" Target="slides/slide12.xml"/><Relationship Id="rId221" Type="http://schemas.openxmlformats.org/officeDocument/2006/relationships/slide" Target="slides/slide217.xml"/><Relationship Id="rId242" Type="http://schemas.openxmlformats.org/officeDocument/2006/relationships/slide" Target="slides/slide238.xml"/><Relationship Id="rId263" Type="http://schemas.openxmlformats.org/officeDocument/2006/relationships/slide" Target="slides/slide259.xml"/><Relationship Id="rId284" Type="http://schemas.openxmlformats.org/officeDocument/2006/relationships/slide" Target="slides/slide280.xml"/><Relationship Id="rId319" Type="http://schemas.openxmlformats.org/officeDocument/2006/relationships/slide" Target="slides/slide315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330" Type="http://schemas.openxmlformats.org/officeDocument/2006/relationships/slide" Target="slides/slide326.xml"/><Relationship Id="rId90" Type="http://schemas.openxmlformats.org/officeDocument/2006/relationships/slide" Target="slides/slide86.xml"/><Relationship Id="rId165" Type="http://schemas.openxmlformats.org/officeDocument/2006/relationships/slide" Target="slides/slide161.xml"/><Relationship Id="rId186" Type="http://schemas.openxmlformats.org/officeDocument/2006/relationships/slide" Target="slides/slide182.xml"/><Relationship Id="rId351" Type="http://schemas.openxmlformats.org/officeDocument/2006/relationships/slide" Target="slides/slide347.xml"/><Relationship Id="rId372" Type="http://schemas.openxmlformats.org/officeDocument/2006/relationships/slide" Target="slides/slide368.xml"/><Relationship Id="rId211" Type="http://schemas.openxmlformats.org/officeDocument/2006/relationships/slide" Target="slides/slide207.xml"/><Relationship Id="rId232" Type="http://schemas.openxmlformats.org/officeDocument/2006/relationships/slide" Target="slides/slide228.xml"/><Relationship Id="rId253" Type="http://schemas.openxmlformats.org/officeDocument/2006/relationships/slide" Target="slides/slide249.xml"/><Relationship Id="rId274" Type="http://schemas.openxmlformats.org/officeDocument/2006/relationships/slide" Target="slides/slide270.xml"/><Relationship Id="rId295" Type="http://schemas.openxmlformats.org/officeDocument/2006/relationships/slide" Target="slides/slide291.xml"/><Relationship Id="rId309" Type="http://schemas.openxmlformats.org/officeDocument/2006/relationships/slide" Target="slides/slide305.xml"/><Relationship Id="rId27" Type="http://schemas.openxmlformats.org/officeDocument/2006/relationships/slide" Target="slides/slide23.xml"/><Relationship Id="rId48" Type="http://schemas.openxmlformats.org/officeDocument/2006/relationships/slide" Target="slides/slide44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34" Type="http://schemas.openxmlformats.org/officeDocument/2006/relationships/slide" Target="slides/slide130.xml"/><Relationship Id="rId320" Type="http://schemas.openxmlformats.org/officeDocument/2006/relationships/slide" Target="slides/slide316.xml"/><Relationship Id="rId80" Type="http://schemas.openxmlformats.org/officeDocument/2006/relationships/slide" Target="slides/slide76.xml"/><Relationship Id="rId155" Type="http://schemas.openxmlformats.org/officeDocument/2006/relationships/slide" Target="slides/slide151.xml"/><Relationship Id="rId176" Type="http://schemas.openxmlformats.org/officeDocument/2006/relationships/slide" Target="slides/slide172.xml"/><Relationship Id="rId197" Type="http://schemas.openxmlformats.org/officeDocument/2006/relationships/slide" Target="slides/slide193.xml"/><Relationship Id="rId341" Type="http://schemas.openxmlformats.org/officeDocument/2006/relationships/slide" Target="slides/slide337.xml"/><Relationship Id="rId362" Type="http://schemas.openxmlformats.org/officeDocument/2006/relationships/slide" Target="slides/slide358.xml"/><Relationship Id="rId383" Type="http://schemas.openxmlformats.org/officeDocument/2006/relationships/slide" Target="slides/slide379.xml"/><Relationship Id="rId201" Type="http://schemas.openxmlformats.org/officeDocument/2006/relationships/slide" Target="slides/slide197.xml"/><Relationship Id="rId222" Type="http://schemas.openxmlformats.org/officeDocument/2006/relationships/slide" Target="slides/slide218.xml"/><Relationship Id="rId243" Type="http://schemas.openxmlformats.org/officeDocument/2006/relationships/slide" Target="slides/slide239.xml"/><Relationship Id="rId264" Type="http://schemas.openxmlformats.org/officeDocument/2006/relationships/slide" Target="slides/slide260.xml"/><Relationship Id="rId285" Type="http://schemas.openxmlformats.org/officeDocument/2006/relationships/slide" Target="slides/slide281.xml"/><Relationship Id="rId17" Type="http://schemas.openxmlformats.org/officeDocument/2006/relationships/slide" Target="slides/slide13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24" Type="http://schemas.openxmlformats.org/officeDocument/2006/relationships/slide" Target="slides/slide120.xml"/><Relationship Id="rId310" Type="http://schemas.openxmlformats.org/officeDocument/2006/relationships/slide" Target="slides/slide306.xml"/><Relationship Id="rId70" Type="http://schemas.openxmlformats.org/officeDocument/2006/relationships/slide" Target="slides/slide66.xml"/><Relationship Id="rId91" Type="http://schemas.openxmlformats.org/officeDocument/2006/relationships/slide" Target="slides/slide87.xml"/><Relationship Id="rId145" Type="http://schemas.openxmlformats.org/officeDocument/2006/relationships/slide" Target="slides/slide141.xml"/><Relationship Id="rId166" Type="http://schemas.openxmlformats.org/officeDocument/2006/relationships/slide" Target="slides/slide162.xml"/><Relationship Id="rId187" Type="http://schemas.openxmlformats.org/officeDocument/2006/relationships/slide" Target="slides/slide183.xml"/><Relationship Id="rId331" Type="http://schemas.openxmlformats.org/officeDocument/2006/relationships/slide" Target="slides/slide327.xml"/><Relationship Id="rId352" Type="http://schemas.openxmlformats.org/officeDocument/2006/relationships/slide" Target="slides/slide348.xml"/><Relationship Id="rId373" Type="http://schemas.openxmlformats.org/officeDocument/2006/relationships/slide" Target="slides/slide369.xml"/><Relationship Id="rId1" Type="http://schemas.openxmlformats.org/officeDocument/2006/relationships/customXml" Target="../customXml/item1.xml"/><Relationship Id="rId212" Type="http://schemas.openxmlformats.org/officeDocument/2006/relationships/slide" Target="slides/slide208.xml"/><Relationship Id="rId233" Type="http://schemas.openxmlformats.org/officeDocument/2006/relationships/slide" Target="slides/slide229.xml"/><Relationship Id="rId254" Type="http://schemas.openxmlformats.org/officeDocument/2006/relationships/slide" Target="slides/slide250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275" Type="http://schemas.openxmlformats.org/officeDocument/2006/relationships/slide" Target="slides/slide271.xml"/><Relationship Id="rId296" Type="http://schemas.openxmlformats.org/officeDocument/2006/relationships/slide" Target="slides/slide292.xml"/><Relationship Id="rId300" Type="http://schemas.openxmlformats.org/officeDocument/2006/relationships/slide" Target="slides/slide296.xml"/><Relationship Id="rId60" Type="http://schemas.openxmlformats.org/officeDocument/2006/relationships/slide" Target="slides/slide56.xml"/><Relationship Id="rId81" Type="http://schemas.openxmlformats.org/officeDocument/2006/relationships/slide" Target="slides/slide77.xml"/><Relationship Id="rId135" Type="http://schemas.openxmlformats.org/officeDocument/2006/relationships/slide" Target="slides/slide131.xml"/><Relationship Id="rId156" Type="http://schemas.openxmlformats.org/officeDocument/2006/relationships/slide" Target="slides/slide152.xml"/><Relationship Id="rId177" Type="http://schemas.openxmlformats.org/officeDocument/2006/relationships/slide" Target="slides/slide173.xml"/><Relationship Id="rId198" Type="http://schemas.openxmlformats.org/officeDocument/2006/relationships/slide" Target="slides/slide194.xml"/><Relationship Id="rId321" Type="http://schemas.openxmlformats.org/officeDocument/2006/relationships/slide" Target="slides/slide317.xml"/><Relationship Id="rId342" Type="http://schemas.openxmlformats.org/officeDocument/2006/relationships/slide" Target="slides/slide338.xml"/><Relationship Id="rId363" Type="http://schemas.openxmlformats.org/officeDocument/2006/relationships/slide" Target="slides/slide359.xml"/><Relationship Id="rId384" Type="http://schemas.openxmlformats.org/officeDocument/2006/relationships/slide" Target="slides/slide380.xml"/><Relationship Id="rId202" Type="http://schemas.openxmlformats.org/officeDocument/2006/relationships/slide" Target="slides/slide198.xml"/><Relationship Id="rId223" Type="http://schemas.openxmlformats.org/officeDocument/2006/relationships/slide" Target="slides/slide219.xml"/><Relationship Id="rId244" Type="http://schemas.openxmlformats.org/officeDocument/2006/relationships/slide" Target="slides/slide240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265" Type="http://schemas.openxmlformats.org/officeDocument/2006/relationships/slide" Target="slides/slide261.xml"/><Relationship Id="rId286" Type="http://schemas.openxmlformats.org/officeDocument/2006/relationships/slide" Target="slides/slide282.xml"/><Relationship Id="rId50" Type="http://schemas.openxmlformats.org/officeDocument/2006/relationships/slide" Target="slides/slide46.xml"/><Relationship Id="rId104" Type="http://schemas.openxmlformats.org/officeDocument/2006/relationships/slide" Target="slides/slide100.xml"/><Relationship Id="rId125" Type="http://schemas.openxmlformats.org/officeDocument/2006/relationships/slide" Target="slides/slide121.xml"/><Relationship Id="rId146" Type="http://schemas.openxmlformats.org/officeDocument/2006/relationships/slide" Target="slides/slide142.xml"/><Relationship Id="rId167" Type="http://schemas.openxmlformats.org/officeDocument/2006/relationships/slide" Target="slides/slide163.xml"/><Relationship Id="rId188" Type="http://schemas.openxmlformats.org/officeDocument/2006/relationships/slide" Target="slides/slide184.xml"/><Relationship Id="rId311" Type="http://schemas.openxmlformats.org/officeDocument/2006/relationships/slide" Target="slides/slide307.xml"/><Relationship Id="rId332" Type="http://schemas.openxmlformats.org/officeDocument/2006/relationships/slide" Target="slides/slide328.xml"/><Relationship Id="rId353" Type="http://schemas.openxmlformats.org/officeDocument/2006/relationships/slide" Target="slides/slide349.xml"/><Relationship Id="rId374" Type="http://schemas.openxmlformats.org/officeDocument/2006/relationships/slide" Target="slides/slide370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13" Type="http://schemas.openxmlformats.org/officeDocument/2006/relationships/slide" Target="slides/slide209.xml"/><Relationship Id="rId234" Type="http://schemas.openxmlformats.org/officeDocument/2006/relationships/slide" Target="slides/slide230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55" Type="http://schemas.openxmlformats.org/officeDocument/2006/relationships/slide" Target="slides/slide251.xml"/><Relationship Id="rId276" Type="http://schemas.openxmlformats.org/officeDocument/2006/relationships/slide" Target="slides/slide272.xml"/><Relationship Id="rId297" Type="http://schemas.openxmlformats.org/officeDocument/2006/relationships/slide" Target="slides/slide293.xml"/><Relationship Id="rId40" Type="http://schemas.openxmlformats.org/officeDocument/2006/relationships/slide" Target="slides/slide36.xml"/><Relationship Id="rId115" Type="http://schemas.openxmlformats.org/officeDocument/2006/relationships/slide" Target="slides/slide111.xml"/><Relationship Id="rId136" Type="http://schemas.openxmlformats.org/officeDocument/2006/relationships/slide" Target="slides/slide132.xml"/><Relationship Id="rId157" Type="http://schemas.openxmlformats.org/officeDocument/2006/relationships/slide" Target="slides/slide153.xml"/><Relationship Id="rId178" Type="http://schemas.openxmlformats.org/officeDocument/2006/relationships/slide" Target="slides/slide174.xml"/><Relationship Id="rId301" Type="http://schemas.openxmlformats.org/officeDocument/2006/relationships/slide" Target="slides/slide297.xml"/><Relationship Id="rId322" Type="http://schemas.openxmlformats.org/officeDocument/2006/relationships/slide" Target="slides/slide318.xml"/><Relationship Id="rId343" Type="http://schemas.openxmlformats.org/officeDocument/2006/relationships/slide" Target="slides/slide339.xml"/><Relationship Id="rId364" Type="http://schemas.openxmlformats.org/officeDocument/2006/relationships/slide" Target="slides/slide360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9" Type="http://schemas.openxmlformats.org/officeDocument/2006/relationships/slide" Target="slides/slide195.xml"/><Relationship Id="rId203" Type="http://schemas.openxmlformats.org/officeDocument/2006/relationships/slide" Target="slides/slide199.xml"/><Relationship Id="rId385" Type="http://schemas.openxmlformats.org/officeDocument/2006/relationships/slide" Target="slides/slide381.xml"/><Relationship Id="rId19" Type="http://schemas.openxmlformats.org/officeDocument/2006/relationships/slide" Target="slides/slide15.xml"/><Relationship Id="rId224" Type="http://schemas.openxmlformats.org/officeDocument/2006/relationships/slide" Target="slides/slide220.xml"/><Relationship Id="rId245" Type="http://schemas.openxmlformats.org/officeDocument/2006/relationships/slide" Target="slides/slide241.xml"/><Relationship Id="rId266" Type="http://schemas.openxmlformats.org/officeDocument/2006/relationships/slide" Target="slides/slide262.xml"/><Relationship Id="rId287" Type="http://schemas.openxmlformats.org/officeDocument/2006/relationships/slide" Target="slides/slide283.xml"/><Relationship Id="rId30" Type="http://schemas.openxmlformats.org/officeDocument/2006/relationships/slide" Target="slides/slide2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168" Type="http://schemas.openxmlformats.org/officeDocument/2006/relationships/slide" Target="slides/slide164.xml"/><Relationship Id="rId312" Type="http://schemas.openxmlformats.org/officeDocument/2006/relationships/slide" Target="slides/slide308.xml"/><Relationship Id="rId333" Type="http://schemas.openxmlformats.org/officeDocument/2006/relationships/slide" Target="slides/slide329.xml"/><Relationship Id="rId354" Type="http://schemas.openxmlformats.org/officeDocument/2006/relationships/slide" Target="slides/slide350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189" Type="http://schemas.openxmlformats.org/officeDocument/2006/relationships/slide" Target="slides/slide185.xml"/><Relationship Id="rId375" Type="http://schemas.openxmlformats.org/officeDocument/2006/relationships/slide" Target="slides/slide371.xml"/><Relationship Id="rId3" Type="http://schemas.openxmlformats.org/officeDocument/2006/relationships/customXml" Target="../customXml/item3.xml"/><Relationship Id="rId214" Type="http://schemas.openxmlformats.org/officeDocument/2006/relationships/slide" Target="slides/slide210.xml"/><Relationship Id="rId235" Type="http://schemas.openxmlformats.org/officeDocument/2006/relationships/slide" Target="slides/slide231.xml"/><Relationship Id="rId256" Type="http://schemas.openxmlformats.org/officeDocument/2006/relationships/slide" Target="slides/slide252.xml"/><Relationship Id="rId277" Type="http://schemas.openxmlformats.org/officeDocument/2006/relationships/slide" Target="slides/slide273.xml"/><Relationship Id="rId298" Type="http://schemas.openxmlformats.org/officeDocument/2006/relationships/slide" Target="slides/slide294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158" Type="http://schemas.openxmlformats.org/officeDocument/2006/relationships/slide" Target="slides/slide154.xml"/><Relationship Id="rId302" Type="http://schemas.openxmlformats.org/officeDocument/2006/relationships/slide" Target="slides/slide298.xml"/><Relationship Id="rId323" Type="http://schemas.openxmlformats.org/officeDocument/2006/relationships/slide" Target="slides/slide319.xml"/><Relationship Id="rId344" Type="http://schemas.openxmlformats.org/officeDocument/2006/relationships/slide" Target="slides/slide340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179" Type="http://schemas.openxmlformats.org/officeDocument/2006/relationships/slide" Target="slides/slide175.xml"/><Relationship Id="rId365" Type="http://schemas.openxmlformats.org/officeDocument/2006/relationships/slide" Target="slides/slide361.xml"/><Relationship Id="rId386" Type="http://schemas.openxmlformats.org/officeDocument/2006/relationships/slide" Target="slides/slide382.xml"/><Relationship Id="rId190" Type="http://schemas.openxmlformats.org/officeDocument/2006/relationships/slide" Target="slides/slide186.xml"/><Relationship Id="rId204" Type="http://schemas.openxmlformats.org/officeDocument/2006/relationships/slide" Target="slides/slide200.xml"/><Relationship Id="rId225" Type="http://schemas.openxmlformats.org/officeDocument/2006/relationships/slide" Target="slides/slide221.xml"/><Relationship Id="rId246" Type="http://schemas.openxmlformats.org/officeDocument/2006/relationships/slide" Target="slides/slide242.xml"/><Relationship Id="rId267" Type="http://schemas.openxmlformats.org/officeDocument/2006/relationships/slide" Target="slides/slide263.xml"/><Relationship Id="rId288" Type="http://schemas.openxmlformats.org/officeDocument/2006/relationships/slide" Target="slides/slide284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313" Type="http://schemas.openxmlformats.org/officeDocument/2006/relationships/slide" Target="slides/slide309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94" Type="http://schemas.openxmlformats.org/officeDocument/2006/relationships/slide" Target="slides/slide90.xml"/><Relationship Id="rId148" Type="http://schemas.openxmlformats.org/officeDocument/2006/relationships/slide" Target="slides/slide144.xml"/><Relationship Id="rId169" Type="http://schemas.openxmlformats.org/officeDocument/2006/relationships/slide" Target="slides/slide165.xml"/><Relationship Id="rId334" Type="http://schemas.openxmlformats.org/officeDocument/2006/relationships/slide" Target="slides/slide330.xml"/><Relationship Id="rId355" Type="http://schemas.openxmlformats.org/officeDocument/2006/relationships/slide" Target="slides/slide351.xml"/><Relationship Id="rId376" Type="http://schemas.openxmlformats.org/officeDocument/2006/relationships/slide" Target="slides/slide372.xml"/><Relationship Id="rId4" Type="http://schemas.openxmlformats.org/officeDocument/2006/relationships/slideMaster" Target="slideMasters/slideMaster1.xml"/><Relationship Id="rId180" Type="http://schemas.openxmlformats.org/officeDocument/2006/relationships/slide" Target="slides/slide176.xml"/><Relationship Id="rId215" Type="http://schemas.openxmlformats.org/officeDocument/2006/relationships/slide" Target="slides/slide211.xml"/><Relationship Id="rId236" Type="http://schemas.openxmlformats.org/officeDocument/2006/relationships/slide" Target="slides/slide232.xml"/><Relationship Id="rId257" Type="http://schemas.openxmlformats.org/officeDocument/2006/relationships/slide" Target="slides/slide253.xml"/><Relationship Id="rId278" Type="http://schemas.openxmlformats.org/officeDocument/2006/relationships/slide" Target="slides/slide274.xml"/><Relationship Id="rId303" Type="http://schemas.openxmlformats.org/officeDocument/2006/relationships/slide" Target="slides/slide299.xml"/><Relationship Id="rId42" Type="http://schemas.openxmlformats.org/officeDocument/2006/relationships/slide" Target="slides/slide38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345" Type="http://schemas.openxmlformats.org/officeDocument/2006/relationships/slide" Target="slides/slide341.xml"/><Relationship Id="rId387" Type="http://schemas.openxmlformats.org/officeDocument/2006/relationships/notesMaster" Target="notesMasters/notesMaster1.xml"/><Relationship Id="rId191" Type="http://schemas.openxmlformats.org/officeDocument/2006/relationships/slide" Target="slides/slide187.xml"/><Relationship Id="rId205" Type="http://schemas.openxmlformats.org/officeDocument/2006/relationships/slide" Target="slides/slide201.xml"/><Relationship Id="rId247" Type="http://schemas.openxmlformats.org/officeDocument/2006/relationships/slide" Target="slides/slide243.xml"/><Relationship Id="rId107" Type="http://schemas.openxmlformats.org/officeDocument/2006/relationships/slide" Target="slides/slide103.xml"/><Relationship Id="rId289" Type="http://schemas.openxmlformats.org/officeDocument/2006/relationships/slide" Target="slides/slide285.xml"/><Relationship Id="rId11" Type="http://schemas.openxmlformats.org/officeDocument/2006/relationships/slide" Target="slides/slide7.xml"/><Relationship Id="rId53" Type="http://schemas.openxmlformats.org/officeDocument/2006/relationships/slide" Target="slides/slide49.xml"/><Relationship Id="rId149" Type="http://schemas.openxmlformats.org/officeDocument/2006/relationships/slide" Target="slides/slide145.xml"/><Relationship Id="rId314" Type="http://schemas.openxmlformats.org/officeDocument/2006/relationships/slide" Target="slides/slide310.xml"/><Relationship Id="rId356" Type="http://schemas.openxmlformats.org/officeDocument/2006/relationships/slide" Target="slides/slide352.xml"/><Relationship Id="rId95" Type="http://schemas.openxmlformats.org/officeDocument/2006/relationships/slide" Target="slides/slide91.xml"/><Relationship Id="rId160" Type="http://schemas.openxmlformats.org/officeDocument/2006/relationships/slide" Target="slides/slide156.xml"/><Relationship Id="rId216" Type="http://schemas.openxmlformats.org/officeDocument/2006/relationships/slide" Target="slides/slide212.xml"/><Relationship Id="rId258" Type="http://schemas.openxmlformats.org/officeDocument/2006/relationships/slide" Target="slides/slide254.xml"/><Relationship Id="rId22" Type="http://schemas.openxmlformats.org/officeDocument/2006/relationships/slide" Target="slides/slide18.xml"/><Relationship Id="rId64" Type="http://schemas.openxmlformats.org/officeDocument/2006/relationships/slide" Target="slides/slide60.xml"/><Relationship Id="rId118" Type="http://schemas.openxmlformats.org/officeDocument/2006/relationships/slide" Target="slides/slide114.xml"/><Relationship Id="rId325" Type="http://schemas.openxmlformats.org/officeDocument/2006/relationships/slide" Target="slides/slide321.xml"/><Relationship Id="rId367" Type="http://schemas.openxmlformats.org/officeDocument/2006/relationships/slide" Target="slides/slide363.xml"/><Relationship Id="rId171" Type="http://schemas.openxmlformats.org/officeDocument/2006/relationships/slide" Target="slides/slide167.xml"/><Relationship Id="rId227" Type="http://schemas.openxmlformats.org/officeDocument/2006/relationships/slide" Target="slides/slide223.xml"/><Relationship Id="rId269" Type="http://schemas.openxmlformats.org/officeDocument/2006/relationships/slide" Target="slides/slide265.xml"/><Relationship Id="rId33" Type="http://schemas.openxmlformats.org/officeDocument/2006/relationships/slide" Target="slides/slide29.xml"/><Relationship Id="rId129" Type="http://schemas.openxmlformats.org/officeDocument/2006/relationships/slide" Target="slides/slide125.xml"/><Relationship Id="rId280" Type="http://schemas.openxmlformats.org/officeDocument/2006/relationships/slide" Target="slides/slide276.xml"/><Relationship Id="rId336" Type="http://schemas.openxmlformats.org/officeDocument/2006/relationships/slide" Target="slides/slide332.xml"/><Relationship Id="rId75" Type="http://schemas.openxmlformats.org/officeDocument/2006/relationships/slide" Target="slides/slide71.xml"/><Relationship Id="rId140" Type="http://schemas.openxmlformats.org/officeDocument/2006/relationships/slide" Target="slides/slide136.xml"/><Relationship Id="rId182" Type="http://schemas.openxmlformats.org/officeDocument/2006/relationships/slide" Target="slides/slide178.xml"/><Relationship Id="rId378" Type="http://schemas.openxmlformats.org/officeDocument/2006/relationships/slide" Target="slides/slide374.xml"/><Relationship Id="rId6" Type="http://schemas.openxmlformats.org/officeDocument/2006/relationships/slide" Target="slides/slide2.xml"/><Relationship Id="rId238" Type="http://schemas.openxmlformats.org/officeDocument/2006/relationships/slide" Target="slides/slide234.xml"/><Relationship Id="rId291" Type="http://schemas.openxmlformats.org/officeDocument/2006/relationships/slide" Target="slides/slide287.xml"/><Relationship Id="rId305" Type="http://schemas.openxmlformats.org/officeDocument/2006/relationships/slide" Target="slides/slide301.xml"/><Relationship Id="rId347" Type="http://schemas.openxmlformats.org/officeDocument/2006/relationships/slide" Target="slides/slide343.xml"/><Relationship Id="rId44" Type="http://schemas.openxmlformats.org/officeDocument/2006/relationships/slide" Target="slides/slide40.xml"/><Relationship Id="rId86" Type="http://schemas.openxmlformats.org/officeDocument/2006/relationships/slide" Target="slides/slide82.xml"/><Relationship Id="rId151" Type="http://schemas.openxmlformats.org/officeDocument/2006/relationships/slide" Target="slides/slide147.xml"/><Relationship Id="rId389" Type="http://schemas.openxmlformats.org/officeDocument/2006/relationships/presProps" Target="presProps.xml"/><Relationship Id="rId193" Type="http://schemas.openxmlformats.org/officeDocument/2006/relationships/slide" Target="slides/slide189.xml"/><Relationship Id="rId207" Type="http://schemas.openxmlformats.org/officeDocument/2006/relationships/slide" Target="slides/slide203.xml"/><Relationship Id="rId249" Type="http://schemas.openxmlformats.org/officeDocument/2006/relationships/slide" Target="slides/slide245.xml"/><Relationship Id="rId13" Type="http://schemas.openxmlformats.org/officeDocument/2006/relationships/slide" Target="slides/slide9.xml"/><Relationship Id="rId109" Type="http://schemas.openxmlformats.org/officeDocument/2006/relationships/slide" Target="slides/slide105.xml"/><Relationship Id="rId260" Type="http://schemas.openxmlformats.org/officeDocument/2006/relationships/slide" Target="slides/slide256.xml"/><Relationship Id="rId316" Type="http://schemas.openxmlformats.org/officeDocument/2006/relationships/slide" Target="slides/slide312.xml"/><Relationship Id="rId55" Type="http://schemas.openxmlformats.org/officeDocument/2006/relationships/slide" Target="slides/slide51.xml"/><Relationship Id="rId97" Type="http://schemas.openxmlformats.org/officeDocument/2006/relationships/slide" Target="slides/slide93.xml"/><Relationship Id="rId120" Type="http://schemas.openxmlformats.org/officeDocument/2006/relationships/slide" Target="slides/slide116.xml"/><Relationship Id="rId358" Type="http://schemas.openxmlformats.org/officeDocument/2006/relationships/slide" Target="slides/slide354.xml"/><Relationship Id="rId162" Type="http://schemas.openxmlformats.org/officeDocument/2006/relationships/slide" Target="slides/slide158.xml"/><Relationship Id="rId218" Type="http://schemas.openxmlformats.org/officeDocument/2006/relationships/slide" Target="slides/slide214.xml"/><Relationship Id="rId271" Type="http://schemas.openxmlformats.org/officeDocument/2006/relationships/slide" Target="slides/slide267.xml"/><Relationship Id="rId24" Type="http://schemas.openxmlformats.org/officeDocument/2006/relationships/slide" Target="slides/slide20.xml"/><Relationship Id="rId66" Type="http://schemas.openxmlformats.org/officeDocument/2006/relationships/slide" Target="slides/slide62.xml"/><Relationship Id="rId131" Type="http://schemas.openxmlformats.org/officeDocument/2006/relationships/slide" Target="slides/slide127.xml"/><Relationship Id="rId327" Type="http://schemas.openxmlformats.org/officeDocument/2006/relationships/slide" Target="slides/slide323.xml"/><Relationship Id="rId369" Type="http://schemas.openxmlformats.org/officeDocument/2006/relationships/slide" Target="slides/slide365.xml"/><Relationship Id="rId173" Type="http://schemas.openxmlformats.org/officeDocument/2006/relationships/slide" Target="slides/slide169.xml"/><Relationship Id="rId229" Type="http://schemas.openxmlformats.org/officeDocument/2006/relationships/slide" Target="slides/slide225.xml"/><Relationship Id="rId380" Type="http://schemas.openxmlformats.org/officeDocument/2006/relationships/slide" Target="slides/slide376.xml"/><Relationship Id="rId240" Type="http://schemas.openxmlformats.org/officeDocument/2006/relationships/slide" Target="slides/slide236.xml"/><Relationship Id="rId35" Type="http://schemas.openxmlformats.org/officeDocument/2006/relationships/slide" Target="slides/slide31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282" Type="http://schemas.openxmlformats.org/officeDocument/2006/relationships/slide" Target="slides/slide278.xml"/><Relationship Id="rId338" Type="http://schemas.openxmlformats.org/officeDocument/2006/relationships/slide" Target="slides/slide334.xml"/><Relationship Id="rId8" Type="http://schemas.openxmlformats.org/officeDocument/2006/relationships/slide" Target="slides/slide4.xml"/><Relationship Id="rId142" Type="http://schemas.openxmlformats.org/officeDocument/2006/relationships/slide" Target="slides/slide138.xml"/><Relationship Id="rId184" Type="http://schemas.openxmlformats.org/officeDocument/2006/relationships/slide" Target="slides/slide180.xml"/><Relationship Id="rId391" Type="http://schemas.openxmlformats.org/officeDocument/2006/relationships/theme" Target="theme/theme1.xml"/><Relationship Id="rId251" Type="http://schemas.openxmlformats.org/officeDocument/2006/relationships/slide" Target="slides/slide247.xml"/><Relationship Id="rId46" Type="http://schemas.openxmlformats.org/officeDocument/2006/relationships/slide" Target="slides/slide42.xml"/><Relationship Id="rId293" Type="http://schemas.openxmlformats.org/officeDocument/2006/relationships/slide" Target="slides/slide289.xml"/><Relationship Id="rId307" Type="http://schemas.openxmlformats.org/officeDocument/2006/relationships/slide" Target="slides/slide303.xml"/><Relationship Id="rId349" Type="http://schemas.openxmlformats.org/officeDocument/2006/relationships/slide" Target="slides/slide345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3" Type="http://schemas.openxmlformats.org/officeDocument/2006/relationships/slide" Target="slides/slide149.xml"/><Relationship Id="rId195" Type="http://schemas.openxmlformats.org/officeDocument/2006/relationships/slide" Target="slides/slide191.xml"/><Relationship Id="rId209" Type="http://schemas.openxmlformats.org/officeDocument/2006/relationships/slide" Target="slides/slide205.xml"/><Relationship Id="rId360" Type="http://schemas.openxmlformats.org/officeDocument/2006/relationships/slide" Target="slides/slide356.xml"/><Relationship Id="rId220" Type="http://schemas.openxmlformats.org/officeDocument/2006/relationships/slide" Target="slides/slide216.xml"/><Relationship Id="rId15" Type="http://schemas.openxmlformats.org/officeDocument/2006/relationships/slide" Target="slides/slide11.xml"/><Relationship Id="rId57" Type="http://schemas.openxmlformats.org/officeDocument/2006/relationships/slide" Target="slides/slide53.xml"/><Relationship Id="rId262" Type="http://schemas.openxmlformats.org/officeDocument/2006/relationships/slide" Target="slides/slide258.xml"/><Relationship Id="rId318" Type="http://schemas.openxmlformats.org/officeDocument/2006/relationships/slide" Target="slides/slide314.xml"/><Relationship Id="rId99" Type="http://schemas.openxmlformats.org/officeDocument/2006/relationships/slide" Target="slides/slide95.xml"/><Relationship Id="rId122" Type="http://schemas.openxmlformats.org/officeDocument/2006/relationships/slide" Target="slides/slide118.xml"/><Relationship Id="rId164" Type="http://schemas.openxmlformats.org/officeDocument/2006/relationships/slide" Target="slides/slide160.xml"/><Relationship Id="rId371" Type="http://schemas.openxmlformats.org/officeDocument/2006/relationships/slide" Target="slides/slide367.xml"/><Relationship Id="rId26" Type="http://schemas.openxmlformats.org/officeDocument/2006/relationships/slide" Target="slides/slide22.xml"/><Relationship Id="rId231" Type="http://schemas.openxmlformats.org/officeDocument/2006/relationships/slide" Target="slides/slide227.xml"/><Relationship Id="rId273" Type="http://schemas.openxmlformats.org/officeDocument/2006/relationships/slide" Target="slides/slide269.xml"/><Relationship Id="rId329" Type="http://schemas.openxmlformats.org/officeDocument/2006/relationships/slide" Target="slides/slide325.xml"/><Relationship Id="rId68" Type="http://schemas.openxmlformats.org/officeDocument/2006/relationships/slide" Target="slides/slide64.xml"/><Relationship Id="rId133" Type="http://schemas.openxmlformats.org/officeDocument/2006/relationships/slide" Target="slides/slide129.xml"/><Relationship Id="rId175" Type="http://schemas.openxmlformats.org/officeDocument/2006/relationships/slide" Target="slides/slide171.xml"/><Relationship Id="rId340" Type="http://schemas.openxmlformats.org/officeDocument/2006/relationships/slide" Target="slides/slide33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DFB80D-C2E8-416C-B522-D5F6D93F18D7}" type="doc">
      <dgm:prSet loTypeId="urn:microsoft.com/office/officeart/2005/8/layout/chevron2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13A3E740-D063-442F-85E3-8C13FFBDAFFB}">
      <dgm:prSet phldrT="[Text]" custT="1"/>
      <dgm:spPr/>
      <dgm:t>
        <a:bodyPr/>
        <a:lstStyle/>
        <a:p>
          <a:r>
            <a:rPr lang="en-US" sz="2400" dirty="0"/>
            <a:t>SDD</a:t>
          </a:r>
          <a:endParaRPr lang="en-US" sz="900" dirty="0"/>
        </a:p>
      </dgm:t>
    </dgm:pt>
    <dgm:pt modelId="{055E1BD7-FB8E-4E56-9F39-EF9F6386A053}" type="parTrans" cxnId="{1B5B31EC-2D9A-481F-92B4-9BD3DD315797}">
      <dgm:prSet/>
      <dgm:spPr/>
      <dgm:t>
        <a:bodyPr/>
        <a:lstStyle/>
        <a:p>
          <a:endParaRPr lang="en-US"/>
        </a:p>
      </dgm:t>
    </dgm:pt>
    <dgm:pt modelId="{87670CDC-835B-4F9F-927F-1317C8E87F86}" type="sibTrans" cxnId="{1B5B31EC-2D9A-481F-92B4-9BD3DD315797}">
      <dgm:prSet/>
      <dgm:spPr/>
      <dgm:t>
        <a:bodyPr/>
        <a:lstStyle/>
        <a:p>
          <a:endParaRPr lang="en-US"/>
        </a:p>
      </dgm:t>
    </dgm:pt>
    <dgm:pt modelId="{AC2B0C85-A34A-449C-BDB1-A298878DE704}">
      <dgm:prSet phldrT="[Text]"/>
      <dgm:spPr/>
      <dgm:t>
        <a:bodyPr/>
        <a:lstStyle/>
        <a:p>
          <a:r>
            <a:rPr lang="en-US" dirty="0"/>
            <a:t>Software Design and Development (40%)</a:t>
          </a:r>
        </a:p>
      </dgm:t>
    </dgm:pt>
    <dgm:pt modelId="{E5225F41-044B-4F7C-A813-74912B7609F7}" type="parTrans" cxnId="{A2F04726-03B2-41D7-AC39-4EB0FD25F0DB}">
      <dgm:prSet/>
      <dgm:spPr/>
      <dgm:t>
        <a:bodyPr/>
        <a:lstStyle/>
        <a:p>
          <a:endParaRPr lang="en-US"/>
        </a:p>
      </dgm:t>
    </dgm:pt>
    <dgm:pt modelId="{C96E9F27-EE7F-4F89-BD19-DC4C6EA4193D}" type="sibTrans" cxnId="{A2F04726-03B2-41D7-AC39-4EB0FD25F0DB}">
      <dgm:prSet/>
      <dgm:spPr/>
      <dgm:t>
        <a:bodyPr/>
        <a:lstStyle/>
        <a:p>
          <a:endParaRPr lang="en-US"/>
        </a:p>
      </dgm:t>
    </dgm:pt>
    <dgm:pt modelId="{711BDD39-3FCE-427A-B0DC-2C28CEED9EDF}">
      <dgm:prSet phldrT="[Text]" custT="1"/>
      <dgm:spPr/>
      <dgm:t>
        <a:bodyPr/>
        <a:lstStyle/>
        <a:p>
          <a:r>
            <a:rPr lang="en-US" sz="2400" dirty="0"/>
            <a:t>DDD</a:t>
          </a:r>
          <a:endParaRPr lang="en-US" sz="900" dirty="0"/>
        </a:p>
      </dgm:t>
    </dgm:pt>
    <dgm:pt modelId="{2D0B9227-5F25-49F4-84E9-F7E211C285CA}" type="parTrans" cxnId="{07BC019F-EA5F-4290-A7F2-F044F5CF5F67}">
      <dgm:prSet/>
      <dgm:spPr/>
      <dgm:t>
        <a:bodyPr/>
        <a:lstStyle/>
        <a:p>
          <a:endParaRPr lang="en-US"/>
        </a:p>
      </dgm:t>
    </dgm:pt>
    <dgm:pt modelId="{56806687-EA3D-424E-8880-B9427A94FF7E}" type="sibTrans" cxnId="{07BC019F-EA5F-4290-A7F2-F044F5CF5F67}">
      <dgm:prSet/>
      <dgm:spPr/>
      <dgm:t>
        <a:bodyPr/>
        <a:lstStyle/>
        <a:p>
          <a:endParaRPr lang="en-US"/>
        </a:p>
      </dgm:t>
    </dgm:pt>
    <dgm:pt modelId="{856C5D97-053A-4768-924C-7BBED1694139}">
      <dgm:prSet phldrT="[Text]"/>
      <dgm:spPr/>
      <dgm:t>
        <a:bodyPr/>
        <a:lstStyle/>
        <a:p>
          <a:r>
            <a:rPr lang="en-US" dirty="0"/>
            <a:t>Database Design and Development (25%)</a:t>
          </a:r>
        </a:p>
      </dgm:t>
    </dgm:pt>
    <dgm:pt modelId="{5882EAA0-9B73-4D58-9B28-101A1A118DA7}" type="parTrans" cxnId="{5ED434D9-CD48-4632-9238-0AD1DC8B7F67}">
      <dgm:prSet/>
      <dgm:spPr/>
      <dgm:t>
        <a:bodyPr/>
        <a:lstStyle/>
        <a:p>
          <a:endParaRPr lang="en-US"/>
        </a:p>
      </dgm:t>
    </dgm:pt>
    <dgm:pt modelId="{FB282A4C-1B09-4A3E-BA59-953ECF9E16C0}" type="sibTrans" cxnId="{5ED434D9-CD48-4632-9238-0AD1DC8B7F67}">
      <dgm:prSet/>
      <dgm:spPr/>
      <dgm:t>
        <a:bodyPr/>
        <a:lstStyle/>
        <a:p>
          <a:endParaRPr lang="en-US"/>
        </a:p>
      </dgm:t>
    </dgm:pt>
    <dgm:pt modelId="{4C2AC2DB-DA7B-4EE8-A271-F42910EF38FA}">
      <dgm:prSet phldrT="[Text]" custT="1"/>
      <dgm:spPr/>
      <dgm:t>
        <a:bodyPr/>
        <a:lstStyle/>
        <a:p>
          <a:r>
            <a:rPr lang="en-US" sz="2400" dirty="0"/>
            <a:t>WDD</a:t>
          </a:r>
          <a:endParaRPr lang="en-US" sz="900" dirty="0"/>
        </a:p>
      </dgm:t>
    </dgm:pt>
    <dgm:pt modelId="{4DCD8EEA-C4AA-404D-A26F-F433BB0189EA}" type="parTrans" cxnId="{F4016BC7-2E72-4F45-A906-6E7F3BDA4E2F}">
      <dgm:prSet/>
      <dgm:spPr/>
      <dgm:t>
        <a:bodyPr/>
        <a:lstStyle/>
        <a:p>
          <a:endParaRPr lang="en-US"/>
        </a:p>
      </dgm:t>
    </dgm:pt>
    <dgm:pt modelId="{E3247148-B6B0-4C23-B610-041B2044E035}" type="sibTrans" cxnId="{F4016BC7-2E72-4F45-A906-6E7F3BDA4E2F}">
      <dgm:prSet/>
      <dgm:spPr/>
      <dgm:t>
        <a:bodyPr/>
        <a:lstStyle/>
        <a:p>
          <a:endParaRPr lang="en-US"/>
        </a:p>
      </dgm:t>
    </dgm:pt>
    <dgm:pt modelId="{6F17941D-CCAD-4AF8-9198-4E8B5F9AEDC2}">
      <dgm:prSet phldrT="[Text]"/>
      <dgm:spPr/>
      <dgm:t>
        <a:bodyPr/>
        <a:lstStyle/>
        <a:p>
          <a:r>
            <a:rPr lang="en-US" dirty="0"/>
            <a:t>Web Design and Development (25%)</a:t>
          </a:r>
        </a:p>
      </dgm:t>
    </dgm:pt>
    <dgm:pt modelId="{6A62EC5C-257B-4078-AC75-009164CBD245}" type="parTrans" cxnId="{9A2AE9EC-1703-4071-9D5B-2F76EC9F4AA5}">
      <dgm:prSet/>
      <dgm:spPr/>
      <dgm:t>
        <a:bodyPr/>
        <a:lstStyle/>
        <a:p>
          <a:endParaRPr lang="en-US"/>
        </a:p>
      </dgm:t>
    </dgm:pt>
    <dgm:pt modelId="{6908D1C2-C5D8-437D-AE20-3870EC3D4B13}" type="sibTrans" cxnId="{9A2AE9EC-1703-4071-9D5B-2F76EC9F4AA5}">
      <dgm:prSet/>
      <dgm:spPr/>
      <dgm:t>
        <a:bodyPr/>
        <a:lstStyle/>
        <a:p>
          <a:endParaRPr lang="en-US"/>
        </a:p>
      </dgm:t>
    </dgm:pt>
    <dgm:pt modelId="{E2BA0B41-F146-425E-9754-1E81B83EDF8B}">
      <dgm:prSet phldrT="[Text]"/>
      <dgm:spPr/>
      <dgm:t>
        <a:bodyPr/>
        <a:lstStyle/>
        <a:p>
          <a:r>
            <a:rPr lang="en-US" dirty="0"/>
            <a:t>Computer Systems (10%)</a:t>
          </a:r>
        </a:p>
      </dgm:t>
    </dgm:pt>
    <dgm:pt modelId="{09E005FD-F987-4EBD-9D26-CE4C06669AB5}" type="parTrans" cxnId="{56AEC75D-06D3-4BA4-8933-FE1A0F7AE162}">
      <dgm:prSet/>
      <dgm:spPr/>
      <dgm:t>
        <a:bodyPr/>
        <a:lstStyle/>
        <a:p>
          <a:endParaRPr lang="en-US"/>
        </a:p>
      </dgm:t>
    </dgm:pt>
    <dgm:pt modelId="{017B98FE-F345-4459-B767-E6B696310854}" type="sibTrans" cxnId="{56AEC75D-06D3-4BA4-8933-FE1A0F7AE162}">
      <dgm:prSet/>
      <dgm:spPr/>
      <dgm:t>
        <a:bodyPr/>
        <a:lstStyle/>
        <a:p>
          <a:endParaRPr lang="en-US"/>
        </a:p>
      </dgm:t>
    </dgm:pt>
    <dgm:pt modelId="{4A3955F4-B1A6-4812-98ED-2D6D02D94E35}">
      <dgm:prSet phldrT="[Text]"/>
      <dgm:spPr/>
      <dgm:t>
        <a:bodyPr/>
        <a:lstStyle/>
        <a:p>
          <a:r>
            <a:rPr lang="en-US" dirty="0"/>
            <a:t>C/Sys</a:t>
          </a:r>
          <a:endParaRPr lang="en-US" b="1" dirty="0"/>
        </a:p>
      </dgm:t>
    </dgm:pt>
    <dgm:pt modelId="{10EB35A1-EA5F-40EF-95CA-BDAB4D957484}" type="sibTrans" cxnId="{7E5A0596-4D16-4207-B5F3-C2FD778C5412}">
      <dgm:prSet/>
      <dgm:spPr/>
      <dgm:t>
        <a:bodyPr/>
        <a:lstStyle/>
        <a:p>
          <a:endParaRPr lang="en-US"/>
        </a:p>
      </dgm:t>
    </dgm:pt>
    <dgm:pt modelId="{1EF809BA-BB9B-41F6-9A35-2C78CE3A0913}" type="parTrans" cxnId="{7E5A0596-4D16-4207-B5F3-C2FD778C5412}">
      <dgm:prSet/>
      <dgm:spPr/>
      <dgm:t>
        <a:bodyPr/>
        <a:lstStyle/>
        <a:p>
          <a:endParaRPr lang="en-US"/>
        </a:p>
      </dgm:t>
    </dgm:pt>
    <dgm:pt modelId="{7EBBDEE6-A55E-47FA-9020-5BC46200AFFC}" type="pres">
      <dgm:prSet presAssocID="{AADFB80D-C2E8-416C-B522-D5F6D93F18D7}" presName="linearFlow" presStyleCnt="0">
        <dgm:presLayoutVars>
          <dgm:dir/>
          <dgm:animLvl val="lvl"/>
          <dgm:resizeHandles val="exact"/>
        </dgm:presLayoutVars>
      </dgm:prSet>
      <dgm:spPr/>
    </dgm:pt>
    <dgm:pt modelId="{C2DD6752-EEDA-4174-9D58-1EADF09490B5}" type="pres">
      <dgm:prSet presAssocID="{13A3E740-D063-442F-85E3-8C13FFBDAFFB}" presName="composite" presStyleCnt="0"/>
      <dgm:spPr/>
    </dgm:pt>
    <dgm:pt modelId="{DFA48299-B840-4714-A5F6-769C74D74113}" type="pres">
      <dgm:prSet presAssocID="{13A3E740-D063-442F-85E3-8C13FFBDAFFB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19C32B8D-512E-49A1-A0E6-109384C61E4D}" type="pres">
      <dgm:prSet presAssocID="{13A3E740-D063-442F-85E3-8C13FFBDAFFB}" presName="descendantText" presStyleLbl="alignAcc1" presStyleIdx="0" presStyleCnt="4">
        <dgm:presLayoutVars>
          <dgm:bulletEnabled val="1"/>
        </dgm:presLayoutVars>
      </dgm:prSet>
      <dgm:spPr/>
    </dgm:pt>
    <dgm:pt modelId="{EB6649E3-7C43-464A-A458-4DE8A2D95277}" type="pres">
      <dgm:prSet presAssocID="{87670CDC-835B-4F9F-927F-1317C8E87F86}" presName="sp" presStyleCnt="0"/>
      <dgm:spPr/>
    </dgm:pt>
    <dgm:pt modelId="{B03EC7DE-1F17-45FD-8EC4-5657CB3CA06B}" type="pres">
      <dgm:prSet presAssocID="{711BDD39-3FCE-427A-B0DC-2C28CEED9EDF}" presName="composite" presStyleCnt="0"/>
      <dgm:spPr/>
    </dgm:pt>
    <dgm:pt modelId="{AAD30B60-88C6-4919-B6DD-9F480459E84E}" type="pres">
      <dgm:prSet presAssocID="{711BDD39-3FCE-427A-B0DC-2C28CEED9EDF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0DFDFC6D-8604-4378-B6A3-6A6720006C95}" type="pres">
      <dgm:prSet presAssocID="{711BDD39-3FCE-427A-B0DC-2C28CEED9EDF}" presName="descendantText" presStyleLbl="alignAcc1" presStyleIdx="1" presStyleCnt="4">
        <dgm:presLayoutVars>
          <dgm:bulletEnabled val="1"/>
        </dgm:presLayoutVars>
      </dgm:prSet>
      <dgm:spPr/>
    </dgm:pt>
    <dgm:pt modelId="{8738B044-A46F-4E69-BD1E-16537D77F816}" type="pres">
      <dgm:prSet presAssocID="{56806687-EA3D-424E-8880-B9427A94FF7E}" presName="sp" presStyleCnt="0"/>
      <dgm:spPr/>
    </dgm:pt>
    <dgm:pt modelId="{D4F01D1E-88B7-466D-B76A-F726FF7DE3F8}" type="pres">
      <dgm:prSet presAssocID="{4C2AC2DB-DA7B-4EE8-A271-F42910EF38FA}" presName="composite" presStyleCnt="0"/>
      <dgm:spPr/>
    </dgm:pt>
    <dgm:pt modelId="{3451A250-69C4-4911-A975-CCB8D5F6053B}" type="pres">
      <dgm:prSet presAssocID="{4C2AC2DB-DA7B-4EE8-A271-F42910EF38FA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56AFEC8A-7D45-4965-A718-64DE087BA59E}" type="pres">
      <dgm:prSet presAssocID="{4C2AC2DB-DA7B-4EE8-A271-F42910EF38FA}" presName="descendantText" presStyleLbl="alignAcc1" presStyleIdx="2" presStyleCnt="4">
        <dgm:presLayoutVars>
          <dgm:bulletEnabled val="1"/>
        </dgm:presLayoutVars>
      </dgm:prSet>
      <dgm:spPr/>
    </dgm:pt>
    <dgm:pt modelId="{E061B53C-41F2-4FB1-8AB8-871078ECF09F}" type="pres">
      <dgm:prSet presAssocID="{E3247148-B6B0-4C23-B610-041B2044E035}" presName="sp" presStyleCnt="0"/>
      <dgm:spPr/>
    </dgm:pt>
    <dgm:pt modelId="{89371C0B-1BC9-410A-A890-27274727CC89}" type="pres">
      <dgm:prSet presAssocID="{4A3955F4-B1A6-4812-98ED-2D6D02D94E35}" presName="composite" presStyleCnt="0"/>
      <dgm:spPr/>
    </dgm:pt>
    <dgm:pt modelId="{FC3BC805-9B18-48D9-A4F4-4BE17D54A28E}" type="pres">
      <dgm:prSet presAssocID="{4A3955F4-B1A6-4812-98ED-2D6D02D94E35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DEB3B5C2-DCC9-444C-A40C-E0CEA06D8FF2}" type="pres">
      <dgm:prSet presAssocID="{4A3955F4-B1A6-4812-98ED-2D6D02D94E35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B5BAA509-F012-4E82-9E50-DD70E5E7F1B2}" type="presOf" srcId="{AADFB80D-C2E8-416C-B522-D5F6D93F18D7}" destId="{7EBBDEE6-A55E-47FA-9020-5BC46200AFFC}" srcOrd="0" destOrd="0" presId="urn:microsoft.com/office/officeart/2005/8/layout/chevron2"/>
    <dgm:cxn modelId="{75D9DC0C-11C7-49DD-8A71-811F74721BA7}" type="presOf" srcId="{4C2AC2DB-DA7B-4EE8-A271-F42910EF38FA}" destId="{3451A250-69C4-4911-A975-CCB8D5F6053B}" srcOrd="0" destOrd="0" presId="urn:microsoft.com/office/officeart/2005/8/layout/chevron2"/>
    <dgm:cxn modelId="{0113120F-3FE7-4154-8079-D7AA5B4E9BD0}" type="presOf" srcId="{6F17941D-CCAD-4AF8-9198-4E8B5F9AEDC2}" destId="{56AFEC8A-7D45-4965-A718-64DE087BA59E}" srcOrd="0" destOrd="0" presId="urn:microsoft.com/office/officeart/2005/8/layout/chevron2"/>
    <dgm:cxn modelId="{6521D611-0B51-48EB-B293-CE7ADA48FE29}" type="presOf" srcId="{711BDD39-3FCE-427A-B0DC-2C28CEED9EDF}" destId="{AAD30B60-88C6-4919-B6DD-9F480459E84E}" srcOrd="0" destOrd="0" presId="urn:microsoft.com/office/officeart/2005/8/layout/chevron2"/>
    <dgm:cxn modelId="{A2F04726-03B2-41D7-AC39-4EB0FD25F0DB}" srcId="{13A3E740-D063-442F-85E3-8C13FFBDAFFB}" destId="{AC2B0C85-A34A-449C-BDB1-A298878DE704}" srcOrd="0" destOrd="0" parTransId="{E5225F41-044B-4F7C-A813-74912B7609F7}" sibTransId="{C96E9F27-EE7F-4F89-BD19-DC4C6EA4193D}"/>
    <dgm:cxn modelId="{465C8D34-FC72-4D1A-9E65-4F4016ABC282}" type="presOf" srcId="{13A3E740-D063-442F-85E3-8C13FFBDAFFB}" destId="{DFA48299-B840-4714-A5F6-769C74D74113}" srcOrd="0" destOrd="0" presId="urn:microsoft.com/office/officeart/2005/8/layout/chevron2"/>
    <dgm:cxn modelId="{56AEC75D-06D3-4BA4-8933-FE1A0F7AE162}" srcId="{4A3955F4-B1A6-4812-98ED-2D6D02D94E35}" destId="{E2BA0B41-F146-425E-9754-1E81B83EDF8B}" srcOrd="0" destOrd="0" parTransId="{09E005FD-F987-4EBD-9D26-CE4C06669AB5}" sibTransId="{017B98FE-F345-4459-B767-E6B696310854}"/>
    <dgm:cxn modelId="{E1577B58-8BFA-4B02-9737-EE277E89C7A2}" type="presOf" srcId="{E2BA0B41-F146-425E-9754-1E81B83EDF8B}" destId="{DEB3B5C2-DCC9-444C-A40C-E0CEA06D8FF2}" srcOrd="0" destOrd="0" presId="urn:microsoft.com/office/officeart/2005/8/layout/chevron2"/>
    <dgm:cxn modelId="{7E5A0596-4D16-4207-B5F3-C2FD778C5412}" srcId="{AADFB80D-C2E8-416C-B522-D5F6D93F18D7}" destId="{4A3955F4-B1A6-4812-98ED-2D6D02D94E35}" srcOrd="3" destOrd="0" parTransId="{1EF809BA-BB9B-41F6-9A35-2C78CE3A0913}" sibTransId="{10EB35A1-EA5F-40EF-95CA-BDAB4D957484}"/>
    <dgm:cxn modelId="{07BC019F-EA5F-4290-A7F2-F044F5CF5F67}" srcId="{AADFB80D-C2E8-416C-B522-D5F6D93F18D7}" destId="{711BDD39-3FCE-427A-B0DC-2C28CEED9EDF}" srcOrd="1" destOrd="0" parTransId="{2D0B9227-5F25-49F4-84E9-F7E211C285CA}" sibTransId="{56806687-EA3D-424E-8880-B9427A94FF7E}"/>
    <dgm:cxn modelId="{2AB70DB2-120D-4916-A542-8BD092D58E08}" type="presOf" srcId="{AC2B0C85-A34A-449C-BDB1-A298878DE704}" destId="{19C32B8D-512E-49A1-A0E6-109384C61E4D}" srcOrd="0" destOrd="0" presId="urn:microsoft.com/office/officeart/2005/8/layout/chevron2"/>
    <dgm:cxn modelId="{F4016BC7-2E72-4F45-A906-6E7F3BDA4E2F}" srcId="{AADFB80D-C2E8-416C-B522-D5F6D93F18D7}" destId="{4C2AC2DB-DA7B-4EE8-A271-F42910EF38FA}" srcOrd="2" destOrd="0" parTransId="{4DCD8EEA-C4AA-404D-A26F-F433BB0189EA}" sibTransId="{E3247148-B6B0-4C23-B610-041B2044E035}"/>
    <dgm:cxn modelId="{5ED434D9-CD48-4632-9238-0AD1DC8B7F67}" srcId="{711BDD39-3FCE-427A-B0DC-2C28CEED9EDF}" destId="{856C5D97-053A-4768-924C-7BBED1694139}" srcOrd="0" destOrd="0" parTransId="{5882EAA0-9B73-4D58-9B28-101A1A118DA7}" sibTransId="{FB282A4C-1B09-4A3E-BA59-953ECF9E16C0}"/>
    <dgm:cxn modelId="{37E82DE3-0EF4-4A02-AA7D-36369B21C5B2}" type="presOf" srcId="{856C5D97-053A-4768-924C-7BBED1694139}" destId="{0DFDFC6D-8604-4378-B6A3-6A6720006C95}" srcOrd="0" destOrd="0" presId="urn:microsoft.com/office/officeart/2005/8/layout/chevron2"/>
    <dgm:cxn modelId="{1B5B31EC-2D9A-481F-92B4-9BD3DD315797}" srcId="{AADFB80D-C2E8-416C-B522-D5F6D93F18D7}" destId="{13A3E740-D063-442F-85E3-8C13FFBDAFFB}" srcOrd="0" destOrd="0" parTransId="{055E1BD7-FB8E-4E56-9F39-EF9F6386A053}" sibTransId="{87670CDC-835B-4F9F-927F-1317C8E87F86}"/>
    <dgm:cxn modelId="{9A2AE9EC-1703-4071-9D5B-2F76EC9F4AA5}" srcId="{4C2AC2DB-DA7B-4EE8-A271-F42910EF38FA}" destId="{6F17941D-CCAD-4AF8-9198-4E8B5F9AEDC2}" srcOrd="0" destOrd="0" parTransId="{6A62EC5C-257B-4078-AC75-009164CBD245}" sibTransId="{6908D1C2-C5D8-437D-AE20-3870EC3D4B13}"/>
    <dgm:cxn modelId="{597912EF-E408-4BB7-9C85-9F209D456791}" type="presOf" srcId="{4A3955F4-B1A6-4812-98ED-2D6D02D94E35}" destId="{FC3BC805-9B18-48D9-A4F4-4BE17D54A28E}" srcOrd="0" destOrd="0" presId="urn:microsoft.com/office/officeart/2005/8/layout/chevron2"/>
    <dgm:cxn modelId="{2CC3E848-3291-4CD0-B317-41F5D7C45A7F}" type="presParOf" srcId="{7EBBDEE6-A55E-47FA-9020-5BC46200AFFC}" destId="{C2DD6752-EEDA-4174-9D58-1EADF09490B5}" srcOrd="0" destOrd="0" presId="urn:microsoft.com/office/officeart/2005/8/layout/chevron2"/>
    <dgm:cxn modelId="{F2611B9D-ED34-4E48-B173-7425A1C12702}" type="presParOf" srcId="{C2DD6752-EEDA-4174-9D58-1EADF09490B5}" destId="{DFA48299-B840-4714-A5F6-769C74D74113}" srcOrd="0" destOrd="0" presId="urn:microsoft.com/office/officeart/2005/8/layout/chevron2"/>
    <dgm:cxn modelId="{0339950F-F790-4C54-B5C5-7E748C166A64}" type="presParOf" srcId="{C2DD6752-EEDA-4174-9D58-1EADF09490B5}" destId="{19C32B8D-512E-49A1-A0E6-109384C61E4D}" srcOrd="1" destOrd="0" presId="urn:microsoft.com/office/officeart/2005/8/layout/chevron2"/>
    <dgm:cxn modelId="{8C3B7F65-E991-4727-96FD-4A397BC99530}" type="presParOf" srcId="{7EBBDEE6-A55E-47FA-9020-5BC46200AFFC}" destId="{EB6649E3-7C43-464A-A458-4DE8A2D95277}" srcOrd="1" destOrd="0" presId="urn:microsoft.com/office/officeart/2005/8/layout/chevron2"/>
    <dgm:cxn modelId="{67686BDB-624B-4768-B17C-649608EC595D}" type="presParOf" srcId="{7EBBDEE6-A55E-47FA-9020-5BC46200AFFC}" destId="{B03EC7DE-1F17-45FD-8EC4-5657CB3CA06B}" srcOrd="2" destOrd="0" presId="urn:microsoft.com/office/officeart/2005/8/layout/chevron2"/>
    <dgm:cxn modelId="{E384677C-5D5C-4BA0-9373-811233886715}" type="presParOf" srcId="{B03EC7DE-1F17-45FD-8EC4-5657CB3CA06B}" destId="{AAD30B60-88C6-4919-B6DD-9F480459E84E}" srcOrd="0" destOrd="0" presId="urn:microsoft.com/office/officeart/2005/8/layout/chevron2"/>
    <dgm:cxn modelId="{990050CC-88AF-4BFD-BA57-27FA9CC550C6}" type="presParOf" srcId="{B03EC7DE-1F17-45FD-8EC4-5657CB3CA06B}" destId="{0DFDFC6D-8604-4378-B6A3-6A6720006C95}" srcOrd="1" destOrd="0" presId="urn:microsoft.com/office/officeart/2005/8/layout/chevron2"/>
    <dgm:cxn modelId="{577D7B9B-111D-49E5-8B31-17247683DAAB}" type="presParOf" srcId="{7EBBDEE6-A55E-47FA-9020-5BC46200AFFC}" destId="{8738B044-A46F-4E69-BD1E-16537D77F816}" srcOrd="3" destOrd="0" presId="urn:microsoft.com/office/officeart/2005/8/layout/chevron2"/>
    <dgm:cxn modelId="{EAF4121D-00B1-46BD-B1F6-93EB6FBED3D3}" type="presParOf" srcId="{7EBBDEE6-A55E-47FA-9020-5BC46200AFFC}" destId="{D4F01D1E-88B7-466D-B76A-F726FF7DE3F8}" srcOrd="4" destOrd="0" presId="urn:microsoft.com/office/officeart/2005/8/layout/chevron2"/>
    <dgm:cxn modelId="{460F7729-81B3-46BB-891B-6E4175CCD089}" type="presParOf" srcId="{D4F01D1E-88B7-466D-B76A-F726FF7DE3F8}" destId="{3451A250-69C4-4911-A975-CCB8D5F6053B}" srcOrd="0" destOrd="0" presId="urn:microsoft.com/office/officeart/2005/8/layout/chevron2"/>
    <dgm:cxn modelId="{A48AB365-FFFF-4401-96B5-C1A6F80EE146}" type="presParOf" srcId="{D4F01D1E-88B7-466D-B76A-F726FF7DE3F8}" destId="{56AFEC8A-7D45-4965-A718-64DE087BA59E}" srcOrd="1" destOrd="0" presId="urn:microsoft.com/office/officeart/2005/8/layout/chevron2"/>
    <dgm:cxn modelId="{A114524B-CDF1-4D77-9C13-30CC18B34AFA}" type="presParOf" srcId="{7EBBDEE6-A55E-47FA-9020-5BC46200AFFC}" destId="{E061B53C-41F2-4FB1-8AB8-871078ECF09F}" srcOrd="5" destOrd="0" presId="urn:microsoft.com/office/officeart/2005/8/layout/chevron2"/>
    <dgm:cxn modelId="{AA8B150E-49B0-4E4E-A524-3300C932E6C9}" type="presParOf" srcId="{7EBBDEE6-A55E-47FA-9020-5BC46200AFFC}" destId="{89371C0B-1BC9-410A-A890-27274727CC89}" srcOrd="6" destOrd="0" presId="urn:microsoft.com/office/officeart/2005/8/layout/chevron2"/>
    <dgm:cxn modelId="{69626FD0-CF2C-4646-BB72-23A5794E309F}" type="presParOf" srcId="{89371C0B-1BC9-410A-A890-27274727CC89}" destId="{FC3BC805-9B18-48D9-A4F4-4BE17D54A28E}" srcOrd="0" destOrd="0" presId="urn:microsoft.com/office/officeart/2005/8/layout/chevron2"/>
    <dgm:cxn modelId="{A5FF9F77-DE54-40D0-9805-1272A2C4D196}" type="presParOf" srcId="{89371C0B-1BC9-410A-A890-27274727CC89}" destId="{DEB3B5C2-DCC9-444C-A40C-E0CEA06D8FF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DFB80D-C2E8-416C-B522-D5F6D93F18D7}" type="doc">
      <dgm:prSet loTypeId="urn:microsoft.com/office/officeart/2005/8/layout/chevron2" loCatId="list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13A3E740-D063-442F-85E3-8C13FFBDAFFB}">
      <dgm:prSet phldrT="[Text]" custT="1"/>
      <dgm:spPr/>
      <dgm:t>
        <a:bodyPr/>
        <a:lstStyle/>
        <a:p>
          <a:r>
            <a:rPr lang="en-US" sz="2400" dirty="0"/>
            <a:t>SDD</a:t>
          </a:r>
          <a:endParaRPr lang="en-US" sz="1900" dirty="0"/>
        </a:p>
      </dgm:t>
    </dgm:pt>
    <dgm:pt modelId="{055E1BD7-FB8E-4E56-9F39-EF9F6386A053}" type="parTrans" cxnId="{1B5B31EC-2D9A-481F-92B4-9BD3DD315797}">
      <dgm:prSet/>
      <dgm:spPr/>
      <dgm:t>
        <a:bodyPr/>
        <a:lstStyle/>
        <a:p>
          <a:endParaRPr lang="en-US"/>
        </a:p>
      </dgm:t>
    </dgm:pt>
    <dgm:pt modelId="{87670CDC-835B-4F9F-927F-1317C8E87F86}" type="sibTrans" cxnId="{1B5B31EC-2D9A-481F-92B4-9BD3DD315797}">
      <dgm:prSet/>
      <dgm:spPr/>
      <dgm:t>
        <a:bodyPr/>
        <a:lstStyle/>
        <a:p>
          <a:endParaRPr lang="en-US"/>
        </a:p>
      </dgm:t>
    </dgm:pt>
    <dgm:pt modelId="{AC2B0C85-A34A-449C-BDB1-A298878DE704}">
      <dgm:prSet phldrT="[Text]"/>
      <dgm:spPr/>
      <dgm:t>
        <a:bodyPr/>
        <a:lstStyle/>
        <a:p>
          <a:r>
            <a:rPr lang="en-US" dirty="0"/>
            <a:t>Software Design and Development (54%)</a:t>
          </a:r>
        </a:p>
      </dgm:t>
    </dgm:pt>
    <dgm:pt modelId="{E5225F41-044B-4F7C-A813-74912B7609F7}" type="parTrans" cxnId="{A2F04726-03B2-41D7-AC39-4EB0FD25F0DB}">
      <dgm:prSet/>
      <dgm:spPr/>
      <dgm:t>
        <a:bodyPr/>
        <a:lstStyle/>
        <a:p>
          <a:endParaRPr lang="en-US"/>
        </a:p>
      </dgm:t>
    </dgm:pt>
    <dgm:pt modelId="{C96E9F27-EE7F-4F89-BD19-DC4C6EA4193D}" type="sibTrans" cxnId="{A2F04726-03B2-41D7-AC39-4EB0FD25F0DB}">
      <dgm:prSet/>
      <dgm:spPr/>
      <dgm:t>
        <a:bodyPr/>
        <a:lstStyle/>
        <a:p>
          <a:endParaRPr lang="en-US"/>
        </a:p>
      </dgm:t>
    </dgm:pt>
    <dgm:pt modelId="{711BDD39-3FCE-427A-B0DC-2C28CEED9EDF}">
      <dgm:prSet phldrT="[Text]" custT="1"/>
      <dgm:spPr/>
      <dgm:t>
        <a:bodyPr/>
        <a:lstStyle/>
        <a:p>
          <a:r>
            <a:rPr lang="en-US" sz="2400" dirty="0"/>
            <a:t>DDD</a:t>
          </a:r>
          <a:endParaRPr lang="en-US" sz="1800" dirty="0"/>
        </a:p>
      </dgm:t>
    </dgm:pt>
    <dgm:pt modelId="{2D0B9227-5F25-49F4-84E9-F7E211C285CA}" type="parTrans" cxnId="{07BC019F-EA5F-4290-A7F2-F044F5CF5F67}">
      <dgm:prSet/>
      <dgm:spPr/>
      <dgm:t>
        <a:bodyPr/>
        <a:lstStyle/>
        <a:p>
          <a:endParaRPr lang="en-US"/>
        </a:p>
      </dgm:t>
    </dgm:pt>
    <dgm:pt modelId="{56806687-EA3D-424E-8880-B9427A94FF7E}" type="sibTrans" cxnId="{07BC019F-EA5F-4290-A7F2-F044F5CF5F67}">
      <dgm:prSet/>
      <dgm:spPr/>
      <dgm:t>
        <a:bodyPr/>
        <a:lstStyle/>
        <a:p>
          <a:endParaRPr lang="en-US"/>
        </a:p>
      </dgm:t>
    </dgm:pt>
    <dgm:pt modelId="{856C5D97-053A-4768-924C-7BBED1694139}">
      <dgm:prSet phldrT="[Text]"/>
      <dgm:spPr/>
      <dgm:t>
        <a:bodyPr/>
        <a:lstStyle/>
        <a:p>
          <a:r>
            <a:rPr lang="en-US" dirty="0"/>
            <a:t>Database Design and Development (33%)</a:t>
          </a:r>
        </a:p>
      </dgm:t>
    </dgm:pt>
    <dgm:pt modelId="{5882EAA0-9B73-4D58-9B28-101A1A118DA7}" type="parTrans" cxnId="{5ED434D9-CD48-4632-9238-0AD1DC8B7F67}">
      <dgm:prSet/>
      <dgm:spPr/>
      <dgm:t>
        <a:bodyPr/>
        <a:lstStyle/>
        <a:p>
          <a:endParaRPr lang="en-US"/>
        </a:p>
      </dgm:t>
    </dgm:pt>
    <dgm:pt modelId="{FB282A4C-1B09-4A3E-BA59-953ECF9E16C0}" type="sibTrans" cxnId="{5ED434D9-CD48-4632-9238-0AD1DC8B7F67}">
      <dgm:prSet/>
      <dgm:spPr/>
      <dgm:t>
        <a:bodyPr/>
        <a:lstStyle/>
        <a:p>
          <a:endParaRPr lang="en-US"/>
        </a:p>
      </dgm:t>
    </dgm:pt>
    <dgm:pt modelId="{4A3955F4-B1A6-4812-98ED-2D6D02D94E35}">
      <dgm:prSet phldrT="[Text]"/>
      <dgm:spPr/>
      <dgm:t>
        <a:bodyPr/>
        <a:lstStyle/>
        <a:p>
          <a:r>
            <a:rPr lang="en-US" b="1" dirty="0">
              <a:latin typeface="+mn-lt"/>
            </a:rPr>
            <a:t>Assignment</a:t>
          </a:r>
          <a:r>
            <a:rPr lang="en-US" b="0" dirty="0">
              <a:latin typeface="+mn-lt"/>
            </a:rPr>
            <a:t> (</a:t>
          </a:r>
          <a:r>
            <a:rPr lang="en-US" b="0" dirty="0">
              <a:solidFill>
                <a:srgbClr val="FF0000"/>
              </a:solidFill>
              <a:latin typeface="+mn-lt"/>
            </a:rPr>
            <a:t>⅓ of marks</a:t>
          </a:r>
          <a:r>
            <a:rPr lang="en-US" b="0" dirty="0">
              <a:latin typeface="+mn-lt"/>
            </a:rPr>
            <a:t>)</a:t>
          </a:r>
          <a:endParaRPr lang="en-US" b="1" dirty="0">
            <a:latin typeface="+mn-lt"/>
          </a:endParaRPr>
        </a:p>
      </dgm:t>
    </dgm:pt>
    <dgm:pt modelId="{1EF809BA-BB9B-41F6-9A35-2C78CE3A0913}" type="parTrans" cxnId="{7E5A0596-4D16-4207-B5F3-C2FD778C5412}">
      <dgm:prSet/>
      <dgm:spPr/>
      <dgm:t>
        <a:bodyPr/>
        <a:lstStyle/>
        <a:p>
          <a:endParaRPr lang="en-US"/>
        </a:p>
      </dgm:t>
    </dgm:pt>
    <dgm:pt modelId="{10EB35A1-EA5F-40EF-95CA-BDAB4D957484}" type="sibTrans" cxnId="{7E5A0596-4D16-4207-B5F3-C2FD778C5412}">
      <dgm:prSet/>
      <dgm:spPr/>
      <dgm:t>
        <a:bodyPr/>
        <a:lstStyle/>
        <a:p>
          <a:endParaRPr lang="en-US"/>
        </a:p>
      </dgm:t>
    </dgm:pt>
    <dgm:pt modelId="{4C515B8D-87D1-4362-95C3-18B42B452625}">
      <dgm:prSet phldrT="[Text]"/>
      <dgm:spPr>
        <a:solidFill>
          <a:srgbClr val="FF0000"/>
        </a:solidFill>
        <a:ln>
          <a:solidFill>
            <a:srgbClr val="FF0000"/>
          </a:solidFill>
        </a:ln>
      </dgm:spPr>
      <dgm:t>
        <a:bodyPr/>
        <a:lstStyle/>
        <a:p>
          <a:endParaRPr lang="en-US" dirty="0"/>
        </a:p>
      </dgm:t>
    </dgm:pt>
    <dgm:pt modelId="{3413E62F-FACB-412C-9FEF-2E9D080F65F5}" type="parTrans" cxnId="{4AB28759-DCAB-43B1-B5BE-36D4FCDBAA0B}">
      <dgm:prSet/>
      <dgm:spPr/>
      <dgm:t>
        <a:bodyPr/>
        <a:lstStyle/>
        <a:p>
          <a:endParaRPr lang="en-US"/>
        </a:p>
      </dgm:t>
    </dgm:pt>
    <dgm:pt modelId="{387E11D6-6F89-470A-86BE-C608C2106AF6}" type="sibTrans" cxnId="{4AB28759-DCAB-43B1-B5BE-36D4FCDBAA0B}">
      <dgm:prSet/>
      <dgm:spPr/>
      <dgm:t>
        <a:bodyPr/>
        <a:lstStyle/>
        <a:p>
          <a:endParaRPr lang="en-US"/>
        </a:p>
      </dgm:t>
    </dgm:pt>
    <dgm:pt modelId="{E2BA0B41-F146-425E-9754-1E81B83EDF8B}">
      <dgm:prSet phldrT="[Text]"/>
      <dgm:spPr/>
      <dgm:t>
        <a:bodyPr/>
        <a:lstStyle/>
        <a:p>
          <a:r>
            <a:rPr lang="en-US" dirty="0"/>
            <a:t>Computer Systems (13%)</a:t>
          </a:r>
        </a:p>
      </dgm:t>
    </dgm:pt>
    <dgm:pt modelId="{09E005FD-F987-4EBD-9D26-CE4C06669AB5}" type="parTrans" cxnId="{56AEC75D-06D3-4BA4-8933-FE1A0F7AE162}">
      <dgm:prSet/>
      <dgm:spPr/>
      <dgm:t>
        <a:bodyPr/>
        <a:lstStyle/>
        <a:p>
          <a:endParaRPr lang="en-US"/>
        </a:p>
      </dgm:t>
    </dgm:pt>
    <dgm:pt modelId="{017B98FE-F345-4459-B767-E6B696310854}" type="sibTrans" cxnId="{56AEC75D-06D3-4BA4-8933-FE1A0F7AE162}">
      <dgm:prSet/>
      <dgm:spPr/>
      <dgm:t>
        <a:bodyPr/>
        <a:lstStyle/>
        <a:p>
          <a:endParaRPr lang="en-US"/>
        </a:p>
      </dgm:t>
    </dgm:pt>
    <dgm:pt modelId="{780589F0-2154-4E4C-8595-8806E5EF917A}">
      <dgm:prSet phldrT="[Text]" custT="1"/>
      <dgm:spPr/>
      <dgm:t>
        <a:bodyPr/>
        <a:lstStyle/>
        <a:p>
          <a:r>
            <a:rPr lang="en-US" sz="2300" dirty="0"/>
            <a:t>C/Sys</a:t>
          </a:r>
        </a:p>
      </dgm:t>
    </dgm:pt>
    <dgm:pt modelId="{F00962FA-5389-4E36-9ABB-07A219FF91D3}" type="parTrans" cxnId="{AAFC0F9A-ADA1-4827-BB1A-86C8E3CBC8EB}">
      <dgm:prSet/>
      <dgm:spPr/>
      <dgm:t>
        <a:bodyPr/>
        <a:lstStyle/>
        <a:p>
          <a:endParaRPr lang="en-US"/>
        </a:p>
      </dgm:t>
    </dgm:pt>
    <dgm:pt modelId="{DED9E408-00AC-4B08-A19D-D94226C9548F}" type="sibTrans" cxnId="{AAFC0F9A-ADA1-4827-BB1A-86C8E3CBC8EB}">
      <dgm:prSet/>
      <dgm:spPr/>
      <dgm:t>
        <a:bodyPr/>
        <a:lstStyle/>
        <a:p>
          <a:endParaRPr lang="en-US"/>
        </a:p>
      </dgm:t>
    </dgm:pt>
    <dgm:pt modelId="{75E710BF-3292-4B3F-A454-B7E6BF72E2C7}">
      <dgm:prSet phldrT="[Text]"/>
      <dgm:spPr/>
      <dgm:t>
        <a:bodyPr/>
        <a:lstStyle/>
        <a:p>
          <a:r>
            <a:rPr lang="en-US" b="1" dirty="0">
              <a:latin typeface="+mn-lt"/>
            </a:rPr>
            <a:t>Exam</a:t>
          </a:r>
          <a:r>
            <a:rPr lang="en-US" b="0" dirty="0">
              <a:latin typeface="+mn-lt"/>
            </a:rPr>
            <a:t> (</a:t>
          </a:r>
          <a:r>
            <a:rPr lang="en-US" b="0" dirty="0">
              <a:solidFill>
                <a:srgbClr val="FF0000"/>
              </a:solidFill>
              <a:latin typeface="+mn-lt"/>
            </a:rPr>
            <a:t>⅔ of marks</a:t>
          </a:r>
          <a:r>
            <a:rPr lang="en-US" b="0" dirty="0">
              <a:latin typeface="+mn-lt"/>
            </a:rPr>
            <a:t>)</a:t>
          </a:r>
          <a:endParaRPr lang="en-US" b="1" dirty="0">
            <a:latin typeface="+mn-lt"/>
          </a:endParaRPr>
        </a:p>
      </dgm:t>
    </dgm:pt>
    <dgm:pt modelId="{E03E4501-7796-49DD-B7C4-88D3AB91E6DB}" type="parTrans" cxnId="{F320287E-B3C2-4880-9516-FFD6695AE0E7}">
      <dgm:prSet/>
      <dgm:spPr/>
      <dgm:t>
        <a:bodyPr/>
        <a:lstStyle/>
        <a:p>
          <a:endParaRPr lang="en-US"/>
        </a:p>
      </dgm:t>
    </dgm:pt>
    <dgm:pt modelId="{7BCEDD18-C1A5-4D74-BD02-31A9F5C8DF2C}" type="sibTrans" cxnId="{F320287E-B3C2-4880-9516-FFD6695AE0E7}">
      <dgm:prSet/>
      <dgm:spPr/>
      <dgm:t>
        <a:bodyPr/>
        <a:lstStyle/>
        <a:p>
          <a:endParaRPr lang="en-US"/>
        </a:p>
      </dgm:t>
    </dgm:pt>
    <dgm:pt modelId="{9EC5D7E7-13E1-4749-A134-4C83AB922A61}">
      <dgm:prSet phldrT="[Text]"/>
      <dgm:spPr>
        <a:solidFill>
          <a:srgbClr val="FF0000"/>
        </a:solidFill>
        <a:ln>
          <a:solidFill>
            <a:srgbClr val="FF0000"/>
          </a:solidFill>
        </a:ln>
      </dgm:spPr>
      <dgm:t>
        <a:bodyPr/>
        <a:lstStyle/>
        <a:p>
          <a:endParaRPr lang="en-US"/>
        </a:p>
      </dgm:t>
    </dgm:pt>
    <dgm:pt modelId="{5C3B17FD-DFBE-4B56-9F97-5E041A0D5E90}" type="parTrans" cxnId="{4944EAFC-B2B0-4E7D-94E9-B17B5C2D380E}">
      <dgm:prSet/>
      <dgm:spPr/>
      <dgm:t>
        <a:bodyPr/>
        <a:lstStyle/>
        <a:p>
          <a:endParaRPr lang="en-US"/>
        </a:p>
      </dgm:t>
    </dgm:pt>
    <dgm:pt modelId="{B7023446-8BB7-45ED-9CB6-4F5FC1A1AF95}" type="sibTrans" cxnId="{4944EAFC-B2B0-4E7D-94E9-B17B5C2D380E}">
      <dgm:prSet/>
      <dgm:spPr/>
      <dgm:t>
        <a:bodyPr/>
        <a:lstStyle/>
        <a:p>
          <a:endParaRPr lang="en-US"/>
        </a:p>
      </dgm:t>
    </dgm:pt>
    <dgm:pt modelId="{7EBBDEE6-A55E-47FA-9020-5BC46200AFFC}" type="pres">
      <dgm:prSet presAssocID="{AADFB80D-C2E8-416C-B522-D5F6D93F18D7}" presName="linearFlow" presStyleCnt="0">
        <dgm:presLayoutVars>
          <dgm:dir/>
          <dgm:animLvl val="lvl"/>
          <dgm:resizeHandles val="exact"/>
        </dgm:presLayoutVars>
      </dgm:prSet>
      <dgm:spPr/>
    </dgm:pt>
    <dgm:pt modelId="{C2DD6752-EEDA-4174-9D58-1EADF09490B5}" type="pres">
      <dgm:prSet presAssocID="{13A3E740-D063-442F-85E3-8C13FFBDAFFB}" presName="composite" presStyleCnt="0"/>
      <dgm:spPr/>
    </dgm:pt>
    <dgm:pt modelId="{DFA48299-B840-4714-A5F6-769C74D74113}" type="pres">
      <dgm:prSet presAssocID="{13A3E740-D063-442F-85E3-8C13FFBDAFFB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19C32B8D-512E-49A1-A0E6-109384C61E4D}" type="pres">
      <dgm:prSet presAssocID="{13A3E740-D063-442F-85E3-8C13FFBDAFFB}" presName="descendantText" presStyleLbl="alignAcc1" presStyleIdx="0" presStyleCnt="5">
        <dgm:presLayoutVars>
          <dgm:bulletEnabled val="1"/>
        </dgm:presLayoutVars>
      </dgm:prSet>
      <dgm:spPr/>
    </dgm:pt>
    <dgm:pt modelId="{EB6649E3-7C43-464A-A458-4DE8A2D95277}" type="pres">
      <dgm:prSet presAssocID="{87670CDC-835B-4F9F-927F-1317C8E87F86}" presName="sp" presStyleCnt="0"/>
      <dgm:spPr/>
    </dgm:pt>
    <dgm:pt modelId="{B03EC7DE-1F17-45FD-8EC4-5657CB3CA06B}" type="pres">
      <dgm:prSet presAssocID="{711BDD39-3FCE-427A-B0DC-2C28CEED9EDF}" presName="composite" presStyleCnt="0"/>
      <dgm:spPr/>
    </dgm:pt>
    <dgm:pt modelId="{AAD30B60-88C6-4919-B6DD-9F480459E84E}" type="pres">
      <dgm:prSet presAssocID="{711BDD39-3FCE-427A-B0DC-2C28CEED9EDF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0DFDFC6D-8604-4378-B6A3-6A6720006C95}" type="pres">
      <dgm:prSet presAssocID="{711BDD39-3FCE-427A-B0DC-2C28CEED9EDF}" presName="descendantText" presStyleLbl="alignAcc1" presStyleIdx="1" presStyleCnt="5">
        <dgm:presLayoutVars>
          <dgm:bulletEnabled val="1"/>
        </dgm:presLayoutVars>
      </dgm:prSet>
      <dgm:spPr/>
    </dgm:pt>
    <dgm:pt modelId="{8738B044-A46F-4E69-BD1E-16537D77F816}" type="pres">
      <dgm:prSet presAssocID="{56806687-EA3D-424E-8880-B9427A94FF7E}" presName="sp" presStyleCnt="0"/>
      <dgm:spPr/>
    </dgm:pt>
    <dgm:pt modelId="{3E2A20E0-2799-4B60-847C-0291A143F060}" type="pres">
      <dgm:prSet presAssocID="{4C515B8D-87D1-4362-95C3-18B42B452625}" presName="composite" presStyleCnt="0"/>
      <dgm:spPr/>
    </dgm:pt>
    <dgm:pt modelId="{17253025-0BE3-46B4-B2C8-BFD879D75B26}" type="pres">
      <dgm:prSet presAssocID="{4C515B8D-87D1-4362-95C3-18B42B452625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B2D4CD90-7709-4B59-AC85-D09667CFC12B}" type="pres">
      <dgm:prSet presAssocID="{4C515B8D-87D1-4362-95C3-18B42B452625}" presName="descendantText" presStyleLbl="alignAcc1" presStyleIdx="2" presStyleCnt="5">
        <dgm:presLayoutVars>
          <dgm:bulletEnabled val="1"/>
        </dgm:presLayoutVars>
      </dgm:prSet>
      <dgm:spPr/>
    </dgm:pt>
    <dgm:pt modelId="{FCA35A52-5E56-41CA-AAAA-74E510180904}" type="pres">
      <dgm:prSet presAssocID="{387E11D6-6F89-470A-86BE-C608C2106AF6}" presName="sp" presStyleCnt="0"/>
      <dgm:spPr/>
    </dgm:pt>
    <dgm:pt modelId="{BC0413A5-5CFC-41A1-A4D1-32D9D3A580EB}" type="pres">
      <dgm:prSet presAssocID="{780589F0-2154-4E4C-8595-8806E5EF917A}" presName="composite" presStyleCnt="0"/>
      <dgm:spPr/>
    </dgm:pt>
    <dgm:pt modelId="{056CCBB6-5CE0-4348-89C6-99FB2D3AB62B}" type="pres">
      <dgm:prSet presAssocID="{780589F0-2154-4E4C-8595-8806E5EF917A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90709722-0E94-45E4-BEDD-48CB660682DD}" type="pres">
      <dgm:prSet presAssocID="{780589F0-2154-4E4C-8595-8806E5EF917A}" presName="descendantText" presStyleLbl="alignAcc1" presStyleIdx="3" presStyleCnt="5">
        <dgm:presLayoutVars>
          <dgm:bulletEnabled val="1"/>
        </dgm:presLayoutVars>
      </dgm:prSet>
      <dgm:spPr/>
    </dgm:pt>
    <dgm:pt modelId="{13B0A0BF-E273-47AE-B262-3C6C9C4E8968}" type="pres">
      <dgm:prSet presAssocID="{DED9E408-00AC-4B08-A19D-D94226C9548F}" presName="sp" presStyleCnt="0"/>
      <dgm:spPr/>
    </dgm:pt>
    <dgm:pt modelId="{5FCAE6DF-E40E-46F3-84CF-149E85A19097}" type="pres">
      <dgm:prSet presAssocID="{9EC5D7E7-13E1-4749-A134-4C83AB922A61}" presName="composite" presStyleCnt="0"/>
      <dgm:spPr/>
    </dgm:pt>
    <dgm:pt modelId="{EB2E52AE-8FCF-47D0-B499-CFCFAF1883A9}" type="pres">
      <dgm:prSet presAssocID="{9EC5D7E7-13E1-4749-A134-4C83AB922A61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C92F1771-01AA-4FF3-B7EC-0229DB7A592C}" type="pres">
      <dgm:prSet presAssocID="{9EC5D7E7-13E1-4749-A134-4C83AB922A61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B5BAA509-F012-4E82-9E50-DD70E5E7F1B2}" type="presOf" srcId="{AADFB80D-C2E8-416C-B522-D5F6D93F18D7}" destId="{7EBBDEE6-A55E-47FA-9020-5BC46200AFFC}" srcOrd="0" destOrd="0" presId="urn:microsoft.com/office/officeart/2005/8/layout/chevron2"/>
    <dgm:cxn modelId="{51AC560A-15D5-4873-A728-46FA9B3877F9}" type="presOf" srcId="{780589F0-2154-4E4C-8595-8806E5EF917A}" destId="{056CCBB6-5CE0-4348-89C6-99FB2D3AB62B}" srcOrd="0" destOrd="0" presId="urn:microsoft.com/office/officeart/2005/8/layout/chevron2"/>
    <dgm:cxn modelId="{6521D611-0B51-48EB-B293-CE7ADA48FE29}" type="presOf" srcId="{711BDD39-3FCE-427A-B0DC-2C28CEED9EDF}" destId="{AAD30B60-88C6-4919-B6DD-9F480459E84E}" srcOrd="0" destOrd="0" presId="urn:microsoft.com/office/officeart/2005/8/layout/chevron2"/>
    <dgm:cxn modelId="{A2F04726-03B2-41D7-AC39-4EB0FD25F0DB}" srcId="{13A3E740-D063-442F-85E3-8C13FFBDAFFB}" destId="{AC2B0C85-A34A-449C-BDB1-A298878DE704}" srcOrd="0" destOrd="0" parTransId="{E5225F41-044B-4F7C-A813-74912B7609F7}" sibTransId="{C96E9F27-EE7F-4F89-BD19-DC4C6EA4193D}"/>
    <dgm:cxn modelId="{D49F1534-E21B-49CA-902B-89FB72311FD2}" type="presOf" srcId="{4C515B8D-87D1-4362-95C3-18B42B452625}" destId="{17253025-0BE3-46B4-B2C8-BFD879D75B26}" srcOrd="0" destOrd="0" presId="urn:microsoft.com/office/officeart/2005/8/layout/chevron2"/>
    <dgm:cxn modelId="{465C8D34-FC72-4D1A-9E65-4F4016ABC282}" type="presOf" srcId="{13A3E740-D063-442F-85E3-8C13FFBDAFFB}" destId="{DFA48299-B840-4714-A5F6-769C74D74113}" srcOrd="0" destOrd="0" presId="urn:microsoft.com/office/officeart/2005/8/layout/chevron2"/>
    <dgm:cxn modelId="{56AEC75D-06D3-4BA4-8933-FE1A0F7AE162}" srcId="{780589F0-2154-4E4C-8595-8806E5EF917A}" destId="{E2BA0B41-F146-425E-9754-1E81B83EDF8B}" srcOrd="0" destOrd="0" parTransId="{09E005FD-F987-4EBD-9D26-CE4C06669AB5}" sibTransId="{017B98FE-F345-4459-B767-E6B696310854}"/>
    <dgm:cxn modelId="{2B7AD66F-7BCF-434E-A3B5-2F39AADE0BF7}" type="presOf" srcId="{E2BA0B41-F146-425E-9754-1E81B83EDF8B}" destId="{90709722-0E94-45E4-BEDD-48CB660682DD}" srcOrd="0" destOrd="0" presId="urn:microsoft.com/office/officeart/2005/8/layout/chevron2"/>
    <dgm:cxn modelId="{5C508956-AB66-4052-8A09-9D7A16ABB973}" type="presOf" srcId="{4A3955F4-B1A6-4812-98ED-2D6D02D94E35}" destId="{B2D4CD90-7709-4B59-AC85-D09667CFC12B}" srcOrd="0" destOrd="0" presId="urn:microsoft.com/office/officeart/2005/8/layout/chevron2"/>
    <dgm:cxn modelId="{4AB28759-DCAB-43B1-B5BE-36D4FCDBAA0B}" srcId="{AADFB80D-C2E8-416C-B522-D5F6D93F18D7}" destId="{4C515B8D-87D1-4362-95C3-18B42B452625}" srcOrd="2" destOrd="0" parTransId="{3413E62F-FACB-412C-9FEF-2E9D080F65F5}" sibTransId="{387E11D6-6F89-470A-86BE-C608C2106AF6}"/>
    <dgm:cxn modelId="{F320287E-B3C2-4880-9516-FFD6695AE0E7}" srcId="{9EC5D7E7-13E1-4749-A134-4C83AB922A61}" destId="{75E710BF-3292-4B3F-A454-B7E6BF72E2C7}" srcOrd="0" destOrd="0" parTransId="{E03E4501-7796-49DD-B7C4-88D3AB91E6DB}" sibTransId="{7BCEDD18-C1A5-4D74-BD02-31A9F5C8DF2C}"/>
    <dgm:cxn modelId="{D36EDC8C-BDD1-4F1F-9AB5-8EDEF33F628F}" type="presOf" srcId="{75E710BF-3292-4B3F-A454-B7E6BF72E2C7}" destId="{C92F1771-01AA-4FF3-B7EC-0229DB7A592C}" srcOrd="0" destOrd="0" presId="urn:microsoft.com/office/officeart/2005/8/layout/chevron2"/>
    <dgm:cxn modelId="{7E5A0596-4D16-4207-B5F3-C2FD778C5412}" srcId="{4C515B8D-87D1-4362-95C3-18B42B452625}" destId="{4A3955F4-B1A6-4812-98ED-2D6D02D94E35}" srcOrd="0" destOrd="0" parTransId="{1EF809BA-BB9B-41F6-9A35-2C78CE3A0913}" sibTransId="{10EB35A1-EA5F-40EF-95CA-BDAB4D957484}"/>
    <dgm:cxn modelId="{AAFC0F9A-ADA1-4827-BB1A-86C8E3CBC8EB}" srcId="{AADFB80D-C2E8-416C-B522-D5F6D93F18D7}" destId="{780589F0-2154-4E4C-8595-8806E5EF917A}" srcOrd="3" destOrd="0" parTransId="{F00962FA-5389-4E36-9ABB-07A219FF91D3}" sibTransId="{DED9E408-00AC-4B08-A19D-D94226C9548F}"/>
    <dgm:cxn modelId="{07BC019F-EA5F-4290-A7F2-F044F5CF5F67}" srcId="{AADFB80D-C2E8-416C-B522-D5F6D93F18D7}" destId="{711BDD39-3FCE-427A-B0DC-2C28CEED9EDF}" srcOrd="1" destOrd="0" parTransId="{2D0B9227-5F25-49F4-84E9-F7E211C285CA}" sibTransId="{56806687-EA3D-424E-8880-B9427A94FF7E}"/>
    <dgm:cxn modelId="{2AB70DB2-120D-4916-A542-8BD092D58E08}" type="presOf" srcId="{AC2B0C85-A34A-449C-BDB1-A298878DE704}" destId="{19C32B8D-512E-49A1-A0E6-109384C61E4D}" srcOrd="0" destOrd="0" presId="urn:microsoft.com/office/officeart/2005/8/layout/chevron2"/>
    <dgm:cxn modelId="{95BAE2D2-7669-469D-9AF0-D651B51FCE91}" type="presOf" srcId="{9EC5D7E7-13E1-4749-A134-4C83AB922A61}" destId="{EB2E52AE-8FCF-47D0-B499-CFCFAF1883A9}" srcOrd="0" destOrd="0" presId="urn:microsoft.com/office/officeart/2005/8/layout/chevron2"/>
    <dgm:cxn modelId="{5ED434D9-CD48-4632-9238-0AD1DC8B7F67}" srcId="{711BDD39-3FCE-427A-B0DC-2C28CEED9EDF}" destId="{856C5D97-053A-4768-924C-7BBED1694139}" srcOrd="0" destOrd="0" parTransId="{5882EAA0-9B73-4D58-9B28-101A1A118DA7}" sibTransId="{FB282A4C-1B09-4A3E-BA59-953ECF9E16C0}"/>
    <dgm:cxn modelId="{37E82DE3-0EF4-4A02-AA7D-36369B21C5B2}" type="presOf" srcId="{856C5D97-053A-4768-924C-7BBED1694139}" destId="{0DFDFC6D-8604-4378-B6A3-6A6720006C95}" srcOrd="0" destOrd="0" presId="urn:microsoft.com/office/officeart/2005/8/layout/chevron2"/>
    <dgm:cxn modelId="{1B5B31EC-2D9A-481F-92B4-9BD3DD315797}" srcId="{AADFB80D-C2E8-416C-B522-D5F6D93F18D7}" destId="{13A3E740-D063-442F-85E3-8C13FFBDAFFB}" srcOrd="0" destOrd="0" parTransId="{055E1BD7-FB8E-4E56-9F39-EF9F6386A053}" sibTransId="{87670CDC-835B-4F9F-927F-1317C8E87F86}"/>
    <dgm:cxn modelId="{4944EAFC-B2B0-4E7D-94E9-B17B5C2D380E}" srcId="{AADFB80D-C2E8-416C-B522-D5F6D93F18D7}" destId="{9EC5D7E7-13E1-4749-A134-4C83AB922A61}" srcOrd="4" destOrd="0" parTransId="{5C3B17FD-DFBE-4B56-9F97-5E041A0D5E90}" sibTransId="{B7023446-8BB7-45ED-9CB6-4F5FC1A1AF95}"/>
    <dgm:cxn modelId="{2CC3E848-3291-4CD0-B317-41F5D7C45A7F}" type="presParOf" srcId="{7EBBDEE6-A55E-47FA-9020-5BC46200AFFC}" destId="{C2DD6752-EEDA-4174-9D58-1EADF09490B5}" srcOrd="0" destOrd="0" presId="urn:microsoft.com/office/officeart/2005/8/layout/chevron2"/>
    <dgm:cxn modelId="{F2611B9D-ED34-4E48-B173-7425A1C12702}" type="presParOf" srcId="{C2DD6752-EEDA-4174-9D58-1EADF09490B5}" destId="{DFA48299-B840-4714-A5F6-769C74D74113}" srcOrd="0" destOrd="0" presId="urn:microsoft.com/office/officeart/2005/8/layout/chevron2"/>
    <dgm:cxn modelId="{0339950F-F790-4C54-B5C5-7E748C166A64}" type="presParOf" srcId="{C2DD6752-EEDA-4174-9D58-1EADF09490B5}" destId="{19C32B8D-512E-49A1-A0E6-109384C61E4D}" srcOrd="1" destOrd="0" presId="urn:microsoft.com/office/officeart/2005/8/layout/chevron2"/>
    <dgm:cxn modelId="{8C3B7F65-E991-4727-96FD-4A397BC99530}" type="presParOf" srcId="{7EBBDEE6-A55E-47FA-9020-5BC46200AFFC}" destId="{EB6649E3-7C43-464A-A458-4DE8A2D95277}" srcOrd="1" destOrd="0" presId="urn:microsoft.com/office/officeart/2005/8/layout/chevron2"/>
    <dgm:cxn modelId="{67686BDB-624B-4768-B17C-649608EC595D}" type="presParOf" srcId="{7EBBDEE6-A55E-47FA-9020-5BC46200AFFC}" destId="{B03EC7DE-1F17-45FD-8EC4-5657CB3CA06B}" srcOrd="2" destOrd="0" presId="urn:microsoft.com/office/officeart/2005/8/layout/chevron2"/>
    <dgm:cxn modelId="{E384677C-5D5C-4BA0-9373-811233886715}" type="presParOf" srcId="{B03EC7DE-1F17-45FD-8EC4-5657CB3CA06B}" destId="{AAD30B60-88C6-4919-B6DD-9F480459E84E}" srcOrd="0" destOrd="0" presId="urn:microsoft.com/office/officeart/2005/8/layout/chevron2"/>
    <dgm:cxn modelId="{990050CC-88AF-4BFD-BA57-27FA9CC550C6}" type="presParOf" srcId="{B03EC7DE-1F17-45FD-8EC4-5657CB3CA06B}" destId="{0DFDFC6D-8604-4378-B6A3-6A6720006C95}" srcOrd="1" destOrd="0" presId="urn:microsoft.com/office/officeart/2005/8/layout/chevron2"/>
    <dgm:cxn modelId="{577D7B9B-111D-49E5-8B31-17247683DAAB}" type="presParOf" srcId="{7EBBDEE6-A55E-47FA-9020-5BC46200AFFC}" destId="{8738B044-A46F-4E69-BD1E-16537D77F816}" srcOrd="3" destOrd="0" presId="urn:microsoft.com/office/officeart/2005/8/layout/chevron2"/>
    <dgm:cxn modelId="{4B8D09CE-12DA-4A98-A079-57B4B36ABD66}" type="presParOf" srcId="{7EBBDEE6-A55E-47FA-9020-5BC46200AFFC}" destId="{3E2A20E0-2799-4B60-847C-0291A143F060}" srcOrd="4" destOrd="0" presId="urn:microsoft.com/office/officeart/2005/8/layout/chevron2"/>
    <dgm:cxn modelId="{DD09799F-3B55-4A21-B1D8-51D0255A8FC0}" type="presParOf" srcId="{3E2A20E0-2799-4B60-847C-0291A143F060}" destId="{17253025-0BE3-46B4-B2C8-BFD879D75B26}" srcOrd="0" destOrd="0" presId="urn:microsoft.com/office/officeart/2005/8/layout/chevron2"/>
    <dgm:cxn modelId="{B28B55D1-C1C4-4929-B387-2753095F16BC}" type="presParOf" srcId="{3E2A20E0-2799-4B60-847C-0291A143F060}" destId="{B2D4CD90-7709-4B59-AC85-D09667CFC12B}" srcOrd="1" destOrd="0" presId="urn:microsoft.com/office/officeart/2005/8/layout/chevron2"/>
    <dgm:cxn modelId="{14614803-1AE9-4484-B475-713BAB65206C}" type="presParOf" srcId="{7EBBDEE6-A55E-47FA-9020-5BC46200AFFC}" destId="{FCA35A52-5E56-41CA-AAAA-74E510180904}" srcOrd="5" destOrd="0" presId="urn:microsoft.com/office/officeart/2005/8/layout/chevron2"/>
    <dgm:cxn modelId="{5FCECAA4-B55F-4524-B52B-5579AFC35055}" type="presParOf" srcId="{7EBBDEE6-A55E-47FA-9020-5BC46200AFFC}" destId="{BC0413A5-5CFC-41A1-A4D1-32D9D3A580EB}" srcOrd="6" destOrd="0" presId="urn:microsoft.com/office/officeart/2005/8/layout/chevron2"/>
    <dgm:cxn modelId="{A5C36485-CCE1-4523-911E-6345AFDCF231}" type="presParOf" srcId="{BC0413A5-5CFC-41A1-A4D1-32D9D3A580EB}" destId="{056CCBB6-5CE0-4348-89C6-99FB2D3AB62B}" srcOrd="0" destOrd="0" presId="urn:microsoft.com/office/officeart/2005/8/layout/chevron2"/>
    <dgm:cxn modelId="{49CDF3A4-EBDD-472A-8CEE-35499F216772}" type="presParOf" srcId="{BC0413A5-5CFC-41A1-A4D1-32D9D3A580EB}" destId="{90709722-0E94-45E4-BEDD-48CB660682DD}" srcOrd="1" destOrd="0" presId="urn:microsoft.com/office/officeart/2005/8/layout/chevron2"/>
    <dgm:cxn modelId="{5DA3A105-B2B5-4570-ACCF-A2B4BFFDA4E8}" type="presParOf" srcId="{7EBBDEE6-A55E-47FA-9020-5BC46200AFFC}" destId="{13B0A0BF-E273-47AE-B262-3C6C9C4E8968}" srcOrd="7" destOrd="0" presId="urn:microsoft.com/office/officeart/2005/8/layout/chevron2"/>
    <dgm:cxn modelId="{9C5603DB-FB5F-489A-A5FC-119F4545BE24}" type="presParOf" srcId="{7EBBDEE6-A55E-47FA-9020-5BC46200AFFC}" destId="{5FCAE6DF-E40E-46F3-84CF-149E85A19097}" srcOrd="8" destOrd="0" presId="urn:microsoft.com/office/officeart/2005/8/layout/chevron2"/>
    <dgm:cxn modelId="{F75C00D0-5E0F-413E-AC94-1D55800F95C3}" type="presParOf" srcId="{5FCAE6DF-E40E-46F3-84CF-149E85A19097}" destId="{EB2E52AE-8FCF-47D0-B499-CFCFAF1883A9}" srcOrd="0" destOrd="0" presId="urn:microsoft.com/office/officeart/2005/8/layout/chevron2"/>
    <dgm:cxn modelId="{3052A6C1-D8FE-443D-9D61-8901A566CBC1}" type="presParOf" srcId="{5FCAE6DF-E40E-46F3-84CF-149E85A19097}" destId="{C92F1771-01AA-4FF3-B7EC-0229DB7A592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ADFB80D-C2E8-416C-B522-D5F6D93F18D7}" type="doc">
      <dgm:prSet loTypeId="urn:microsoft.com/office/officeart/2005/8/layout/chevron2" loCatId="list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13A3E740-D063-442F-85E3-8C13FFBDAFFB}">
      <dgm:prSet phldrT="[Text]" custT="1"/>
      <dgm:spPr/>
      <dgm:t>
        <a:bodyPr/>
        <a:lstStyle/>
        <a:p>
          <a:r>
            <a:rPr lang="en-US" sz="2400" dirty="0"/>
            <a:t>SDD</a:t>
          </a:r>
          <a:endParaRPr lang="en-US" sz="1900" dirty="0"/>
        </a:p>
      </dgm:t>
    </dgm:pt>
    <dgm:pt modelId="{055E1BD7-FB8E-4E56-9F39-EF9F6386A053}" type="parTrans" cxnId="{1B5B31EC-2D9A-481F-92B4-9BD3DD315797}">
      <dgm:prSet/>
      <dgm:spPr/>
      <dgm:t>
        <a:bodyPr/>
        <a:lstStyle/>
        <a:p>
          <a:endParaRPr lang="en-US"/>
        </a:p>
      </dgm:t>
    </dgm:pt>
    <dgm:pt modelId="{87670CDC-835B-4F9F-927F-1317C8E87F86}" type="sibTrans" cxnId="{1B5B31EC-2D9A-481F-92B4-9BD3DD315797}">
      <dgm:prSet/>
      <dgm:spPr/>
      <dgm:t>
        <a:bodyPr/>
        <a:lstStyle/>
        <a:p>
          <a:endParaRPr lang="en-US"/>
        </a:p>
      </dgm:t>
    </dgm:pt>
    <dgm:pt modelId="{AC2B0C85-A34A-449C-BDB1-A298878DE704}">
      <dgm:prSet phldrT="[Text]"/>
      <dgm:spPr/>
      <dgm:t>
        <a:bodyPr/>
        <a:lstStyle/>
        <a:p>
          <a:r>
            <a:rPr lang="en-US" dirty="0"/>
            <a:t>Software Design and Development (54%)</a:t>
          </a:r>
        </a:p>
      </dgm:t>
    </dgm:pt>
    <dgm:pt modelId="{E5225F41-044B-4F7C-A813-74912B7609F7}" type="parTrans" cxnId="{A2F04726-03B2-41D7-AC39-4EB0FD25F0DB}">
      <dgm:prSet/>
      <dgm:spPr/>
      <dgm:t>
        <a:bodyPr/>
        <a:lstStyle/>
        <a:p>
          <a:endParaRPr lang="en-US"/>
        </a:p>
      </dgm:t>
    </dgm:pt>
    <dgm:pt modelId="{C96E9F27-EE7F-4F89-BD19-DC4C6EA4193D}" type="sibTrans" cxnId="{A2F04726-03B2-41D7-AC39-4EB0FD25F0DB}">
      <dgm:prSet/>
      <dgm:spPr/>
      <dgm:t>
        <a:bodyPr/>
        <a:lstStyle/>
        <a:p>
          <a:endParaRPr lang="en-US"/>
        </a:p>
      </dgm:t>
    </dgm:pt>
    <dgm:pt modelId="{711BDD39-3FCE-427A-B0DC-2C28CEED9EDF}">
      <dgm:prSet phldrT="[Text]" custT="1"/>
      <dgm:spPr/>
      <dgm:t>
        <a:bodyPr/>
        <a:lstStyle/>
        <a:p>
          <a:r>
            <a:rPr lang="en-US" sz="2400" dirty="0"/>
            <a:t>DDD</a:t>
          </a:r>
          <a:endParaRPr lang="en-US" sz="1800" dirty="0"/>
        </a:p>
      </dgm:t>
    </dgm:pt>
    <dgm:pt modelId="{2D0B9227-5F25-49F4-84E9-F7E211C285CA}" type="parTrans" cxnId="{07BC019F-EA5F-4290-A7F2-F044F5CF5F67}">
      <dgm:prSet/>
      <dgm:spPr/>
      <dgm:t>
        <a:bodyPr/>
        <a:lstStyle/>
        <a:p>
          <a:endParaRPr lang="en-US"/>
        </a:p>
      </dgm:t>
    </dgm:pt>
    <dgm:pt modelId="{56806687-EA3D-424E-8880-B9427A94FF7E}" type="sibTrans" cxnId="{07BC019F-EA5F-4290-A7F2-F044F5CF5F67}">
      <dgm:prSet/>
      <dgm:spPr/>
      <dgm:t>
        <a:bodyPr/>
        <a:lstStyle/>
        <a:p>
          <a:endParaRPr lang="en-US"/>
        </a:p>
      </dgm:t>
    </dgm:pt>
    <dgm:pt modelId="{856C5D97-053A-4768-924C-7BBED1694139}">
      <dgm:prSet phldrT="[Text]"/>
      <dgm:spPr/>
      <dgm:t>
        <a:bodyPr/>
        <a:lstStyle/>
        <a:p>
          <a:r>
            <a:rPr lang="en-US" dirty="0"/>
            <a:t>Database Design and Development (33%)</a:t>
          </a:r>
        </a:p>
      </dgm:t>
    </dgm:pt>
    <dgm:pt modelId="{5882EAA0-9B73-4D58-9B28-101A1A118DA7}" type="parTrans" cxnId="{5ED434D9-CD48-4632-9238-0AD1DC8B7F67}">
      <dgm:prSet/>
      <dgm:spPr/>
      <dgm:t>
        <a:bodyPr/>
        <a:lstStyle/>
        <a:p>
          <a:endParaRPr lang="en-US"/>
        </a:p>
      </dgm:t>
    </dgm:pt>
    <dgm:pt modelId="{FB282A4C-1B09-4A3E-BA59-953ECF9E16C0}" type="sibTrans" cxnId="{5ED434D9-CD48-4632-9238-0AD1DC8B7F67}">
      <dgm:prSet/>
      <dgm:spPr/>
      <dgm:t>
        <a:bodyPr/>
        <a:lstStyle/>
        <a:p>
          <a:endParaRPr lang="en-US"/>
        </a:p>
      </dgm:t>
    </dgm:pt>
    <dgm:pt modelId="{4A3955F4-B1A6-4812-98ED-2D6D02D94E35}">
      <dgm:prSet phldrT="[Text]"/>
      <dgm:spPr/>
      <dgm:t>
        <a:bodyPr/>
        <a:lstStyle/>
        <a:p>
          <a:r>
            <a:rPr lang="en-US" b="1" dirty="0">
              <a:latin typeface="+mn-lt"/>
            </a:rPr>
            <a:t> </a:t>
          </a:r>
        </a:p>
      </dgm:t>
    </dgm:pt>
    <dgm:pt modelId="{1EF809BA-BB9B-41F6-9A35-2C78CE3A0913}" type="parTrans" cxnId="{7E5A0596-4D16-4207-B5F3-C2FD778C5412}">
      <dgm:prSet/>
      <dgm:spPr/>
      <dgm:t>
        <a:bodyPr/>
        <a:lstStyle/>
        <a:p>
          <a:endParaRPr lang="en-US"/>
        </a:p>
      </dgm:t>
    </dgm:pt>
    <dgm:pt modelId="{10EB35A1-EA5F-40EF-95CA-BDAB4D957484}" type="sibTrans" cxnId="{7E5A0596-4D16-4207-B5F3-C2FD778C5412}">
      <dgm:prSet/>
      <dgm:spPr/>
      <dgm:t>
        <a:bodyPr/>
        <a:lstStyle/>
        <a:p>
          <a:endParaRPr lang="en-US"/>
        </a:p>
      </dgm:t>
    </dgm:pt>
    <dgm:pt modelId="{4C515B8D-87D1-4362-95C3-18B42B452625}">
      <dgm:prSet phldrT="[Text]"/>
      <dgm:spPr>
        <a:solidFill>
          <a:srgbClr val="FF0000"/>
        </a:solidFill>
        <a:ln>
          <a:solidFill>
            <a:srgbClr val="FF0000"/>
          </a:solidFill>
        </a:ln>
      </dgm:spPr>
      <dgm:t>
        <a:bodyPr/>
        <a:lstStyle/>
        <a:p>
          <a:endParaRPr lang="en-US" dirty="0"/>
        </a:p>
      </dgm:t>
    </dgm:pt>
    <dgm:pt modelId="{3413E62F-FACB-412C-9FEF-2E9D080F65F5}" type="parTrans" cxnId="{4AB28759-DCAB-43B1-B5BE-36D4FCDBAA0B}">
      <dgm:prSet/>
      <dgm:spPr/>
      <dgm:t>
        <a:bodyPr/>
        <a:lstStyle/>
        <a:p>
          <a:endParaRPr lang="en-US"/>
        </a:p>
      </dgm:t>
    </dgm:pt>
    <dgm:pt modelId="{387E11D6-6F89-470A-86BE-C608C2106AF6}" type="sibTrans" cxnId="{4AB28759-DCAB-43B1-B5BE-36D4FCDBAA0B}">
      <dgm:prSet/>
      <dgm:spPr/>
      <dgm:t>
        <a:bodyPr/>
        <a:lstStyle/>
        <a:p>
          <a:endParaRPr lang="en-US"/>
        </a:p>
      </dgm:t>
    </dgm:pt>
    <dgm:pt modelId="{E2BA0B41-F146-425E-9754-1E81B83EDF8B}">
      <dgm:prSet phldrT="[Text]"/>
      <dgm:spPr/>
      <dgm:t>
        <a:bodyPr/>
        <a:lstStyle/>
        <a:p>
          <a:r>
            <a:rPr lang="en-US" dirty="0"/>
            <a:t>Computer Systems (13%)</a:t>
          </a:r>
        </a:p>
      </dgm:t>
    </dgm:pt>
    <dgm:pt modelId="{09E005FD-F987-4EBD-9D26-CE4C06669AB5}" type="parTrans" cxnId="{56AEC75D-06D3-4BA4-8933-FE1A0F7AE162}">
      <dgm:prSet/>
      <dgm:spPr/>
      <dgm:t>
        <a:bodyPr/>
        <a:lstStyle/>
        <a:p>
          <a:endParaRPr lang="en-US"/>
        </a:p>
      </dgm:t>
    </dgm:pt>
    <dgm:pt modelId="{017B98FE-F345-4459-B767-E6B696310854}" type="sibTrans" cxnId="{56AEC75D-06D3-4BA4-8933-FE1A0F7AE162}">
      <dgm:prSet/>
      <dgm:spPr/>
      <dgm:t>
        <a:bodyPr/>
        <a:lstStyle/>
        <a:p>
          <a:endParaRPr lang="en-US"/>
        </a:p>
      </dgm:t>
    </dgm:pt>
    <dgm:pt modelId="{780589F0-2154-4E4C-8595-8806E5EF917A}">
      <dgm:prSet phldrT="[Text]" custT="1"/>
      <dgm:spPr/>
      <dgm:t>
        <a:bodyPr/>
        <a:lstStyle/>
        <a:p>
          <a:r>
            <a:rPr lang="en-US" sz="2300" dirty="0"/>
            <a:t>C/Sys</a:t>
          </a:r>
        </a:p>
      </dgm:t>
    </dgm:pt>
    <dgm:pt modelId="{F00962FA-5389-4E36-9ABB-07A219FF91D3}" type="parTrans" cxnId="{AAFC0F9A-ADA1-4827-BB1A-86C8E3CBC8EB}">
      <dgm:prSet/>
      <dgm:spPr/>
      <dgm:t>
        <a:bodyPr/>
        <a:lstStyle/>
        <a:p>
          <a:endParaRPr lang="en-US"/>
        </a:p>
      </dgm:t>
    </dgm:pt>
    <dgm:pt modelId="{DED9E408-00AC-4B08-A19D-D94226C9548F}" type="sibTrans" cxnId="{AAFC0F9A-ADA1-4827-BB1A-86C8E3CBC8EB}">
      <dgm:prSet/>
      <dgm:spPr/>
      <dgm:t>
        <a:bodyPr/>
        <a:lstStyle/>
        <a:p>
          <a:endParaRPr lang="en-US"/>
        </a:p>
      </dgm:t>
    </dgm:pt>
    <dgm:pt modelId="{75E710BF-3292-4B3F-A454-B7E6BF72E2C7}">
      <dgm:prSet phldrT="[Text]"/>
      <dgm:spPr/>
      <dgm:t>
        <a:bodyPr/>
        <a:lstStyle/>
        <a:p>
          <a:r>
            <a:rPr lang="en-US" b="1" dirty="0">
              <a:latin typeface="+mn-lt"/>
            </a:rPr>
            <a:t> </a:t>
          </a:r>
        </a:p>
      </dgm:t>
    </dgm:pt>
    <dgm:pt modelId="{E03E4501-7796-49DD-B7C4-88D3AB91E6DB}" type="parTrans" cxnId="{F320287E-B3C2-4880-9516-FFD6695AE0E7}">
      <dgm:prSet/>
      <dgm:spPr/>
      <dgm:t>
        <a:bodyPr/>
        <a:lstStyle/>
        <a:p>
          <a:endParaRPr lang="en-US"/>
        </a:p>
      </dgm:t>
    </dgm:pt>
    <dgm:pt modelId="{7BCEDD18-C1A5-4D74-BD02-31A9F5C8DF2C}" type="sibTrans" cxnId="{F320287E-B3C2-4880-9516-FFD6695AE0E7}">
      <dgm:prSet/>
      <dgm:spPr/>
      <dgm:t>
        <a:bodyPr/>
        <a:lstStyle/>
        <a:p>
          <a:endParaRPr lang="en-US"/>
        </a:p>
      </dgm:t>
    </dgm:pt>
    <dgm:pt modelId="{9EC5D7E7-13E1-4749-A134-4C83AB922A61}">
      <dgm:prSet phldrT="[Text]"/>
      <dgm:spPr>
        <a:solidFill>
          <a:srgbClr val="FF0000"/>
        </a:solidFill>
        <a:ln>
          <a:solidFill>
            <a:srgbClr val="FF0000"/>
          </a:solidFill>
        </a:ln>
      </dgm:spPr>
      <dgm:t>
        <a:bodyPr/>
        <a:lstStyle/>
        <a:p>
          <a:endParaRPr lang="en-US"/>
        </a:p>
      </dgm:t>
    </dgm:pt>
    <dgm:pt modelId="{5C3B17FD-DFBE-4B56-9F97-5E041A0D5E90}" type="parTrans" cxnId="{4944EAFC-B2B0-4E7D-94E9-B17B5C2D380E}">
      <dgm:prSet/>
      <dgm:spPr/>
      <dgm:t>
        <a:bodyPr/>
        <a:lstStyle/>
        <a:p>
          <a:endParaRPr lang="en-US"/>
        </a:p>
      </dgm:t>
    </dgm:pt>
    <dgm:pt modelId="{B7023446-8BB7-45ED-9CB6-4F5FC1A1AF95}" type="sibTrans" cxnId="{4944EAFC-B2B0-4E7D-94E9-B17B5C2D380E}">
      <dgm:prSet/>
      <dgm:spPr/>
      <dgm:t>
        <a:bodyPr/>
        <a:lstStyle/>
        <a:p>
          <a:endParaRPr lang="en-US"/>
        </a:p>
      </dgm:t>
    </dgm:pt>
    <dgm:pt modelId="{7EBBDEE6-A55E-47FA-9020-5BC46200AFFC}" type="pres">
      <dgm:prSet presAssocID="{AADFB80D-C2E8-416C-B522-D5F6D93F18D7}" presName="linearFlow" presStyleCnt="0">
        <dgm:presLayoutVars>
          <dgm:dir/>
          <dgm:animLvl val="lvl"/>
          <dgm:resizeHandles val="exact"/>
        </dgm:presLayoutVars>
      </dgm:prSet>
      <dgm:spPr/>
    </dgm:pt>
    <dgm:pt modelId="{C2DD6752-EEDA-4174-9D58-1EADF09490B5}" type="pres">
      <dgm:prSet presAssocID="{13A3E740-D063-442F-85E3-8C13FFBDAFFB}" presName="composite" presStyleCnt="0"/>
      <dgm:spPr/>
    </dgm:pt>
    <dgm:pt modelId="{DFA48299-B840-4714-A5F6-769C74D74113}" type="pres">
      <dgm:prSet presAssocID="{13A3E740-D063-442F-85E3-8C13FFBDAFFB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19C32B8D-512E-49A1-A0E6-109384C61E4D}" type="pres">
      <dgm:prSet presAssocID="{13A3E740-D063-442F-85E3-8C13FFBDAFFB}" presName="descendantText" presStyleLbl="alignAcc1" presStyleIdx="0" presStyleCnt="5">
        <dgm:presLayoutVars>
          <dgm:bulletEnabled val="1"/>
        </dgm:presLayoutVars>
      </dgm:prSet>
      <dgm:spPr/>
    </dgm:pt>
    <dgm:pt modelId="{EB6649E3-7C43-464A-A458-4DE8A2D95277}" type="pres">
      <dgm:prSet presAssocID="{87670CDC-835B-4F9F-927F-1317C8E87F86}" presName="sp" presStyleCnt="0"/>
      <dgm:spPr/>
    </dgm:pt>
    <dgm:pt modelId="{B03EC7DE-1F17-45FD-8EC4-5657CB3CA06B}" type="pres">
      <dgm:prSet presAssocID="{711BDD39-3FCE-427A-B0DC-2C28CEED9EDF}" presName="composite" presStyleCnt="0"/>
      <dgm:spPr/>
    </dgm:pt>
    <dgm:pt modelId="{AAD30B60-88C6-4919-B6DD-9F480459E84E}" type="pres">
      <dgm:prSet presAssocID="{711BDD39-3FCE-427A-B0DC-2C28CEED9EDF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0DFDFC6D-8604-4378-B6A3-6A6720006C95}" type="pres">
      <dgm:prSet presAssocID="{711BDD39-3FCE-427A-B0DC-2C28CEED9EDF}" presName="descendantText" presStyleLbl="alignAcc1" presStyleIdx="1" presStyleCnt="5">
        <dgm:presLayoutVars>
          <dgm:bulletEnabled val="1"/>
        </dgm:presLayoutVars>
      </dgm:prSet>
      <dgm:spPr/>
    </dgm:pt>
    <dgm:pt modelId="{8738B044-A46F-4E69-BD1E-16537D77F816}" type="pres">
      <dgm:prSet presAssocID="{56806687-EA3D-424E-8880-B9427A94FF7E}" presName="sp" presStyleCnt="0"/>
      <dgm:spPr/>
    </dgm:pt>
    <dgm:pt modelId="{3E2A20E0-2799-4B60-847C-0291A143F060}" type="pres">
      <dgm:prSet presAssocID="{4C515B8D-87D1-4362-95C3-18B42B452625}" presName="composite" presStyleCnt="0"/>
      <dgm:spPr/>
    </dgm:pt>
    <dgm:pt modelId="{17253025-0BE3-46B4-B2C8-BFD879D75B26}" type="pres">
      <dgm:prSet presAssocID="{4C515B8D-87D1-4362-95C3-18B42B452625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B2D4CD90-7709-4B59-AC85-D09667CFC12B}" type="pres">
      <dgm:prSet presAssocID="{4C515B8D-87D1-4362-95C3-18B42B452625}" presName="descendantText" presStyleLbl="alignAcc1" presStyleIdx="2" presStyleCnt="5">
        <dgm:presLayoutVars>
          <dgm:bulletEnabled val="1"/>
        </dgm:presLayoutVars>
      </dgm:prSet>
      <dgm:spPr/>
    </dgm:pt>
    <dgm:pt modelId="{FCA35A52-5E56-41CA-AAAA-74E510180904}" type="pres">
      <dgm:prSet presAssocID="{387E11D6-6F89-470A-86BE-C608C2106AF6}" presName="sp" presStyleCnt="0"/>
      <dgm:spPr/>
    </dgm:pt>
    <dgm:pt modelId="{BC0413A5-5CFC-41A1-A4D1-32D9D3A580EB}" type="pres">
      <dgm:prSet presAssocID="{780589F0-2154-4E4C-8595-8806E5EF917A}" presName="composite" presStyleCnt="0"/>
      <dgm:spPr/>
    </dgm:pt>
    <dgm:pt modelId="{056CCBB6-5CE0-4348-89C6-99FB2D3AB62B}" type="pres">
      <dgm:prSet presAssocID="{780589F0-2154-4E4C-8595-8806E5EF917A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90709722-0E94-45E4-BEDD-48CB660682DD}" type="pres">
      <dgm:prSet presAssocID="{780589F0-2154-4E4C-8595-8806E5EF917A}" presName="descendantText" presStyleLbl="alignAcc1" presStyleIdx="3" presStyleCnt="5">
        <dgm:presLayoutVars>
          <dgm:bulletEnabled val="1"/>
        </dgm:presLayoutVars>
      </dgm:prSet>
      <dgm:spPr/>
    </dgm:pt>
    <dgm:pt modelId="{13B0A0BF-E273-47AE-B262-3C6C9C4E8968}" type="pres">
      <dgm:prSet presAssocID="{DED9E408-00AC-4B08-A19D-D94226C9548F}" presName="sp" presStyleCnt="0"/>
      <dgm:spPr/>
    </dgm:pt>
    <dgm:pt modelId="{5FCAE6DF-E40E-46F3-84CF-149E85A19097}" type="pres">
      <dgm:prSet presAssocID="{9EC5D7E7-13E1-4749-A134-4C83AB922A61}" presName="composite" presStyleCnt="0"/>
      <dgm:spPr/>
    </dgm:pt>
    <dgm:pt modelId="{EB2E52AE-8FCF-47D0-B499-CFCFAF1883A9}" type="pres">
      <dgm:prSet presAssocID="{9EC5D7E7-13E1-4749-A134-4C83AB922A61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C92F1771-01AA-4FF3-B7EC-0229DB7A592C}" type="pres">
      <dgm:prSet presAssocID="{9EC5D7E7-13E1-4749-A134-4C83AB922A61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B5BAA509-F012-4E82-9E50-DD70E5E7F1B2}" type="presOf" srcId="{AADFB80D-C2E8-416C-B522-D5F6D93F18D7}" destId="{7EBBDEE6-A55E-47FA-9020-5BC46200AFFC}" srcOrd="0" destOrd="0" presId="urn:microsoft.com/office/officeart/2005/8/layout/chevron2"/>
    <dgm:cxn modelId="{51AC560A-15D5-4873-A728-46FA9B3877F9}" type="presOf" srcId="{780589F0-2154-4E4C-8595-8806E5EF917A}" destId="{056CCBB6-5CE0-4348-89C6-99FB2D3AB62B}" srcOrd="0" destOrd="0" presId="urn:microsoft.com/office/officeart/2005/8/layout/chevron2"/>
    <dgm:cxn modelId="{6521D611-0B51-48EB-B293-CE7ADA48FE29}" type="presOf" srcId="{711BDD39-3FCE-427A-B0DC-2C28CEED9EDF}" destId="{AAD30B60-88C6-4919-B6DD-9F480459E84E}" srcOrd="0" destOrd="0" presId="urn:microsoft.com/office/officeart/2005/8/layout/chevron2"/>
    <dgm:cxn modelId="{A2F04726-03B2-41D7-AC39-4EB0FD25F0DB}" srcId="{13A3E740-D063-442F-85E3-8C13FFBDAFFB}" destId="{AC2B0C85-A34A-449C-BDB1-A298878DE704}" srcOrd="0" destOrd="0" parTransId="{E5225F41-044B-4F7C-A813-74912B7609F7}" sibTransId="{C96E9F27-EE7F-4F89-BD19-DC4C6EA4193D}"/>
    <dgm:cxn modelId="{D49F1534-E21B-49CA-902B-89FB72311FD2}" type="presOf" srcId="{4C515B8D-87D1-4362-95C3-18B42B452625}" destId="{17253025-0BE3-46B4-B2C8-BFD879D75B26}" srcOrd="0" destOrd="0" presId="urn:microsoft.com/office/officeart/2005/8/layout/chevron2"/>
    <dgm:cxn modelId="{465C8D34-FC72-4D1A-9E65-4F4016ABC282}" type="presOf" srcId="{13A3E740-D063-442F-85E3-8C13FFBDAFFB}" destId="{DFA48299-B840-4714-A5F6-769C74D74113}" srcOrd="0" destOrd="0" presId="urn:microsoft.com/office/officeart/2005/8/layout/chevron2"/>
    <dgm:cxn modelId="{56AEC75D-06D3-4BA4-8933-FE1A0F7AE162}" srcId="{780589F0-2154-4E4C-8595-8806E5EF917A}" destId="{E2BA0B41-F146-425E-9754-1E81B83EDF8B}" srcOrd="0" destOrd="0" parTransId="{09E005FD-F987-4EBD-9D26-CE4C06669AB5}" sibTransId="{017B98FE-F345-4459-B767-E6B696310854}"/>
    <dgm:cxn modelId="{2B7AD66F-7BCF-434E-A3B5-2F39AADE0BF7}" type="presOf" srcId="{E2BA0B41-F146-425E-9754-1E81B83EDF8B}" destId="{90709722-0E94-45E4-BEDD-48CB660682DD}" srcOrd="0" destOrd="0" presId="urn:microsoft.com/office/officeart/2005/8/layout/chevron2"/>
    <dgm:cxn modelId="{5C508956-AB66-4052-8A09-9D7A16ABB973}" type="presOf" srcId="{4A3955F4-B1A6-4812-98ED-2D6D02D94E35}" destId="{B2D4CD90-7709-4B59-AC85-D09667CFC12B}" srcOrd="0" destOrd="0" presId="urn:microsoft.com/office/officeart/2005/8/layout/chevron2"/>
    <dgm:cxn modelId="{4AB28759-DCAB-43B1-B5BE-36D4FCDBAA0B}" srcId="{AADFB80D-C2E8-416C-B522-D5F6D93F18D7}" destId="{4C515B8D-87D1-4362-95C3-18B42B452625}" srcOrd="2" destOrd="0" parTransId="{3413E62F-FACB-412C-9FEF-2E9D080F65F5}" sibTransId="{387E11D6-6F89-470A-86BE-C608C2106AF6}"/>
    <dgm:cxn modelId="{F320287E-B3C2-4880-9516-FFD6695AE0E7}" srcId="{9EC5D7E7-13E1-4749-A134-4C83AB922A61}" destId="{75E710BF-3292-4B3F-A454-B7E6BF72E2C7}" srcOrd="0" destOrd="0" parTransId="{E03E4501-7796-49DD-B7C4-88D3AB91E6DB}" sibTransId="{7BCEDD18-C1A5-4D74-BD02-31A9F5C8DF2C}"/>
    <dgm:cxn modelId="{D36EDC8C-BDD1-4F1F-9AB5-8EDEF33F628F}" type="presOf" srcId="{75E710BF-3292-4B3F-A454-B7E6BF72E2C7}" destId="{C92F1771-01AA-4FF3-B7EC-0229DB7A592C}" srcOrd="0" destOrd="0" presId="urn:microsoft.com/office/officeart/2005/8/layout/chevron2"/>
    <dgm:cxn modelId="{7E5A0596-4D16-4207-B5F3-C2FD778C5412}" srcId="{4C515B8D-87D1-4362-95C3-18B42B452625}" destId="{4A3955F4-B1A6-4812-98ED-2D6D02D94E35}" srcOrd="0" destOrd="0" parTransId="{1EF809BA-BB9B-41F6-9A35-2C78CE3A0913}" sibTransId="{10EB35A1-EA5F-40EF-95CA-BDAB4D957484}"/>
    <dgm:cxn modelId="{AAFC0F9A-ADA1-4827-BB1A-86C8E3CBC8EB}" srcId="{AADFB80D-C2E8-416C-B522-D5F6D93F18D7}" destId="{780589F0-2154-4E4C-8595-8806E5EF917A}" srcOrd="3" destOrd="0" parTransId="{F00962FA-5389-4E36-9ABB-07A219FF91D3}" sibTransId="{DED9E408-00AC-4B08-A19D-D94226C9548F}"/>
    <dgm:cxn modelId="{07BC019F-EA5F-4290-A7F2-F044F5CF5F67}" srcId="{AADFB80D-C2E8-416C-B522-D5F6D93F18D7}" destId="{711BDD39-3FCE-427A-B0DC-2C28CEED9EDF}" srcOrd="1" destOrd="0" parTransId="{2D0B9227-5F25-49F4-84E9-F7E211C285CA}" sibTransId="{56806687-EA3D-424E-8880-B9427A94FF7E}"/>
    <dgm:cxn modelId="{2AB70DB2-120D-4916-A542-8BD092D58E08}" type="presOf" srcId="{AC2B0C85-A34A-449C-BDB1-A298878DE704}" destId="{19C32B8D-512E-49A1-A0E6-109384C61E4D}" srcOrd="0" destOrd="0" presId="urn:microsoft.com/office/officeart/2005/8/layout/chevron2"/>
    <dgm:cxn modelId="{95BAE2D2-7669-469D-9AF0-D651B51FCE91}" type="presOf" srcId="{9EC5D7E7-13E1-4749-A134-4C83AB922A61}" destId="{EB2E52AE-8FCF-47D0-B499-CFCFAF1883A9}" srcOrd="0" destOrd="0" presId="urn:microsoft.com/office/officeart/2005/8/layout/chevron2"/>
    <dgm:cxn modelId="{5ED434D9-CD48-4632-9238-0AD1DC8B7F67}" srcId="{711BDD39-3FCE-427A-B0DC-2C28CEED9EDF}" destId="{856C5D97-053A-4768-924C-7BBED1694139}" srcOrd="0" destOrd="0" parTransId="{5882EAA0-9B73-4D58-9B28-101A1A118DA7}" sibTransId="{FB282A4C-1B09-4A3E-BA59-953ECF9E16C0}"/>
    <dgm:cxn modelId="{37E82DE3-0EF4-4A02-AA7D-36369B21C5B2}" type="presOf" srcId="{856C5D97-053A-4768-924C-7BBED1694139}" destId="{0DFDFC6D-8604-4378-B6A3-6A6720006C95}" srcOrd="0" destOrd="0" presId="urn:microsoft.com/office/officeart/2005/8/layout/chevron2"/>
    <dgm:cxn modelId="{1B5B31EC-2D9A-481F-92B4-9BD3DD315797}" srcId="{AADFB80D-C2E8-416C-B522-D5F6D93F18D7}" destId="{13A3E740-D063-442F-85E3-8C13FFBDAFFB}" srcOrd="0" destOrd="0" parTransId="{055E1BD7-FB8E-4E56-9F39-EF9F6386A053}" sibTransId="{87670CDC-835B-4F9F-927F-1317C8E87F86}"/>
    <dgm:cxn modelId="{4944EAFC-B2B0-4E7D-94E9-B17B5C2D380E}" srcId="{AADFB80D-C2E8-416C-B522-D5F6D93F18D7}" destId="{9EC5D7E7-13E1-4749-A134-4C83AB922A61}" srcOrd="4" destOrd="0" parTransId="{5C3B17FD-DFBE-4B56-9F97-5E041A0D5E90}" sibTransId="{B7023446-8BB7-45ED-9CB6-4F5FC1A1AF95}"/>
    <dgm:cxn modelId="{2CC3E848-3291-4CD0-B317-41F5D7C45A7F}" type="presParOf" srcId="{7EBBDEE6-A55E-47FA-9020-5BC46200AFFC}" destId="{C2DD6752-EEDA-4174-9D58-1EADF09490B5}" srcOrd="0" destOrd="0" presId="urn:microsoft.com/office/officeart/2005/8/layout/chevron2"/>
    <dgm:cxn modelId="{F2611B9D-ED34-4E48-B173-7425A1C12702}" type="presParOf" srcId="{C2DD6752-EEDA-4174-9D58-1EADF09490B5}" destId="{DFA48299-B840-4714-A5F6-769C74D74113}" srcOrd="0" destOrd="0" presId="urn:microsoft.com/office/officeart/2005/8/layout/chevron2"/>
    <dgm:cxn modelId="{0339950F-F790-4C54-B5C5-7E748C166A64}" type="presParOf" srcId="{C2DD6752-EEDA-4174-9D58-1EADF09490B5}" destId="{19C32B8D-512E-49A1-A0E6-109384C61E4D}" srcOrd="1" destOrd="0" presId="urn:microsoft.com/office/officeart/2005/8/layout/chevron2"/>
    <dgm:cxn modelId="{8C3B7F65-E991-4727-96FD-4A397BC99530}" type="presParOf" srcId="{7EBBDEE6-A55E-47FA-9020-5BC46200AFFC}" destId="{EB6649E3-7C43-464A-A458-4DE8A2D95277}" srcOrd="1" destOrd="0" presId="urn:microsoft.com/office/officeart/2005/8/layout/chevron2"/>
    <dgm:cxn modelId="{67686BDB-624B-4768-B17C-649608EC595D}" type="presParOf" srcId="{7EBBDEE6-A55E-47FA-9020-5BC46200AFFC}" destId="{B03EC7DE-1F17-45FD-8EC4-5657CB3CA06B}" srcOrd="2" destOrd="0" presId="urn:microsoft.com/office/officeart/2005/8/layout/chevron2"/>
    <dgm:cxn modelId="{E384677C-5D5C-4BA0-9373-811233886715}" type="presParOf" srcId="{B03EC7DE-1F17-45FD-8EC4-5657CB3CA06B}" destId="{AAD30B60-88C6-4919-B6DD-9F480459E84E}" srcOrd="0" destOrd="0" presId="urn:microsoft.com/office/officeart/2005/8/layout/chevron2"/>
    <dgm:cxn modelId="{990050CC-88AF-4BFD-BA57-27FA9CC550C6}" type="presParOf" srcId="{B03EC7DE-1F17-45FD-8EC4-5657CB3CA06B}" destId="{0DFDFC6D-8604-4378-B6A3-6A6720006C95}" srcOrd="1" destOrd="0" presId="urn:microsoft.com/office/officeart/2005/8/layout/chevron2"/>
    <dgm:cxn modelId="{577D7B9B-111D-49E5-8B31-17247683DAAB}" type="presParOf" srcId="{7EBBDEE6-A55E-47FA-9020-5BC46200AFFC}" destId="{8738B044-A46F-4E69-BD1E-16537D77F816}" srcOrd="3" destOrd="0" presId="urn:microsoft.com/office/officeart/2005/8/layout/chevron2"/>
    <dgm:cxn modelId="{4B8D09CE-12DA-4A98-A079-57B4B36ABD66}" type="presParOf" srcId="{7EBBDEE6-A55E-47FA-9020-5BC46200AFFC}" destId="{3E2A20E0-2799-4B60-847C-0291A143F060}" srcOrd="4" destOrd="0" presId="urn:microsoft.com/office/officeart/2005/8/layout/chevron2"/>
    <dgm:cxn modelId="{DD09799F-3B55-4A21-B1D8-51D0255A8FC0}" type="presParOf" srcId="{3E2A20E0-2799-4B60-847C-0291A143F060}" destId="{17253025-0BE3-46B4-B2C8-BFD879D75B26}" srcOrd="0" destOrd="0" presId="urn:microsoft.com/office/officeart/2005/8/layout/chevron2"/>
    <dgm:cxn modelId="{B28B55D1-C1C4-4929-B387-2753095F16BC}" type="presParOf" srcId="{3E2A20E0-2799-4B60-847C-0291A143F060}" destId="{B2D4CD90-7709-4B59-AC85-D09667CFC12B}" srcOrd="1" destOrd="0" presId="urn:microsoft.com/office/officeart/2005/8/layout/chevron2"/>
    <dgm:cxn modelId="{14614803-1AE9-4484-B475-713BAB65206C}" type="presParOf" srcId="{7EBBDEE6-A55E-47FA-9020-5BC46200AFFC}" destId="{FCA35A52-5E56-41CA-AAAA-74E510180904}" srcOrd="5" destOrd="0" presId="urn:microsoft.com/office/officeart/2005/8/layout/chevron2"/>
    <dgm:cxn modelId="{5FCECAA4-B55F-4524-B52B-5579AFC35055}" type="presParOf" srcId="{7EBBDEE6-A55E-47FA-9020-5BC46200AFFC}" destId="{BC0413A5-5CFC-41A1-A4D1-32D9D3A580EB}" srcOrd="6" destOrd="0" presId="urn:microsoft.com/office/officeart/2005/8/layout/chevron2"/>
    <dgm:cxn modelId="{A5C36485-CCE1-4523-911E-6345AFDCF231}" type="presParOf" srcId="{BC0413A5-5CFC-41A1-A4D1-32D9D3A580EB}" destId="{056CCBB6-5CE0-4348-89C6-99FB2D3AB62B}" srcOrd="0" destOrd="0" presId="urn:microsoft.com/office/officeart/2005/8/layout/chevron2"/>
    <dgm:cxn modelId="{49CDF3A4-EBDD-472A-8CEE-35499F216772}" type="presParOf" srcId="{BC0413A5-5CFC-41A1-A4D1-32D9D3A580EB}" destId="{90709722-0E94-45E4-BEDD-48CB660682DD}" srcOrd="1" destOrd="0" presId="urn:microsoft.com/office/officeart/2005/8/layout/chevron2"/>
    <dgm:cxn modelId="{5DA3A105-B2B5-4570-ACCF-A2B4BFFDA4E8}" type="presParOf" srcId="{7EBBDEE6-A55E-47FA-9020-5BC46200AFFC}" destId="{13B0A0BF-E273-47AE-B262-3C6C9C4E8968}" srcOrd="7" destOrd="0" presId="urn:microsoft.com/office/officeart/2005/8/layout/chevron2"/>
    <dgm:cxn modelId="{9C5603DB-FB5F-489A-A5FC-119F4545BE24}" type="presParOf" srcId="{7EBBDEE6-A55E-47FA-9020-5BC46200AFFC}" destId="{5FCAE6DF-E40E-46F3-84CF-149E85A19097}" srcOrd="8" destOrd="0" presId="urn:microsoft.com/office/officeart/2005/8/layout/chevron2"/>
    <dgm:cxn modelId="{F75C00D0-5E0F-413E-AC94-1D55800F95C3}" type="presParOf" srcId="{5FCAE6DF-E40E-46F3-84CF-149E85A19097}" destId="{EB2E52AE-8FCF-47D0-B499-CFCFAF1883A9}" srcOrd="0" destOrd="0" presId="urn:microsoft.com/office/officeart/2005/8/layout/chevron2"/>
    <dgm:cxn modelId="{3052A6C1-D8FE-443D-9D61-8901A566CBC1}" type="presParOf" srcId="{5FCAE6DF-E40E-46F3-84CF-149E85A19097}" destId="{C92F1771-01AA-4FF3-B7EC-0229DB7A592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A48299-B840-4714-A5F6-769C74D74113}">
      <dsp:nvSpPr>
        <dsp:cNvPr id="0" name=""/>
        <dsp:cNvSpPr/>
      </dsp:nvSpPr>
      <dsp:spPr>
        <a:xfrm rot="5400000">
          <a:off x="-179572" y="182011"/>
          <a:ext cx="1197147" cy="83800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SDD</a:t>
          </a:r>
          <a:endParaRPr lang="en-US" sz="900" kern="1200" dirty="0"/>
        </a:p>
      </dsp:txBody>
      <dsp:txXfrm rot="-5400000">
        <a:off x="1" y="421441"/>
        <a:ext cx="838003" cy="359144"/>
      </dsp:txXfrm>
    </dsp:sp>
    <dsp:sp modelId="{19C32B8D-512E-49A1-A0E6-109384C61E4D}">
      <dsp:nvSpPr>
        <dsp:cNvPr id="0" name=""/>
        <dsp:cNvSpPr/>
      </dsp:nvSpPr>
      <dsp:spPr>
        <a:xfrm rot="5400000">
          <a:off x="4083564" y="-3243121"/>
          <a:ext cx="778555" cy="726967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Software Design and Development (40%)</a:t>
          </a:r>
        </a:p>
      </dsp:txBody>
      <dsp:txXfrm rot="-5400000">
        <a:off x="838004" y="40445"/>
        <a:ext cx="7231670" cy="702543"/>
      </dsp:txXfrm>
    </dsp:sp>
    <dsp:sp modelId="{AAD30B60-88C6-4919-B6DD-9F480459E84E}">
      <dsp:nvSpPr>
        <dsp:cNvPr id="0" name=""/>
        <dsp:cNvSpPr/>
      </dsp:nvSpPr>
      <dsp:spPr>
        <a:xfrm rot="5400000">
          <a:off x="-179572" y="1231782"/>
          <a:ext cx="1197147" cy="83800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DDD</a:t>
          </a:r>
          <a:endParaRPr lang="en-US" sz="900" kern="1200" dirty="0"/>
        </a:p>
      </dsp:txBody>
      <dsp:txXfrm rot="-5400000">
        <a:off x="1" y="1471212"/>
        <a:ext cx="838003" cy="359144"/>
      </dsp:txXfrm>
    </dsp:sp>
    <dsp:sp modelId="{0DFDFC6D-8604-4378-B6A3-6A6720006C95}">
      <dsp:nvSpPr>
        <dsp:cNvPr id="0" name=""/>
        <dsp:cNvSpPr/>
      </dsp:nvSpPr>
      <dsp:spPr>
        <a:xfrm rot="5400000">
          <a:off x="4083768" y="-2193555"/>
          <a:ext cx="778145" cy="726967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Database Design and Development (25%)</a:t>
          </a:r>
        </a:p>
      </dsp:txBody>
      <dsp:txXfrm rot="-5400000">
        <a:off x="838003" y="1090196"/>
        <a:ext cx="7231690" cy="702173"/>
      </dsp:txXfrm>
    </dsp:sp>
    <dsp:sp modelId="{3451A250-69C4-4911-A975-CCB8D5F6053B}">
      <dsp:nvSpPr>
        <dsp:cNvPr id="0" name=""/>
        <dsp:cNvSpPr/>
      </dsp:nvSpPr>
      <dsp:spPr>
        <a:xfrm rot="5400000">
          <a:off x="-179572" y="2281552"/>
          <a:ext cx="1197147" cy="83800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WDD</a:t>
          </a:r>
          <a:endParaRPr lang="en-US" sz="900" kern="1200" dirty="0"/>
        </a:p>
      </dsp:txBody>
      <dsp:txXfrm rot="-5400000">
        <a:off x="1" y="2520982"/>
        <a:ext cx="838003" cy="359144"/>
      </dsp:txXfrm>
    </dsp:sp>
    <dsp:sp modelId="{56AFEC8A-7D45-4965-A718-64DE087BA59E}">
      <dsp:nvSpPr>
        <dsp:cNvPr id="0" name=""/>
        <dsp:cNvSpPr/>
      </dsp:nvSpPr>
      <dsp:spPr>
        <a:xfrm rot="5400000">
          <a:off x="4083768" y="-1143785"/>
          <a:ext cx="778145" cy="726967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Web Design and Development (25%)</a:t>
          </a:r>
        </a:p>
      </dsp:txBody>
      <dsp:txXfrm rot="-5400000">
        <a:off x="838003" y="2139966"/>
        <a:ext cx="7231690" cy="702173"/>
      </dsp:txXfrm>
    </dsp:sp>
    <dsp:sp modelId="{FC3BC805-9B18-48D9-A4F4-4BE17D54A28E}">
      <dsp:nvSpPr>
        <dsp:cNvPr id="0" name=""/>
        <dsp:cNvSpPr/>
      </dsp:nvSpPr>
      <dsp:spPr>
        <a:xfrm rot="5400000">
          <a:off x="-179572" y="3331322"/>
          <a:ext cx="1197147" cy="83800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C/Sys</a:t>
          </a:r>
          <a:endParaRPr lang="en-US" sz="2300" b="1" kern="1200" dirty="0"/>
        </a:p>
      </dsp:txBody>
      <dsp:txXfrm rot="-5400000">
        <a:off x="1" y="3570752"/>
        <a:ext cx="838003" cy="359144"/>
      </dsp:txXfrm>
    </dsp:sp>
    <dsp:sp modelId="{DEB3B5C2-DCC9-444C-A40C-E0CEA06D8FF2}">
      <dsp:nvSpPr>
        <dsp:cNvPr id="0" name=""/>
        <dsp:cNvSpPr/>
      </dsp:nvSpPr>
      <dsp:spPr>
        <a:xfrm rot="5400000">
          <a:off x="4083768" y="-94014"/>
          <a:ext cx="778145" cy="726967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Computer Systems (10%)</a:t>
          </a:r>
        </a:p>
      </dsp:txBody>
      <dsp:txXfrm rot="-5400000">
        <a:off x="838003" y="3189737"/>
        <a:ext cx="7231690" cy="7021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A48299-B840-4714-A5F6-769C74D74113}">
      <dsp:nvSpPr>
        <dsp:cNvPr id="0" name=""/>
        <dsp:cNvSpPr/>
      </dsp:nvSpPr>
      <dsp:spPr>
        <a:xfrm rot="5400000">
          <a:off x="-144549" y="148331"/>
          <a:ext cx="963661" cy="6745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SDD</a:t>
          </a:r>
          <a:endParaRPr lang="en-US" sz="1900" kern="1200" dirty="0"/>
        </a:p>
      </dsp:txBody>
      <dsp:txXfrm rot="-5400000">
        <a:off x="1" y="341062"/>
        <a:ext cx="674562" cy="289099"/>
      </dsp:txXfrm>
    </dsp:sp>
    <dsp:sp modelId="{19C32B8D-512E-49A1-A0E6-109384C61E4D}">
      <dsp:nvSpPr>
        <dsp:cNvPr id="0" name=""/>
        <dsp:cNvSpPr/>
      </dsp:nvSpPr>
      <dsp:spPr>
        <a:xfrm rot="5400000">
          <a:off x="4077766" y="-3399421"/>
          <a:ext cx="626709" cy="743311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Software Design and Development (54%)</a:t>
          </a:r>
        </a:p>
      </dsp:txBody>
      <dsp:txXfrm rot="-5400000">
        <a:off x="674563" y="34375"/>
        <a:ext cx="7402524" cy="565523"/>
      </dsp:txXfrm>
    </dsp:sp>
    <dsp:sp modelId="{AAD30B60-88C6-4919-B6DD-9F480459E84E}">
      <dsp:nvSpPr>
        <dsp:cNvPr id="0" name=""/>
        <dsp:cNvSpPr/>
      </dsp:nvSpPr>
      <dsp:spPr>
        <a:xfrm rot="5400000">
          <a:off x="-144549" y="993359"/>
          <a:ext cx="963661" cy="6745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DDD</a:t>
          </a:r>
          <a:endParaRPr lang="en-US" sz="1800" kern="1200" dirty="0"/>
        </a:p>
      </dsp:txBody>
      <dsp:txXfrm rot="-5400000">
        <a:off x="1" y="1186090"/>
        <a:ext cx="674562" cy="289099"/>
      </dsp:txXfrm>
    </dsp:sp>
    <dsp:sp modelId="{0DFDFC6D-8604-4378-B6A3-6A6720006C95}">
      <dsp:nvSpPr>
        <dsp:cNvPr id="0" name=""/>
        <dsp:cNvSpPr/>
      </dsp:nvSpPr>
      <dsp:spPr>
        <a:xfrm rot="5400000">
          <a:off x="4077931" y="-2554558"/>
          <a:ext cx="626379" cy="743311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Database Design and Development (33%)</a:t>
          </a:r>
        </a:p>
      </dsp:txBody>
      <dsp:txXfrm rot="-5400000">
        <a:off x="674563" y="879387"/>
        <a:ext cx="7402540" cy="565225"/>
      </dsp:txXfrm>
    </dsp:sp>
    <dsp:sp modelId="{17253025-0BE3-46B4-B2C8-BFD879D75B26}">
      <dsp:nvSpPr>
        <dsp:cNvPr id="0" name=""/>
        <dsp:cNvSpPr/>
      </dsp:nvSpPr>
      <dsp:spPr>
        <a:xfrm rot="5400000">
          <a:off x="-144549" y="1838387"/>
          <a:ext cx="963661" cy="674562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 rot="-5400000">
        <a:off x="1" y="2031118"/>
        <a:ext cx="674562" cy="289099"/>
      </dsp:txXfrm>
    </dsp:sp>
    <dsp:sp modelId="{B2D4CD90-7709-4B59-AC85-D09667CFC12B}">
      <dsp:nvSpPr>
        <dsp:cNvPr id="0" name=""/>
        <dsp:cNvSpPr/>
      </dsp:nvSpPr>
      <dsp:spPr>
        <a:xfrm rot="5400000">
          <a:off x="4077931" y="-1709530"/>
          <a:ext cx="626379" cy="743311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1" kern="1200" dirty="0">
              <a:latin typeface="+mn-lt"/>
            </a:rPr>
            <a:t>Assignment</a:t>
          </a:r>
          <a:r>
            <a:rPr lang="en-US" sz="3200" b="0" kern="1200" dirty="0">
              <a:latin typeface="+mn-lt"/>
            </a:rPr>
            <a:t> (</a:t>
          </a:r>
          <a:r>
            <a:rPr lang="en-US" sz="3200" b="0" kern="1200" dirty="0">
              <a:solidFill>
                <a:srgbClr val="FF0000"/>
              </a:solidFill>
              <a:latin typeface="+mn-lt"/>
            </a:rPr>
            <a:t>⅓ of marks</a:t>
          </a:r>
          <a:r>
            <a:rPr lang="en-US" sz="3200" b="0" kern="1200" dirty="0">
              <a:latin typeface="+mn-lt"/>
            </a:rPr>
            <a:t>)</a:t>
          </a:r>
          <a:endParaRPr lang="en-US" sz="3200" b="1" kern="1200" dirty="0">
            <a:latin typeface="+mn-lt"/>
          </a:endParaRPr>
        </a:p>
      </dsp:txBody>
      <dsp:txXfrm rot="-5400000">
        <a:off x="674563" y="1724415"/>
        <a:ext cx="7402540" cy="565225"/>
      </dsp:txXfrm>
    </dsp:sp>
    <dsp:sp modelId="{056CCBB6-5CE0-4348-89C6-99FB2D3AB62B}">
      <dsp:nvSpPr>
        <dsp:cNvPr id="0" name=""/>
        <dsp:cNvSpPr/>
      </dsp:nvSpPr>
      <dsp:spPr>
        <a:xfrm rot="5400000">
          <a:off x="-144549" y="2683415"/>
          <a:ext cx="963661" cy="6745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C/Sys</a:t>
          </a:r>
        </a:p>
      </dsp:txBody>
      <dsp:txXfrm rot="-5400000">
        <a:off x="1" y="2876146"/>
        <a:ext cx="674562" cy="289099"/>
      </dsp:txXfrm>
    </dsp:sp>
    <dsp:sp modelId="{90709722-0E94-45E4-BEDD-48CB660682DD}">
      <dsp:nvSpPr>
        <dsp:cNvPr id="0" name=""/>
        <dsp:cNvSpPr/>
      </dsp:nvSpPr>
      <dsp:spPr>
        <a:xfrm rot="5400000">
          <a:off x="4077931" y="-864502"/>
          <a:ext cx="626379" cy="743311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Computer Systems (13%)</a:t>
          </a:r>
        </a:p>
      </dsp:txBody>
      <dsp:txXfrm rot="-5400000">
        <a:off x="674563" y="2569443"/>
        <a:ext cx="7402540" cy="565225"/>
      </dsp:txXfrm>
    </dsp:sp>
    <dsp:sp modelId="{EB2E52AE-8FCF-47D0-B499-CFCFAF1883A9}">
      <dsp:nvSpPr>
        <dsp:cNvPr id="0" name=""/>
        <dsp:cNvSpPr/>
      </dsp:nvSpPr>
      <dsp:spPr>
        <a:xfrm rot="5400000">
          <a:off x="-144549" y="3528443"/>
          <a:ext cx="963661" cy="674562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-5400000">
        <a:off x="1" y="3721174"/>
        <a:ext cx="674562" cy="289099"/>
      </dsp:txXfrm>
    </dsp:sp>
    <dsp:sp modelId="{C92F1771-01AA-4FF3-B7EC-0229DB7A592C}">
      <dsp:nvSpPr>
        <dsp:cNvPr id="0" name=""/>
        <dsp:cNvSpPr/>
      </dsp:nvSpPr>
      <dsp:spPr>
        <a:xfrm rot="5400000">
          <a:off x="4077931" y="-19474"/>
          <a:ext cx="626379" cy="743311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1" kern="1200" dirty="0">
              <a:latin typeface="+mn-lt"/>
            </a:rPr>
            <a:t>Exam</a:t>
          </a:r>
          <a:r>
            <a:rPr lang="en-US" sz="3200" b="0" kern="1200" dirty="0">
              <a:latin typeface="+mn-lt"/>
            </a:rPr>
            <a:t> (</a:t>
          </a:r>
          <a:r>
            <a:rPr lang="en-US" sz="3200" b="0" kern="1200" dirty="0">
              <a:solidFill>
                <a:srgbClr val="FF0000"/>
              </a:solidFill>
              <a:latin typeface="+mn-lt"/>
            </a:rPr>
            <a:t>⅔ of marks</a:t>
          </a:r>
          <a:r>
            <a:rPr lang="en-US" sz="3200" b="0" kern="1200" dirty="0">
              <a:latin typeface="+mn-lt"/>
            </a:rPr>
            <a:t>)</a:t>
          </a:r>
          <a:endParaRPr lang="en-US" sz="3200" b="1" kern="1200" dirty="0">
            <a:latin typeface="+mn-lt"/>
          </a:endParaRPr>
        </a:p>
      </dsp:txBody>
      <dsp:txXfrm rot="-5400000">
        <a:off x="674563" y="3414471"/>
        <a:ext cx="7402540" cy="5652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A48299-B840-4714-A5F6-769C74D74113}">
      <dsp:nvSpPr>
        <dsp:cNvPr id="0" name=""/>
        <dsp:cNvSpPr/>
      </dsp:nvSpPr>
      <dsp:spPr>
        <a:xfrm rot="5400000">
          <a:off x="-144549" y="148331"/>
          <a:ext cx="963661" cy="6745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SDD</a:t>
          </a:r>
          <a:endParaRPr lang="en-US" sz="1900" kern="1200" dirty="0"/>
        </a:p>
      </dsp:txBody>
      <dsp:txXfrm rot="-5400000">
        <a:off x="1" y="341062"/>
        <a:ext cx="674562" cy="289099"/>
      </dsp:txXfrm>
    </dsp:sp>
    <dsp:sp modelId="{19C32B8D-512E-49A1-A0E6-109384C61E4D}">
      <dsp:nvSpPr>
        <dsp:cNvPr id="0" name=""/>
        <dsp:cNvSpPr/>
      </dsp:nvSpPr>
      <dsp:spPr>
        <a:xfrm rot="5400000">
          <a:off x="4077766" y="-3399421"/>
          <a:ext cx="626709" cy="743311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Software Design and Development (54%)</a:t>
          </a:r>
        </a:p>
      </dsp:txBody>
      <dsp:txXfrm rot="-5400000">
        <a:off x="674563" y="34375"/>
        <a:ext cx="7402524" cy="565523"/>
      </dsp:txXfrm>
    </dsp:sp>
    <dsp:sp modelId="{AAD30B60-88C6-4919-B6DD-9F480459E84E}">
      <dsp:nvSpPr>
        <dsp:cNvPr id="0" name=""/>
        <dsp:cNvSpPr/>
      </dsp:nvSpPr>
      <dsp:spPr>
        <a:xfrm rot="5400000">
          <a:off x="-144549" y="993359"/>
          <a:ext cx="963661" cy="6745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DDD</a:t>
          </a:r>
          <a:endParaRPr lang="en-US" sz="1800" kern="1200" dirty="0"/>
        </a:p>
      </dsp:txBody>
      <dsp:txXfrm rot="-5400000">
        <a:off x="1" y="1186090"/>
        <a:ext cx="674562" cy="289099"/>
      </dsp:txXfrm>
    </dsp:sp>
    <dsp:sp modelId="{0DFDFC6D-8604-4378-B6A3-6A6720006C95}">
      <dsp:nvSpPr>
        <dsp:cNvPr id="0" name=""/>
        <dsp:cNvSpPr/>
      </dsp:nvSpPr>
      <dsp:spPr>
        <a:xfrm rot="5400000">
          <a:off x="4077931" y="-2554558"/>
          <a:ext cx="626379" cy="743311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Database Design and Development (33%)</a:t>
          </a:r>
        </a:p>
      </dsp:txBody>
      <dsp:txXfrm rot="-5400000">
        <a:off x="674563" y="879387"/>
        <a:ext cx="7402540" cy="565225"/>
      </dsp:txXfrm>
    </dsp:sp>
    <dsp:sp modelId="{17253025-0BE3-46B4-B2C8-BFD879D75B26}">
      <dsp:nvSpPr>
        <dsp:cNvPr id="0" name=""/>
        <dsp:cNvSpPr/>
      </dsp:nvSpPr>
      <dsp:spPr>
        <a:xfrm rot="5400000">
          <a:off x="-144549" y="1838387"/>
          <a:ext cx="963661" cy="674562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 rot="-5400000">
        <a:off x="1" y="2031118"/>
        <a:ext cx="674562" cy="289099"/>
      </dsp:txXfrm>
    </dsp:sp>
    <dsp:sp modelId="{B2D4CD90-7709-4B59-AC85-D09667CFC12B}">
      <dsp:nvSpPr>
        <dsp:cNvPr id="0" name=""/>
        <dsp:cNvSpPr/>
      </dsp:nvSpPr>
      <dsp:spPr>
        <a:xfrm rot="5400000">
          <a:off x="4077931" y="-1709530"/>
          <a:ext cx="626379" cy="743311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1" kern="1200" dirty="0">
              <a:latin typeface="+mn-lt"/>
            </a:rPr>
            <a:t> </a:t>
          </a:r>
        </a:p>
      </dsp:txBody>
      <dsp:txXfrm rot="-5400000">
        <a:off x="674563" y="1724415"/>
        <a:ext cx="7402540" cy="565225"/>
      </dsp:txXfrm>
    </dsp:sp>
    <dsp:sp modelId="{056CCBB6-5CE0-4348-89C6-99FB2D3AB62B}">
      <dsp:nvSpPr>
        <dsp:cNvPr id="0" name=""/>
        <dsp:cNvSpPr/>
      </dsp:nvSpPr>
      <dsp:spPr>
        <a:xfrm rot="5400000">
          <a:off x="-144549" y="2683415"/>
          <a:ext cx="963661" cy="6745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C/Sys</a:t>
          </a:r>
        </a:p>
      </dsp:txBody>
      <dsp:txXfrm rot="-5400000">
        <a:off x="1" y="2876146"/>
        <a:ext cx="674562" cy="289099"/>
      </dsp:txXfrm>
    </dsp:sp>
    <dsp:sp modelId="{90709722-0E94-45E4-BEDD-48CB660682DD}">
      <dsp:nvSpPr>
        <dsp:cNvPr id="0" name=""/>
        <dsp:cNvSpPr/>
      </dsp:nvSpPr>
      <dsp:spPr>
        <a:xfrm rot="5400000">
          <a:off x="4077931" y="-864502"/>
          <a:ext cx="626379" cy="743311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Computer Systems (13%)</a:t>
          </a:r>
        </a:p>
      </dsp:txBody>
      <dsp:txXfrm rot="-5400000">
        <a:off x="674563" y="2569443"/>
        <a:ext cx="7402540" cy="565225"/>
      </dsp:txXfrm>
    </dsp:sp>
    <dsp:sp modelId="{EB2E52AE-8FCF-47D0-B499-CFCFAF1883A9}">
      <dsp:nvSpPr>
        <dsp:cNvPr id="0" name=""/>
        <dsp:cNvSpPr/>
      </dsp:nvSpPr>
      <dsp:spPr>
        <a:xfrm rot="5400000">
          <a:off x="-144549" y="3528443"/>
          <a:ext cx="963661" cy="674562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-5400000">
        <a:off x="1" y="3721174"/>
        <a:ext cx="674562" cy="289099"/>
      </dsp:txXfrm>
    </dsp:sp>
    <dsp:sp modelId="{C92F1771-01AA-4FF3-B7EC-0229DB7A592C}">
      <dsp:nvSpPr>
        <dsp:cNvPr id="0" name=""/>
        <dsp:cNvSpPr/>
      </dsp:nvSpPr>
      <dsp:spPr>
        <a:xfrm rot="5400000">
          <a:off x="4077931" y="-19474"/>
          <a:ext cx="626379" cy="743311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1" kern="1200" dirty="0">
              <a:latin typeface="+mn-lt"/>
            </a:rPr>
            <a:t> </a:t>
          </a:r>
        </a:p>
      </dsp:txBody>
      <dsp:txXfrm rot="-5400000">
        <a:off x="674563" y="3414471"/>
        <a:ext cx="7402540" cy="5652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E35528A-819C-4AD3-BDC3-2CDCE7BEAF53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5407"/>
            <a:ext cx="5681980" cy="4029879"/>
          </a:xfrm>
          <a:prstGeom prst="rect">
            <a:avLst/>
          </a:prstGeom>
        </p:spPr>
        <p:txBody>
          <a:bodyPr vert="horz" lIns="99066" tIns="49533" rIns="99066" bIns="4953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B71FE5B5-A979-4370-A255-218EAB36A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202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0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1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3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4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5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6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7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8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9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0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1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2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3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4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5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6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7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8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9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0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1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3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4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5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6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7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8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9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0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1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2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3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4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6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9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2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3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4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6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0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3.xml"/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4.xml"/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5.xml"/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7.xml"/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0.xml"/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2.xml"/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3.xml"/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4.xml"/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5.xml"/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6.xml"/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7.xml"/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8.xml"/><Relationship Id="rId1" Type="http://schemas.openxmlformats.org/officeDocument/2006/relationships/notesMaster" Target="../notesMasters/notesMaster1.xml"/></Relationships>
</file>

<file path=ppt/notesSlides/_rels/notesSlide2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9.xml"/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0.xml"/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1.xml"/><Relationship Id="rId1" Type="http://schemas.openxmlformats.org/officeDocument/2006/relationships/notesMaster" Target="../notesMasters/notesMaster1.xml"/></Relationships>
</file>

<file path=ppt/notesSlides/_rels/notesSlide2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2.xml"/><Relationship Id="rId1" Type="http://schemas.openxmlformats.org/officeDocument/2006/relationships/notesMaster" Target="../notesMasters/notesMaster1.xml"/></Relationships>
</file>

<file path=ppt/notesSlides/_rels/notesSlide2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3.xml"/><Relationship Id="rId1" Type="http://schemas.openxmlformats.org/officeDocument/2006/relationships/notesMaster" Target="../notesMasters/notesMaster1.xml"/></Relationships>
</file>

<file path=ppt/notesSlides/_rels/notesSlide2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4.xml"/><Relationship Id="rId1" Type="http://schemas.openxmlformats.org/officeDocument/2006/relationships/notesMaster" Target="../notesMasters/notesMaster1.xml"/></Relationships>
</file>

<file path=ppt/notesSlides/_rels/notesSlide2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5.xml"/><Relationship Id="rId1" Type="http://schemas.openxmlformats.org/officeDocument/2006/relationships/notesMaster" Target="../notesMasters/notesMaster1.xml"/></Relationships>
</file>

<file path=ppt/notesSlides/_rels/notesSlide2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6.xml"/><Relationship Id="rId1" Type="http://schemas.openxmlformats.org/officeDocument/2006/relationships/notesMaster" Target="../notesMasters/notesMaster1.xml"/></Relationships>
</file>

<file path=ppt/notesSlides/_rels/notesSlide2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7.xml"/><Relationship Id="rId1" Type="http://schemas.openxmlformats.org/officeDocument/2006/relationships/notesMaster" Target="../notesMasters/notesMaster1.xml"/></Relationships>
</file>

<file path=ppt/notesSlides/_rels/notesSlide2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8.xml"/><Relationship Id="rId1" Type="http://schemas.openxmlformats.org/officeDocument/2006/relationships/notesMaster" Target="../notesMasters/notesMaster1.xml"/></Relationships>
</file>

<file path=ppt/notesSlides/_rels/notesSlide2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9.xml"/><Relationship Id="rId1" Type="http://schemas.openxmlformats.org/officeDocument/2006/relationships/notesMaster" Target="../notesMasters/notesMaster1.xml"/></Relationships>
</file>

<file path=ppt/notesSlides/_rels/notesSlide2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0.xml"/><Relationship Id="rId1" Type="http://schemas.openxmlformats.org/officeDocument/2006/relationships/notesMaster" Target="../notesMasters/notesMaster1.xml"/></Relationships>
</file>

<file path=ppt/notesSlides/_rels/notesSlide2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1.xml"/><Relationship Id="rId1" Type="http://schemas.openxmlformats.org/officeDocument/2006/relationships/notesMaster" Target="../notesMasters/notesMaster1.xml"/></Relationships>
</file>

<file path=ppt/notesSlides/_rels/notesSlide2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2.xml"/><Relationship Id="rId1" Type="http://schemas.openxmlformats.org/officeDocument/2006/relationships/notesMaster" Target="../notesMasters/notesMaster1.xml"/></Relationships>
</file>

<file path=ppt/notesSlides/_rels/notesSlide2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3.xml"/><Relationship Id="rId1" Type="http://schemas.openxmlformats.org/officeDocument/2006/relationships/notesMaster" Target="../notesMasters/notesMaster1.xml"/></Relationships>
</file>

<file path=ppt/notesSlides/_rels/notesSlide2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4.xml"/><Relationship Id="rId1" Type="http://schemas.openxmlformats.org/officeDocument/2006/relationships/notesMaster" Target="../notesMasters/notesMaster1.xml"/></Relationships>
</file>

<file path=ppt/notesSlides/_rels/notesSlide2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5.xml"/><Relationship Id="rId1" Type="http://schemas.openxmlformats.org/officeDocument/2006/relationships/notesMaster" Target="../notesMasters/notesMaster1.xml"/></Relationships>
</file>

<file path=ppt/notesSlides/_rels/notesSlide2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8.xml"/><Relationship Id="rId1" Type="http://schemas.openxmlformats.org/officeDocument/2006/relationships/notesMaster" Target="../notesMasters/notesMaster1.xml"/></Relationships>
</file>

<file path=ppt/notesSlides/_rels/notesSlide2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9.xml"/><Relationship Id="rId1" Type="http://schemas.openxmlformats.org/officeDocument/2006/relationships/notesMaster" Target="../notesMasters/notesMaster1.xml"/></Relationships>
</file>

<file path=ppt/notesSlides/_rels/notesSlide2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0.xml"/><Relationship Id="rId1" Type="http://schemas.openxmlformats.org/officeDocument/2006/relationships/notesMaster" Target="../notesMasters/notesMaster1.xml"/></Relationships>
</file>

<file path=ppt/notesSlides/_rels/notesSlide2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1.xml"/><Relationship Id="rId1" Type="http://schemas.openxmlformats.org/officeDocument/2006/relationships/notesMaster" Target="../notesMasters/notesMaster1.xml"/></Relationships>
</file>

<file path=ppt/notesSlides/_rels/notesSlide2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2.xml"/><Relationship Id="rId1" Type="http://schemas.openxmlformats.org/officeDocument/2006/relationships/notesMaster" Target="../notesMasters/notesMaster1.xml"/></Relationships>
</file>

<file path=ppt/notesSlides/_rels/notesSlide2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3.xml"/><Relationship Id="rId1" Type="http://schemas.openxmlformats.org/officeDocument/2006/relationships/notesMaster" Target="../notesMasters/notesMaster1.xml"/></Relationships>
</file>

<file path=ppt/notesSlides/_rels/notesSlide2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4.xml"/><Relationship Id="rId1" Type="http://schemas.openxmlformats.org/officeDocument/2006/relationships/notesMaster" Target="../notesMasters/notesMaster1.xml"/></Relationships>
</file>

<file path=ppt/notesSlides/_rels/notesSlide2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8.xml"/><Relationship Id="rId1" Type="http://schemas.openxmlformats.org/officeDocument/2006/relationships/notesMaster" Target="../notesMasters/notesMaster1.xml"/></Relationships>
</file>

<file path=ppt/notesSlides/_rels/notesSlide2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9.xml"/><Relationship Id="rId1" Type="http://schemas.openxmlformats.org/officeDocument/2006/relationships/notesMaster" Target="../notesMasters/notesMaster1.xml"/></Relationships>
</file>

<file path=ppt/notesSlides/_rels/notesSlide2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0.xml"/><Relationship Id="rId1" Type="http://schemas.openxmlformats.org/officeDocument/2006/relationships/notesMaster" Target="../notesMasters/notesMaster1.xml"/></Relationships>
</file>

<file path=ppt/notesSlides/_rels/notesSlide2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1.xml"/><Relationship Id="rId1" Type="http://schemas.openxmlformats.org/officeDocument/2006/relationships/notesMaster" Target="../notesMasters/notesMaster1.xml"/></Relationships>
</file>

<file path=ppt/notesSlides/_rels/notesSlide2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2.xml"/><Relationship Id="rId1" Type="http://schemas.openxmlformats.org/officeDocument/2006/relationships/notesMaster" Target="../notesMasters/notesMaster1.xml"/></Relationships>
</file>

<file path=ppt/notesSlides/_rels/notesSlide2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3.xml"/><Relationship Id="rId1" Type="http://schemas.openxmlformats.org/officeDocument/2006/relationships/notesMaster" Target="../notesMasters/notesMaster1.xml"/></Relationships>
</file>

<file path=ppt/notesSlides/_rels/notesSlide2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4.xml"/><Relationship Id="rId1" Type="http://schemas.openxmlformats.org/officeDocument/2006/relationships/notesMaster" Target="../notesMasters/notesMaster1.xml"/></Relationships>
</file>

<file path=ppt/notesSlides/_rels/notesSlide2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5.xml"/><Relationship Id="rId1" Type="http://schemas.openxmlformats.org/officeDocument/2006/relationships/notesMaster" Target="../notesMasters/notesMaster1.xml"/></Relationships>
</file>

<file path=ppt/notesSlides/_rels/notesSlide2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6.xml"/><Relationship Id="rId1" Type="http://schemas.openxmlformats.org/officeDocument/2006/relationships/notesMaster" Target="../notesMasters/notesMaster1.xml"/></Relationships>
</file>

<file path=ppt/notesSlides/_rels/notesSlide2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7.xml"/><Relationship Id="rId1" Type="http://schemas.openxmlformats.org/officeDocument/2006/relationships/notesMaster" Target="../notesMasters/notesMaster1.xml"/></Relationships>
</file>

<file path=ppt/notesSlides/_rels/notesSlide2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8.xml"/><Relationship Id="rId1" Type="http://schemas.openxmlformats.org/officeDocument/2006/relationships/notesMaster" Target="../notesMasters/notesMaster1.xml"/></Relationships>
</file>

<file path=ppt/notesSlides/_rels/notesSlide2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9.xml"/><Relationship Id="rId1" Type="http://schemas.openxmlformats.org/officeDocument/2006/relationships/notesMaster" Target="../notesMasters/notesMaster1.xml"/></Relationships>
</file>

<file path=ppt/notesSlides/_rels/notesSlide2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0.xml"/><Relationship Id="rId1" Type="http://schemas.openxmlformats.org/officeDocument/2006/relationships/notesMaster" Target="../notesMasters/notesMaster1.xml"/></Relationships>
</file>

<file path=ppt/notesSlides/_rels/notesSlide2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1.xml"/><Relationship Id="rId1" Type="http://schemas.openxmlformats.org/officeDocument/2006/relationships/notesMaster" Target="../notesMasters/notesMaster1.xml"/></Relationships>
</file>

<file path=ppt/notesSlides/_rels/notesSlide2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3.xml"/><Relationship Id="rId1" Type="http://schemas.openxmlformats.org/officeDocument/2006/relationships/notesMaster" Target="../notesMasters/notesMaster1.xml"/></Relationships>
</file>

<file path=ppt/notesSlides/_rels/notesSlide2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4.xml"/><Relationship Id="rId1" Type="http://schemas.openxmlformats.org/officeDocument/2006/relationships/notesMaster" Target="../notesMasters/notesMaster1.xml"/></Relationships>
</file>

<file path=ppt/notesSlides/_rels/notesSlide2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5.xml"/><Relationship Id="rId1" Type="http://schemas.openxmlformats.org/officeDocument/2006/relationships/notesMaster" Target="../notesMasters/notesMaster1.xml"/></Relationships>
</file>

<file path=ppt/notesSlides/_rels/notesSlide2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6.xml"/><Relationship Id="rId1" Type="http://schemas.openxmlformats.org/officeDocument/2006/relationships/notesMaster" Target="../notesMasters/notesMaster1.xml"/></Relationships>
</file>

<file path=ppt/notesSlides/_rels/notesSlide2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7.xml"/><Relationship Id="rId1" Type="http://schemas.openxmlformats.org/officeDocument/2006/relationships/notesMaster" Target="../notesMasters/notesMaster1.xml"/></Relationships>
</file>

<file path=ppt/notesSlides/_rels/notesSlide2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8.xml"/><Relationship Id="rId1" Type="http://schemas.openxmlformats.org/officeDocument/2006/relationships/notesMaster" Target="../notesMasters/notesMaster1.xml"/></Relationships>
</file>

<file path=ppt/notesSlides/_rels/notesSlide2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9.xml"/><Relationship Id="rId1" Type="http://schemas.openxmlformats.org/officeDocument/2006/relationships/notesMaster" Target="../notesMasters/notesMaster1.xml"/></Relationships>
</file>

<file path=ppt/notesSlides/_rels/notesSlide2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0.xml"/><Relationship Id="rId1" Type="http://schemas.openxmlformats.org/officeDocument/2006/relationships/notesMaster" Target="../notesMasters/notesMaster1.xml"/></Relationships>
</file>

<file path=ppt/notesSlides/_rels/notesSlide2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1.xml"/><Relationship Id="rId1" Type="http://schemas.openxmlformats.org/officeDocument/2006/relationships/notesMaster" Target="../notesMasters/notesMaster1.xml"/></Relationships>
</file>

<file path=ppt/notesSlides/_rels/notesSlide2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2.xml"/><Relationship Id="rId1" Type="http://schemas.openxmlformats.org/officeDocument/2006/relationships/notesMaster" Target="../notesMasters/notesMaster1.xml"/></Relationships>
</file>

<file path=ppt/notesSlides/_rels/notesSlide2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3.xml"/><Relationship Id="rId1" Type="http://schemas.openxmlformats.org/officeDocument/2006/relationships/notesMaster" Target="../notesMasters/notesMaster1.xml"/></Relationships>
</file>

<file path=ppt/notesSlides/_rels/notesSlide2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4.xml"/><Relationship Id="rId1" Type="http://schemas.openxmlformats.org/officeDocument/2006/relationships/notesMaster" Target="../notesMasters/notesMaster1.xml"/></Relationships>
</file>

<file path=ppt/notesSlides/_rels/notesSlide2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5.xml"/><Relationship Id="rId1" Type="http://schemas.openxmlformats.org/officeDocument/2006/relationships/notesMaster" Target="../notesMasters/notesMaster1.xml"/></Relationships>
</file>

<file path=ppt/notesSlides/_rels/notesSlide2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6.xml"/><Relationship Id="rId1" Type="http://schemas.openxmlformats.org/officeDocument/2006/relationships/notesMaster" Target="../notesMasters/notesMaster1.xml"/></Relationships>
</file>

<file path=ppt/notesSlides/_rels/notesSlide2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7.xml"/><Relationship Id="rId1" Type="http://schemas.openxmlformats.org/officeDocument/2006/relationships/notesMaster" Target="../notesMasters/notesMaster1.xml"/></Relationships>
</file>

<file path=ppt/notesSlides/_rels/notesSlide2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8.xml"/><Relationship Id="rId1" Type="http://schemas.openxmlformats.org/officeDocument/2006/relationships/notesMaster" Target="../notesMasters/notesMaster1.xml"/></Relationships>
</file>

<file path=ppt/notesSlides/_rels/notesSlide2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9.xml"/><Relationship Id="rId1" Type="http://schemas.openxmlformats.org/officeDocument/2006/relationships/notesMaster" Target="../notesMasters/notesMaster1.xml"/></Relationships>
</file>

<file path=ppt/notesSlides/_rels/notesSlide2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0.xml"/><Relationship Id="rId1" Type="http://schemas.openxmlformats.org/officeDocument/2006/relationships/notesMaster" Target="../notesMasters/notesMaster1.xml"/></Relationships>
</file>

<file path=ppt/notesSlides/_rels/notesSlide2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1.xml"/><Relationship Id="rId1" Type="http://schemas.openxmlformats.org/officeDocument/2006/relationships/notesMaster" Target="../notesMasters/notesMaster1.xml"/></Relationships>
</file>

<file path=ppt/notesSlides/_rels/notesSlide2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2.xml"/><Relationship Id="rId1" Type="http://schemas.openxmlformats.org/officeDocument/2006/relationships/notesMaster" Target="../notesMasters/notesMaster1.xml"/></Relationships>
</file>

<file path=ppt/notesSlides/_rels/notesSlide2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3.xml"/><Relationship Id="rId1" Type="http://schemas.openxmlformats.org/officeDocument/2006/relationships/notesMaster" Target="../notesMasters/notesMaster1.xml"/></Relationships>
</file>

<file path=ppt/notesSlides/_rels/notesSlide2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4.xml"/><Relationship Id="rId1" Type="http://schemas.openxmlformats.org/officeDocument/2006/relationships/notesMaster" Target="../notesMasters/notesMaster1.xml"/></Relationships>
</file>

<file path=ppt/notesSlides/_rels/notesSlide2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5.xml"/><Relationship Id="rId1" Type="http://schemas.openxmlformats.org/officeDocument/2006/relationships/notesMaster" Target="../notesMasters/notesMaster1.xml"/></Relationships>
</file>

<file path=ppt/notesSlides/_rels/notesSlide2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6.xml"/><Relationship Id="rId1" Type="http://schemas.openxmlformats.org/officeDocument/2006/relationships/notesMaster" Target="../notesMasters/notesMaster1.xml"/></Relationships>
</file>

<file path=ppt/notesSlides/_rels/notesSlide2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7.xml"/><Relationship Id="rId1" Type="http://schemas.openxmlformats.org/officeDocument/2006/relationships/notesMaster" Target="../notesMasters/notesMaster1.xml"/></Relationships>
</file>

<file path=ppt/notesSlides/_rels/notesSlide2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8.xml"/><Relationship Id="rId1" Type="http://schemas.openxmlformats.org/officeDocument/2006/relationships/notesMaster" Target="../notesMasters/notesMaster1.xml"/></Relationships>
</file>

<file path=ppt/notesSlides/_rels/notesSlide2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9.xml"/><Relationship Id="rId1" Type="http://schemas.openxmlformats.org/officeDocument/2006/relationships/notesMaster" Target="../notesMasters/notesMaster1.xml"/></Relationships>
</file>

<file path=ppt/notesSlides/_rels/notesSlide2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0.xml"/><Relationship Id="rId1" Type="http://schemas.openxmlformats.org/officeDocument/2006/relationships/notesMaster" Target="../notesMasters/notesMaster1.xml"/></Relationships>
</file>

<file path=ppt/notesSlides/_rels/notesSlide2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1.xml"/><Relationship Id="rId1" Type="http://schemas.openxmlformats.org/officeDocument/2006/relationships/notesMaster" Target="../notesMasters/notesMaster1.xml"/></Relationships>
</file>

<file path=ppt/notesSlides/_rels/notesSlide2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Python functions: https://docs.python.org/3/library/functions.html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5161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Hide as appropriate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7183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Helps to tell the 'story' of what the program does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140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105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4994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After this, internal commentary omitted from slides to save space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8028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23876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Often, the line number of the error is where it is spotted not where it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08498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CF691-3F40-5DA9-604A-2BCAF000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CE6984-85A6-A8BD-B60F-20EF5DF7D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9476DB-A4D9-837A-AB22-54283B601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Often, the line number of the error is where it is spotted not where it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83E91-0BF8-BBA6-9E72-5C268B2BE4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0221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Python also allows single quotation</a:t>
            </a:r>
            <a:r>
              <a:rPr lang="en-GB" baseline="0" dirty="0"/>
              <a:t> marks: '</a:t>
            </a:r>
            <a:r>
              <a:rPr lang="en-GB" dirty="0" err="1"/>
              <a:t>abcXYZ</a:t>
            </a:r>
            <a:r>
              <a:rPr lang="en-GB"/>
              <a:t>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45373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098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Python also allows single quotation</a:t>
            </a:r>
            <a:r>
              <a:rPr lang="en-GB" baseline="0" dirty="0"/>
              <a:t> marks: '</a:t>
            </a:r>
            <a:r>
              <a:rPr lang="en-GB" dirty="0" err="1"/>
              <a:t>abcXYZ</a:t>
            </a:r>
            <a:r>
              <a:rPr lang="en-GB" dirty="0"/>
              <a:t>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3084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71616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165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 single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3788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28468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Class: Markup strings with 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4695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5005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Class: Markup strings with 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88294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89227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 part of N5 but useful for clearing up misconceptions about variables</a:t>
            </a:r>
          </a:p>
          <a:p>
            <a:r>
              <a:rPr lang="en-GB" dirty="0"/>
              <a:t>When a variable is overwritten there is no history of the previous value – obliterated!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2956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70542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60434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46565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661">
              <a:defRPr/>
            </a:pPr>
            <a:r>
              <a:rPr lang="en-GB" dirty="0"/>
              <a:t>Mixed case – lower case with humps</a:t>
            </a:r>
            <a:r>
              <a:rPr lang="en-GB"/>
              <a:t>, not CamelCase</a:t>
            </a:r>
            <a:endParaRPr lang="en-GB" dirty="0"/>
          </a:p>
          <a:p>
            <a:pPr defTabSz="990661">
              <a:defRPr/>
            </a:pPr>
            <a:r>
              <a:rPr lang="en-GB" dirty="0"/>
              <a:t>Use</a:t>
            </a:r>
            <a:r>
              <a:rPr lang="en-GB" baseline="0" dirty="0"/>
              <a:t> singular for variable names</a:t>
            </a:r>
            <a:endParaRPr lang="en-GB" dirty="0"/>
          </a:p>
          <a:p>
            <a:r>
              <a:rPr lang="en-GB" dirty="0"/>
              <a:t>Uppercase letters used for constants:</a:t>
            </a:r>
            <a:r>
              <a:rPr lang="en-GB" baseline="0" dirty="0"/>
              <a:t> </a:t>
            </a:r>
            <a:r>
              <a:rPr lang="en-GB" dirty="0"/>
              <a:t>PI = 3·14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76407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661"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61046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Python division always results in a real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54880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4768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62845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93315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85835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Doing it better!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2940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1EA25-4D54-B0C4-9EB1-0BA441143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BABACF-51A8-5D26-C8C2-A222D6DEC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B6FEA5-FBB3-8152-9A9A-FC42FB419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6F643-9EC1-9D77-8A22-E324F149F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6297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1EA25-4D54-B0C4-9EB1-0BA441143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BABACF-51A8-5D26-C8C2-A222D6DEC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B6FEA5-FBB3-8152-9A9A-FC42FB419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6F643-9EC1-9D77-8A22-E324F149F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40760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https://docs.python.org/3/library/typing.html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7738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90438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B1F00-4BC9-9ACE-310F-1F2521877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EEBA38-5B34-A431-376D-8DC6EF9EA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84C1B2-7B79-B1B1-B53A-2FA4EB49D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3B86E-82AC-F1AE-3C62-E7F4967113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1FE5B5-A979-4370-A255-218EAB36A5F4}" type="slidenum">
              <a:rPr kumimoji="0" lang="en-GB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12854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25399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078D0-24B1-B30D-3749-CE7C25AD0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067CB-680E-E100-B5FE-183B14E04D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7E065F-A98E-0706-D585-DCFD2BA78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88845-BC24-B4C0-8549-23BC9CC609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1918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383ED-EBFA-7403-11AB-F36F73CDB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278619-DE66-111B-3C1B-C82F0BBF1E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7C2598-53B5-EBAE-6C47-C9B6A49E5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Decimal places can be omitted: </a:t>
            </a:r>
            <a:r>
              <a:rPr lang="en-GB" dirty="0">
                <a:latin typeface="Consolas" panose="020B0609020204030204" pitchFamily="49" charset="0"/>
              </a:rPr>
              <a:t>round(6</a:t>
            </a:r>
            <a:r>
              <a:rPr lang="en-GB" sz="1200" dirty="0">
                <a:effectLst/>
                <a:latin typeface="Consolas" panose="020B0609020204030204" pitchFamily="49" charset="0"/>
              </a:rPr>
              <a:t>·</a:t>
            </a:r>
            <a:r>
              <a:rPr lang="en-GB" dirty="0">
                <a:latin typeface="Consolas" panose="020B0609020204030204" pitchFamily="49" charset="0"/>
              </a:rPr>
              <a:t>23) → 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2DCDF-AAFE-2E0C-0598-05C14C2018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1FE5B5-A979-4370-A255-218EAB36A5F4}" type="slidenum">
              <a:rPr kumimoji="0" lang="en-GB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GB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27630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D72E2-731E-A54C-A9EB-7E0C7AF33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3D74A-96D6-2F2E-F642-0587C64594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C59AF-4E60-8247-BAE7-7CDFCE1D8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Decimal places can be omitted: </a:t>
            </a:r>
            <a:r>
              <a:rPr lang="en-GB" dirty="0">
                <a:latin typeface="Consolas" panose="020B0609020204030204" pitchFamily="49" charset="0"/>
              </a:rPr>
              <a:t>round(6</a:t>
            </a:r>
            <a:r>
              <a:rPr lang="en-GB" sz="1200" dirty="0">
                <a:effectLst/>
                <a:latin typeface="Consolas" panose="020B0609020204030204" pitchFamily="49" charset="0"/>
              </a:rPr>
              <a:t>·</a:t>
            </a:r>
            <a:r>
              <a:rPr lang="en-GB" dirty="0">
                <a:latin typeface="Consolas" panose="020B0609020204030204" pitchFamily="49" charset="0"/>
              </a:rPr>
              <a:t>23) → 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1D9DB-928F-3528-9633-0EDDDE3CF1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1FE5B5-A979-4370-A255-218EAB36A5F4}" type="slidenum">
              <a:rPr kumimoji="0" lang="en-GB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GB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594724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64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582433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65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99801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66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996392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67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080162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1FE5B5-A979-4370-A255-218EAB36A5F4}" type="slidenum">
              <a:rPr kumimoji="0" lang="en-GB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GB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820975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1FE5B5-A979-4370-A255-218EAB36A5F4}" type="slidenum">
              <a:rPr kumimoji="0" lang="en-GB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GB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758904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1FE5B5-A979-4370-A255-218EAB36A5F4}" type="slidenum">
              <a:rPr kumimoji="0" lang="en-GB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GB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82661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Decimal places can be omitted: </a:t>
            </a:r>
            <a:r>
              <a:rPr lang="en-GB" dirty="0">
                <a:latin typeface="Consolas" panose="020B0609020204030204" pitchFamily="49" charset="0"/>
              </a:rPr>
              <a:t>round(6</a:t>
            </a:r>
            <a:r>
              <a:rPr lang="en-GB" sz="1200" dirty="0">
                <a:effectLst/>
                <a:latin typeface="Consolas" panose="020B0609020204030204" pitchFamily="49" charset="0"/>
              </a:rPr>
              <a:t>·</a:t>
            </a:r>
            <a:r>
              <a:rPr lang="en-GB" dirty="0">
                <a:latin typeface="Consolas" panose="020B0609020204030204" pitchFamily="49" charset="0"/>
              </a:rPr>
              <a:t>23) →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1FE5B5-A979-4370-A255-218EAB36A5F4}" type="slidenum">
              <a:rPr kumimoji="0" lang="en-GB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565445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Decimal places can be omitted: </a:t>
            </a:r>
            <a:r>
              <a:rPr lang="en-GB" dirty="0">
                <a:latin typeface="Consolas" panose="020B0609020204030204" pitchFamily="49" charset="0"/>
              </a:rPr>
              <a:t>round(6</a:t>
            </a:r>
            <a:r>
              <a:rPr lang="en-GB" sz="1200" dirty="0">
                <a:effectLst/>
                <a:latin typeface="Consolas" panose="020B0609020204030204" pitchFamily="49" charset="0"/>
              </a:rPr>
              <a:t>·</a:t>
            </a:r>
            <a:r>
              <a:rPr lang="en-GB" dirty="0">
                <a:latin typeface="Consolas" panose="020B0609020204030204" pitchFamily="49" charset="0"/>
              </a:rPr>
              <a:t>23) → 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latin typeface="Consolas" panose="020B0609020204030204" pitchFamily="49" charset="0"/>
              </a:rPr>
              <a:t>Python rounds 0</a:t>
            </a:r>
            <a:r>
              <a:rPr lang="en-GB" sz="1200" dirty="0">
                <a:effectLst/>
                <a:latin typeface="Consolas" panose="020B0609020204030204" pitchFamily="49" charset="0"/>
              </a:rPr>
              <a:t>·</a:t>
            </a:r>
            <a:r>
              <a:rPr lang="en-GB" dirty="0">
                <a:latin typeface="Consolas" panose="020B0609020204030204" pitchFamily="49" charset="0"/>
              </a:rPr>
              <a:t>5 to the nearest even number: round(6</a:t>
            </a:r>
            <a:r>
              <a:rPr lang="en-GB" sz="1200" dirty="0">
                <a:effectLst/>
                <a:latin typeface="Consolas" panose="020B0609020204030204" pitchFamily="49" charset="0"/>
              </a:rPr>
              <a:t>·</a:t>
            </a:r>
            <a:r>
              <a:rPr lang="en-GB" dirty="0">
                <a:latin typeface="Consolas" panose="020B0609020204030204" pitchFamily="49" charset="0"/>
              </a:rPr>
              <a:t>5) →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1FE5B5-A979-4370-A255-218EAB36A5F4}" type="slidenum">
              <a:rPr kumimoji="0" lang="en-GB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900705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Specific to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75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528785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76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06971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Humans join words together to make meaning / sense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78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67066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Using a computer, strings can be joined together to make meaning / sense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“Glues</a:t>
            </a:r>
            <a:r>
              <a:rPr lang="en-GB"/>
              <a:t>” together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79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93812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Screenshot and paste output into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22317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81703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What about other data types?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776288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50705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 part of N5 specification but</a:t>
            </a:r>
            <a:r>
              <a:rPr lang="en-GB" baseline="0" dirty="0"/>
              <a:t> needed for </a:t>
            </a:r>
            <a:r>
              <a:rPr lang="en-GB" baseline="0" dirty="0" err="1"/>
              <a:t>concatention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430023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099570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196931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Could add a space at the end of "Height</a:t>
            </a:r>
            <a:r>
              <a:rPr lang="en-GB"/>
              <a:t>: "</a:t>
            </a:r>
            <a:r>
              <a:rPr lang="en-GB" baseline="0"/>
              <a:t>, but </a:t>
            </a:r>
            <a:r>
              <a:rPr lang="en-GB" baseline="0" dirty="0"/>
              <a:t>poor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35397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827337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 part of N5 specification but</a:t>
            </a:r>
            <a:r>
              <a:rPr lang="en-GB" baseline="0" dirty="0"/>
              <a:t> need: input( ), int( ), float( ), str( )</a:t>
            </a:r>
          </a:p>
          <a:p>
            <a:r>
              <a:rPr lang="en-GB" baseline="0" dirty="0"/>
              <a:t>Could use eval</a:t>
            </a:r>
            <a:r>
              <a:rPr lang="en-GB" baseline="0"/>
              <a:t>( ) for numbers </a:t>
            </a:r>
            <a:r>
              <a:rPr lang="en-GB" baseline="0" dirty="0"/>
              <a:t>but don't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76492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291870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76443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Computer</a:t>
            </a:r>
            <a:r>
              <a:rPr lang="en-GB" baseline="0"/>
              <a:t> waits for user input from the keyboard.  Whatever is entered is a string, no matter what it looks like, i.e. if the user enters 42 it is not a number but a string.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01805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794849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https://whiteboard.fi/</a:t>
            </a:r>
          </a:p>
          <a:p>
            <a:pPr marL="0" indent="0">
              <a:buNone/>
            </a:pPr>
            <a:r>
              <a:rPr lang="en-GB" dirty="0"/>
              <a:t>1. Run through with strings : "Big" + "dog" = "</a:t>
            </a:r>
            <a:r>
              <a:rPr lang="en-GB" dirty="0" err="1"/>
              <a:t>Bigdog</a:t>
            </a:r>
            <a:r>
              <a:rPr lang="en-GB" dirty="0"/>
              <a:t>"</a:t>
            </a:r>
          </a:p>
          <a:p>
            <a:pPr marL="0" indent="0">
              <a:buNone/>
            </a:pPr>
            <a:r>
              <a:rPr lang="en-GB" dirty="0"/>
              <a:t>2. Run through with ‘integers’: "4" + "2" = "42"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719585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007573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 part of N5 specification but</a:t>
            </a:r>
            <a:r>
              <a:rPr lang="en-GB" baseline="0" dirty="0"/>
              <a:t> need: input( ), int( ), float( )</a:t>
            </a:r>
          </a:p>
          <a:p>
            <a:r>
              <a:rPr lang="en-GB" baseline="0" dirty="0"/>
              <a:t>Could use eval( ) for numbers but don't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314742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57250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429045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50255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1251262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836976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64016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07586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Run through with integers: 4 + 2 =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18903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213070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472640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If a start value isn’t specified, then it’s 0 (zero).</a:t>
            </a:r>
          </a:p>
          <a:p>
            <a:r>
              <a:rPr lang="en-GB" baseline="0" dirty="0"/>
              <a:t>Info only: </a:t>
            </a:r>
            <a:r>
              <a:rPr lang="en-GB" baseline="0" dirty="0">
                <a:latin typeface="Consolas" panose="020B0609020204030204" pitchFamily="49" charset="0"/>
              </a:rPr>
              <a:t>list(range(1, 10)) → [1, 2, 3, 4, 5, 6, 7, 8, 9]</a:t>
            </a:r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242634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If a start value isn’t specified, then it’s 0 (zero).</a:t>
            </a:r>
          </a:p>
          <a:p>
            <a:r>
              <a:rPr lang="en-GB" baseline="0" dirty="0"/>
              <a:t>Info only: </a:t>
            </a:r>
            <a:r>
              <a:rPr lang="en-GB" baseline="0" dirty="0">
                <a:latin typeface="Consolas" panose="020B0609020204030204" pitchFamily="49" charset="0"/>
              </a:rPr>
              <a:t>list(range(1, 10)) → [1, 2, 3, 4, 5, 6, 7, 8, 9]</a:t>
            </a:r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60745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Keywords:  for,  in</a:t>
            </a:r>
          </a:p>
          <a:p>
            <a:r>
              <a:rPr lang="en-GB" dirty="0"/>
              <a:t>Function:</a:t>
            </a:r>
            <a:r>
              <a:rPr lang="en-GB" baseline="0" dirty="0"/>
              <a:t> range( )</a:t>
            </a:r>
            <a:endParaRPr lang="en-GB" dirty="0"/>
          </a:p>
          <a:p>
            <a:r>
              <a:rPr lang="en-GB" dirty="0"/>
              <a:t>If a start value isn’t specified, then it’s 0 (zero).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0210546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Keywords:  for,  in</a:t>
            </a:r>
          </a:p>
          <a:p>
            <a:r>
              <a:rPr lang="en-GB" dirty="0"/>
              <a:t>Function:</a:t>
            </a:r>
            <a:r>
              <a:rPr lang="en-GB" baseline="0" dirty="0"/>
              <a:t> range( )</a:t>
            </a:r>
            <a:endParaRPr lang="en-GB" dirty="0"/>
          </a:p>
          <a:p>
            <a:r>
              <a:rPr lang="en-GB" dirty="0"/>
              <a:t>If a start value isn’t specified, then it’s 0 (zero).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479180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Keywords:  for,  in</a:t>
            </a:r>
          </a:p>
          <a:p>
            <a:r>
              <a:rPr lang="en-GB" dirty="0"/>
              <a:t>Function:</a:t>
            </a:r>
            <a:r>
              <a:rPr lang="en-GB" baseline="0" dirty="0"/>
              <a:t> range( )</a:t>
            </a:r>
            <a:endParaRPr lang="en-GB" dirty="0"/>
          </a:p>
          <a:p>
            <a:r>
              <a:rPr lang="en-GB" dirty="0"/>
              <a:t>If a start value isn’t specified, then it’s 0 (zero).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8972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Keywords:  for,  in</a:t>
            </a:r>
          </a:p>
          <a:p>
            <a:r>
              <a:rPr lang="en-GB" dirty="0"/>
              <a:t>Function:</a:t>
            </a:r>
            <a:r>
              <a:rPr lang="en-GB" baseline="0" dirty="0"/>
              <a:t> range( )</a:t>
            </a:r>
            <a:endParaRPr lang="en-GB" dirty="0"/>
          </a:p>
          <a:p>
            <a:r>
              <a:rPr lang="en-GB" dirty="0"/>
              <a:t>If a start value isn’t specified, then it’s 0 (zero).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51657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1570036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Use trace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2704780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Use trace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639044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aseline="0" dirty="0"/>
              <a:t>????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238918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aseline="0" dirty="0"/>
              <a:t>Indentation covered later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333310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Code is to store two values, add them together, and display</a:t>
            </a:r>
            <a:r>
              <a:rPr lang="en-GB" baseline="0" dirty="0"/>
              <a:t> the result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3252625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45098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Initial: Very poor	Final: Much better</a:t>
            </a:r>
          </a:p>
          <a:p>
            <a:r>
              <a:rPr lang="en-GB" dirty="0"/>
              <a:t>Python forces indentation to be used – no example shown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3272467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Initial: Very poor	Final: Much better</a:t>
            </a:r>
          </a:p>
          <a:p>
            <a:r>
              <a:rPr lang="en-GB" dirty="0"/>
              <a:t>Python forces indentation to be used – no example shown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618200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3263186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3162100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8252277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1490872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9065286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8438819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Use </a:t>
            </a:r>
            <a:r>
              <a:rPr lang="en-GB" dirty="0" err="1"/>
              <a:t>Thonny</a:t>
            </a:r>
            <a:r>
              <a:rPr lang="en-GB" dirty="0"/>
              <a:t> shell / console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220137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9593428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8282957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883586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88C24-482E-D58D-CC10-E37277933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9C682-2F10-2647-170F-AD6B8BB39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5B881-60E4-9540-528B-88A4C5CBB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BF614-B1E6-C845-69FC-477559A8C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538405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930A2-018F-FFEC-DB78-8F9A4457E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39BE7D-EECA-A217-7F6F-AA39FBE2AC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3024C2-5804-FACB-D083-B50A0D70C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5638A-3880-0C90-37E7-87559D2AC7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622844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472849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177130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613873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9FF40-4696-E311-2741-84A5973A3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138084-D39A-C8C2-E5B0-2CD736E42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6E4F38-C989-88AA-F4D8-3B7E6D527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9EC24-A5DF-2569-2870-D7D4AF6B1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715354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D5FDE-58AF-C0D0-C1C9-07004866C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997D39-3DF4-E337-718C-BF2F98826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A62FD7-89F1-6A66-BAB3-231EA5DFB6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8DBB4-B2D6-A2C2-E2BC-9233D84198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490847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627959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CEC70-28F4-6461-96D0-893DC5EC8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5AB5DF-73EE-BEDF-D166-F50671031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C1B468-FA24-EC4D-E2D5-C8AA50B04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AB090-3AA6-FCE7-D10F-9B7F250F4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7901445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71620-E50A-0136-D82B-E047CC40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294375-BA74-144D-0D7F-702F705C9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BB479D-67C8-4E82-3933-545AF6D26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3B8D4-3E3F-317B-B59C-E539A637C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581140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597779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9473C-9C4A-762E-F892-6CFD5CCDD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A9628-1AB5-971E-1199-0EFE8CBA0B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B69F68-8CC7-EB19-DA98-0B8FDCEC6A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400B9-5FF3-A4C5-6DC0-1AA887C839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4417587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1FE5B5-A979-4370-A255-218EAB36A5F4}" type="slidenum">
              <a:rPr kumimoji="0" lang="en-GB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158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4873966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1FE5B5-A979-4370-A255-218EAB36A5F4}" type="slidenum">
              <a:rPr kumimoji="0" lang="en-GB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159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4828357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1FE5B5-A979-4370-A255-218EAB36A5F4}" type="slidenum">
              <a:rPr kumimoji="0" lang="en-GB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160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1884775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4194130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5958269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58AFB-A3EE-DD4C-D1AD-BA29728F8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C8E5CE-9FDA-72F8-9BB5-D19CC1C8F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873A4C-429E-BC88-8180-EE5A97229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F0975-6AC9-2858-A49D-66C9AC4F20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150914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25596-CC3A-66CF-9A66-4C3CC42B4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4AD5DE-0B88-18E8-379A-667CD82A4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CFC613-B78E-8BC9-6718-C25CA54FC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C925CD-9DFF-EC7A-2923-3638EE00E3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9187927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8FEB6-A2ED-FA4C-E9AD-86E3B4D43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7DF782-FC68-D321-86BE-A528301ECA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76B11D-7F37-107F-320E-933E3BCF8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F8A60-6037-0D50-8549-0CD563F15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167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4081313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0-2 Too young, 3-4 Nursery, 5-11 Primary, 12-18 Secondary, 19+ Too old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1121583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169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4966490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If first condition is False, all other conditions are ignored.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172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8967158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If first condition is True, all other conditions are ignored.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176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3440580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No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182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290388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Source: https://medlineplus.gov/ency/article/001982.htm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183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1443112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Source: https://medlineplus.gov/ency/article/001982.htm</a:t>
            </a:r>
          </a:p>
          <a:p>
            <a:pPr marL="0" indent="0">
              <a:buNone/>
            </a:pPr>
            <a:r>
              <a:rPr lang="en-GB" dirty="0"/>
              <a:t>Create test table then implement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184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451832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Theme park ride.  Minimum age and minimum height restrictions.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185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3825495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Theme park ride.  Minimum age and minimum height restrictions.</a:t>
            </a:r>
          </a:p>
          <a:p>
            <a:pPr marL="0" indent="0">
              <a:buNone/>
            </a:pPr>
            <a:r>
              <a:rPr lang="en-GB" dirty="0"/>
              <a:t>Create test table then implement / Supersize with elif, else to shown failed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186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285167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187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2442604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Completely made-up criteria!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Design interface, create test table, implement,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188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298608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189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090777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190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326928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191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9716423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Inefficient: every condition is evaluated, every time</a:t>
            </a:r>
          </a:p>
          <a:p>
            <a:r>
              <a:rPr lang="en-GB" dirty="0"/>
              <a:t>Efficient: at first True condition selection terminates</a:t>
            </a:r>
          </a:p>
          <a:p>
            <a:r>
              <a:rPr lang="en-GB" dirty="0"/>
              <a:t>run through with 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194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731773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195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094238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Create test table then implement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196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822388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197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018575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198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4037845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199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384103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200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0561182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201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2045382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Die – singular / Dice – plural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202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2819375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203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337656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Syntax: Print("Hello)</a:t>
            </a:r>
          </a:p>
          <a:p>
            <a:r>
              <a:rPr lang="en-GB" dirty="0"/>
              <a:t>Execution: 2 + "2"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204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499138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205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9087539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Normal: 1-6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206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362400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Test table layout is not fixed- amend as necessary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208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4732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Extreme – at the limits / edge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8615112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Add: T </a:t>
            </a:r>
            <a:r>
              <a:rPr lang="en-GB" dirty="0" err="1"/>
              <a:t>T</a:t>
            </a:r>
            <a:r>
              <a:rPr lang="en-GB" dirty="0"/>
              <a:t> F </a:t>
            </a:r>
            <a:r>
              <a:rPr lang="en-GB" dirty="0" err="1"/>
              <a:t>F</a:t>
            </a:r>
            <a:r>
              <a:rPr lang="en-GB" dirty="0"/>
              <a:t> </a:t>
            </a:r>
            <a:r>
              <a:rPr lang="en-GB" dirty="0" err="1"/>
              <a:t>F</a:t>
            </a:r>
            <a:endParaRPr lang="en-GB" dirty="0"/>
          </a:p>
          <a:p>
            <a:r>
              <a:rPr lang="en-GB"/>
              <a:t>Mark: </a:t>
            </a:r>
            <a:r>
              <a:rPr lang="en-GB" dirty="0"/>
              <a:t>extreme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183645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Add: T </a:t>
            </a:r>
            <a:r>
              <a:rPr lang="en-GB" dirty="0" err="1"/>
              <a:t>T</a:t>
            </a:r>
            <a:r>
              <a:rPr lang="en-GB" dirty="0"/>
              <a:t> F </a:t>
            </a:r>
            <a:r>
              <a:rPr lang="en-GB" dirty="0" err="1"/>
              <a:t>F</a:t>
            </a:r>
            <a:r>
              <a:rPr lang="en-GB" dirty="0"/>
              <a:t> </a:t>
            </a:r>
            <a:r>
              <a:rPr lang="en-GB" dirty="0" err="1"/>
              <a:t>F</a:t>
            </a:r>
            <a:endParaRPr lang="en-GB" dirty="0"/>
          </a:p>
          <a:p>
            <a:r>
              <a:rPr lang="en-GB"/>
              <a:t>Mark: </a:t>
            </a:r>
            <a:r>
              <a:rPr lang="en-GB" dirty="0"/>
              <a:t>extreme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237052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7979042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197574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Only enter the loop when the condition is True.</a:t>
            </a:r>
          </a:p>
          <a:p>
            <a:r>
              <a:rPr lang="en-GB" dirty="0"/>
              <a:t>Only exit the loop when the condition is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6628927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5984064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what happens if &lt;age&gt; is 3, 5, 9 ?</a:t>
            </a:r>
          </a:p>
          <a:p>
            <a:r>
              <a:rPr lang="en-GB" dirty="0"/>
              <a:t>Condition can be complex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6271396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70423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Used to limit input values to acceptable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7369603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Simple condition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0109014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9718760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0918434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Simple condition.  Error message to be meaningful, i.e. better than "Invalid"</a:t>
            </a:r>
          </a:p>
          <a:p>
            <a:r>
              <a:rPr lang="en-GB" dirty="0"/>
              <a:t>Number of taxi passengers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696339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4778590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Simple condition.  Error message to be meaningful, i.e. better than "Invalid"</a:t>
            </a:r>
          </a:p>
          <a:p>
            <a:r>
              <a:rPr lang="en-GB" dirty="0"/>
              <a:t>Number of taxi passengers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0833040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5880380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6711013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4971609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Extreme – at the limits / edge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7191559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Exceptional – beyond the limits / not acceptable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090230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Test table layout is not fixed - amend as necessary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0951839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Value of a die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043926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756260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311115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8804350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ACB25-44E4-89FB-BE42-CFBA53124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B7279C-5F85-2688-D159-97951A359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A68F4-CDE3-BD8D-E42B-628301D6E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Exceptional testing: Enter loop / Stay in loop / Exit loop – using extreme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7D295-CFA8-F0E7-60A6-6DAD73128B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2670150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A695C-EB09-3CA7-8F86-F20AE974D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585FF9-4C53-9035-7B23-F059A2A045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525AEE-C58D-B7F8-1727-D28505D47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7F8A0-7684-E40A-64CA-B8B4AFD369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7765648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 a data type but a data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4053943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476453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598899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0740886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5731013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565095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4237985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760420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7336143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08515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200926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5304473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5978288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1FE5B5-A979-4370-A255-218EAB36A5F4}" type="slidenum">
              <a:rPr kumimoji="0" lang="en-GB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258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4368866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1FE5B5-A979-4370-A255-218EAB36A5F4}" type="slidenum">
              <a:rPr kumimoji="0" lang="en-GB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259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9940782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1FE5B5-A979-4370-A255-218EAB36A5F4}" type="slidenum">
              <a:rPr kumimoji="0" lang="en-GB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260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7702256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1FE5B5-A979-4370-A255-218EAB36A5F4}" type="slidenum">
              <a:rPr kumimoji="0" lang="en-GB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261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215056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https://caledoniaplay.com/wp-content/uploads/2024/06/EDU-PRODUCT-DESCRIPTION-gallery-image-AGILITY-TRAVERSING-WALL-3.jpg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2764265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185707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1670906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3396038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267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1072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0</a:t>
            </a:r>
            <a:r>
              <a:rPr lang="en-GB" baseline="0" dirty="0"/>
              <a:t>, 11, and -700 are rejected.</a:t>
            </a:r>
          </a:p>
          <a:p>
            <a:r>
              <a:rPr lang="en-GB" baseline="0" dirty="0"/>
              <a:t>"five" and 7.3 cause a runtime error as string / float values (outside the scope of N5 &amp; H).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148688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269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78325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cs typeface="Calibri"/>
              </a:rPr>
              <a:t>Prelim 1 about half way through DDD</a:t>
            </a:r>
          </a:p>
          <a:p>
            <a:r>
              <a:rPr lang="en-GB" dirty="0">
                <a:cs typeface="Calibri"/>
              </a:rPr>
              <a:t>Prelim 2 just before assignment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270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3637940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271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1778770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Hide as appropriate</a:t>
            </a:r>
            <a:endParaRPr lang="en-GB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272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8411544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SDD: 0-5, 0-5, 15, 0-5, 0-5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273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6113248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274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592105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276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739205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279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4394125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282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640685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283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955702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iterative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doing something again (and again), usually to improve it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284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780059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286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177519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Purpose: </a:t>
            </a:r>
            <a:r>
              <a:rPr lang="en-GB" sz="1200" dirty="0"/>
              <a:t>The program is to ask the user for 2 values and display the sum of the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290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687376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Purpose: </a:t>
            </a:r>
            <a:r>
              <a:rPr lang="en-GB" sz="1200" dirty="0"/>
              <a:t>The program is to ask the user for 2 values and display the sum of the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293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153530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294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958103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295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9943256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297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230666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Code it.  Paste into OneNote page plus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300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3948343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Running total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Code it.  Paste into OneNote page plus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302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563523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Running total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303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5833420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Input validation / If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Code it.  Paste into OneNote page plus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304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8088379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Input validation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305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765303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Input validation / If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Code it.  Paste into </a:t>
            </a:r>
            <a:r>
              <a:rPr lang="en-GB" dirty="0" err="1"/>
              <a:t>Onenote</a:t>
            </a:r>
            <a:r>
              <a:rPr lang="en-GB" dirty="0"/>
              <a:t> page plus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306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6383297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307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277386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308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65852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309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1672329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476258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651336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0956725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Running total</a:t>
            </a:r>
          </a:p>
          <a:p>
            <a:r>
              <a:rPr lang="en-GB" dirty="0"/>
              <a:t>Letters to ensure </a:t>
            </a:r>
            <a:r>
              <a:rPr lang="en-GB"/>
              <a:t>correct flow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0683777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7646500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4528580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2346983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868077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3225389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370609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8401738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3265246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8720620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5649F-8FDC-918A-EEF4-2FCBBA156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1E9276-7CAA-C732-C87F-0097C4EFD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81BFD6-B797-C233-AE48-F7D706E84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E6110-834B-E5ED-0BB4-D17EB85A3A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296784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5649F-8FDC-918A-EEF4-2FCBBA156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1E9276-7CAA-C732-C87F-0097C4EFD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81BFD6-B797-C233-AE48-F7D706E84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E6110-834B-E5ED-0BB4-D17EB85A3A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0543226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9390635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Calculate perimeter and area of a rectangle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7874059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77858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S4 pupils, not S3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5480127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Calculate perimeter and area of a rectangle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741120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Add two values together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9672344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Calculate perimeter and area of a rectangle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Use draw.io for app based version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0127379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662260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4569273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9168F-6589-3385-F67C-2273253F0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940522-A573-0085-DE48-CC2B2E497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709BDA-8DF8-5133-1AE3-E8D08ED58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7DE95-4A03-C041-97DF-B8D4C0367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845016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4336098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7D175-BC7C-AD85-01B8-6363A32B5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BAA6FE-612B-383B-BA51-07691C0F6C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857AF7-044C-1A97-8121-4711DA6A7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43ABA-A1E5-E564-DEB4-58C87350B6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138357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1370274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E6A04-585A-13EA-9761-9592E1361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F21CB9-BEA6-175D-92EC-9BA854F0A3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2B5E45-A14A-0B4F-6F0D-B6767A639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7B64D-4DB8-3570-3B1C-AEDA5B6C2A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750347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2358020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EF494-AA9A-78F9-7934-1CE3D86A1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2B322B-EEE3-49CD-2464-4D41CDF3BF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C4027B-9D89-7935-C5EE-68C25914C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2F0B3-FE6B-5FBD-E5A8-1FCC376B53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6488996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659435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EB9F-1146-912C-46AE-544C1DC33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0A5E04-5EDC-345A-EB04-08B79B0B94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01E89C-22DF-1D2B-8A25-2E3062E5E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C25B8-3E81-9BA9-6984-03B710AAA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172983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2463063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958DB-CB8A-7B9E-47FE-2FA1B47A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D7C3E1-0520-86FA-27AB-C8BEF93CF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BDCD7-CAC2-F330-5A33-2510A354F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445B3-8D0C-8289-E825-4C96FE566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4259718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4607622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1305E-2077-A2BD-B2AC-E5E9B3808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5C9D27-13A6-CFC6-B529-166E89DCA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71FD3-CA1D-3BA0-6AAD-C1DE45FAF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1F270-DBD7-3A90-35C0-8F99E09F6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6821860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B5BA0-8B3B-4833-2F27-7D57D84E4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D065E9-74AD-495D-5087-4F108B54F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7C0E8F-D874-88B3-52D3-0CAEFF7F4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Excellence creep!  Works in Thonny.</a:t>
            </a:r>
          </a:p>
          <a:p>
            <a:endParaRPr lang="en-GB" dirty="0"/>
          </a:p>
          <a:p>
            <a:r>
              <a:rPr lang="en-GB" dirty="0"/>
              <a:t>PEP 350 - https://peps.python.org/pep-0350/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07E7AF-CBD8-2893-9A19-7095C73846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618317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B511A-5D70-AE5D-6ABD-99AC77980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8345D-BC29-A4FB-1B09-D6D0636C6B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938032-BA38-BA01-7EC3-6E5321C72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8135F-4311-A4C4-9C97-EBC38B6221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053357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85270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Super size: ask how many times to loop (limit 2-5), ask for character to concatenate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744692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6246950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Super size: ask how many times to loop (limit 1-6), ask for dice value (1-6)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Super-super size: display average of dice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3972381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4584933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1784163"/>
      </p:ext>
    </p:extLst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4328311"/>
      </p:ext>
    </p:extLst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8113469"/>
      </p:ext>
    </p:extLst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0887875"/>
      </p:ext>
    </p:extLst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If a start value isn’t specified, then it’s 0 (zero).</a:t>
            </a:r>
          </a:p>
          <a:p>
            <a:r>
              <a:rPr lang="en-GB" baseline="0" dirty="0"/>
              <a:t>Info only: </a:t>
            </a:r>
            <a:r>
              <a:rPr lang="en-GB" baseline="0" dirty="0">
                <a:latin typeface="Consolas" panose="020B0609020204030204" pitchFamily="49" charset="0"/>
              </a:rPr>
              <a:t>list(range(1, 10)) → [1, 2, 3, 4, 5, 6, 7, 8, 9]</a:t>
            </a:r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0172244"/>
      </p:ext>
    </p:extLst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4603904"/>
      </p:ext>
    </p:extLst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9252006"/>
      </p:ext>
    </p:extLst>
  </p:cSld>
  <p:clrMapOvr>
    <a:masterClrMapping/>
  </p:clrMapOvr>
</p:notes>
</file>

<file path=ppt/notesSlides/notesSlide2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367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046088"/>
      </p:ext>
    </p:extLst>
  </p:cSld>
  <p:clrMapOvr>
    <a:masterClrMapping/>
  </p:clrMapOvr>
</p:notes>
</file>

<file path=ppt/notesSlides/notesSlide2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Used to limit input values to acceptable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447053"/>
      </p:ext>
    </p:extLst>
  </p:cSld>
  <p:clrMapOvr>
    <a:masterClrMapping/>
  </p:clrMapOvr>
</p:notes>
</file>

<file path=ppt/notesSlides/notesSlide2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369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1629452"/>
      </p:ext>
    </p:extLst>
  </p:cSld>
  <p:clrMapOvr>
    <a:masterClrMapping/>
  </p:clrMapOvr>
</p:notes>
</file>

<file path=ppt/notesSlides/notesSlide2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370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580485"/>
      </p:ext>
    </p:extLst>
  </p:cSld>
  <p:clrMapOvr>
    <a:masterClrMapping/>
  </p:clrMapOvr>
</p:notes>
</file>

<file path=ppt/notesSlides/notesSlide2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Simple condition.  Error message to be meaningful, i.e. better than "Invalid"</a:t>
            </a:r>
          </a:p>
          <a:p>
            <a:r>
              <a:rPr lang="en-GB" dirty="0"/>
              <a:t>Number of taxi passengers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371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700161"/>
      </p:ext>
    </p:extLst>
  </p:cSld>
  <p:clrMapOvr>
    <a:masterClrMapping/>
  </p:clrMapOvr>
</p:notes>
</file>

<file path=ppt/notesSlides/notesSlide2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372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6553450"/>
      </p:ext>
    </p:extLst>
  </p:cSld>
  <p:clrMapOvr>
    <a:masterClrMapping/>
  </p:clrMapOvr>
</p:notes>
</file>

<file path=ppt/notesSlides/notesSlide2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Complex condition. Error message to be meaningful, i.e. better than "Invalid"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373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619353"/>
      </p:ext>
    </p:extLst>
  </p:cSld>
  <p:clrMapOvr>
    <a:masterClrMapping/>
  </p:clrMapOvr>
</p:notes>
</file>

<file path=ppt/notesSlides/notesSlide2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374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0881711"/>
      </p:ext>
    </p:extLst>
  </p:cSld>
  <p:clrMapOvr>
    <a:masterClrMapping/>
  </p:clrMapOvr>
</p:notes>
</file>

<file path=ppt/notesSlides/notesSlide2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375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6677512"/>
      </p:ext>
    </p:extLst>
  </p:cSld>
  <p:clrMapOvr>
    <a:masterClrMapping/>
  </p:clrMapOvr>
</p:notes>
</file>

<file path=ppt/notesSlides/notesSlide2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376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2561260"/>
      </p:ext>
    </p:extLst>
  </p:cSld>
  <p:clrMapOvr>
    <a:masterClrMapping/>
  </p:clrMapOvr>
</p:notes>
</file>

<file path=ppt/notesSlides/notesSlide2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Input validation</a:t>
            </a:r>
          </a:p>
          <a:p>
            <a:r>
              <a:rPr lang="en-GB" dirty="0"/>
              <a:t>Efficient selection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377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7664051"/>
      </p:ext>
    </p:extLst>
  </p:cSld>
  <p:clrMapOvr>
    <a:masterClrMapping/>
  </p:clrMapOvr>
</p:notes>
</file>

<file path=ppt/notesSlides/notesSlide2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Input validation</a:t>
            </a:r>
          </a:p>
          <a:p>
            <a:r>
              <a:rPr lang="en-GB" dirty="0"/>
              <a:t>Efficient selection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378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4726215"/>
      </p:ext>
    </p:extLst>
  </p:cSld>
  <p:clrMapOvr>
    <a:masterClrMapping/>
  </p:clrMapOvr>
</p:notes>
</file>

<file path=ppt/notesSlides/notesSlide2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379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8902793"/>
      </p:ext>
    </p:extLst>
  </p:cSld>
  <p:clrMapOvr>
    <a:masterClrMapping/>
  </p:clrMapOvr>
</p:notes>
</file>

<file path=ppt/notesSlides/notesSlide2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Revision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380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4895075"/>
      </p:ext>
    </p:extLst>
  </p:cSld>
  <p:clrMapOvr>
    <a:masterClrMapping/>
  </p:clrMapOvr>
</p:notes>
</file>

<file path=ppt/notesSlides/notesSlide2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Loops until condition is false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381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9067050"/>
      </p:ext>
    </p:extLst>
  </p:cSld>
  <p:clrMapOvr>
    <a:masterClrMapping/>
  </p:clrMapOvr>
</p:notes>
</file>

<file path=ppt/notesSlides/notesSlide2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382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0288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60564-5510-4968-B83C-E0988A9D5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3D860D-1211-4E26-A35E-A80BC376E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C5969-3F05-4100-9F8A-DB9A82EB4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9FB1B-2516-429F-B867-4823287B8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1741A-33DE-4C5E-8C9F-B4AD75DA4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3201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F5E7B-67B3-496A-822C-C32976D91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FEDAD-10D4-47B6-8F35-0155F7D63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2pPr>
              <a:lnSpc>
                <a:spcPct val="100000"/>
              </a:lnSpc>
              <a:spcAft>
                <a:spcPts val="1200"/>
              </a:spcAft>
              <a:defRPr/>
            </a:lvl2pPr>
            <a:lvl3pPr>
              <a:lnSpc>
                <a:spcPct val="100000"/>
              </a:lnSpc>
              <a:spcAft>
                <a:spcPts val="1200"/>
              </a:spcAft>
              <a:defRPr/>
            </a:lvl3pPr>
            <a:lvl4pPr>
              <a:lnSpc>
                <a:spcPct val="100000"/>
              </a:lnSpc>
              <a:spcAft>
                <a:spcPts val="1200"/>
              </a:spcAft>
              <a:defRPr/>
            </a:lvl4pPr>
            <a:lvl5pPr>
              <a:lnSpc>
                <a:spcPct val="100000"/>
              </a:lnSpc>
              <a:spcAft>
                <a:spcPts val="12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20D4F-7E43-4DFE-B626-E846C85BC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EDBDD-527D-4909-8BEF-723EEB350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05016-CD99-4792-B5CE-4FC2732AB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89727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2FA82-2BA5-4E38-B83A-773E8009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DA602-023E-4AF2-8A02-5ED3BE4E1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7AF83-9AAB-4395-A1CD-8B1810E80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4F5F-ED11-4FF4-8082-EF13CCF8D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7B83B-7338-4290-BCDC-071F1F558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56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238D4-5905-4C6E-BCBB-B94073114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C15E6-8B9A-4199-90FC-6E93032700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2pPr>
              <a:lnSpc>
                <a:spcPct val="100000"/>
              </a:lnSpc>
              <a:spcAft>
                <a:spcPts val="1200"/>
              </a:spcAft>
              <a:defRPr/>
            </a:lvl2pPr>
            <a:lvl3pPr>
              <a:lnSpc>
                <a:spcPct val="100000"/>
              </a:lnSpc>
              <a:spcAft>
                <a:spcPts val="1200"/>
              </a:spcAft>
              <a:defRPr/>
            </a:lvl3pPr>
            <a:lvl4pPr>
              <a:lnSpc>
                <a:spcPct val="100000"/>
              </a:lnSpc>
              <a:spcAft>
                <a:spcPts val="1200"/>
              </a:spcAft>
              <a:defRPr/>
            </a:lvl4pPr>
            <a:lvl5pPr>
              <a:lnSpc>
                <a:spcPct val="100000"/>
              </a:lnSpc>
              <a:spcAft>
                <a:spcPts val="12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19C19-84FB-4E02-8D3E-A145EF70F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2pPr>
              <a:lnSpc>
                <a:spcPct val="100000"/>
              </a:lnSpc>
              <a:spcAft>
                <a:spcPts val="1200"/>
              </a:spcAft>
              <a:defRPr/>
            </a:lvl2pPr>
            <a:lvl3pPr>
              <a:lnSpc>
                <a:spcPct val="100000"/>
              </a:lnSpc>
              <a:spcAft>
                <a:spcPts val="1200"/>
              </a:spcAft>
              <a:defRPr/>
            </a:lvl3pPr>
            <a:lvl4pPr>
              <a:lnSpc>
                <a:spcPct val="100000"/>
              </a:lnSpc>
              <a:spcAft>
                <a:spcPts val="1200"/>
              </a:spcAft>
              <a:defRPr/>
            </a:lvl4pPr>
            <a:lvl5pPr>
              <a:lnSpc>
                <a:spcPct val="100000"/>
              </a:lnSpc>
              <a:spcAft>
                <a:spcPts val="12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729DE-CB61-4172-B1A0-5F570A694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18137-140C-4C10-9A2D-A8BEA88DA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788274-F0A0-4D87-9901-05DB5CB1C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7492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80B87-D3F8-4BAA-8DE3-3836317BC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ADC46-22A7-453D-BB94-D1CA48C5A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35B5B-116B-4974-BF81-F7294090D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2pPr>
              <a:lnSpc>
                <a:spcPct val="100000"/>
              </a:lnSpc>
              <a:spcAft>
                <a:spcPts val="1200"/>
              </a:spcAft>
              <a:defRPr/>
            </a:lvl2pPr>
            <a:lvl3pPr>
              <a:lnSpc>
                <a:spcPct val="100000"/>
              </a:lnSpc>
              <a:spcAft>
                <a:spcPts val="1200"/>
              </a:spcAft>
              <a:defRPr/>
            </a:lvl3pPr>
            <a:lvl4pPr>
              <a:lnSpc>
                <a:spcPct val="100000"/>
              </a:lnSpc>
              <a:spcAft>
                <a:spcPts val="1200"/>
              </a:spcAft>
              <a:defRPr/>
            </a:lvl4pPr>
            <a:lvl5pPr>
              <a:lnSpc>
                <a:spcPct val="100000"/>
              </a:lnSpc>
              <a:spcAft>
                <a:spcPts val="12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89685-D393-44B4-B943-5A951A472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29B97-30F9-4234-A140-11E2C1505C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2pPr>
              <a:lnSpc>
                <a:spcPct val="100000"/>
              </a:lnSpc>
              <a:spcAft>
                <a:spcPts val="1200"/>
              </a:spcAft>
              <a:defRPr/>
            </a:lvl2pPr>
            <a:lvl3pPr>
              <a:lnSpc>
                <a:spcPct val="100000"/>
              </a:lnSpc>
              <a:spcAft>
                <a:spcPts val="1200"/>
              </a:spcAft>
              <a:defRPr/>
            </a:lvl3pPr>
            <a:lvl4pPr>
              <a:lnSpc>
                <a:spcPct val="100000"/>
              </a:lnSpc>
              <a:spcAft>
                <a:spcPts val="1200"/>
              </a:spcAft>
              <a:defRPr/>
            </a:lvl4pPr>
            <a:lvl5pPr>
              <a:lnSpc>
                <a:spcPct val="100000"/>
              </a:lnSpc>
              <a:spcAft>
                <a:spcPts val="12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FD1C8F-089B-4A81-946C-8404750F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EE9EF7-FF78-45D1-965B-99664AD00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41DFC4-4931-4DBE-A0A7-A1E0A15DC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64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7CCB-CA9F-4F77-978B-946CBCC20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92E69A-AA02-4CC0-9FE5-3C50B8F4E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4A0F08-87A5-4B96-B446-1337E28A9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B3645-39BF-4DC7-A6DC-E10EB4E4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463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36AF93-0450-4C93-8AED-561C8D0B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336096-32F7-4552-856B-0F42E86F0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2CEA9-085F-4023-8477-F0F082AED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0016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F9064-4077-4B58-8BD0-E8642C906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7D8E-F32F-4041-9FDE-C12CBB527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3200"/>
            </a:lvl1pPr>
            <a:lvl2pPr>
              <a:lnSpc>
                <a:spcPct val="100000"/>
              </a:lnSpc>
              <a:spcAft>
                <a:spcPts val="1200"/>
              </a:spcAft>
              <a:defRPr sz="2800"/>
            </a:lvl2pPr>
            <a:lvl3pPr>
              <a:lnSpc>
                <a:spcPct val="100000"/>
              </a:lnSpc>
              <a:spcAft>
                <a:spcPts val="1200"/>
              </a:spcAft>
              <a:defRPr sz="24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lnSpc>
                <a:spcPct val="100000"/>
              </a:lnSpc>
              <a:spcAft>
                <a:spcPts val="1200"/>
              </a:spcAft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1CF05-D7DF-470D-8951-656268BBB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EF19F6-CB71-4073-820E-814F73164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9668D-5D63-440F-B937-227682F00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DC044-699A-457B-A741-69E8543CE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36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8CDCB-7EE6-4D7B-9EC9-999829823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8A68D7-4A60-4176-AEF9-C7224992D6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ADDFE-E588-428C-9ACE-BF6D4DC2B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DAD98-EFA3-40FD-B220-0CEFA3B0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492CB-8784-44CD-8BE4-F038F0DA8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B88F3-B6B9-4DE8-80B4-B31DCC6FF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704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B7571-E3AA-47DA-8A99-A8577E9EA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56407A-F3C5-4467-999F-12834F3D5E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C1D0D-C52B-4D14-AEAB-FF6484676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58F66-3EB8-48B5-B410-20C1141D6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85733-F1B0-47F6-B3EA-C32A59118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816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78E59-2798-47E7-97DF-12EB43D4DB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23F44B-7DC4-4852-9AAB-98C84D691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AEF75-C039-4933-808F-7735F4020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011B2-1EEF-4630-AB8B-1FC4D8E1F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43AA0-545D-40FB-A090-776833BF5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7995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934EA5-96D5-44F8-8B2E-EB636C3A9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96C3A-1C2D-4B6E-9BA6-958361A91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E72CA-E085-451A-A6D7-D31116C42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B66F6-7471-47DA-8EED-C7BCCA53B015}" type="datetimeFigureOut">
              <a:rPr lang="en-GB" noProof="0" smtClean="0"/>
              <a:t>30/10/2026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CA142-8F89-49C4-92C2-0106F55414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D0BA0-3B07-4BE4-ACEC-E0EC87569D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9890C-4870-410D-A143-591B2BA0A39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92412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pngimg.com/download/33518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pngimg.com/download/33518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4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4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4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4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4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4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4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4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5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5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5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5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6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6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4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4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5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5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5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5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6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6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6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6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6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6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6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6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6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6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4.xml"/></Relationships>
</file>

<file path=ppt/slides/_rels/slide2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4.xml"/></Relationships>
</file>

<file path=ppt/slides/_rels/slide2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4.xml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6.xml"/></Relationships>
</file>

<file path=ppt/slides/_rels/slide2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6.xml"/></Relationships>
</file>

<file path=ppt/slides/_rels/slide2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6.xml"/></Relationships>
</file>

<file path=ppt/slides/_rels/slide2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6.xml"/></Relationships>
</file>

<file path=ppt/slides/_rels/slide2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2.xml"/></Relationships>
</file>

<file path=ppt/slides/_rels/slide2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/Relationships>
</file>

<file path=ppt/slides/_rels/slide2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6.xml"/></Relationships>
</file>

<file path=ppt/slides/_rels/slide2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/Relationships>
</file>

<file path=ppt/slides/_rels/slide2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6.xml"/></Relationships>
</file>

<file path=ppt/slides/_rels/slide2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6.xml"/></Relationships>
</file>

<file path=ppt/slides/_rels/slide2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6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2.xml"/></Relationships>
</file>

<file path=ppt/slides/_rels/slide2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2.xml"/></Relationships>
</file>

<file path=ppt/slides/_rels/slide2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2.xml"/></Relationships>
</file>

<file path=ppt/slides/_rels/slide2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2.xml"/></Relationships>
</file>

<file path=ppt/slides/_rels/slide2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2.xml"/></Relationships>
</file>

<file path=ppt/slides/_rels/slide2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2.xml"/></Relationships>
</file>

<file path=ppt/slides/_rels/slide2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2.xml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5.xml"/></Relationships>
</file>

<file path=ppt/slides/_rels/slide2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5.xml"/></Relationships>
</file>

<file path=ppt/slides/_rels/slide2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3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6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6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6.xml"/></Relationships>
</file>

<file path=ppt/slides/_rels/slide2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6.xml"/></Relationships>
</file>

<file path=ppt/slides/_rels/slide2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6.xml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3.xml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2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2.xml"/></Relationships>
</file>

<file path=ppt/slides/_rels/slide2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2.xml"/></Relationships>
</file>

<file path=ppt/slides/_rels/slide2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1.xml"/><Relationship Id="rId1" Type="http://schemas.openxmlformats.org/officeDocument/2006/relationships/slideLayout" Target="../slideLayouts/slideLayout3.xml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2.xml"/><Relationship Id="rId1" Type="http://schemas.openxmlformats.org/officeDocument/2006/relationships/slideLayout" Target="../slideLayouts/slideLayout2.xml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3.xml"/><Relationship Id="rId1" Type="http://schemas.openxmlformats.org/officeDocument/2006/relationships/slideLayout" Target="../slideLayouts/slideLayout2.xml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4.xml"/><Relationship Id="rId1" Type="http://schemas.openxmlformats.org/officeDocument/2006/relationships/slideLayout" Target="../slideLayouts/slideLayout6.xml"/></Relationships>
</file>

<file path=ppt/slides/_rels/slide3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5.xml"/><Relationship Id="rId1" Type="http://schemas.openxmlformats.org/officeDocument/2006/relationships/slideLayout" Target="../slideLayouts/slideLayout6.xml"/></Relationships>
</file>

<file path=ppt/slides/_rels/slide3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6.xml"/><Relationship Id="rId1" Type="http://schemas.openxmlformats.org/officeDocument/2006/relationships/slideLayout" Target="../slideLayouts/slideLayout6.xml"/></Relationships>
</file>

<file path=ppt/slides/_rels/slide3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7.xml"/><Relationship Id="rId1" Type="http://schemas.openxmlformats.org/officeDocument/2006/relationships/slideLayout" Target="../slideLayouts/slideLayout6.xml"/></Relationships>
</file>

<file path=ppt/slides/_rels/slide3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8.xml"/><Relationship Id="rId1" Type="http://schemas.openxmlformats.org/officeDocument/2006/relationships/slideLayout" Target="../slideLayouts/slideLayout6.xml"/></Relationships>
</file>

<file path=ppt/slides/_rels/slide3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9.xml"/><Relationship Id="rId1" Type="http://schemas.openxmlformats.org/officeDocument/2006/relationships/slideLayout" Target="../slideLayouts/slideLayout6.xml"/></Relationships>
</file>

<file path=ppt/slides/_rels/slide3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0.xml"/><Relationship Id="rId1" Type="http://schemas.openxmlformats.org/officeDocument/2006/relationships/slideLayout" Target="../slideLayouts/slideLayout2.xml"/></Relationships>
</file>

<file path=ppt/slides/_rels/slide3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1.xml"/><Relationship Id="rId1" Type="http://schemas.openxmlformats.org/officeDocument/2006/relationships/slideLayout" Target="../slideLayouts/slideLayout2.xml"/></Relationships>
</file>

<file path=ppt/slides/_rels/slide3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2.xml"/><Relationship Id="rId1" Type="http://schemas.openxmlformats.org/officeDocument/2006/relationships/slideLayout" Target="../slideLayouts/slideLayout2.xml"/></Relationships>
</file>

<file path=ppt/slides/_rels/slide3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3.xml"/><Relationship Id="rId1" Type="http://schemas.openxmlformats.org/officeDocument/2006/relationships/slideLayout" Target="../slideLayouts/slideLayout6.xml"/></Relationships>
</file>

<file path=ppt/slides/_rels/slide3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4.xml"/><Relationship Id="rId1" Type="http://schemas.openxmlformats.org/officeDocument/2006/relationships/slideLayout" Target="../slideLayouts/slideLayout6.xml"/></Relationships>
</file>

<file path=ppt/slides/_rels/slide3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5.xml"/><Relationship Id="rId1" Type="http://schemas.openxmlformats.org/officeDocument/2006/relationships/slideLayout" Target="../slideLayouts/slideLayout6.xml"/></Relationships>
</file>

<file path=ppt/slides/_rels/slide3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6.xml"/><Relationship Id="rId1" Type="http://schemas.openxmlformats.org/officeDocument/2006/relationships/slideLayout" Target="../slideLayouts/slideLayout6.xml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7.xml"/><Relationship Id="rId1" Type="http://schemas.openxmlformats.org/officeDocument/2006/relationships/slideLayout" Target="../slideLayouts/slideLayout4.xml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8.xml"/><Relationship Id="rId1" Type="http://schemas.openxmlformats.org/officeDocument/2006/relationships/slideLayout" Target="../slideLayouts/slideLayout4.xml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9.xml"/><Relationship Id="rId1" Type="http://schemas.openxmlformats.org/officeDocument/2006/relationships/slideLayout" Target="../slideLayouts/slideLayout4.xml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0.xml"/><Relationship Id="rId1" Type="http://schemas.openxmlformats.org/officeDocument/2006/relationships/slideLayout" Target="../slideLayouts/slideLayout4.xml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1.xml"/><Relationship Id="rId1" Type="http://schemas.openxmlformats.org/officeDocument/2006/relationships/slideLayout" Target="../slideLayouts/slideLayout4.xml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2.xml"/><Relationship Id="rId1" Type="http://schemas.openxmlformats.org/officeDocument/2006/relationships/slideLayout" Target="../slideLayouts/slideLayout4.xml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3.xml"/><Relationship Id="rId1" Type="http://schemas.openxmlformats.org/officeDocument/2006/relationships/slideLayout" Target="../slideLayouts/slideLayout4.xml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4.xml"/><Relationship Id="rId1" Type="http://schemas.openxmlformats.org/officeDocument/2006/relationships/slideLayout" Target="../slideLayouts/slideLayout4.xml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5.xml"/><Relationship Id="rId1" Type="http://schemas.openxmlformats.org/officeDocument/2006/relationships/slideLayout" Target="../slideLayouts/slideLayout4.xml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6.xml"/><Relationship Id="rId1" Type="http://schemas.openxmlformats.org/officeDocument/2006/relationships/slideLayout" Target="../slideLayouts/slideLayout4.xml"/></Relationships>
</file>

<file path=ppt/slides/_rels/slide3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7.xml"/><Relationship Id="rId1" Type="http://schemas.openxmlformats.org/officeDocument/2006/relationships/slideLayout" Target="../slideLayouts/slideLayout2.xml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8.xml"/><Relationship Id="rId1" Type="http://schemas.openxmlformats.org/officeDocument/2006/relationships/slideLayout" Target="../slideLayouts/slideLayout6.xml"/></Relationships>
</file>

<file path=ppt/slides/_rels/slide3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9.xml"/><Relationship Id="rId1" Type="http://schemas.openxmlformats.org/officeDocument/2006/relationships/slideLayout" Target="../slideLayouts/slideLayout6.xml"/></Relationships>
</file>

<file path=ppt/slides/_rels/slide3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0.xml"/><Relationship Id="rId1" Type="http://schemas.openxmlformats.org/officeDocument/2006/relationships/slideLayout" Target="../slideLayouts/slideLayout2.xml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1.xml"/><Relationship Id="rId1" Type="http://schemas.openxmlformats.org/officeDocument/2006/relationships/slideLayout" Target="../slideLayouts/slideLayout2.xml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2.xml"/><Relationship Id="rId1" Type="http://schemas.openxmlformats.org/officeDocument/2006/relationships/slideLayout" Target="../slideLayouts/slideLayout2.xml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5.xml"/><Relationship Id="rId1" Type="http://schemas.openxmlformats.org/officeDocument/2006/relationships/slideLayout" Target="../slideLayouts/slideLayout2.xml"/></Relationships>
</file>

<file path=ppt/slides/_rels/slide3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6.xml"/><Relationship Id="rId1" Type="http://schemas.openxmlformats.org/officeDocument/2006/relationships/slideLayout" Target="../slideLayouts/slideLayout2.xml"/></Relationships>
</file>

<file path=ppt/slides/_rels/slide3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7.xml"/><Relationship Id="rId1" Type="http://schemas.openxmlformats.org/officeDocument/2006/relationships/slideLayout" Target="../slideLayouts/slideLayout2.xml"/></Relationships>
</file>

<file path=ppt/slides/_rels/slide3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8.xml"/><Relationship Id="rId1" Type="http://schemas.openxmlformats.org/officeDocument/2006/relationships/slideLayout" Target="../slideLayouts/slideLayout2.xml"/></Relationships>
</file>

<file path=ppt/slides/_rels/slide3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9.xml"/><Relationship Id="rId1" Type="http://schemas.openxmlformats.org/officeDocument/2006/relationships/slideLayout" Target="../slideLayouts/slideLayout2.xml"/></Relationships>
</file>

<file path=ppt/slides/_rels/slide3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0.xml"/><Relationship Id="rId1" Type="http://schemas.openxmlformats.org/officeDocument/2006/relationships/slideLayout" Target="../slideLayouts/slideLayout2.xml"/></Relationships>
</file>

<file path=ppt/slides/_rels/slide3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1.xml"/><Relationship Id="rId1" Type="http://schemas.openxmlformats.org/officeDocument/2006/relationships/slideLayout" Target="../slideLayouts/slideLayout2.xml"/></Relationships>
</file>

<file path=ppt/slides/_rels/slide3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2.xml"/><Relationship Id="rId1" Type="http://schemas.openxmlformats.org/officeDocument/2006/relationships/slideLayout" Target="../slideLayouts/slideLayout2.xml"/></Relationships>
</file>

<file path=ppt/slides/_rels/slide3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3.xml"/><Relationship Id="rId1" Type="http://schemas.openxmlformats.org/officeDocument/2006/relationships/slideLayout" Target="../slideLayouts/slideLayout2.xml"/></Relationships>
</file>

<file path=ppt/slides/_rels/slide3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4.xml"/><Relationship Id="rId1" Type="http://schemas.openxmlformats.org/officeDocument/2006/relationships/slideLayout" Target="../slideLayouts/slideLayout2.xml"/></Relationships>
</file>

<file path=ppt/slides/_rels/slide3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5.xml"/><Relationship Id="rId1" Type="http://schemas.openxmlformats.org/officeDocument/2006/relationships/slideLayout" Target="../slideLayouts/slideLayout2.xml"/></Relationships>
</file>

<file path=ppt/slides/_rels/slide3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6.xml"/><Relationship Id="rId1" Type="http://schemas.openxmlformats.org/officeDocument/2006/relationships/slideLayout" Target="../slideLayouts/slideLayout2.xml"/></Relationships>
</file>

<file path=ppt/slides/_rels/slide3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7.xml"/><Relationship Id="rId1" Type="http://schemas.openxmlformats.org/officeDocument/2006/relationships/slideLayout" Target="../slideLayouts/slideLayout2.xml"/></Relationships>
</file>

<file path=ppt/slides/_rels/slide3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8.xml"/><Relationship Id="rId1" Type="http://schemas.openxmlformats.org/officeDocument/2006/relationships/slideLayout" Target="../slideLayouts/slideLayout2.xml"/></Relationships>
</file>

<file path=ppt/slides/_rels/slide3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9.xml"/><Relationship Id="rId1" Type="http://schemas.openxmlformats.org/officeDocument/2006/relationships/slideLayout" Target="../slideLayouts/slideLayout2.xml"/></Relationships>
</file>

<file path=ppt/slides/_rels/slide3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0.xml"/><Relationship Id="rId1" Type="http://schemas.openxmlformats.org/officeDocument/2006/relationships/slideLayout" Target="../slideLayouts/slideLayout2.xml"/></Relationships>
</file>

<file path=ppt/slides/_rels/slide3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1.xml"/><Relationship Id="rId1" Type="http://schemas.openxmlformats.org/officeDocument/2006/relationships/slideLayout" Target="../slideLayouts/slideLayout2.xml"/></Relationships>
</file>

<file path=ppt/slides/_rels/slide3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2.xml"/><Relationship Id="rId1" Type="http://schemas.openxmlformats.org/officeDocument/2006/relationships/slideLayout" Target="../slideLayouts/slideLayout2.xml"/></Relationships>
</file>

<file path=ppt/slides/_rels/slide3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3.xml"/><Relationship Id="rId1" Type="http://schemas.openxmlformats.org/officeDocument/2006/relationships/slideLayout" Target="../slideLayouts/slideLayout2.xml"/></Relationships>
</file>

<file path=ppt/slides/_rels/slide3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4.xml"/><Relationship Id="rId1" Type="http://schemas.openxmlformats.org/officeDocument/2006/relationships/slideLayout" Target="../slideLayouts/slideLayout2.xml"/></Relationships>
</file>

<file path=ppt/slides/_rels/slide3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5.xml"/><Relationship Id="rId1" Type="http://schemas.openxmlformats.org/officeDocument/2006/relationships/slideLayout" Target="../slideLayouts/slideLayout2.xml"/></Relationships>
</file>

<file path=ppt/slides/_rels/slide3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6.xml"/><Relationship Id="rId1" Type="http://schemas.openxmlformats.org/officeDocument/2006/relationships/slideLayout" Target="../slideLayouts/slideLayout2.xml"/></Relationships>
</file>

<file path=ppt/slides/_rels/slide3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7.xml"/><Relationship Id="rId1" Type="http://schemas.openxmlformats.org/officeDocument/2006/relationships/slideLayout" Target="../slideLayouts/slideLayout2.xml"/></Relationships>
</file>

<file path=ppt/slides/_rels/slide3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8.xml"/><Relationship Id="rId1" Type="http://schemas.openxmlformats.org/officeDocument/2006/relationships/slideLayout" Target="../slideLayouts/slideLayout2.xml"/></Relationships>
</file>

<file path=ppt/slides/_rels/slide3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9.xml"/><Relationship Id="rId1" Type="http://schemas.openxmlformats.org/officeDocument/2006/relationships/slideLayout" Target="../slideLayouts/slideLayout2.xml"/></Relationships>
</file>

<file path=ppt/slides/_rels/slide3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0.xml"/><Relationship Id="rId1" Type="http://schemas.openxmlformats.org/officeDocument/2006/relationships/slideLayout" Target="../slideLayouts/slideLayout6.xml"/></Relationships>
</file>

<file path=ppt/slides/_rels/slide3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1.xml"/><Relationship Id="rId1" Type="http://schemas.openxmlformats.org/officeDocument/2006/relationships/slideLayout" Target="../slideLayouts/slideLayout6.xml"/></Relationships>
</file>

<file path=ppt/slides/_rels/slide3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2.xml"/><Relationship Id="rId1" Type="http://schemas.openxmlformats.org/officeDocument/2006/relationships/slideLayout" Target="../slideLayouts/slideLayout6.xml"/></Relationships>
</file>

<file path=ppt/slides/_rels/slide3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3.xml"/><Relationship Id="rId1" Type="http://schemas.openxmlformats.org/officeDocument/2006/relationships/slideLayout" Target="../slideLayouts/slideLayout6.xml"/></Relationships>
</file>

<file path=ppt/slides/_rels/slide3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4.xml"/><Relationship Id="rId1" Type="http://schemas.openxmlformats.org/officeDocument/2006/relationships/slideLayout" Target="../slideLayouts/slideLayout2.xml"/></Relationships>
</file>

<file path=ppt/slides/_rels/slide3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5.xml"/><Relationship Id="rId1" Type="http://schemas.openxmlformats.org/officeDocument/2006/relationships/slideLayout" Target="../slideLayouts/slideLayout2.xml"/></Relationships>
</file>

<file path=ppt/slides/_rels/slide3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6.xml"/><Relationship Id="rId1" Type="http://schemas.openxmlformats.org/officeDocument/2006/relationships/slideLayout" Target="../slideLayouts/slideLayout2.xml"/></Relationships>
</file>

<file path=ppt/slides/_rels/slide3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7.xml"/><Relationship Id="rId1" Type="http://schemas.openxmlformats.org/officeDocument/2006/relationships/slideLayout" Target="../slideLayouts/slideLayout2.xml"/></Relationships>
</file>

<file path=ppt/slides/_rels/slide3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8.xml"/><Relationship Id="rId1" Type="http://schemas.openxmlformats.org/officeDocument/2006/relationships/slideLayout" Target="../slideLayouts/slideLayout2.xml"/></Relationships>
</file>

<file path=ppt/slides/_rels/slide3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9.xml"/><Relationship Id="rId1" Type="http://schemas.openxmlformats.org/officeDocument/2006/relationships/slideLayout" Target="../slideLayouts/slideLayout2.xml"/></Relationships>
</file>

<file path=ppt/slides/_rels/slide3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0.xml"/><Relationship Id="rId1" Type="http://schemas.openxmlformats.org/officeDocument/2006/relationships/slideLayout" Target="../slideLayouts/slideLayout2.xml"/></Relationships>
</file>

<file path=ppt/slides/_rels/slide3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1.xml"/><Relationship Id="rId1" Type="http://schemas.openxmlformats.org/officeDocument/2006/relationships/slideLayout" Target="../slideLayouts/slideLayout6.xml"/></Relationships>
</file>

<file path=ppt/slides/_rels/slide3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2.xml"/><Relationship Id="rId1" Type="http://schemas.openxmlformats.org/officeDocument/2006/relationships/slideLayout" Target="../slideLayouts/slideLayout6.xml"/></Relationships>
</file>

<file path=ppt/slides/_rels/slide3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3.xml"/><Relationship Id="rId1" Type="http://schemas.openxmlformats.org/officeDocument/2006/relationships/slideLayout" Target="../slideLayouts/slideLayout2.xml"/></Relationships>
</file>

<file path=ppt/slides/_rels/slide3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4.xml"/><Relationship Id="rId1" Type="http://schemas.openxmlformats.org/officeDocument/2006/relationships/slideLayout" Target="../slideLayouts/slideLayout2.xml"/></Relationships>
</file>

<file path=ppt/slides/_rels/slide3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5.xml"/><Relationship Id="rId1" Type="http://schemas.openxmlformats.org/officeDocument/2006/relationships/slideLayout" Target="../slideLayouts/slideLayout2.xml"/></Relationships>
</file>

<file path=ppt/slides/_rels/slide3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6.xml"/><Relationship Id="rId1" Type="http://schemas.openxmlformats.org/officeDocument/2006/relationships/slideLayout" Target="../slideLayouts/slideLayout2.xml"/></Relationships>
</file>

<file path=ppt/slides/_rels/slide3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7.xml"/><Relationship Id="rId1" Type="http://schemas.openxmlformats.org/officeDocument/2006/relationships/slideLayout" Target="../slideLayouts/slideLayout2.xml"/></Relationships>
</file>

<file path=ppt/slides/_rels/slide3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N5 Computing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7375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Plan – N5 Year 1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8565968"/>
              </p:ext>
            </p:extLst>
          </p:nvPr>
        </p:nvGraphicFramePr>
        <p:xfrm>
          <a:off x="2042160" y="1825625"/>
          <a:ext cx="810768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4" name="Straight Arrow Connector 3"/>
          <p:cNvCxnSpPr/>
          <p:nvPr/>
        </p:nvCxnSpPr>
        <p:spPr>
          <a:xfrm>
            <a:off x="762000" y="2209102"/>
            <a:ext cx="1080000" cy="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10393680" y="2209102"/>
            <a:ext cx="1080000" cy="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252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FA48299-B840-4714-A5F6-769C74D741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DFA48299-B840-4714-A5F6-769C74D741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9C32B8D-512E-49A1-A0E6-109384C61E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19C32B8D-512E-49A1-A0E6-109384C61E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AD30B60-88C6-4919-B6DD-9F480459E8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AAD30B60-88C6-4919-B6DD-9F480459E8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DFDFC6D-8604-4378-B6A3-6A6720006C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graphicEl>
                                              <a:dgm id="{0DFDFC6D-8604-4378-B6A3-6A6720006C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451A250-69C4-4911-A975-CCB8D5F605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graphicEl>
                                              <a:dgm id="{3451A250-69C4-4911-A975-CCB8D5F605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6AFEC8A-7D45-4965-A718-64DE087BA5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graphicEl>
                                              <a:dgm id="{56AFEC8A-7D45-4965-A718-64DE087BA5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C3BC805-9B18-48D9-A4F4-4BE17D54A2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graphicEl>
                                              <a:dgm id="{FC3BC805-9B18-48D9-A4F4-4BE17D54A28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EB3B5C2-DCC9-444C-A40C-E0CEA06D8F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>
                                            <p:graphicEl>
                                              <a:dgm id="{DEB3B5C2-DCC9-444C-A40C-E0CEA06D8F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Implementation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2397506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40E42-A232-4953-B8AF-3C563D791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Thonny</a:t>
            </a:r>
            <a:endParaRPr lang="en-GB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E8B3F-021B-4471-8E62-D99463A2F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4800" noProof="0" dirty="0"/>
              <a:t>thonny.org</a:t>
            </a:r>
          </a:p>
        </p:txBody>
      </p:sp>
    </p:spTree>
    <p:extLst>
      <p:ext uri="{BB962C8B-B14F-4D97-AF65-F5344CB8AC3E}">
        <p14:creationId xmlns:p14="http://schemas.microsoft.com/office/powerpoint/2010/main" val="3546585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F50A0-D3A0-4968-A0D6-69B94F7DD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Sharepoint</a:t>
            </a:r>
            <a:endParaRPr lang="en-GB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F4A0D-0A8D-4D52-A96C-E69F5D05E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7369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internal commentary</a:t>
            </a:r>
          </a:p>
        </p:txBody>
      </p:sp>
    </p:spTree>
    <p:extLst>
      <p:ext uri="{BB962C8B-B14F-4D97-AF65-F5344CB8AC3E}">
        <p14:creationId xmlns:p14="http://schemas.microsoft.com/office/powerpoint/2010/main" val="1666217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65268-FDA0-7592-FF9C-72AB55A7A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Internal Commentary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DFD40-5B60-02A6-A1F0-71163A85F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Use internal commentary in all </a:t>
            </a:r>
            <a:r>
              <a:rPr lang="en-GB" b="1" i="1" noProof="0" dirty="0"/>
              <a:t>programs</a:t>
            </a:r>
          </a:p>
          <a:p>
            <a:r>
              <a:rPr lang="en-GB" noProof="0" dirty="0"/>
              <a:t>As a minimum:</a:t>
            </a: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2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3200" noProof="0" dirty="0">
                <a:effectLst/>
                <a:latin typeface="Consolas" panose="020B0609020204030204" pitchFamily="49" charset="0"/>
              </a:rPr>
              <a:t> </a:t>
            </a:r>
            <a:r>
              <a:rPr lang="en-GB" sz="3200" noProof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 Title:</a:t>
            </a:r>
            <a:r>
              <a:rPr lang="en-GB" sz="3200" noProof="0" dirty="0">
                <a:effectLst/>
                <a:latin typeface="Consolas" panose="020B0609020204030204" pitchFamily="49" charset="0"/>
              </a:rPr>
              <a:t> My First Program</a:t>
            </a: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2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r>
              <a:rPr lang="en-GB" sz="3200" noProof="0" dirty="0">
                <a:latin typeface="Consolas" panose="020B0609020204030204" pitchFamily="49" charset="0"/>
              </a:rPr>
              <a:t> </a:t>
            </a:r>
            <a:r>
              <a:rPr lang="en-GB" sz="3200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Author:</a:t>
            </a:r>
            <a:r>
              <a:rPr lang="en-GB" sz="3200" noProof="0" dirty="0">
                <a:latin typeface="Consolas" panose="020B0609020204030204" pitchFamily="49" charset="0"/>
              </a:rPr>
              <a:t> Mr Friend</a:t>
            </a: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2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GB" sz="3200" noProof="0" dirty="0">
                <a:effectLst/>
                <a:latin typeface="Consolas" panose="020B0609020204030204" pitchFamily="49" charset="0"/>
              </a:rPr>
              <a:t> </a:t>
            </a:r>
            <a:r>
              <a:rPr lang="en-GB" sz="3200" noProof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 Date:</a:t>
            </a:r>
            <a:r>
              <a:rPr lang="en-GB" sz="3200" noProof="0" dirty="0">
                <a:effectLst/>
                <a:latin typeface="Consolas" panose="020B0609020204030204" pitchFamily="49" charset="0"/>
              </a:rPr>
              <a:t> </a:t>
            </a:r>
            <a:fld id="{FDF541AA-BC80-4105-92E7-E0AC6EDB3C13}" type="datetime4">
              <a:rPr lang="en-GB" sz="3200" noProof="0" smtClean="0">
                <a:effectLst/>
                <a:latin typeface="Consolas" panose="020B0609020204030204" pitchFamily="49" charset="0"/>
              </a:rPr>
              <a:t>30 October 2026</a:t>
            </a:fld>
            <a:endParaRPr lang="en-GB" sz="3200" noProof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4" name="Callout: Bent Line with No Border 7">
            <a:extLst>
              <a:ext uri="{FF2B5EF4-FFF2-40B4-BE49-F238E27FC236}">
                <a16:creationId xmlns:a16="http://schemas.microsoft.com/office/drawing/2014/main" id="{4C0E60D4-1062-CF5D-18A7-CBAEF1C011B8}"/>
              </a:ext>
            </a:extLst>
          </p:cNvPr>
          <p:cNvSpPr/>
          <p:nvPr/>
        </p:nvSpPr>
        <p:spPr>
          <a:xfrm>
            <a:off x="2169692" y="5990665"/>
            <a:ext cx="4268794" cy="502210"/>
          </a:xfrm>
          <a:prstGeom prst="callout2">
            <a:avLst>
              <a:gd name="adj1" fmla="val 50412"/>
              <a:gd name="adj2" fmla="val -670"/>
              <a:gd name="adj3" fmla="val 51190"/>
              <a:gd name="adj4" fmla="val -16010"/>
              <a:gd name="adj5" fmla="val -187008"/>
              <a:gd name="adj6" fmla="val -16012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Line numbers</a:t>
            </a:r>
          </a:p>
        </p:txBody>
      </p:sp>
      <p:sp>
        <p:nvSpPr>
          <p:cNvPr id="5" name="Callout: Bent Line with No Border 7">
            <a:extLst>
              <a:ext uri="{FF2B5EF4-FFF2-40B4-BE49-F238E27FC236}">
                <a16:creationId xmlns:a16="http://schemas.microsoft.com/office/drawing/2014/main" id="{E2BACD9B-5A07-8F41-709C-9234578D0B3A}"/>
              </a:ext>
            </a:extLst>
          </p:cNvPr>
          <p:cNvSpPr/>
          <p:nvPr/>
        </p:nvSpPr>
        <p:spPr>
          <a:xfrm>
            <a:off x="2631375" y="5394091"/>
            <a:ext cx="4268794" cy="502210"/>
          </a:xfrm>
          <a:prstGeom prst="callout2">
            <a:avLst>
              <a:gd name="adj1" fmla="val 50412"/>
              <a:gd name="adj2" fmla="val -670"/>
              <a:gd name="adj3" fmla="val 51190"/>
              <a:gd name="adj4" fmla="val -16010"/>
              <a:gd name="adj5" fmla="val -67856"/>
              <a:gd name="adj6" fmla="val -16169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Hash symbol (comment)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A2DFA6-83BE-D060-BDA8-CF34E45D5A03}"/>
              </a:ext>
            </a:extLst>
          </p:cNvPr>
          <p:cNvGrpSpPr/>
          <p:nvPr/>
        </p:nvGrpSpPr>
        <p:grpSpPr>
          <a:xfrm>
            <a:off x="7512422" y="3280988"/>
            <a:ext cx="3861812" cy="1777041"/>
            <a:chOff x="7619999" y="3594339"/>
            <a:chExt cx="3861812" cy="1777041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9F364CEF-EF46-8D6E-A26D-C00C36BEFC0A}"/>
                </a:ext>
              </a:extLst>
            </p:cNvPr>
            <p:cNvSpPr/>
            <p:nvPr/>
          </p:nvSpPr>
          <p:spPr>
            <a:xfrm>
              <a:off x="7619999" y="3594339"/>
              <a:ext cx="485955" cy="1777041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9C1467-17BF-2567-FC3A-6C13F40DD77F}"/>
                </a:ext>
              </a:extLst>
            </p:cNvPr>
            <p:cNvSpPr txBox="1"/>
            <p:nvPr/>
          </p:nvSpPr>
          <p:spPr>
            <a:xfrm>
              <a:off x="8167256" y="4221249"/>
              <a:ext cx="33145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b="1" dirty="0">
                  <a:solidFill>
                    <a:srgbClr val="7030A0"/>
                  </a:solidFill>
                </a:rPr>
                <a:t>Ignored by computer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8914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65268-FDA0-7592-FF9C-72AB55A7A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Internal Commentary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DFD40-5B60-02A6-A1F0-71163A85F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Start all programs with internal commentary</a:t>
            </a:r>
          </a:p>
          <a:p>
            <a:r>
              <a:rPr lang="en-GB" noProof="0" dirty="0"/>
              <a:t>As a minimum:</a:t>
            </a: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2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3200" noProof="0" dirty="0">
                <a:effectLst/>
                <a:latin typeface="Consolas" panose="020B0609020204030204" pitchFamily="49" charset="0"/>
              </a:rPr>
              <a:t> </a:t>
            </a:r>
            <a:r>
              <a:rPr lang="en-GB" sz="3200" noProof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 Title:</a:t>
            </a:r>
            <a:endParaRPr lang="en-GB" sz="3200" noProof="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2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r>
              <a:rPr lang="en-GB" sz="3200" noProof="0" dirty="0">
                <a:latin typeface="Consolas" panose="020B0609020204030204" pitchFamily="49" charset="0"/>
              </a:rPr>
              <a:t> </a:t>
            </a:r>
            <a:r>
              <a:rPr lang="en-GB" sz="3200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Author:</a:t>
            </a: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2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GB" sz="3200" noProof="0" dirty="0">
                <a:effectLst/>
                <a:latin typeface="Consolas" panose="020B0609020204030204" pitchFamily="49" charset="0"/>
              </a:rPr>
              <a:t> </a:t>
            </a:r>
            <a:r>
              <a:rPr lang="en-GB" sz="3200" noProof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 Date:</a:t>
            </a:r>
            <a:endParaRPr lang="en-GB" sz="3200" noProof="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407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output to the screen</a:t>
            </a:r>
          </a:p>
        </p:txBody>
      </p:sp>
    </p:spTree>
    <p:extLst>
      <p:ext uri="{BB962C8B-B14F-4D97-AF65-F5344CB8AC3E}">
        <p14:creationId xmlns:p14="http://schemas.microsoft.com/office/powerpoint/2010/main" val="3817082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838200" y="1957036"/>
            <a:ext cx="887335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sz="4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Display text</a:t>
            </a:r>
            <a:endParaRPr lang="en-US" altLang="en-US" sz="44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 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 world"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4 </a:t>
            </a:r>
            <a:r>
              <a:rPr lang="en-GB" sz="4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Display a number</a:t>
            </a:r>
            <a:endParaRPr lang="en-US" altLang="en-US" sz="44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3.14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Callout: Bent Line with No Border 8">
            <a:extLst>
              <a:ext uri="{FF2B5EF4-FFF2-40B4-BE49-F238E27FC236}">
                <a16:creationId xmlns:a16="http://schemas.microsoft.com/office/drawing/2014/main" id="{FE76DF5F-81B3-45AC-A628-BBE9287E827D}"/>
              </a:ext>
            </a:extLst>
          </p:cNvPr>
          <p:cNvSpPr/>
          <p:nvPr/>
        </p:nvSpPr>
        <p:spPr>
          <a:xfrm>
            <a:off x="8376677" y="3573767"/>
            <a:ext cx="3254916" cy="396349"/>
          </a:xfrm>
          <a:prstGeom prst="callout2">
            <a:avLst>
              <a:gd name="adj1" fmla="val 50675"/>
              <a:gd name="adj2" fmla="val -405"/>
              <a:gd name="adj3" fmla="val 50388"/>
              <a:gd name="adj4" fmla="val -30119"/>
              <a:gd name="adj5" fmla="val -24903"/>
              <a:gd name="adj6" fmla="val -40419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Text to be displayed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Display information</a:t>
            </a: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BD35B56A-672E-A5CB-AE8C-BCCBEA6C49C4}"/>
              </a:ext>
            </a:extLst>
          </p:cNvPr>
          <p:cNvSpPr/>
          <p:nvPr/>
        </p:nvSpPr>
        <p:spPr>
          <a:xfrm>
            <a:off x="5768727" y="5904900"/>
            <a:ext cx="3745661" cy="557477"/>
          </a:xfrm>
          <a:prstGeom prst="callout2">
            <a:avLst>
              <a:gd name="adj1" fmla="val 50675"/>
              <a:gd name="adj2" fmla="val -405"/>
              <a:gd name="adj3" fmla="val 52650"/>
              <a:gd name="adj4" fmla="val -23855"/>
              <a:gd name="adj5" fmla="val 3265"/>
              <a:gd name="adj6" fmla="val -31242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Number to be displayed</a:t>
            </a:r>
          </a:p>
        </p:txBody>
      </p:sp>
    </p:spTree>
    <p:extLst>
      <p:ext uri="{BB962C8B-B14F-4D97-AF65-F5344CB8AC3E}">
        <p14:creationId xmlns:p14="http://schemas.microsoft.com/office/powerpoint/2010/main" val="343646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9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838200" y="1957036"/>
            <a:ext cx="887335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sz="4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Display text</a:t>
            </a:r>
            <a:endParaRPr lang="en-US" altLang="en-US" sz="44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 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 world"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4 </a:t>
            </a:r>
            <a:r>
              <a:rPr lang="en-GB" sz="4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Display a number</a:t>
            </a:r>
            <a:endParaRPr lang="en-US" altLang="en-US" sz="44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3.14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Display information</a:t>
            </a:r>
          </a:p>
        </p:txBody>
      </p:sp>
    </p:spTree>
    <p:extLst>
      <p:ext uri="{BB962C8B-B14F-4D97-AF65-F5344CB8AC3E}">
        <p14:creationId xmlns:p14="http://schemas.microsoft.com/office/powerpoint/2010/main" val="2023129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identify syntax errors</a:t>
            </a:r>
          </a:p>
        </p:txBody>
      </p:sp>
    </p:spTree>
    <p:extLst>
      <p:ext uri="{BB962C8B-B14F-4D97-AF65-F5344CB8AC3E}">
        <p14:creationId xmlns:p14="http://schemas.microsoft.com/office/powerpoint/2010/main" val="4876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838200" y="1957036"/>
            <a:ext cx="887335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sz="4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Display some text</a:t>
            </a:r>
            <a:endParaRPr lang="en-US" altLang="en-US" sz="44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 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Hello world"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4 </a:t>
            </a:r>
            <a:r>
              <a:rPr lang="en-GB" sz="4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Display a number</a:t>
            </a:r>
            <a:endParaRPr lang="en-US" altLang="en-US" sz="44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5     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3.14</a:t>
            </a:r>
            <a:r>
              <a:rPr lang="en-US" altLang="en-US" sz="4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Callout: Bent Line with No Border 8">
            <a:extLst>
              <a:ext uri="{FF2B5EF4-FFF2-40B4-BE49-F238E27FC236}">
                <a16:creationId xmlns:a16="http://schemas.microsoft.com/office/drawing/2014/main" id="{FE76DF5F-81B3-45AC-A628-BBE9287E827D}"/>
              </a:ext>
            </a:extLst>
          </p:cNvPr>
          <p:cNvSpPr/>
          <p:nvPr/>
        </p:nvSpPr>
        <p:spPr>
          <a:xfrm>
            <a:off x="4455138" y="3649967"/>
            <a:ext cx="5146061" cy="429983"/>
          </a:xfrm>
          <a:prstGeom prst="callout2">
            <a:avLst>
              <a:gd name="adj1" fmla="val 48459"/>
              <a:gd name="adj2" fmla="val -35"/>
              <a:gd name="adj3" fmla="val 49313"/>
              <a:gd name="adj4" fmla="val -8722"/>
              <a:gd name="adj5" fmla="val -34570"/>
              <a:gd name="adj6" fmla="val -1919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Opening quotation mark missing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Syntax Errors</a:t>
            </a: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BD35B56A-672E-A5CB-AE8C-BCCBEA6C49C4}"/>
              </a:ext>
            </a:extLst>
          </p:cNvPr>
          <p:cNvSpPr/>
          <p:nvPr/>
        </p:nvSpPr>
        <p:spPr>
          <a:xfrm>
            <a:off x="3963188" y="5982466"/>
            <a:ext cx="5898442" cy="557477"/>
          </a:xfrm>
          <a:prstGeom prst="callout2">
            <a:avLst>
              <a:gd name="adj1" fmla="val 50675"/>
              <a:gd name="adj2" fmla="val -405"/>
              <a:gd name="adj3" fmla="val 51408"/>
              <a:gd name="adj4" fmla="val -18002"/>
              <a:gd name="adj5" fmla="val -5433"/>
              <a:gd name="adj6" fmla="val -2331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Unexpected indentation (extra spaces)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43FF93-7569-B9EB-21E8-FF10B82D2EA7}"/>
              </a:ext>
            </a:extLst>
          </p:cNvPr>
          <p:cNvSpPr txBox="1"/>
          <p:nvPr/>
        </p:nvSpPr>
        <p:spPr>
          <a:xfrm>
            <a:off x="7685590" y="987540"/>
            <a:ext cx="4111556" cy="1938992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solidFill>
                  <a:srgbClr val="7030A0"/>
                </a:solidFill>
              </a:rPr>
              <a:t>Program will not run until </a:t>
            </a:r>
            <a:r>
              <a:rPr lang="en-GB" sz="4000" b="1" i="1" dirty="0">
                <a:solidFill>
                  <a:srgbClr val="7030A0"/>
                </a:solidFill>
              </a:rPr>
              <a:t>all</a:t>
            </a:r>
            <a:r>
              <a:rPr lang="en-GB" sz="4000" b="1" dirty="0">
                <a:solidFill>
                  <a:srgbClr val="7030A0"/>
                </a:solidFill>
              </a:rPr>
              <a:t> syntax errors corrected</a:t>
            </a:r>
          </a:p>
        </p:txBody>
      </p:sp>
    </p:spTree>
    <p:extLst>
      <p:ext uri="{BB962C8B-B14F-4D97-AF65-F5344CB8AC3E}">
        <p14:creationId xmlns:p14="http://schemas.microsoft.com/office/powerpoint/2010/main" val="1060182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1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9" grpId="0" animBg="1"/>
      <p:bldP spid="5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6BC9CC3-EB4F-D7BE-280C-E8FAAF940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330F8E-E77E-AFFC-2C0F-135E042A8527}"/>
              </a:ext>
            </a:extLst>
          </p:cNvPr>
          <p:cNvSpPr txBox="1"/>
          <p:nvPr/>
        </p:nvSpPr>
        <p:spPr>
          <a:xfrm>
            <a:off x="838200" y="1957036"/>
            <a:ext cx="887335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sz="4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Display some text</a:t>
            </a:r>
            <a:endParaRPr lang="en-US" altLang="en-US" sz="44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 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Hello world"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4 </a:t>
            </a:r>
            <a:r>
              <a:rPr lang="en-GB" sz="4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Display a number</a:t>
            </a:r>
            <a:endParaRPr lang="en-US" altLang="en-US" sz="44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5     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3.14</a:t>
            </a:r>
            <a:r>
              <a:rPr lang="en-US" altLang="en-US" sz="4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D8F336-5742-A558-1A66-FCE1305A6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Syntax Errors</a:t>
            </a:r>
          </a:p>
        </p:txBody>
      </p:sp>
    </p:spTree>
    <p:extLst>
      <p:ext uri="{BB962C8B-B14F-4D97-AF65-F5344CB8AC3E}">
        <p14:creationId xmlns:p14="http://schemas.microsoft.com/office/powerpoint/2010/main" val="364557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1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data types</a:t>
            </a:r>
          </a:p>
        </p:txBody>
      </p:sp>
    </p:spTree>
    <p:extLst>
      <p:ext uri="{BB962C8B-B14F-4D97-AF65-F5344CB8AC3E}">
        <p14:creationId xmlns:p14="http://schemas.microsoft.com/office/powerpoint/2010/main" val="141649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Data type – Character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A single character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A letter  –  "a", "z", "G"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A number  –  "0", "7"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A symbol  –  "!", ";", "@"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D9E65E-4CD8-AD3B-E4FF-F8E25C3558CA}"/>
              </a:ext>
            </a:extLst>
          </p:cNvPr>
          <p:cNvSpPr txBox="1"/>
          <p:nvPr/>
        </p:nvSpPr>
        <p:spPr>
          <a:xfrm>
            <a:off x="3704063" y="5665569"/>
            <a:ext cx="47838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GB" sz="3600" dirty="0">
                <a:solidFill>
                  <a:srgbClr val="7030A0"/>
                </a:solidFill>
              </a:rPr>
              <a:t>All with quotation marks</a:t>
            </a:r>
          </a:p>
        </p:txBody>
      </p:sp>
    </p:spTree>
    <p:extLst>
      <p:ext uri="{BB962C8B-B14F-4D97-AF65-F5344CB8AC3E}">
        <p14:creationId xmlns:p14="http://schemas.microsoft.com/office/powerpoint/2010/main" val="2054127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Data type – Character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A letter  –  "a", "z", "G"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A number  –  "0", "7"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A symbol  –  "!", ";", "@"</a:t>
            </a:r>
          </a:p>
        </p:txBody>
      </p:sp>
    </p:spTree>
    <p:extLst>
      <p:ext uri="{BB962C8B-B14F-4D97-AF65-F5344CB8AC3E}">
        <p14:creationId xmlns:p14="http://schemas.microsoft.com/office/powerpoint/2010/main" val="2242676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Data type –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A </a:t>
            </a:r>
            <a:r>
              <a:rPr lang="en-GB" b="1" noProof="0" dirty="0"/>
              <a:t>string</a:t>
            </a:r>
            <a:r>
              <a:rPr lang="en-GB" noProof="0" dirty="0"/>
              <a:t> of characters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Letters  –  "</a:t>
            </a:r>
            <a:r>
              <a:rPr lang="en-GB" noProof="0" dirty="0" err="1"/>
              <a:t>abcXYZ</a:t>
            </a:r>
            <a:r>
              <a:rPr lang="en-GB" noProof="0" dirty="0"/>
              <a:t>"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Numbers  –  "123890"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Symbols  –  "!£$*()"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Mixture  –  "Hello 2 u !!!!"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70F785-0B6E-6BE2-602D-B52C584E4F3E}"/>
              </a:ext>
            </a:extLst>
          </p:cNvPr>
          <p:cNvSpPr txBox="1"/>
          <p:nvPr/>
        </p:nvSpPr>
        <p:spPr>
          <a:xfrm>
            <a:off x="3704063" y="5665569"/>
            <a:ext cx="47838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GB" sz="3600" dirty="0">
                <a:solidFill>
                  <a:srgbClr val="7030A0"/>
                </a:solidFill>
              </a:rPr>
              <a:t>All with quotation marks</a:t>
            </a:r>
          </a:p>
        </p:txBody>
      </p:sp>
    </p:spTree>
    <p:extLst>
      <p:ext uri="{BB962C8B-B14F-4D97-AF65-F5344CB8AC3E}">
        <p14:creationId xmlns:p14="http://schemas.microsoft.com/office/powerpoint/2010/main" val="3648223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Data type –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GB" b="1" noProof="0" dirty="0"/>
              <a:t> </a:t>
            </a:r>
            <a:endParaRPr lang="en-GB" noProof="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Letters  –  "</a:t>
            </a:r>
            <a:r>
              <a:rPr lang="en-GB" noProof="0" dirty="0" err="1"/>
              <a:t>abcXYZ</a:t>
            </a:r>
            <a:r>
              <a:rPr lang="en-GB" noProof="0" dirty="0"/>
              <a:t>"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Numbers  –  "123890"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Symbols  –  "!£$*()"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Mixture  –  "Hello 2 u !!!!"</a:t>
            </a:r>
          </a:p>
        </p:txBody>
      </p:sp>
    </p:spTree>
    <p:extLst>
      <p:ext uri="{BB962C8B-B14F-4D97-AF65-F5344CB8AC3E}">
        <p14:creationId xmlns:p14="http://schemas.microsoft.com/office/powerpoint/2010/main" val="3477651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Data type – Integer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GB" noProof="0" dirty="0"/>
              <a:t>Whole numbers</a:t>
            </a:r>
          </a:p>
          <a:p>
            <a:pPr>
              <a:spcBef>
                <a:spcPts val="0"/>
              </a:spcBef>
            </a:pPr>
            <a:r>
              <a:rPr lang="en-GB" noProof="0" dirty="0"/>
              <a:t>Positive and negative</a:t>
            </a:r>
          </a:p>
          <a:p>
            <a:pPr>
              <a:spcBef>
                <a:spcPts val="0"/>
              </a:spcBef>
            </a:pPr>
            <a:r>
              <a:rPr lang="en-GB" noProof="0" dirty="0"/>
              <a:t>–9999</a:t>
            </a:r>
          </a:p>
          <a:p>
            <a:pPr>
              <a:spcBef>
                <a:spcPts val="0"/>
              </a:spcBef>
            </a:pPr>
            <a:r>
              <a:rPr lang="en-GB" noProof="0" dirty="0"/>
              <a:t>0</a:t>
            </a:r>
          </a:p>
          <a:p>
            <a:pPr>
              <a:spcBef>
                <a:spcPts val="0"/>
              </a:spcBef>
            </a:pPr>
            <a:r>
              <a:rPr lang="en-GB" noProof="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33583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Data type – Integer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GB" noProof="0" dirty="0"/>
              <a:t> </a:t>
            </a:r>
          </a:p>
          <a:p>
            <a:pPr>
              <a:spcBef>
                <a:spcPts val="0"/>
              </a:spcBef>
            </a:pPr>
            <a:r>
              <a:rPr lang="en-GB" noProof="0" dirty="0"/>
              <a:t> </a:t>
            </a:r>
          </a:p>
          <a:p>
            <a:pPr>
              <a:spcBef>
                <a:spcPts val="0"/>
              </a:spcBef>
            </a:pPr>
            <a:r>
              <a:rPr lang="en-GB" noProof="0" dirty="0"/>
              <a:t>–9999</a:t>
            </a:r>
          </a:p>
          <a:p>
            <a:pPr>
              <a:spcBef>
                <a:spcPts val="0"/>
              </a:spcBef>
            </a:pPr>
            <a:r>
              <a:rPr lang="en-GB" noProof="0" dirty="0"/>
              <a:t>0</a:t>
            </a:r>
          </a:p>
          <a:p>
            <a:pPr>
              <a:spcBef>
                <a:spcPts val="0"/>
              </a:spcBef>
            </a:pPr>
            <a:r>
              <a:rPr lang="en-GB" noProof="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090972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Data type –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GB" noProof="0" dirty="0"/>
              <a:t>Decimal numbers</a:t>
            </a:r>
          </a:p>
          <a:p>
            <a:pPr>
              <a:spcBef>
                <a:spcPts val="0"/>
              </a:spcBef>
            </a:pPr>
            <a:r>
              <a:rPr lang="en-GB" noProof="0" dirty="0"/>
              <a:t>Positive and negative</a:t>
            </a:r>
          </a:p>
          <a:p>
            <a:pPr>
              <a:spcBef>
                <a:spcPts val="0"/>
              </a:spcBef>
            </a:pPr>
            <a:r>
              <a:rPr lang="en-GB" noProof="0" dirty="0"/>
              <a:t>–99·999</a:t>
            </a:r>
          </a:p>
          <a:p>
            <a:pPr>
              <a:spcBef>
                <a:spcPts val="0"/>
              </a:spcBef>
            </a:pPr>
            <a:r>
              <a:rPr lang="en-GB" noProof="0" dirty="0"/>
              <a:t>0·0</a:t>
            </a:r>
          </a:p>
          <a:p>
            <a:pPr>
              <a:spcBef>
                <a:spcPts val="0"/>
              </a:spcBef>
            </a:pPr>
            <a:r>
              <a:rPr lang="en-GB" noProof="0" dirty="0"/>
              <a:t>3·14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478D5C-2F95-46A2-9E5B-EA5D89BE250B}"/>
              </a:ext>
            </a:extLst>
          </p:cNvPr>
          <p:cNvSpPr txBox="1"/>
          <p:nvPr/>
        </p:nvSpPr>
        <p:spPr>
          <a:xfrm>
            <a:off x="3197995" y="5665569"/>
            <a:ext cx="57960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GB" sz="3600" dirty="0">
                <a:solidFill>
                  <a:srgbClr val="7030A0"/>
                </a:solidFill>
              </a:rPr>
              <a:t>Also known as ‘Floating point’</a:t>
            </a:r>
          </a:p>
        </p:txBody>
      </p:sp>
    </p:spTree>
    <p:extLst>
      <p:ext uri="{BB962C8B-B14F-4D97-AF65-F5344CB8AC3E}">
        <p14:creationId xmlns:p14="http://schemas.microsoft.com/office/powerpoint/2010/main" val="2194216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Data type –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GB" noProof="0" dirty="0"/>
              <a:t> </a:t>
            </a:r>
          </a:p>
          <a:p>
            <a:pPr>
              <a:spcBef>
                <a:spcPts val="0"/>
              </a:spcBef>
            </a:pPr>
            <a:r>
              <a:rPr lang="en-GB" noProof="0" dirty="0"/>
              <a:t> </a:t>
            </a:r>
          </a:p>
          <a:p>
            <a:pPr>
              <a:spcBef>
                <a:spcPts val="0"/>
              </a:spcBef>
            </a:pPr>
            <a:r>
              <a:rPr lang="en-GB" noProof="0" dirty="0"/>
              <a:t>–99·999</a:t>
            </a:r>
          </a:p>
          <a:p>
            <a:pPr>
              <a:spcBef>
                <a:spcPts val="0"/>
              </a:spcBef>
            </a:pPr>
            <a:r>
              <a:rPr lang="en-GB" noProof="0" dirty="0"/>
              <a:t>0·0</a:t>
            </a:r>
          </a:p>
          <a:p>
            <a:pPr>
              <a:spcBef>
                <a:spcPts val="0"/>
              </a:spcBef>
            </a:pPr>
            <a:r>
              <a:rPr lang="en-GB" noProof="0" dirty="0"/>
              <a:t>3·14</a:t>
            </a:r>
          </a:p>
        </p:txBody>
      </p:sp>
    </p:spTree>
    <p:extLst>
      <p:ext uri="{BB962C8B-B14F-4D97-AF65-F5344CB8AC3E}">
        <p14:creationId xmlns:p14="http://schemas.microsoft.com/office/powerpoint/2010/main" val="6104433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Data type – Boolean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GB" noProof="0" dirty="0"/>
              <a:t>Binary choice</a:t>
            </a:r>
          </a:p>
          <a:p>
            <a:pPr>
              <a:spcBef>
                <a:spcPts val="0"/>
              </a:spcBef>
            </a:pPr>
            <a:r>
              <a:rPr lang="en-GB" b="1" noProof="0" dirty="0"/>
              <a:t>True</a:t>
            </a:r>
            <a:r>
              <a:rPr lang="en-GB" noProof="0" dirty="0"/>
              <a:t> or </a:t>
            </a:r>
            <a:r>
              <a:rPr lang="en-GB" b="1" noProof="0" dirty="0"/>
              <a:t>False</a:t>
            </a:r>
          </a:p>
          <a:p>
            <a:pPr>
              <a:spcBef>
                <a:spcPts val="0"/>
              </a:spcBef>
            </a:pPr>
            <a:r>
              <a:rPr lang="en-GB" noProof="0" dirty="0"/>
              <a:t>Can be used to represent:</a:t>
            </a:r>
          </a:p>
          <a:p>
            <a:pPr lvl="1">
              <a:spcBef>
                <a:spcPts val="0"/>
              </a:spcBef>
            </a:pPr>
            <a:r>
              <a:rPr lang="en-GB" noProof="0" dirty="0"/>
              <a:t>Yes / No</a:t>
            </a:r>
          </a:p>
          <a:p>
            <a:pPr lvl="1">
              <a:spcBef>
                <a:spcPts val="0"/>
              </a:spcBef>
            </a:pPr>
            <a:r>
              <a:rPr lang="en-GB" noProof="0" dirty="0"/>
              <a:t>On / Off</a:t>
            </a:r>
          </a:p>
          <a:p>
            <a:pPr lvl="1">
              <a:spcBef>
                <a:spcPts val="0"/>
              </a:spcBef>
            </a:pPr>
            <a:r>
              <a:rPr lang="en-GB" noProof="0" dirty="0"/>
              <a:t>1 / 0</a:t>
            </a:r>
          </a:p>
        </p:txBody>
      </p:sp>
    </p:spTree>
    <p:extLst>
      <p:ext uri="{BB962C8B-B14F-4D97-AF65-F5344CB8AC3E}">
        <p14:creationId xmlns:p14="http://schemas.microsoft.com/office/powerpoint/2010/main" val="1891440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Data type – Boolean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GB" noProof="0" dirty="0"/>
              <a:t> </a:t>
            </a:r>
          </a:p>
          <a:p>
            <a:pPr>
              <a:spcBef>
                <a:spcPts val="0"/>
              </a:spcBef>
            </a:pPr>
            <a:r>
              <a:rPr lang="en-GB" b="1" noProof="0" dirty="0"/>
              <a:t> </a:t>
            </a:r>
          </a:p>
          <a:p>
            <a:pPr>
              <a:spcBef>
                <a:spcPts val="0"/>
              </a:spcBef>
            </a:pPr>
            <a:r>
              <a:rPr lang="en-GB" noProof="0" dirty="0"/>
              <a:t>Can be used to represent:</a:t>
            </a:r>
          </a:p>
          <a:p>
            <a:pPr lvl="1">
              <a:spcBef>
                <a:spcPts val="0"/>
              </a:spcBef>
            </a:pPr>
            <a:r>
              <a:rPr lang="en-GB" noProof="0" dirty="0"/>
              <a:t> </a:t>
            </a:r>
          </a:p>
          <a:p>
            <a:pPr lvl="1">
              <a:spcBef>
                <a:spcPts val="0"/>
              </a:spcBef>
            </a:pPr>
            <a:r>
              <a:rPr lang="en-GB" noProof="0" dirty="0"/>
              <a:t> </a:t>
            </a:r>
          </a:p>
          <a:p>
            <a:pPr lvl="1">
              <a:spcBef>
                <a:spcPts val="0"/>
              </a:spcBef>
            </a:pPr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14861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Data types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157004"/>
              </p:ext>
            </p:extLst>
          </p:nvPr>
        </p:nvGraphicFramePr>
        <p:xfrm>
          <a:off x="838200" y="1690688"/>
          <a:ext cx="10515600" cy="4732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4764">
                  <a:extLst>
                    <a:ext uri="{9D8B030D-6E8A-4147-A177-3AD203B41FA5}">
                      <a16:colId xmlns:a16="http://schemas.microsoft.com/office/drawing/2014/main" val="3886860534"/>
                    </a:ext>
                  </a:extLst>
                </a:gridCol>
                <a:gridCol w="4745636">
                  <a:extLst>
                    <a:ext uri="{9D8B030D-6E8A-4147-A177-3AD203B41FA5}">
                      <a16:colId xmlns:a16="http://schemas.microsoft.com/office/drawing/2014/main" val="246268953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2888917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r>
                        <a:rPr lang="en-GB" sz="400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4000"/>
                        <a:t>Description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4000"/>
                        <a:t>Examples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6187331"/>
                  </a:ext>
                </a:extLst>
              </a:tr>
              <a:tr h="802507">
                <a:tc>
                  <a:txBody>
                    <a:bodyPr/>
                    <a:lstStyle/>
                    <a:p>
                      <a:r>
                        <a:rPr lang="en-GB" sz="3600"/>
                        <a:t>Character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600"/>
                        <a:t>A single character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600"/>
                        <a:t>"a", "1", "@"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540582"/>
                  </a:ext>
                </a:extLst>
              </a:tr>
              <a:tr h="802507">
                <a:tc>
                  <a:txBody>
                    <a:bodyPr/>
                    <a:lstStyle/>
                    <a:p>
                      <a:r>
                        <a:rPr lang="en-GB" sz="360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600"/>
                        <a:t>A string of characters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600"/>
                        <a:t>"Hello", "01871"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5072174"/>
                  </a:ext>
                </a:extLst>
              </a:tr>
              <a:tr h="802507">
                <a:tc>
                  <a:txBody>
                    <a:bodyPr/>
                    <a:lstStyle/>
                    <a:p>
                      <a:r>
                        <a:rPr lang="en-GB" sz="3600"/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600"/>
                        <a:t>Whole numbers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600"/>
                        <a:t>3, -99,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0682125"/>
                  </a:ext>
                </a:extLst>
              </a:tr>
              <a:tr h="802507">
                <a:tc>
                  <a:txBody>
                    <a:bodyPr/>
                    <a:lstStyle/>
                    <a:p>
                      <a:r>
                        <a:rPr lang="en-GB" sz="3600"/>
                        <a:t>Real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600"/>
                        <a:t>Decimal numbers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600" dirty="0"/>
                        <a:t>3·14, -99·6, 0·0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48160"/>
                  </a:ext>
                </a:extLst>
              </a:tr>
              <a:tr h="802507">
                <a:tc>
                  <a:txBody>
                    <a:bodyPr/>
                    <a:lstStyle/>
                    <a:p>
                      <a:r>
                        <a:rPr lang="en-GB" sz="3600"/>
                        <a:t>Boolean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600"/>
                        <a:t>Binary – two states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600" dirty="0"/>
                        <a:t>True /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8213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4950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Data types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496621"/>
              </p:ext>
            </p:extLst>
          </p:nvPr>
        </p:nvGraphicFramePr>
        <p:xfrm>
          <a:off x="838200" y="1690688"/>
          <a:ext cx="10515600" cy="4732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900">
                  <a:extLst>
                    <a:ext uri="{9D8B030D-6E8A-4147-A177-3AD203B41FA5}">
                      <a16:colId xmlns:a16="http://schemas.microsoft.com/office/drawing/2014/main" val="3886860534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46268953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2888917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r>
                        <a:rPr lang="en-GB" sz="400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4000"/>
                        <a:t>Description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4000"/>
                        <a:t>Examples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6187331"/>
                  </a:ext>
                </a:extLst>
              </a:tr>
              <a:tr h="802507">
                <a:tc>
                  <a:txBody>
                    <a:bodyPr/>
                    <a:lstStyle/>
                    <a:p>
                      <a:endParaRPr lang="en-GB" sz="3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600"/>
                        <a:t>"a", "1", "@"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540582"/>
                  </a:ext>
                </a:extLst>
              </a:tr>
              <a:tr h="802507">
                <a:tc>
                  <a:txBody>
                    <a:bodyPr/>
                    <a:lstStyle/>
                    <a:p>
                      <a:endParaRPr lang="en-GB" sz="3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600"/>
                        <a:t>"Hello", "01871"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5072174"/>
                  </a:ext>
                </a:extLst>
              </a:tr>
              <a:tr h="802507">
                <a:tc>
                  <a:txBody>
                    <a:bodyPr/>
                    <a:lstStyle/>
                    <a:p>
                      <a:endParaRPr lang="en-GB" sz="3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600"/>
                        <a:t>3, -99,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0682125"/>
                  </a:ext>
                </a:extLst>
              </a:tr>
              <a:tr h="802507">
                <a:tc>
                  <a:txBody>
                    <a:bodyPr/>
                    <a:lstStyle/>
                    <a:p>
                      <a:endParaRPr lang="en-GB" sz="3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600"/>
                        <a:t>3·14, -99·6, 0·0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48160"/>
                  </a:ext>
                </a:extLst>
              </a:tr>
              <a:tr h="802507">
                <a:tc>
                  <a:txBody>
                    <a:bodyPr/>
                    <a:lstStyle/>
                    <a:p>
                      <a:endParaRPr lang="en-GB" sz="3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600" dirty="0"/>
                        <a:t>True /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8213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84749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Assign values in a program</a:t>
            </a:r>
          </a:p>
        </p:txBody>
      </p:sp>
    </p:spTree>
    <p:extLst>
      <p:ext uri="{BB962C8B-B14F-4D97-AF65-F5344CB8AC3E}">
        <p14:creationId xmlns:p14="http://schemas.microsoft.com/office/powerpoint/2010/main" val="34253793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85D1C-D870-43E1-95B4-17348F469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What is a variable?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73E112-D753-408D-AA93-00CB800278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noProof="0" dirty="0"/>
              <a:t>Somewhere to store information</a:t>
            </a:r>
          </a:p>
          <a:p>
            <a:r>
              <a:rPr lang="en-GB" noProof="0" dirty="0"/>
              <a:t>Has a name</a:t>
            </a:r>
          </a:p>
          <a:p>
            <a:r>
              <a:rPr lang="en-GB" noProof="0" dirty="0"/>
              <a:t>Can be thought of as a box</a:t>
            </a:r>
          </a:p>
          <a:p>
            <a:r>
              <a:rPr lang="en-GB" i="1" noProof="0" dirty="0"/>
              <a:t>Can only store </a:t>
            </a:r>
            <a:r>
              <a:rPr lang="en-GB" b="1" i="1" noProof="0" dirty="0"/>
              <a:t>1</a:t>
            </a:r>
            <a:r>
              <a:rPr lang="en-GB" i="1" noProof="0" dirty="0"/>
              <a:t> piece of info</a:t>
            </a:r>
          </a:p>
          <a:p>
            <a:endParaRPr lang="en-GB" noProof="0" dirty="0"/>
          </a:p>
        </p:txBody>
      </p:sp>
      <p:pic>
        <p:nvPicPr>
          <p:cNvPr id="9" name="Content Placeholder 8" descr="A white house with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7755A727-B888-45BB-B4EA-D166B017328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7756" t="10108" r="8890" b="5325"/>
          <a:stretch/>
        </p:blipFill>
        <p:spPr>
          <a:xfrm>
            <a:off x="6172200" y="1922113"/>
            <a:ext cx="5181600" cy="415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46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85D1C-D870-43E1-95B4-17348F469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How do they work?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73E112-D753-408D-AA93-00CB800278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noProof="0" dirty="0"/>
              <a:t>Store 11 in variable1</a:t>
            </a:r>
          </a:p>
          <a:p>
            <a:endParaRPr lang="en-GB" noProof="0" dirty="0"/>
          </a:p>
          <a:p>
            <a:r>
              <a:rPr lang="en-GB" noProof="0" dirty="0"/>
              <a:t>Copy variable1 to variable2</a:t>
            </a:r>
          </a:p>
          <a:p>
            <a:endParaRPr lang="en-GB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78AC3A-2A1E-42A4-BC71-4A7E95E0F1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noProof="0" dirty="0"/>
              <a:t>Variable created, with a name</a:t>
            </a:r>
          </a:p>
          <a:p>
            <a:r>
              <a:rPr lang="en-GB" noProof="0" dirty="0"/>
              <a:t>Value stored in it</a:t>
            </a:r>
          </a:p>
        </p:txBody>
      </p:sp>
      <p:pic>
        <p:nvPicPr>
          <p:cNvPr id="8" name="Content Placeholder 8" descr="A white house with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A7BCE613-FF9E-4440-9741-AB313D95BFD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1170515" y="4236098"/>
            <a:ext cx="2042781" cy="16393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41B0E6-9DF9-4772-999E-16DA5B417DA1}"/>
              </a:ext>
            </a:extLst>
          </p:cNvPr>
          <p:cNvSpPr txBox="1"/>
          <p:nvPr/>
        </p:nvSpPr>
        <p:spPr>
          <a:xfrm>
            <a:off x="1508706" y="5715298"/>
            <a:ext cx="13664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7030A0"/>
                </a:solidFill>
              </a:rPr>
              <a:t>variable1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694A9D-B1C7-42AB-956F-2ECBBD2C6227}"/>
              </a:ext>
            </a:extLst>
          </p:cNvPr>
          <p:cNvSpPr txBox="1"/>
          <p:nvPr/>
        </p:nvSpPr>
        <p:spPr>
          <a:xfrm>
            <a:off x="1944080" y="3265666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/>
              <a:t>11</a:t>
            </a:r>
          </a:p>
        </p:txBody>
      </p:sp>
      <p:pic>
        <p:nvPicPr>
          <p:cNvPr id="11" name="Content Placeholder 8" descr="A white house with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3A2318D8-8A59-461A-8959-A7C0D252978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3823838" y="4236098"/>
            <a:ext cx="2042781" cy="16393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CC5F24-E0D9-4592-8467-65313AA48870}"/>
              </a:ext>
            </a:extLst>
          </p:cNvPr>
          <p:cNvSpPr txBox="1"/>
          <p:nvPr/>
        </p:nvSpPr>
        <p:spPr>
          <a:xfrm>
            <a:off x="4162029" y="5715298"/>
            <a:ext cx="13664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7030A0"/>
                </a:solidFill>
              </a:rPr>
              <a:t>variable2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AB07D6-0C11-455D-9BC4-6E70C2899CC4}"/>
              </a:ext>
            </a:extLst>
          </p:cNvPr>
          <p:cNvSpPr txBox="1"/>
          <p:nvPr/>
        </p:nvSpPr>
        <p:spPr>
          <a:xfrm>
            <a:off x="1920896" y="4514033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96147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42" presetClass="path" presetSubtype="0" accel="50000" decel="5000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29167E-6 -2.22222E-6 L -0.0013 0.18773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93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00069 L 0.05821 -0.06922 C 0.07032 -0.08496 0.08855 -0.09306 0.10782 -0.09306 C 0.12943 -0.09306 0.14675 -0.08496 0.15886 -0.06922 L 0.21693 0.00069 " pathEditMode="relative" rAng="0" ptsTypes="AAAAA">
                                      <p:cBhvr>
                                        <p:cTn id="4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33" y="-4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4" grpId="0" uiExpand="1" build="p"/>
      <p:bldP spid="5" grpId="0"/>
      <p:bldP spid="10" grpId="0"/>
      <p:bldP spid="10" grpId="1"/>
      <p:bldP spid="12" grpId="0"/>
      <p:bldP spid="13" grpId="0"/>
      <p:bldP spid="13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81A48-9E6C-447E-828B-6605DDD57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What is it?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F83671-B723-4EB7-90C2-1A02F1F08247}"/>
              </a:ext>
            </a:extLst>
          </p:cNvPr>
          <p:cNvSpPr txBox="1"/>
          <p:nvPr/>
        </p:nvSpPr>
        <p:spPr>
          <a:xfrm>
            <a:off x="838200" y="566057"/>
            <a:ext cx="2382383" cy="5386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4400" b="1"/>
              <a:t>=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10037-348E-4337-9A63-56426B0B8E18}"/>
              </a:ext>
            </a:extLst>
          </p:cNvPr>
          <p:cNvSpPr txBox="1"/>
          <p:nvPr/>
        </p:nvSpPr>
        <p:spPr>
          <a:xfrm>
            <a:off x="3917950" y="2089444"/>
            <a:ext cx="3761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/>
              <a:t>Maths: equals 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A7E741-9095-4924-A3CE-D56693D38A02}"/>
              </a:ext>
            </a:extLst>
          </p:cNvPr>
          <p:cNvSpPr txBox="1"/>
          <p:nvPr/>
        </p:nvSpPr>
        <p:spPr>
          <a:xfrm>
            <a:off x="3917903" y="4080307"/>
            <a:ext cx="6738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/>
              <a:t>Computing: assignment operator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A0BC9D-ACFF-44C2-8712-B5611E1287BF}"/>
              </a:ext>
            </a:extLst>
          </p:cNvPr>
          <p:cNvSpPr txBox="1"/>
          <p:nvPr/>
        </p:nvSpPr>
        <p:spPr>
          <a:xfrm>
            <a:off x="4449347" y="4720367"/>
            <a:ext cx="4522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/>
              <a:t>(is assigned the value 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34C7FFA-961F-4F11-93A3-97FC5170CF3C}"/>
              </a:ext>
            </a:extLst>
          </p:cNvPr>
          <p:cNvGrpSpPr/>
          <p:nvPr/>
        </p:nvGrpSpPr>
        <p:grpSpPr>
          <a:xfrm>
            <a:off x="3985765" y="2057694"/>
            <a:ext cx="3847815" cy="1260000"/>
            <a:chOff x="3985765" y="2057694"/>
            <a:chExt cx="3847815" cy="126000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1C2BCDB-E4F7-4684-AC6B-AE8E43FD82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3580" y="2057694"/>
              <a:ext cx="3780000" cy="12600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C40DF4E-7F5F-41CC-99A1-1515D29FAD4C}"/>
                </a:ext>
              </a:extLst>
            </p:cNvPr>
            <p:cNvCxnSpPr>
              <a:cxnSpLocks/>
            </p:cNvCxnSpPr>
            <p:nvPr/>
          </p:nvCxnSpPr>
          <p:spPr>
            <a:xfrm>
              <a:off x="3985765" y="2057694"/>
              <a:ext cx="3780000" cy="12600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B8133A3-A913-4568-9C50-9BB8FE6C7345}"/>
              </a:ext>
            </a:extLst>
          </p:cNvPr>
          <p:cNvSpPr txBox="1"/>
          <p:nvPr/>
        </p:nvSpPr>
        <p:spPr>
          <a:xfrm>
            <a:off x="4365263" y="2729504"/>
            <a:ext cx="3156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/>
              <a:t>(is the same as)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FA6217-AFE6-42E6-AA29-9FB9655EF390}"/>
              </a:ext>
            </a:extLst>
          </p:cNvPr>
          <p:cNvSpPr txBox="1"/>
          <p:nvPr/>
        </p:nvSpPr>
        <p:spPr>
          <a:xfrm>
            <a:off x="8213078" y="2175506"/>
            <a:ext cx="36610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rgbClr val="FF0000"/>
                </a:solidFill>
              </a:rPr>
              <a:t>This is computing, not maths!</a:t>
            </a:r>
          </a:p>
        </p:txBody>
      </p:sp>
    </p:spTree>
    <p:extLst>
      <p:ext uri="{BB962C8B-B14F-4D97-AF65-F5344CB8AC3E}">
        <p14:creationId xmlns:p14="http://schemas.microsoft.com/office/powerpoint/2010/main" val="2423056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1" grpId="0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81A48-9E6C-447E-828B-6605DDD57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What is it?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F83671-B723-4EB7-90C2-1A02F1F08247}"/>
              </a:ext>
            </a:extLst>
          </p:cNvPr>
          <p:cNvSpPr txBox="1"/>
          <p:nvPr/>
        </p:nvSpPr>
        <p:spPr>
          <a:xfrm>
            <a:off x="838200" y="566057"/>
            <a:ext cx="2382383" cy="5386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4400" b="1"/>
              <a:t>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8D008A-6628-3F4C-EADB-FC076B316CBD}"/>
              </a:ext>
            </a:extLst>
          </p:cNvPr>
          <p:cNvSpPr txBox="1"/>
          <p:nvPr/>
        </p:nvSpPr>
        <p:spPr>
          <a:xfrm>
            <a:off x="3917950" y="2089444"/>
            <a:ext cx="1531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/>
              <a:t>Maths: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4A42C9-D6BA-4BBB-DF18-161FC00AE411}"/>
              </a:ext>
            </a:extLst>
          </p:cNvPr>
          <p:cNvSpPr txBox="1"/>
          <p:nvPr/>
        </p:nvSpPr>
        <p:spPr>
          <a:xfrm>
            <a:off x="3917903" y="4080307"/>
            <a:ext cx="2417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/>
              <a:t>Computing:</a:t>
            </a:r>
          </a:p>
        </p:txBody>
      </p:sp>
    </p:spTree>
    <p:extLst>
      <p:ext uri="{BB962C8B-B14F-4D97-AF65-F5344CB8AC3E}">
        <p14:creationId xmlns:p14="http://schemas.microsoft.com/office/powerpoint/2010/main" val="41812986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4761781" y="3404496"/>
            <a:ext cx="26684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GB" sz="4400">
                <a:effectLst/>
                <a:latin typeface="Consolas" panose="020B0609020204030204" pitchFamily="49" charset="0"/>
              </a:rPr>
              <a:t> = 18</a:t>
            </a:r>
          </a:p>
        </p:txBody>
      </p:sp>
      <p:sp>
        <p:nvSpPr>
          <p:cNvPr id="4" name="Callout: Bent Line with No Border 3">
            <a:extLst>
              <a:ext uri="{FF2B5EF4-FFF2-40B4-BE49-F238E27FC236}">
                <a16:creationId xmlns:a16="http://schemas.microsoft.com/office/drawing/2014/main" id="{D6F14AE9-0634-49A1-9522-5FDA6FED3DEA}"/>
              </a:ext>
            </a:extLst>
          </p:cNvPr>
          <p:cNvSpPr/>
          <p:nvPr/>
        </p:nvSpPr>
        <p:spPr>
          <a:xfrm>
            <a:off x="1276222" y="2235023"/>
            <a:ext cx="2377416" cy="862642"/>
          </a:xfrm>
          <a:prstGeom prst="callout2">
            <a:avLst>
              <a:gd name="adj1" fmla="val 48750"/>
              <a:gd name="adj2" fmla="val 104056"/>
              <a:gd name="adj3" fmla="val 49417"/>
              <a:gd name="adj4" fmla="val 134218"/>
              <a:gd name="adj5" fmla="val 146825"/>
              <a:gd name="adj6" fmla="val 15125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Variable name</a:t>
            </a: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4C153303-D1C1-431D-B2E2-B4706419068D}"/>
              </a:ext>
            </a:extLst>
          </p:cNvPr>
          <p:cNvSpPr/>
          <p:nvPr/>
        </p:nvSpPr>
        <p:spPr>
          <a:xfrm>
            <a:off x="2248526" y="4636219"/>
            <a:ext cx="3312460" cy="862642"/>
          </a:xfrm>
          <a:prstGeom prst="callout2">
            <a:avLst>
              <a:gd name="adj1" fmla="val 48750"/>
              <a:gd name="adj2" fmla="val 104056"/>
              <a:gd name="adj3" fmla="val 48636"/>
              <a:gd name="adj4" fmla="val 120470"/>
              <a:gd name="adj5" fmla="val -58833"/>
              <a:gd name="adj6" fmla="val 12073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Assignment operator</a:t>
            </a: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79D90FB4-F237-4763-935F-72CAFA35FDFC}"/>
              </a:ext>
            </a:extLst>
          </p:cNvPr>
          <p:cNvSpPr/>
          <p:nvPr/>
        </p:nvSpPr>
        <p:spPr>
          <a:xfrm>
            <a:off x="8425809" y="2235023"/>
            <a:ext cx="2891765" cy="862642"/>
          </a:xfrm>
          <a:prstGeom prst="callout2">
            <a:avLst>
              <a:gd name="adj1" fmla="val 52750"/>
              <a:gd name="adj2" fmla="val -2245"/>
              <a:gd name="adj3" fmla="val 52979"/>
              <a:gd name="adj4" fmla="val -23751"/>
              <a:gd name="adj5" fmla="val 151167"/>
              <a:gd name="adj6" fmla="val -3974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Value to be stored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824764" y="1864996"/>
            <a:ext cx="2696379" cy="1708003"/>
            <a:chOff x="4824764" y="1504780"/>
            <a:chExt cx="2696379" cy="1708003"/>
          </a:xfrm>
        </p:grpSpPr>
        <p:sp>
          <p:nvSpPr>
            <p:cNvPr id="7" name="Arrow: Curved Down 6">
              <a:extLst>
                <a:ext uri="{FF2B5EF4-FFF2-40B4-BE49-F238E27FC236}">
                  <a16:creationId xmlns:a16="http://schemas.microsoft.com/office/drawing/2014/main" id="{EE74F1A6-8BE6-456E-A480-9DB504632527}"/>
                </a:ext>
              </a:extLst>
            </p:cNvPr>
            <p:cNvSpPr/>
            <p:nvPr/>
          </p:nvSpPr>
          <p:spPr>
            <a:xfrm flipH="1">
              <a:off x="5456197" y="2581999"/>
              <a:ext cx="1433512" cy="630784"/>
            </a:xfrm>
            <a:prstGeom prst="curvedDownArrow">
              <a:avLst>
                <a:gd name="adj1" fmla="val 14746"/>
                <a:gd name="adj2" fmla="val 42781"/>
                <a:gd name="adj3" fmla="val 35417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DEE475-3339-4DC8-A405-51CF42921B5C}"/>
                </a:ext>
              </a:extLst>
            </p:cNvPr>
            <p:cNvSpPr txBox="1"/>
            <p:nvPr/>
          </p:nvSpPr>
          <p:spPr>
            <a:xfrm>
              <a:off x="4824764" y="1504780"/>
              <a:ext cx="2696379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7030A0"/>
                  </a:solidFill>
                </a:rPr>
                <a:t>Value assigned</a:t>
              </a:r>
            </a:p>
            <a:p>
              <a:pPr algn="ctr"/>
              <a:r>
                <a:rPr lang="en-GB" sz="3200" b="1" dirty="0">
                  <a:solidFill>
                    <a:srgbClr val="7030A0"/>
                  </a:solidFill>
                </a:rPr>
                <a:t>to variable</a:t>
              </a:r>
            </a:p>
          </p:txBody>
        </p:sp>
      </p:grp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Assignment – variable</a:t>
            </a:r>
          </a:p>
        </p:txBody>
      </p:sp>
    </p:spTree>
    <p:extLst>
      <p:ext uri="{BB962C8B-B14F-4D97-AF65-F5344CB8AC3E}">
        <p14:creationId xmlns:p14="http://schemas.microsoft.com/office/powerpoint/2010/main" val="4133879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4761781" y="3404496"/>
            <a:ext cx="26684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GB" sz="4400" dirty="0">
                <a:effectLst/>
                <a:latin typeface="Consolas" panose="020B0609020204030204" pitchFamily="49" charset="0"/>
              </a:rPr>
              <a:t> = 18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Assignment – variable</a:t>
            </a:r>
          </a:p>
        </p:txBody>
      </p:sp>
    </p:spTree>
    <p:extLst>
      <p:ext uri="{BB962C8B-B14F-4D97-AF65-F5344CB8AC3E}">
        <p14:creationId xmlns:p14="http://schemas.microsoft.com/office/powerpoint/2010/main" val="11689145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C5EE3-2CEF-4E65-9860-9DE7C50A6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Spot the Variables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421486-4C97-4DF1-9F27-F15B69795F65}"/>
              </a:ext>
            </a:extLst>
          </p:cNvPr>
          <p:cNvSpPr txBox="1"/>
          <p:nvPr/>
        </p:nvSpPr>
        <p:spPr>
          <a:xfrm>
            <a:off x="1571607" y="2097741"/>
            <a:ext cx="205056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>
                <a:latin typeface="Consolas" panose="020B0609020204030204" pitchFamily="49" charset="0"/>
              </a:rPr>
              <a:t>name</a:t>
            </a:r>
          </a:p>
          <a:p>
            <a:pPr algn="ctr"/>
            <a:r>
              <a:rPr lang="en-GB" sz="4400" dirty="0">
                <a:latin typeface="Consolas" panose="020B0609020204030204" pitchFamily="49" charset="0"/>
              </a:rPr>
              <a:t>"name"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AC99B4-4811-BB55-B6CF-04A24F6532C1}"/>
              </a:ext>
            </a:extLst>
          </p:cNvPr>
          <p:cNvSpPr txBox="1"/>
          <p:nvPr/>
        </p:nvSpPr>
        <p:spPr>
          <a:xfrm rot="20468773">
            <a:off x="4866062" y="2332373"/>
            <a:ext cx="205056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>
                <a:latin typeface="Consolas" panose="020B0609020204030204" pitchFamily="49" charset="0"/>
              </a:rPr>
              <a:t>"date"</a:t>
            </a:r>
          </a:p>
          <a:p>
            <a:pPr algn="ctr"/>
            <a:r>
              <a:rPr lang="en-GB" sz="4400" dirty="0">
                <a:latin typeface="Consolas" panose="020B0609020204030204" pitchFamily="49" charset="0"/>
              </a:rPr>
              <a:t>date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0A77A0-8513-1B9B-F701-4BF4EBCC79F5}"/>
              </a:ext>
            </a:extLst>
          </p:cNvPr>
          <p:cNvSpPr txBox="1"/>
          <p:nvPr/>
        </p:nvSpPr>
        <p:spPr>
          <a:xfrm rot="461043">
            <a:off x="1767284" y="4321140"/>
            <a:ext cx="26725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>
                <a:latin typeface="Consolas" panose="020B0609020204030204" pitchFamily="49" charset="0"/>
              </a:rPr>
              <a:t>weight</a:t>
            </a:r>
          </a:p>
          <a:p>
            <a:pPr algn="ctr"/>
            <a:r>
              <a:rPr lang="en-GB" sz="4400" dirty="0">
                <a:latin typeface="Consolas" panose="020B0609020204030204" pitchFamily="49" charset="0"/>
              </a:rPr>
              <a:t>"weight"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0C4393-B68E-28B8-C454-4C7E7A0036DD}"/>
              </a:ext>
            </a:extLst>
          </p:cNvPr>
          <p:cNvSpPr txBox="1"/>
          <p:nvPr/>
        </p:nvSpPr>
        <p:spPr>
          <a:xfrm rot="21140364">
            <a:off x="6511161" y="4301621"/>
            <a:ext cx="26725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>
                <a:latin typeface="Consolas" panose="020B0609020204030204" pitchFamily="49" charset="0"/>
              </a:rPr>
              <a:t>height</a:t>
            </a:r>
          </a:p>
          <a:p>
            <a:pPr algn="ctr"/>
            <a:r>
              <a:rPr lang="en-GB" sz="4400" dirty="0">
                <a:latin typeface="Consolas" panose="020B0609020204030204" pitchFamily="49" charset="0"/>
              </a:rPr>
              <a:t>"height"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38E028-5536-219C-D16D-78157FA14BEA}"/>
              </a:ext>
            </a:extLst>
          </p:cNvPr>
          <p:cNvSpPr txBox="1"/>
          <p:nvPr/>
        </p:nvSpPr>
        <p:spPr>
          <a:xfrm rot="994121">
            <a:off x="8297378" y="2332373"/>
            <a:ext cx="26725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>
                <a:latin typeface="Consolas" panose="020B0609020204030204" pitchFamily="49" charset="0"/>
              </a:rPr>
              <a:t>length</a:t>
            </a:r>
          </a:p>
          <a:p>
            <a:pPr algn="ctr"/>
            <a:r>
              <a:rPr lang="en-GB" sz="4400" dirty="0">
                <a:latin typeface="Consolas" panose="020B0609020204030204" pitchFamily="49" charset="0"/>
              </a:rPr>
              <a:t>"length"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ED4BF0-E0AD-BDA4-B328-F92C1F902DFC}"/>
              </a:ext>
            </a:extLst>
          </p:cNvPr>
          <p:cNvSpPr txBox="1"/>
          <p:nvPr/>
        </p:nvSpPr>
        <p:spPr>
          <a:xfrm>
            <a:off x="1562291" y="6002565"/>
            <a:ext cx="9067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lang="en-GB" sz="3600" dirty="0">
                <a:solidFill>
                  <a:srgbClr val="7030A0"/>
                </a:solidFill>
              </a:rPr>
              <a:t>Strings have quotation marks, variables do not!</a:t>
            </a:r>
          </a:p>
        </p:txBody>
      </p:sp>
      <p:sp>
        <p:nvSpPr>
          <p:cNvPr id="10" name="Callout: Bent Line with No Border 9">
            <a:extLst>
              <a:ext uri="{FF2B5EF4-FFF2-40B4-BE49-F238E27FC236}">
                <a16:creationId xmlns:a16="http://schemas.microsoft.com/office/drawing/2014/main" id="{B93859E3-0575-48B2-8C84-48D087AEC867}"/>
              </a:ext>
            </a:extLst>
          </p:cNvPr>
          <p:cNvSpPr/>
          <p:nvPr/>
        </p:nvSpPr>
        <p:spPr>
          <a:xfrm>
            <a:off x="6714456" y="3655189"/>
            <a:ext cx="1813040" cy="557477"/>
          </a:xfrm>
          <a:prstGeom prst="callout2">
            <a:avLst>
              <a:gd name="adj1" fmla="val 50675"/>
              <a:gd name="adj2" fmla="val -405"/>
              <a:gd name="adj3" fmla="val 51408"/>
              <a:gd name="adj4" fmla="val -12895"/>
              <a:gd name="adj5" fmla="val -28272"/>
              <a:gd name="adj6" fmla="val -27399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600" b="1" dirty="0">
                <a:solidFill>
                  <a:srgbClr val="7030A0"/>
                </a:solidFill>
              </a:rPr>
              <a:t>Variable</a:t>
            </a:r>
          </a:p>
        </p:txBody>
      </p:sp>
      <p:sp>
        <p:nvSpPr>
          <p:cNvPr id="11" name="Callout: Bent Line with No Border 10">
            <a:extLst>
              <a:ext uri="{FF2B5EF4-FFF2-40B4-BE49-F238E27FC236}">
                <a16:creationId xmlns:a16="http://schemas.microsoft.com/office/drawing/2014/main" id="{FB7C40D1-FC48-487E-B0AD-FCBB25C05F09}"/>
              </a:ext>
            </a:extLst>
          </p:cNvPr>
          <p:cNvSpPr/>
          <p:nvPr/>
        </p:nvSpPr>
        <p:spPr>
          <a:xfrm>
            <a:off x="7095343" y="1699851"/>
            <a:ext cx="1432153" cy="557477"/>
          </a:xfrm>
          <a:prstGeom prst="callout2">
            <a:avLst>
              <a:gd name="adj1" fmla="val 50675"/>
              <a:gd name="adj2" fmla="val -405"/>
              <a:gd name="adj3" fmla="val 51408"/>
              <a:gd name="adj4" fmla="val -12895"/>
              <a:gd name="adj5" fmla="val 112914"/>
              <a:gd name="adj6" fmla="val -3548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600" b="1" dirty="0">
                <a:solidFill>
                  <a:srgbClr val="7030A0"/>
                </a:solidFill>
              </a:rPr>
              <a:t>String</a:t>
            </a:r>
          </a:p>
        </p:txBody>
      </p:sp>
    </p:spTree>
    <p:extLst>
      <p:ext uri="{BB962C8B-B14F-4D97-AF65-F5344CB8AC3E}">
        <p14:creationId xmlns:p14="http://schemas.microsoft.com/office/powerpoint/2010/main" val="262228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9" grpId="0"/>
      <p:bldP spid="10" grpId="0" animBg="1"/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C5EE3-2CEF-4E65-9860-9DE7C50A6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Spot the Variables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421486-4C97-4DF1-9F27-F15B69795F65}"/>
              </a:ext>
            </a:extLst>
          </p:cNvPr>
          <p:cNvSpPr txBox="1"/>
          <p:nvPr/>
        </p:nvSpPr>
        <p:spPr>
          <a:xfrm>
            <a:off x="1571607" y="2097741"/>
            <a:ext cx="205056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>
                <a:latin typeface="Consolas" panose="020B0609020204030204" pitchFamily="49" charset="0"/>
              </a:rPr>
              <a:t>name</a:t>
            </a:r>
          </a:p>
          <a:p>
            <a:pPr algn="ctr"/>
            <a:r>
              <a:rPr lang="en-GB" sz="4400" dirty="0">
                <a:latin typeface="Consolas" panose="020B0609020204030204" pitchFamily="49" charset="0"/>
              </a:rPr>
              <a:t>"name"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AC99B4-4811-BB55-B6CF-04A24F6532C1}"/>
              </a:ext>
            </a:extLst>
          </p:cNvPr>
          <p:cNvSpPr txBox="1"/>
          <p:nvPr/>
        </p:nvSpPr>
        <p:spPr>
          <a:xfrm rot="20468773">
            <a:off x="4866062" y="2332373"/>
            <a:ext cx="205056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>
                <a:latin typeface="Consolas" panose="020B0609020204030204" pitchFamily="49" charset="0"/>
              </a:rPr>
              <a:t>"date"</a:t>
            </a:r>
          </a:p>
          <a:p>
            <a:pPr algn="ctr"/>
            <a:r>
              <a:rPr lang="en-GB" sz="4400" dirty="0">
                <a:latin typeface="Consolas" panose="020B0609020204030204" pitchFamily="49" charset="0"/>
              </a:rPr>
              <a:t>date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0A77A0-8513-1B9B-F701-4BF4EBCC79F5}"/>
              </a:ext>
            </a:extLst>
          </p:cNvPr>
          <p:cNvSpPr txBox="1"/>
          <p:nvPr/>
        </p:nvSpPr>
        <p:spPr>
          <a:xfrm rot="461043">
            <a:off x="1767284" y="4321140"/>
            <a:ext cx="26725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>
                <a:latin typeface="Consolas" panose="020B0609020204030204" pitchFamily="49" charset="0"/>
              </a:rPr>
              <a:t>weight</a:t>
            </a:r>
          </a:p>
          <a:p>
            <a:pPr algn="ctr"/>
            <a:r>
              <a:rPr lang="en-GB" sz="4400" dirty="0">
                <a:latin typeface="Consolas" panose="020B0609020204030204" pitchFamily="49" charset="0"/>
              </a:rPr>
              <a:t>"weight"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0C4393-B68E-28B8-C454-4C7E7A0036DD}"/>
              </a:ext>
            </a:extLst>
          </p:cNvPr>
          <p:cNvSpPr txBox="1"/>
          <p:nvPr/>
        </p:nvSpPr>
        <p:spPr>
          <a:xfrm rot="21140364">
            <a:off x="6511161" y="4301621"/>
            <a:ext cx="26725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>
                <a:latin typeface="Consolas" panose="020B0609020204030204" pitchFamily="49" charset="0"/>
              </a:rPr>
              <a:t>height</a:t>
            </a:r>
          </a:p>
          <a:p>
            <a:pPr algn="ctr"/>
            <a:r>
              <a:rPr lang="en-GB" sz="4400" dirty="0">
                <a:latin typeface="Consolas" panose="020B0609020204030204" pitchFamily="49" charset="0"/>
              </a:rPr>
              <a:t>"height"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38E028-5536-219C-D16D-78157FA14BEA}"/>
              </a:ext>
            </a:extLst>
          </p:cNvPr>
          <p:cNvSpPr txBox="1"/>
          <p:nvPr/>
        </p:nvSpPr>
        <p:spPr>
          <a:xfrm rot="994121">
            <a:off x="8297378" y="2332373"/>
            <a:ext cx="26725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>
                <a:latin typeface="Consolas" panose="020B0609020204030204" pitchFamily="49" charset="0"/>
              </a:rPr>
              <a:t>length</a:t>
            </a:r>
          </a:p>
          <a:p>
            <a:pPr algn="ctr"/>
            <a:r>
              <a:rPr lang="en-GB" sz="4400" dirty="0">
                <a:latin typeface="Consolas" panose="020B0609020204030204" pitchFamily="49" charset="0"/>
              </a:rPr>
              <a:t>"length"</a:t>
            </a:r>
          </a:p>
        </p:txBody>
      </p:sp>
    </p:spTree>
    <p:extLst>
      <p:ext uri="{BB962C8B-B14F-4D97-AF65-F5344CB8AC3E}">
        <p14:creationId xmlns:p14="http://schemas.microsoft.com/office/powerpoint/2010/main" val="24640394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C5EE3-2CEF-4E65-9860-9DE7C50A6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Spot the Numbers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421486-4C97-4DF1-9F27-F15B69795F65}"/>
              </a:ext>
            </a:extLst>
          </p:cNvPr>
          <p:cNvSpPr txBox="1"/>
          <p:nvPr/>
        </p:nvSpPr>
        <p:spPr>
          <a:xfrm>
            <a:off x="4859413" y="1953075"/>
            <a:ext cx="205056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>
                <a:latin typeface="Consolas" panose="020B0609020204030204" pitchFamily="49" charset="0"/>
              </a:rPr>
              <a:t>3.14</a:t>
            </a:r>
          </a:p>
          <a:p>
            <a:pPr algn="ctr"/>
            <a:r>
              <a:rPr lang="en-GB" sz="4400" dirty="0">
                <a:latin typeface="Consolas" panose="020B0609020204030204" pitchFamily="49" charset="0"/>
              </a:rPr>
              <a:t>"3.14"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AC99B4-4811-BB55-B6CF-04A24F6532C1}"/>
              </a:ext>
            </a:extLst>
          </p:cNvPr>
          <p:cNvSpPr txBox="1"/>
          <p:nvPr/>
        </p:nvSpPr>
        <p:spPr>
          <a:xfrm rot="20468773">
            <a:off x="1498423" y="1953075"/>
            <a:ext cx="173958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>
                <a:latin typeface="Consolas" panose="020B0609020204030204" pitchFamily="49" charset="0"/>
              </a:rPr>
              <a:t>"999"</a:t>
            </a:r>
          </a:p>
          <a:p>
            <a:pPr algn="ctr"/>
            <a:r>
              <a:rPr lang="en-GB" sz="4400" dirty="0">
                <a:latin typeface="Consolas" panose="020B0609020204030204" pitchFamily="49" charset="0"/>
              </a:rPr>
              <a:t>999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0A77A0-8513-1B9B-F701-4BF4EBCC79F5}"/>
              </a:ext>
            </a:extLst>
          </p:cNvPr>
          <p:cNvSpPr txBox="1"/>
          <p:nvPr/>
        </p:nvSpPr>
        <p:spPr>
          <a:xfrm rot="731375">
            <a:off x="2078267" y="4321140"/>
            <a:ext cx="205056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>
                <a:latin typeface="Consolas" panose="020B0609020204030204" pitchFamily="49" charset="0"/>
              </a:rPr>
              <a:t>17.5</a:t>
            </a:r>
          </a:p>
          <a:p>
            <a:pPr algn="ctr"/>
            <a:r>
              <a:rPr lang="en-GB" sz="4400" dirty="0">
                <a:latin typeface="Consolas" panose="020B0609020204030204" pitchFamily="49" charset="0"/>
              </a:rPr>
              <a:t>"17.5"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0C4393-B68E-28B8-C454-4C7E7A0036DD}"/>
              </a:ext>
            </a:extLst>
          </p:cNvPr>
          <p:cNvSpPr txBox="1"/>
          <p:nvPr/>
        </p:nvSpPr>
        <p:spPr>
          <a:xfrm rot="19533305">
            <a:off x="6292685" y="4321141"/>
            <a:ext cx="142859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>
                <a:latin typeface="Consolas" panose="020B0609020204030204" pitchFamily="49" charset="0"/>
              </a:rPr>
              <a:t>"42"</a:t>
            </a:r>
          </a:p>
          <a:p>
            <a:pPr algn="ctr"/>
            <a:r>
              <a:rPr lang="en-GB" sz="4400" dirty="0">
                <a:latin typeface="Consolas" panose="020B0609020204030204" pitchFamily="49" charset="0"/>
              </a:rPr>
              <a:t>42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38E028-5536-219C-D16D-78157FA14BEA}"/>
              </a:ext>
            </a:extLst>
          </p:cNvPr>
          <p:cNvSpPr txBox="1"/>
          <p:nvPr/>
        </p:nvSpPr>
        <p:spPr>
          <a:xfrm rot="1460613">
            <a:off x="8592690" y="2405025"/>
            <a:ext cx="24030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>
                <a:latin typeface="Consolas" panose="020B0609020204030204" pitchFamily="49" charset="0"/>
              </a:rPr>
              <a:t>-0.03</a:t>
            </a:r>
          </a:p>
          <a:p>
            <a:pPr algn="ctr"/>
            <a:r>
              <a:rPr lang="en-GB" sz="4400" dirty="0">
                <a:latin typeface="Consolas" panose="020B0609020204030204" pitchFamily="49" charset="0"/>
              </a:rPr>
              <a:t>"-0.03"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574ACC-C539-1CD1-BC98-E317BC1540EF}"/>
              </a:ext>
            </a:extLst>
          </p:cNvPr>
          <p:cNvSpPr txBox="1"/>
          <p:nvPr/>
        </p:nvSpPr>
        <p:spPr>
          <a:xfrm>
            <a:off x="1598134" y="6002565"/>
            <a:ext cx="89957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lang="en-GB" sz="3600" dirty="0">
                <a:solidFill>
                  <a:srgbClr val="7030A0"/>
                </a:solidFill>
              </a:rPr>
              <a:t>Strings have quotation marks, numbers do not!</a:t>
            </a:r>
          </a:p>
        </p:txBody>
      </p:sp>
      <p:sp>
        <p:nvSpPr>
          <p:cNvPr id="9" name="Callout: Bent Line with No Border 8">
            <a:extLst>
              <a:ext uri="{FF2B5EF4-FFF2-40B4-BE49-F238E27FC236}">
                <a16:creationId xmlns:a16="http://schemas.microsoft.com/office/drawing/2014/main" id="{F28F40BC-46D5-495C-B05A-D288E7E60068}"/>
              </a:ext>
            </a:extLst>
          </p:cNvPr>
          <p:cNvSpPr/>
          <p:nvPr/>
        </p:nvSpPr>
        <p:spPr>
          <a:xfrm>
            <a:off x="6944699" y="1511746"/>
            <a:ext cx="1813040" cy="557477"/>
          </a:xfrm>
          <a:prstGeom prst="callout2">
            <a:avLst>
              <a:gd name="adj1" fmla="val 50675"/>
              <a:gd name="adj2" fmla="val -405"/>
              <a:gd name="adj3" fmla="val 51408"/>
              <a:gd name="adj4" fmla="val -12895"/>
              <a:gd name="adj5" fmla="val 104609"/>
              <a:gd name="adj6" fmla="val -27399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600" b="1" dirty="0">
                <a:solidFill>
                  <a:srgbClr val="7030A0"/>
                </a:solidFill>
              </a:rPr>
              <a:t>Number</a:t>
            </a:r>
          </a:p>
        </p:txBody>
      </p:sp>
      <p:sp>
        <p:nvSpPr>
          <p:cNvPr id="10" name="Callout: Bent Line with No Border 9">
            <a:extLst>
              <a:ext uri="{FF2B5EF4-FFF2-40B4-BE49-F238E27FC236}">
                <a16:creationId xmlns:a16="http://schemas.microsoft.com/office/drawing/2014/main" id="{5A660EF9-961F-43D4-8DC3-081CD5141727}"/>
              </a:ext>
            </a:extLst>
          </p:cNvPr>
          <p:cNvSpPr/>
          <p:nvPr/>
        </p:nvSpPr>
        <p:spPr>
          <a:xfrm>
            <a:off x="6928024" y="3149311"/>
            <a:ext cx="1432153" cy="557477"/>
          </a:xfrm>
          <a:prstGeom prst="callout2">
            <a:avLst>
              <a:gd name="adj1" fmla="val 50675"/>
              <a:gd name="adj2" fmla="val -405"/>
              <a:gd name="adj3" fmla="val 51408"/>
              <a:gd name="adj4" fmla="val -12895"/>
              <a:gd name="adj5" fmla="val 17406"/>
              <a:gd name="adj6" fmla="val -2820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600" b="1" dirty="0">
                <a:solidFill>
                  <a:srgbClr val="7030A0"/>
                </a:solidFill>
              </a:rPr>
              <a:t>String</a:t>
            </a:r>
          </a:p>
        </p:txBody>
      </p:sp>
    </p:spTree>
    <p:extLst>
      <p:ext uri="{BB962C8B-B14F-4D97-AF65-F5344CB8AC3E}">
        <p14:creationId xmlns:p14="http://schemas.microsoft.com/office/powerpoint/2010/main" val="162085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4" grpId="0"/>
      <p:bldP spid="9" grpId="0" animBg="1"/>
      <p:bldP spid="1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C5EE3-2CEF-4E65-9860-9DE7C50A6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Spot the Numbers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421486-4C97-4DF1-9F27-F15B69795F65}"/>
              </a:ext>
            </a:extLst>
          </p:cNvPr>
          <p:cNvSpPr txBox="1"/>
          <p:nvPr/>
        </p:nvSpPr>
        <p:spPr>
          <a:xfrm>
            <a:off x="4859413" y="1953075"/>
            <a:ext cx="205056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>
                <a:latin typeface="Consolas" panose="020B0609020204030204" pitchFamily="49" charset="0"/>
              </a:rPr>
              <a:t>3.14</a:t>
            </a:r>
          </a:p>
          <a:p>
            <a:pPr algn="ctr"/>
            <a:r>
              <a:rPr lang="en-GB" sz="4400" dirty="0">
                <a:latin typeface="Consolas" panose="020B0609020204030204" pitchFamily="49" charset="0"/>
              </a:rPr>
              <a:t>"3.14"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AC99B4-4811-BB55-B6CF-04A24F6532C1}"/>
              </a:ext>
            </a:extLst>
          </p:cNvPr>
          <p:cNvSpPr txBox="1"/>
          <p:nvPr/>
        </p:nvSpPr>
        <p:spPr>
          <a:xfrm rot="20468773">
            <a:off x="1498423" y="1953075"/>
            <a:ext cx="173958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>
                <a:latin typeface="Consolas" panose="020B0609020204030204" pitchFamily="49" charset="0"/>
              </a:rPr>
              <a:t>"999"</a:t>
            </a:r>
          </a:p>
          <a:p>
            <a:pPr algn="ctr"/>
            <a:r>
              <a:rPr lang="en-GB" sz="4400" dirty="0">
                <a:latin typeface="Consolas" panose="020B0609020204030204" pitchFamily="49" charset="0"/>
              </a:rPr>
              <a:t>999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0A77A0-8513-1B9B-F701-4BF4EBCC79F5}"/>
              </a:ext>
            </a:extLst>
          </p:cNvPr>
          <p:cNvSpPr txBox="1"/>
          <p:nvPr/>
        </p:nvSpPr>
        <p:spPr>
          <a:xfrm rot="731375">
            <a:off x="2078267" y="4321140"/>
            <a:ext cx="205056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>
                <a:latin typeface="Consolas" panose="020B0609020204030204" pitchFamily="49" charset="0"/>
              </a:rPr>
              <a:t>17.5</a:t>
            </a:r>
          </a:p>
          <a:p>
            <a:pPr algn="ctr"/>
            <a:r>
              <a:rPr lang="en-GB" sz="4400" dirty="0">
                <a:latin typeface="Consolas" panose="020B0609020204030204" pitchFamily="49" charset="0"/>
              </a:rPr>
              <a:t>"17.5"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0C4393-B68E-28B8-C454-4C7E7A0036DD}"/>
              </a:ext>
            </a:extLst>
          </p:cNvPr>
          <p:cNvSpPr txBox="1"/>
          <p:nvPr/>
        </p:nvSpPr>
        <p:spPr>
          <a:xfrm rot="19533305">
            <a:off x="6292685" y="4321141"/>
            <a:ext cx="142859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>
                <a:latin typeface="Consolas" panose="020B0609020204030204" pitchFamily="49" charset="0"/>
              </a:rPr>
              <a:t>"42"</a:t>
            </a:r>
          </a:p>
          <a:p>
            <a:pPr algn="ctr"/>
            <a:r>
              <a:rPr lang="en-GB" sz="4400" dirty="0">
                <a:latin typeface="Consolas" panose="020B0609020204030204" pitchFamily="49" charset="0"/>
              </a:rPr>
              <a:t>42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38E028-5536-219C-D16D-78157FA14BEA}"/>
              </a:ext>
            </a:extLst>
          </p:cNvPr>
          <p:cNvSpPr txBox="1"/>
          <p:nvPr/>
        </p:nvSpPr>
        <p:spPr>
          <a:xfrm rot="1460613">
            <a:off x="8592690" y="2405025"/>
            <a:ext cx="24030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>
                <a:latin typeface="Consolas" panose="020B0609020204030204" pitchFamily="49" charset="0"/>
              </a:rPr>
              <a:t>-0.03</a:t>
            </a:r>
          </a:p>
          <a:p>
            <a:pPr algn="ctr"/>
            <a:r>
              <a:rPr lang="en-GB" sz="4400" dirty="0">
                <a:latin typeface="Consolas" panose="020B0609020204030204" pitchFamily="49" charset="0"/>
              </a:rPr>
              <a:t>"-0.03"</a:t>
            </a:r>
          </a:p>
        </p:txBody>
      </p:sp>
    </p:spTree>
    <p:extLst>
      <p:ext uri="{BB962C8B-B14F-4D97-AF65-F5344CB8AC3E}">
        <p14:creationId xmlns:p14="http://schemas.microsoft.com/office/powerpoint/2010/main" val="22655298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AF5D-000B-4DEC-9AF4-A8A1580ED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Trace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CDC86-9D22-4C0D-A903-2B32ED001C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516883"/>
            <a:ext cx="5181600" cy="3660079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word1 = </a:t>
            </a:r>
            <a:r>
              <a:rPr lang="en-GB" altLang="en-US" sz="40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"Hello"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word2 = </a:t>
            </a:r>
            <a:r>
              <a:rPr lang="en-GB" altLang="en-US" sz="40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"world"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word1 = </a:t>
            </a:r>
            <a:r>
              <a:rPr lang="en-GB" altLang="en-US" sz="40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"What?"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word1 = </a:t>
            </a:r>
            <a:r>
              <a:rPr lang="en-GB" altLang="en-US" sz="40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"Bye"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word2 = </a:t>
            </a:r>
            <a:r>
              <a:rPr lang="en-GB" altLang="en-US" sz="40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"all!"</a:t>
            </a:r>
            <a:endParaRPr lang="en-GB" altLang="en-US" sz="5400" noProof="0" dirty="0">
              <a:latin typeface="Arial" panose="020B0604020202020204" pitchFamily="34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2D4A2A5-9F23-4592-A48D-864C4D8DF1D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72598015"/>
              </p:ext>
            </p:extLst>
          </p:nvPr>
        </p:nvGraphicFramePr>
        <p:xfrm>
          <a:off x="6172200" y="1825623"/>
          <a:ext cx="5181600" cy="405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89449952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978893554"/>
                    </a:ext>
                  </a:extLst>
                </a:gridCol>
              </a:tblGrid>
              <a:tr h="676560">
                <a:tc>
                  <a:txBody>
                    <a:bodyPr/>
                    <a:lstStyle/>
                    <a:p>
                      <a:pPr algn="ctr"/>
                      <a:r>
                        <a:rPr lang="en-GB" sz="3600"/>
                        <a:t>word1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/>
                        <a:t>word2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316171"/>
                  </a:ext>
                </a:extLst>
              </a:tr>
              <a:tr h="676560"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216021"/>
                  </a:ext>
                </a:extLst>
              </a:tr>
              <a:tr h="676560"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749944"/>
                  </a:ext>
                </a:extLst>
              </a:tr>
              <a:tr h="676560"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932791"/>
                  </a:ext>
                </a:extLst>
              </a:tr>
              <a:tr h="676560"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4286452"/>
                  </a:ext>
                </a:extLst>
              </a:tr>
              <a:tr h="676560"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78479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35B5FF7-85F2-49F9-B302-A022192365A4}"/>
              </a:ext>
            </a:extLst>
          </p:cNvPr>
          <p:cNvSpPr txBox="1"/>
          <p:nvPr/>
        </p:nvSpPr>
        <p:spPr>
          <a:xfrm>
            <a:off x="6623538" y="2516884"/>
            <a:ext cx="1609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/>
              <a:t>"Hello"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70F80A-567C-48A4-99CA-F65D8680829C}"/>
              </a:ext>
            </a:extLst>
          </p:cNvPr>
          <p:cNvSpPr txBox="1"/>
          <p:nvPr/>
        </p:nvSpPr>
        <p:spPr>
          <a:xfrm>
            <a:off x="9099062" y="3208972"/>
            <a:ext cx="1668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/>
              <a:t>"world"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A93661-EF0A-4E73-9A02-6D6EC9AF4313}"/>
              </a:ext>
            </a:extLst>
          </p:cNvPr>
          <p:cNvSpPr txBox="1"/>
          <p:nvPr/>
        </p:nvSpPr>
        <p:spPr>
          <a:xfrm>
            <a:off x="6522914" y="3865878"/>
            <a:ext cx="1811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/>
              <a:t>"What?"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F2ED12-6A72-43AC-9D0B-AAD6C2EC557B}"/>
              </a:ext>
            </a:extLst>
          </p:cNvPr>
          <p:cNvSpPr txBox="1"/>
          <p:nvPr/>
        </p:nvSpPr>
        <p:spPr>
          <a:xfrm>
            <a:off x="6744677" y="4552265"/>
            <a:ext cx="1367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/>
              <a:t>"Bye"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086F98-7FA8-481D-8DFC-58FA7EC7134B}"/>
              </a:ext>
            </a:extLst>
          </p:cNvPr>
          <p:cNvSpPr txBox="1"/>
          <p:nvPr/>
        </p:nvSpPr>
        <p:spPr>
          <a:xfrm>
            <a:off x="9249508" y="5238652"/>
            <a:ext cx="1367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/>
              <a:t>"all!"</a:t>
            </a:r>
          </a:p>
        </p:txBody>
      </p:sp>
    </p:spTree>
    <p:extLst>
      <p:ext uri="{BB962C8B-B14F-4D97-AF65-F5344CB8AC3E}">
        <p14:creationId xmlns:p14="http://schemas.microsoft.com/office/powerpoint/2010/main" val="1919614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  <p:bldP spid="8" grpId="0"/>
      <p:bldP spid="9" grpId="0"/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AF5D-000B-4DEC-9AF4-A8A1580ED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Trace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CDC86-9D22-4C0D-A903-2B32ED001C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516883"/>
            <a:ext cx="5181600" cy="3660079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word1 = </a:t>
            </a:r>
            <a:r>
              <a:rPr lang="en-GB" altLang="en-US" sz="40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"Hello"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word2 = </a:t>
            </a:r>
            <a:r>
              <a:rPr lang="en-GB" altLang="en-US" sz="40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"world"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word1 = </a:t>
            </a:r>
            <a:r>
              <a:rPr lang="en-GB" altLang="en-US" sz="40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"What?"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word1 = </a:t>
            </a:r>
            <a:r>
              <a:rPr lang="en-GB" altLang="en-US" sz="40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"Bye"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word2 = </a:t>
            </a:r>
            <a:r>
              <a:rPr lang="en-GB" altLang="en-US" sz="40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"all!"</a:t>
            </a:r>
            <a:endParaRPr lang="en-GB" altLang="en-US" sz="5400" noProof="0" dirty="0">
              <a:latin typeface="Arial" panose="020B0604020202020204" pitchFamily="34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2D4A2A5-9F23-4592-A48D-864C4D8DF1D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3"/>
          <a:ext cx="5181600" cy="405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89449952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978893554"/>
                    </a:ext>
                  </a:extLst>
                </a:gridCol>
              </a:tblGrid>
              <a:tr h="676560">
                <a:tc>
                  <a:txBody>
                    <a:bodyPr/>
                    <a:lstStyle/>
                    <a:p>
                      <a:pPr algn="ctr"/>
                      <a:r>
                        <a:rPr lang="en-GB" sz="3600"/>
                        <a:t>word1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/>
                        <a:t>word2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316171"/>
                  </a:ext>
                </a:extLst>
              </a:tr>
              <a:tr h="676560"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216021"/>
                  </a:ext>
                </a:extLst>
              </a:tr>
              <a:tr h="676560"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749944"/>
                  </a:ext>
                </a:extLst>
              </a:tr>
              <a:tr h="676560"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932791"/>
                  </a:ext>
                </a:extLst>
              </a:tr>
              <a:tr h="676560"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4286452"/>
                  </a:ext>
                </a:extLst>
              </a:tr>
              <a:tr h="676560"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784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60488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838200" y="1957036"/>
            <a:ext cx="824288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text = 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 world"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(text)</a:t>
            </a: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age = 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17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(age)</a:t>
            </a:r>
            <a:endParaRPr lang="en-US" altLang="en-US" sz="600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Display Variables</a:t>
            </a:r>
          </a:p>
        </p:txBody>
      </p:sp>
      <p:sp>
        <p:nvSpPr>
          <p:cNvPr id="4" name="Callout: Bent Line with No Border 3">
            <a:extLst>
              <a:ext uri="{FF2B5EF4-FFF2-40B4-BE49-F238E27FC236}">
                <a16:creationId xmlns:a16="http://schemas.microsoft.com/office/drawing/2014/main" id="{FB0881E0-E0ED-4CDC-9D9B-AC556EC99A52}"/>
              </a:ext>
            </a:extLst>
          </p:cNvPr>
          <p:cNvSpPr/>
          <p:nvPr/>
        </p:nvSpPr>
        <p:spPr>
          <a:xfrm>
            <a:off x="5467436" y="3612874"/>
            <a:ext cx="4533091" cy="557477"/>
          </a:xfrm>
          <a:prstGeom prst="callout2">
            <a:avLst>
              <a:gd name="adj1" fmla="val 50675"/>
              <a:gd name="adj2" fmla="val -405"/>
              <a:gd name="adj3" fmla="val 51408"/>
              <a:gd name="adj4" fmla="val -12895"/>
              <a:gd name="adj5" fmla="val -34501"/>
              <a:gd name="adj6" fmla="val -2101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600" b="1" dirty="0">
                <a:solidFill>
                  <a:srgbClr val="7030A0"/>
                </a:solidFill>
              </a:rPr>
              <a:t>Variable name</a:t>
            </a: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AD532591-0F85-4B1E-A25D-059E9F3FF297}"/>
              </a:ext>
            </a:extLst>
          </p:cNvPr>
          <p:cNvSpPr/>
          <p:nvPr/>
        </p:nvSpPr>
        <p:spPr>
          <a:xfrm>
            <a:off x="5168423" y="6154305"/>
            <a:ext cx="4533091" cy="557477"/>
          </a:xfrm>
          <a:prstGeom prst="callout2">
            <a:avLst>
              <a:gd name="adj1" fmla="val 50675"/>
              <a:gd name="adj2" fmla="val -405"/>
              <a:gd name="adj3" fmla="val 51408"/>
              <a:gd name="adj4" fmla="val -12895"/>
              <a:gd name="adj5" fmla="val -34501"/>
              <a:gd name="adj6" fmla="val -2101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600" b="1" dirty="0">
                <a:solidFill>
                  <a:srgbClr val="7030A0"/>
                </a:solidFill>
              </a:rPr>
              <a:t>Variable name</a:t>
            </a:r>
          </a:p>
        </p:txBody>
      </p:sp>
    </p:spTree>
    <p:extLst>
      <p:ext uri="{BB962C8B-B14F-4D97-AF65-F5344CB8AC3E}">
        <p14:creationId xmlns:p14="http://schemas.microsoft.com/office/powerpoint/2010/main" val="90108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4" grpId="0" animBg="1"/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838200" y="1957036"/>
            <a:ext cx="824288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text = 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 world"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(text)</a:t>
            </a: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age = 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17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(age)</a:t>
            </a:r>
            <a:endParaRPr lang="en-US" altLang="en-US" sz="600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Display Variables</a:t>
            </a:r>
          </a:p>
        </p:txBody>
      </p:sp>
    </p:spTree>
    <p:extLst>
      <p:ext uri="{BB962C8B-B14F-4D97-AF65-F5344CB8AC3E}">
        <p14:creationId xmlns:p14="http://schemas.microsoft.com/office/powerpoint/2010/main" val="40478495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meaningful identifiers</a:t>
            </a:r>
          </a:p>
        </p:txBody>
      </p:sp>
    </p:spTree>
    <p:extLst>
      <p:ext uri="{BB962C8B-B14F-4D97-AF65-F5344CB8AC3E}">
        <p14:creationId xmlns:p14="http://schemas.microsoft.com/office/powerpoint/2010/main" val="17136159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Variable names –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noProof="0" dirty="0"/>
              <a:t>Start with a letter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noProof="0" dirty="0"/>
              <a:t>Only contain letters, numbers, underscores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noProof="0" dirty="0"/>
              <a:t>No spaces</a:t>
            </a:r>
          </a:p>
          <a:p>
            <a:pPr marL="514350" indent="-514350">
              <a:spcBef>
                <a:spcPts val="0"/>
              </a:spcBef>
              <a:spcAft>
                <a:spcPts val="2400"/>
              </a:spcAft>
              <a:buFont typeface="+mj-lt"/>
              <a:buAutoNum type="arabicPeriod"/>
            </a:pPr>
            <a:r>
              <a:rPr lang="en-GB" noProof="0" dirty="0"/>
              <a:t>Unique</a:t>
            </a:r>
            <a:endParaRPr lang="en-GB" sz="1200" noProof="0" dirty="0"/>
          </a:p>
          <a:p>
            <a:pPr marL="0" indent="0">
              <a:spcBef>
                <a:spcPts val="0"/>
              </a:spcBef>
              <a:buNone/>
            </a:pPr>
            <a:r>
              <a:rPr lang="en-GB" noProof="0" dirty="0"/>
              <a:t>Examples</a:t>
            </a:r>
            <a:endParaRPr lang="en-GB" sz="1200" noProof="0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GB" sz="3200" noProof="0" dirty="0">
                <a:solidFill>
                  <a:srgbClr val="7030A0"/>
                </a:solidFill>
              </a:rPr>
              <a:t>height		cost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GB" sz="3200" noProof="0" dirty="0">
                <a:solidFill>
                  <a:srgbClr val="7030A0"/>
                </a:solidFill>
              </a:rPr>
              <a:t>age		number_2			number1	</a:t>
            </a:r>
            <a:r>
              <a:rPr lang="en-GB" sz="3200" noProof="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41334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Variable names –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noProof="0" dirty="0"/>
              <a:t> 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noProof="0" dirty="0"/>
              <a:t> 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noProof="0" dirty="0"/>
              <a:t> </a:t>
            </a:r>
          </a:p>
          <a:p>
            <a:pPr marL="514350" indent="-514350">
              <a:spcBef>
                <a:spcPts val="0"/>
              </a:spcBef>
              <a:spcAft>
                <a:spcPts val="2400"/>
              </a:spcAft>
              <a:buFont typeface="+mj-lt"/>
              <a:buAutoNum type="arabicPeriod"/>
            </a:pPr>
            <a:r>
              <a:rPr lang="en-GB" noProof="0" dirty="0"/>
              <a:t> </a:t>
            </a:r>
            <a:endParaRPr lang="en-GB" sz="1200" noProof="0" dirty="0"/>
          </a:p>
          <a:p>
            <a:pPr marL="0" indent="0">
              <a:spcBef>
                <a:spcPts val="0"/>
              </a:spcBef>
              <a:buNone/>
            </a:pPr>
            <a:r>
              <a:rPr lang="en-GB" noProof="0" dirty="0"/>
              <a:t>Examples</a:t>
            </a:r>
            <a:r>
              <a:rPr lang="en-GB" sz="3200" noProof="0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9754207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Variable names – Conventions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noProof="0" dirty="0"/>
              <a:t>Mixed case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noProof="0" dirty="0"/>
              <a:t>Meaningful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noProof="0" dirty="0"/>
              <a:t>Singular (not plural)</a:t>
            </a:r>
          </a:p>
          <a:p>
            <a:pPr marL="0" indent="0">
              <a:spcBef>
                <a:spcPts val="0"/>
              </a:spcBef>
              <a:buNone/>
            </a:pPr>
            <a:endParaRPr lang="en-GB" sz="1200" noProof="0" dirty="0"/>
          </a:p>
          <a:p>
            <a:pPr marL="0" indent="0">
              <a:spcBef>
                <a:spcPts val="0"/>
              </a:spcBef>
              <a:buNone/>
            </a:pPr>
            <a:r>
              <a:rPr lang="en-GB" noProof="0" dirty="0"/>
              <a:t>Examples</a:t>
            </a:r>
          </a:p>
          <a:p>
            <a:pPr marL="0" indent="0">
              <a:spcBef>
                <a:spcPts val="0"/>
              </a:spcBef>
              <a:buNone/>
            </a:pPr>
            <a:endParaRPr lang="en-GB" sz="1200" noProof="0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GB" sz="3200" noProof="0" dirty="0" err="1">
                <a:solidFill>
                  <a:srgbClr val="7030A0"/>
                </a:solidFill>
              </a:rPr>
              <a:t>pupilAge</a:t>
            </a:r>
            <a:r>
              <a:rPr lang="en-GB" sz="3200" noProof="0" dirty="0">
                <a:solidFill>
                  <a:srgbClr val="7030A0"/>
                </a:solidFill>
              </a:rPr>
              <a:t>		</a:t>
            </a:r>
            <a:r>
              <a:rPr lang="en-GB" sz="3200" noProof="0" dirty="0" err="1">
                <a:solidFill>
                  <a:srgbClr val="7030A0"/>
                </a:solidFill>
              </a:rPr>
              <a:t>costPerKilo</a:t>
            </a:r>
            <a:r>
              <a:rPr lang="en-GB" sz="3200" noProof="0" dirty="0">
                <a:solidFill>
                  <a:srgbClr val="7030A0"/>
                </a:solidFill>
              </a:rPr>
              <a:t>		kgs2lbs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GB" sz="3200" noProof="0" dirty="0" err="1">
                <a:solidFill>
                  <a:srgbClr val="7030A0"/>
                </a:solidFill>
              </a:rPr>
              <a:t>petName</a:t>
            </a:r>
            <a:r>
              <a:rPr lang="en-GB" sz="3200" noProof="0" dirty="0">
                <a:solidFill>
                  <a:srgbClr val="7030A0"/>
                </a:solidFill>
              </a:rPr>
              <a:t>		</a:t>
            </a:r>
            <a:r>
              <a:rPr lang="en-GB" sz="3200" noProof="0" dirty="0" err="1">
                <a:solidFill>
                  <a:srgbClr val="7030A0"/>
                </a:solidFill>
              </a:rPr>
              <a:t>examGrade</a:t>
            </a:r>
            <a:endParaRPr lang="en-GB" sz="3200" noProof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913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7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75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7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Variable names – Conventions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noProof="0" dirty="0"/>
              <a:t> 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noProof="0" dirty="0"/>
              <a:t> 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noProof="0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endParaRPr lang="en-GB" sz="1200" noProof="0" dirty="0"/>
          </a:p>
          <a:p>
            <a:pPr marL="0" indent="0">
              <a:spcBef>
                <a:spcPts val="0"/>
              </a:spcBef>
              <a:buNone/>
            </a:pPr>
            <a:r>
              <a:rPr lang="en-GB" noProof="0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8220081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arithmetic operations</a:t>
            </a:r>
          </a:p>
        </p:txBody>
      </p:sp>
    </p:spTree>
    <p:extLst>
      <p:ext uri="{BB962C8B-B14F-4D97-AF65-F5344CB8AC3E}">
        <p14:creationId xmlns:p14="http://schemas.microsoft.com/office/powerpoint/2010/main" val="14222932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Arithmetic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1800"/>
              </a:spcAft>
              <a:buNone/>
            </a:pPr>
            <a:r>
              <a:rPr lang="en-GB" sz="3600" noProof="0" dirty="0"/>
              <a:t>+	Add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GB" sz="3600" noProof="0" dirty="0"/>
              <a:t>– 	Subtract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GB" sz="3600" noProof="0" dirty="0"/>
              <a:t>*	Multiply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GB" sz="3600" noProof="0" dirty="0"/>
              <a:t>/	Divide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GB" sz="3600" noProof="0" dirty="0"/>
              <a:t>**	Power of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1800"/>
              </a:spcAft>
              <a:buNone/>
            </a:pPr>
            <a:r>
              <a:rPr lang="en-GB" sz="3600" noProof="0" dirty="0"/>
              <a:t>3 + 7		=	10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GB" sz="3600" noProof="0" dirty="0"/>
              <a:t>9 – 4		=	5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GB" sz="3600" noProof="0" dirty="0"/>
              <a:t>2 * 3		=	6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GB" sz="3600" noProof="0" dirty="0"/>
              <a:t>8 / 4		=	2.0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GB" sz="3600" noProof="0" dirty="0"/>
              <a:t>3 ** 2	=	9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DD9F11A-5B6E-B3A8-8C6E-E9E0239F1511}"/>
              </a:ext>
            </a:extLst>
          </p:cNvPr>
          <p:cNvGrpSpPr/>
          <p:nvPr/>
        </p:nvGrpSpPr>
        <p:grpSpPr>
          <a:xfrm>
            <a:off x="6172200" y="1167468"/>
            <a:ext cx="3817167" cy="541066"/>
            <a:chOff x="6172200" y="1167468"/>
            <a:chExt cx="3817167" cy="54106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24A14C-9688-C3E1-39EF-D6F661072E81}"/>
                </a:ext>
              </a:extLst>
            </p:cNvPr>
            <p:cNvSpPr/>
            <p:nvPr/>
          </p:nvSpPr>
          <p:spPr>
            <a:xfrm>
              <a:off x="6172200" y="1167468"/>
              <a:ext cx="144507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800" b="1" dirty="0"/>
                <a:t>Problem</a:t>
              </a:r>
              <a:endParaRPr lang="en-GB" sz="2800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378AB21-2B38-ABA0-A724-3174944A3892}"/>
                </a:ext>
              </a:extLst>
            </p:cNvPr>
            <p:cNvSpPr/>
            <p:nvPr/>
          </p:nvSpPr>
          <p:spPr>
            <a:xfrm>
              <a:off x="8878614" y="1185314"/>
              <a:ext cx="111075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800" b="1" dirty="0"/>
                <a:t>Result</a:t>
              </a:r>
              <a:endParaRPr lang="en-GB" sz="280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4419A6D-C5AC-4ABE-87ED-5BF49D15A388}"/>
              </a:ext>
            </a:extLst>
          </p:cNvPr>
          <p:cNvSpPr txBox="1"/>
          <p:nvPr/>
        </p:nvSpPr>
        <p:spPr>
          <a:xfrm>
            <a:off x="2945202" y="6134984"/>
            <a:ext cx="6301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lang="en-GB" sz="3600" dirty="0">
                <a:solidFill>
                  <a:srgbClr val="7030A0"/>
                </a:solidFill>
              </a:rPr>
              <a:t>Division always gives a real value</a:t>
            </a:r>
          </a:p>
        </p:txBody>
      </p:sp>
    </p:spTree>
    <p:extLst>
      <p:ext uri="{BB962C8B-B14F-4D97-AF65-F5344CB8AC3E}">
        <p14:creationId xmlns:p14="http://schemas.microsoft.com/office/powerpoint/2010/main" val="2605162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Arithmetic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1800"/>
              </a:spcAft>
              <a:buNone/>
            </a:pPr>
            <a:r>
              <a:rPr lang="en-GB" sz="3600" noProof="0" dirty="0"/>
              <a:t>	Add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GB" sz="3600" noProof="0" dirty="0"/>
              <a:t> 	Subtract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GB" sz="3600" noProof="0" dirty="0"/>
              <a:t>	Multiply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GB" sz="3600" noProof="0" dirty="0"/>
              <a:t>	Divide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GB" sz="3600" noProof="0" dirty="0"/>
              <a:t>	Power of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1800"/>
              </a:spcAft>
              <a:buNone/>
            </a:pPr>
            <a:r>
              <a:rPr lang="en-GB" sz="3600" noProof="0" dirty="0"/>
              <a:t>3 		=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GB" sz="3600" noProof="0" dirty="0"/>
              <a:t>9 		=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GB" sz="3600" noProof="0" dirty="0"/>
              <a:t>2 		=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GB" sz="3600" noProof="0" dirty="0"/>
              <a:t>8 		=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GB" sz="3600" noProof="0" dirty="0"/>
              <a:t>3		=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DD9F11A-5B6E-B3A8-8C6E-E9E0239F1511}"/>
              </a:ext>
            </a:extLst>
          </p:cNvPr>
          <p:cNvGrpSpPr/>
          <p:nvPr/>
        </p:nvGrpSpPr>
        <p:grpSpPr>
          <a:xfrm>
            <a:off x="6172200" y="1167468"/>
            <a:ext cx="3817167" cy="541066"/>
            <a:chOff x="6172200" y="1167468"/>
            <a:chExt cx="3817167" cy="54106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24A14C-9688-C3E1-39EF-D6F661072E81}"/>
                </a:ext>
              </a:extLst>
            </p:cNvPr>
            <p:cNvSpPr/>
            <p:nvPr/>
          </p:nvSpPr>
          <p:spPr>
            <a:xfrm>
              <a:off x="6172200" y="1167468"/>
              <a:ext cx="144507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800" b="1" dirty="0"/>
                <a:t>Problem</a:t>
              </a:r>
              <a:endParaRPr lang="en-GB" sz="2800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378AB21-2B38-ABA0-A724-3174944A3892}"/>
                </a:ext>
              </a:extLst>
            </p:cNvPr>
            <p:cNvSpPr/>
            <p:nvPr/>
          </p:nvSpPr>
          <p:spPr>
            <a:xfrm>
              <a:off x="8878614" y="1185314"/>
              <a:ext cx="111075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800" b="1" dirty="0"/>
                <a:t>Result</a:t>
              </a:r>
              <a:endParaRPr lang="en-GB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593418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identify execution errors</a:t>
            </a:r>
          </a:p>
        </p:txBody>
      </p:sp>
    </p:spTree>
    <p:extLst>
      <p:ext uri="{BB962C8B-B14F-4D97-AF65-F5344CB8AC3E}">
        <p14:creationId xmlns:p14="http://schemas.microsoft.com/office/powerpoint/2010/main" val="29824406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838200" y="1957036"/>
            <a:ext cx="8873359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"This works!"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age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17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4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(age /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</a:p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number =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"2"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(number +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2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9" name="Callout: Bent Line with No Border 8">
            <a:extLst>
              <a:ext uri="{FF2B5EF4-FFF2-40B4-BE49-F238E27FC236}">
                <a16:creationId xmlns:a16="http://schemas.microsoft.com/office/drawing/2014/main" id="{FE76DF5F-81B3-45AC-A628-BBE9287E827D}"/>
              </a:ext>
            </a:extLst>
          </p:cNvPr>
          <p:cNvSpPr/>
          <p:nvPr/>
        </p:nvSpPr>
        <p:spPr>
          <a:xfrm>
            <a:off x="4980980" y="4441520"/>
            <a:ext cx="2597267" cy="429982"/>
          </a:xfrm>
          <a:prstGeom prst="callout2">
            <a:avLst>
              <a:gd name="adj1" fmla="val 50675"/>
              <a:gd name="adj2" fmla="val -405"/>
              <a:gd name="adj3" fmla="val 51999"/>
              <a:gd name="adj4" fmla="val -22165"/>
              <a:gd name="adj5" fmla="val -17467"/>
              <a:gd name="adj6" fmla="val -2979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Division by zero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Execution Errors</a:t>
            </a: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BD35B56A-672E-A5CB-AE8C-BCCBEA6C49C4}"/>
              </a:ext>
            </a:extLst>
          </p:cNvPr>
          <p:cNvSpPr/>
          <p:nvPr/>
        </p:nvSpPr>
        <p:spPr>
          <a:xfrm>
            <a:off x="5945768" y="5366910"/>
            <a:ext cx="3765791" cy="557477"/>
          </a:xfrm>
          <a:prstGeom prst="callout2">
            <a:avLst>
              <a:gd name="adj1" fmla="val 50675"/>
              <a:gd name="adj2" fmla="val -405"/>
              <a:gd name="adj3" fmla="val 51408"/>
              <a:gd name="adj4" fmla="val -34616"/>
              <a:gd name="adj5" fmla="val 93157"/>
              <a:gd name="adj6" fmla="val -4079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Incompatible data types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43FF93-7569-B9EB-21E8-FF10B82D2EA7}"/>
              </a:ext>
            </a:extLst>
          </p:cNvPr>
          <p:cNvSpPr txBox="1"/>
          <p:nvPr/>
        </p:nvSpPr>
        <p:spPr>
          <a:xfrm>
            <a:off x="8181109" y="987540"/>
            <a:ext cx="3172691" cy="1938992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solidFill>
                  <a:srgbClr val="7030A0"/>
                </a:solidFill>
              </a:rPr>
              <a:t>Program will run but then stop (crash)</a:t>
            </a:r>
          </a:p>
        </p:txBody>
      </p:sp>
      <p:sp>
        <p:nvSpPr>
          <p:cNvPr id="7" name="Callout: Bent Line with No Border 6">
            <a:extLst>
              <a:ext uri="{FF2B5EF4-FFF2-40B4-BE49-F238E27FC236}">
                <a16:creationId xmlns:a16="http://schemas.microsoft.com/office/drawing/2014/main" id="{6387DDE0-23AC-4030-A34A-C0469CC6281A}"/>
              </a:ext>
            </a:extLst>
          </p:cNvPr>
          <p:cNvSpPr/>
          <p:nvPr/>
        </p:nvSpPr>
        <p:spPr>
          <a:xfrm>
            <a:off x="5064301" y="6419795"/>
            <a:ext cx="1294601" cy="468000"/>
          </a:xfrm>
          <a:prstGeom prst="callout2">
            <a:avLst>
              <a:gd name="adj1" fmla="val 50675"/>
              <a:gd name="adj2" fmla="val -405"/>
              <a:gd name="adj3" fmla="val 51999"/>
              <a:gd name="adj4" fmla="val -13002"/>
              <a:gd name="adj5" fmla="val -23293"/>
              <a:gd name="adj6" fmla="val -16772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Integer</a:t>
            </a:r>
          </a:p>
        </p:txBody>
      </p:sp>
      <p:sp>
        <p:nvSpPr>
          <p:cNvPr id="10" name="Callout: Bent Line with No Border 9">
            <a:extLst>
              <a:ext uri="{FF2B5EF4-FFF2-40B4-BE49-F238E27FC236}">
                <a16:creationId xmlns:a16="http://schemas.microsoft.com/office/drawing/2014/main" id="{B39C8B59-EF56-4083-84AF-72D3A09835EF}"/>
              </a:ext>
            </a:extLst>
          </p:cNvPr>
          <p:cNvSpPr/>
          <p:nvPr/>
        </p:nvSpPr>
        <p:spPr>
          <a:xfrm flipH="1">
            <a:off x="1778492" y="6390000"/>
            <a:ext cx="1227755" cy="468000"/>
          </a:xfrm>
          <a:prstGeom prst="callout2">
            <a:avLst>
              <a:gd name="adj1" fmla="val 50675"/>
              <a:gd name="adj2" fmla="val -405"/>
              <a:gd name="adj3" fmla="val 51999"/>
              <a:gd name="adj4" fmla="val -13002"/>
              <a:gd name="adj5" fmla="val -23293"/>
              <a:gd name="adj6" fmla="val -16772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String</a:t>
            </a:r>
          </a:p>
        </p:txBody>
      </p:sp>
    </p:spTree>
    <p:extLst>
      <p:ext uri="{BB962C8B-B14F-4D97-AF65-F5344CB8AC3E}">
        <p14:creationId xmlns:p14="http://schemas.microsoft.com/office/powerpoint/2010/main" val="426037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9" grpId="0" uiExpand="1" animBg="1"/>
      <p:bldP spid="5" grpId="0" animBg="1"/>
      <p:bldP spid="4" grpId="0" animBg="1"/>
      <p:bldP spid="7" grpId="0" uiExpand="1" animBg="1"/>
      <p:bldP spid="10" grpId="0" uiExpand="1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838200" y="1957036"/>
            <a:ext cx="8873359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"This works!"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age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17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4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(age /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</a:p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number =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"2"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(number +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2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Execution Errors</a:t>
            </a:r>
          </a:p>
        </p:txBody>
      </p:sp>
    </p:spTree>
    <p:extLst>
      <p:ext uri="{BB962C8B-B14F-4D97-AF65-F5344CB8AC3E}">
        <p14:creationId xmlns:p14="http://schemas.microsoft.com/office/powerpoint/2010/main" val="13444133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Assign values in a program</a:t>
            </a:r>
          </a:p>
        </p:txBody>
      </p:sp>
    </p:spTree>
    <p:extLst>
      <p:ext uri="{BB962C8B-B14F-4D97-AF65-F5344CB8AC3E}">
        <p14:creationId xmlns:p14="http://schemas.microsoft.com/office/powerpoint/2010/main" val="5740312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93755-3AB6-2261-CC73-8ACC8ED1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B10774B-6198-A85E-9F95-72368FCD20DE}"/>
              </a:ext>
            </a:extLst>
          </p:cNvPr>
          <p:cNvSpPr txBox="1"/>
          <p:nvPr/>
        </p:nvSpPr>
        <p:spPr>
          <a:xfrm>
            <a:off x="1744314" y="1814235"/>
            <a:ext cx="870336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name: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str 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= ""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age: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name =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"Bob"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 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age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15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(name)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(age)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57248E-DB05-24FC-B97C-6526C8C2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 Hinting</a:t>
            </a:r>
          </a:p>
        </p:txBody>
      </p:sp>
      <p:sp>
        <p:nvSpPr>
          <p:cNvPr id="8" name="Callout: Bent Line with No Border 7">
            <a:extLst>
              <a:ext uri="{FF2B5EF4-FFF2-40B4-BE49-F238E27FC236}">
                <a16:creationId xmlns:a16="http://schemas.microsoft.com/office/drawing/2014/main" id="{7536217B-CB3B-A512-2037-FF6D8B85D2F5}"/>
              </a:ext>
            </a:extLst>
          </p:cNvPr>
          <p:cNvSpPr/>
          <p:nvPr/>
        </p:nvSpPr>
        <p:spPr>
          <a:xfrm>
            <a:off x="6621309" y="2239976"/>
            <a:ext cx="1967106" cy="463905"/>
          </a:xfrm>
          <a:prstGeom prst="callout2">
            <a:avLst>
              <a:gd name="adj1" fmla="val 49841"/>
              <a:gd name="adj2" fmla="val -133"/>
              <a:gd name="adj3" fmla="val 49837"/>
              <a:gd name="adj4" fmla="val -19996"/>
              <a:gd name="adj5" fmla="val -15697"/>
              <a:gd name="adj6" fmla="val -4088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Initial value</a:t>
            </a:r>
          </a:p>
        </p:txBody>
      </p:sp>
      <p:sp>
        <p:nvSpPr>
          <p:cNvPr id="10" name="Callout: Bent Line with No Border 9">
            <a:extLst>
              <a:ext uri="{FF2B5EF4-FFF2-40B4-BE49-F238E27FC236}">
                <a16:creationId xmlns:a16="http://schemas.microsoft.com/office/drawing/2014/main" id="{37EE882D-DDF7-C77F-64BE-B457C07590EA}"/>
              </a:ext>
            </a:extLst>
          </p:cNvPr>
          <p:cNvSpPr/>
          <p:nvPr/>
        </p:nvSpPr>
        <p:spPr>
          <a:xfrm>
            <a:off x="5696020" y="914413"/>
            <a:ext cx="1677054" cy="558699"/>
          </a:xfrm>
          <a:prstGeom prst="callout2">
            <a:avLst>
              <a:gd name="adj1" fmla="val 50047"/>
              <a:gd name="adj2" fmla="val -131"/>
              <a:gd name="adj3" fmla="val 49837"/>
              <a:gd name="adj4" fmla="val -19996"/>
              <a:gd name="adj5" fmla="val 181273"/>
              <a:gd name="adj6" fmla="val -6513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Data type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294DFF-E38C-4342-8D2D-C19E2158F9FA}"/>
              </a:ext>
            </a:extLst>
          </p:cNvPr>
          <p:cNvSpPr txBox="1"/>
          <p:nvPr/>
        </p:nvSpPr>
        <p:spPr>
          <a:xfrm>
            <a:off x="6621309" y="4608151"/>
            <a:ext cx="4886040" cy="1323439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solidFill>
                  <a:srgbClr val="7030A0"/>
                </a:solidFill>
              </a:rPr>
              <a:t>Initialise variables to the correct data type!</a:t>
            </a:r>
          </a:p>
        </p:txBody>
      </p:sp>
    </p:spTree>
    <p:extLst>
      <p:ext uri="{BB962C8B-B14F-4D97-AF65-F5344CB8AC3E}">
        <p14:creationId xmlns:p14="http://schemas.microsoft.com/office/powerpoint/2010/main" val="3771078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1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1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8" grpId="0" animBg="1"/>
      <p:bldP spid="10" grpId="0" animBg="1"/>
      <p:bldP spid="1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7D93755-3AB6-2261-CC73-8ACC8ED1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B10774B-6198-A85E-9F95-72368FCD20DE}"/>
              </a:ext>
            </a:extLst>
          </p:cNvPr>
          <p:cNvSpPr txBox="1"/>
          <p:nvPr/>
        </p:nvSpPr>
        <p:spPr>
          <a:xfrm>
            <a:off x="1744314" y="1814235"/>
            <a:ext cx="870336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name: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str 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= ""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age: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name =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"Bob"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 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age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15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(name)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(age)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57248E-DB05-24FC-B97C-6526C8C2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 Hinting</a:t>
            </a:r>
          </a:p>
        </p:txBody>
      </p:sp>
    </p:spTree>
    <p:extLst>
      <p:ext uri="{BB962C8B-B14F-4D97-AF65-F5344CB8AC3E}">
        <p14:creationId xmlns:p14="http://schemas.microsoft.com/office/powerpoint/2010/main" val="32308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1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1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9F532-11CF-4C6B-9E4B-2392E1CD8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 Hinting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DF9DDA-28F0-45ED-86E9-F0FDDF8C1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94878"/>
          </a:xfrm>
        </p:spPr>
        <p:txBody>
          <a:bodyPr anchor="ctr" anchorCtr="0">
            <a:normAutofit/>
          </a:bodyPr>
          <a:lstStyle/>
          <a:p>
            <a:r>
              <a:rPr lang="en-GB" sz="2800" dirty="0"/>
              <a:t>N5 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9EE94-4B39-4D1C-A168-B60C11D0EF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0537"/>
            <a:ext cx="5157787" cy="413879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Character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String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Integer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Real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Boolean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Array of characters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Array of real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87E0D1-AD6E-4403-8AD3-A184F2BB0A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94878"/>
          </a:xfrm>
        </p:spPr>
        <p:txBody>
          <a:bodyPr anchor="ctr" anchorCtr="0">
            <a:normAutofit/>
          </a:bodyPr>
          <a:lstStyle/>
          <a:p>
            <a:r>
              <a:rPr lang="en-GB" sz="2800" dirty="0"/>
              <a:t>Python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F72A4D-26A5-4F9A-8DE3-C9B244067E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2090537"/>
            <a:ext cx="5183188" cy="4053289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str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str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int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float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bool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list[str]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list[float]</a:t>
            </a:r>
          </a:p>
        </p:txBody>
      </p:sp>
    </p:spTree>
    <p:extLst>
      <p:ext uri="{BB962C8B-B14F-4D97-AF65-F5344CB8AC3E}">
        <p14:creationId xmlns:p14="http://schemas.microsoft.com/office/powerpoint/2010/main" val="117704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7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75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3" grpId="0" uiExpand="1" build="p"/>
      <p:bldP spid="6" grpId="0" build="p"/>
      <p:bldP spid="4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9F532-11CF-4C6B-9E4B-2392E1CD8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 Hinting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DF9DDA-28F0-45ED-86E9-F0FDDF8C1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94878"/>
          </a:xfrm>
        </p:spPr>
        <p:txBody>
          <a:bodyPr anchor="ctr" anchorCtr="0">
            <a:normAutofit/>
          </a:bodyPr>
          <a:lstStyle/>
          <a:p>
            <a:r>
              <a:rPr lang="en-GB" sz="2800" dirty="0"/>
              <a:t>N5 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9EE94-4B39-4D1C-A168-B60C11D0EF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0537"/>
            <a:ext cx="5157787" cy="413879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Character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String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Integer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Real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Boolean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Array of characters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Array of real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87E0D1-AD6E-4403-8AD3-A184F2BB0A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94878"/>
          </a:xfrm>
        </p:spPr>
        <p:txBody>
          <a:bodyPr anchor="ctr" anchorCtr="0">
            <a:normAutofit/>
          </a:bodyPr>
          <a:lstStyle/>
          <a:p>
            <a:r>
              <a:rPr lang="en-GB" sz="2800" dirty="0"/>
              <a:t>Python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F72A4D-26A5-4F9A-8DE3-C9B244067E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2090537"/>
            <a:ext cx="5183188" cy="4053289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56851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17931-EF2A-3A29-73CD-6027DB72B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B8C47-05A4-AAAE-E860-57B225277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647E6-6CFD-51B2-7F03-5C7F60003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the predefined functions</a:t>
            </a:r>
          </a:p>
        </p:txBody>
      </p:sp>
    </p:spTree>
    <p:extLst>
      <p:ext uri="{BB962C8B-B14F-4D97-AF65-F5344CB8AC3E}">
        <p14:creationId xmlns:p14="http://schemas.microsoft.com/office/powerpoint/2010/main" val="22500221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52972-E793-D3D5-9C56-A26FF607C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Functions - Overview</a:t>
            </a:r>
          </a:p>
        </p:txBody>
      </p:sp>
      <p:pic>
        <p:nvPicPr>
          <p:cNvPr id="9" name="Picture 8" descr="The image depicts a kitchen setup with a beaker of water, a bowl of flour, a packet of yeast, a pinch of salt, and a bottle of oil.&#10;&#10;AI-generated content may be incorrect.">
            <a:extLst>
              <a:ext uri="{FF2B5EF4-FFF2-40B4-BE49-F238E27FC236}">
                <a16:creationId xmlns:a16="http://schemas.microsoft.com/office/drawing/2014/main" id="{451D0970-9B9A-EB47-7BA4-9E7925FCBB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773" y="1597854"/>
            <a:ext cx="1800000" cy="4606778"/>
          </a:xfrm>
          <a:prstGeom prst="rect">
            <a:avLst/>
          </a:prstGeom>
        </p:spPr>
      </p:pic>
      <p:pic>
        <p:nvPicPr>
          <p:cNvPr id="15" name="Picture 14" descr="A fresh bread loaf.&#10;&#10;AI-generated content may be incorrect.">
            <a:extLst>
              <a:ext uri="{FF2B5EF4-FFF2-40B4-BE49-F238E27FC236}">
                <a16:creationId xmlns:a16="http://schemas.microsoft.com/office/drawing/2014/main" id="{21C8564D-67ED-4618-2E1F-D507BC2B4C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800" y="2401814"/>
            <a:ext cx="1800000" cy="3802818"/>
          </a:xfrm>
          <a:prstGeom prst="rect">
            <a:avLst/>
          </a:prstGeom>
        </p:spPr>
      </p:pic>
      <p:pic>
        <p:nvPicPr>
          <p:cNvPr id="17" name="Picture 16" descr="The image shows a modern, sleek, stainless steel microwave oven with a built-in digital control panel.&#10;&#10;AI-generated content may be incorrect.">
            <a:extLst>
              <a:ext uri="{FF2B5EF4-FFF2-40B4-BE49-F238E27FC236}">
                <a16:creationId xmlns:a16="http://schemas.microsoft.com/office/drawing/2014/main" id="{2BF57053-883B-E599-1DCD-1DDB9D1E6E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113" y="1371600"/>
            <a:ext cx="4465774" cy="3959942"/>
          </a:xfrm>
          <a:prstGeom prst="rect">
            <a:avLst/>
          </a:prstGeom>
        </p:spPr>
      </p:pic>
      <p:pic>
        <p:nvPicPr>
          <p:cNvPr id="19" name="Picture 18" descr="The image shows a step-by-step process in making a loaf of bread, starting with mixing the ingredients, kneading the dough, rising it, and finally baking it.&#10;&#10;AI-generated content may be incorrect.">
            <a:extLst>
              <a:ext uri="{FF2B5EF4-FFF2-40B4-BE49-F238E27FC236}">
                <a16:creationId xmlns:a16="http://schemas.microsoft.com/office/drawing/2014/main" id="{B76B77CF-F3FB-E261-A925-4E731D2E2E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8786" y="4630900"/>
            <a:ext cx="6096000" cy="1573732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B6229E4-4D44-2886-971C-2E35E0CE7A22}"/>
              </a:ext>
            </a:extLst>
          </p:cNvPr>
          <p:cNvSpPr/>
          <p:nvPr/>
        </p:nvSpPr>
        <p:spPr>
          <a:xfrm>
            <a:off x="1268292" y="6172963"/>
            <a:ext cx="9829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Input</a:t>
            </a:r>
            <a:endParaRPr lang="en-GB" sz="2800" dirty="0">
              <a:solidFill>
                <a:srgbClr val="7030A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2B48E7-C62E-C898-4588-2FB6D26A7275}"/>
              </a:ext>
            </a:extLst>
          </p:cNvPr>
          <p:cNvSpPr/>
          <p:nvPr/>
        </p:nvSpPr>
        <p:spPr>
          <a:xfrm>
            <a:off x="5452376" y="6172963"/>
            <a:ext cx="13088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Process</a:t>
            </a:r>
            <a:endParaRPr lang="en-GB" sz="2800" dirty="0">
              <a:solidFill>
                <a:srgbClr val="7030A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70FB4C-31F9-4D2F-2F44-E43F91642DBD}"/>
              </a:ext>
            </a:extLst>
          </p:cNvPr>
          <p:cNvSpPr/>
          <p:nvPr/>
        </p:nvSpPr>
        <p:spPr>
          <a:xfrm>
            <a:off x="9826865" y="6172963"/>
            <a:ext cx="12538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Output</a:t>
            </a:r>
            <a:endParaRPr lang="en-GB" sz="2800" dirty="0">
              <a:solidFill>
                <a:srgbClr val="7030A0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D6EE72A-5CC7-92CE-D161-09E85B661031}"/>
              </a:ext>
            </a:extLst>
          </p:cNvPr>
          <p:cNvCxnSpPr>
            <a:cxnSpLocks/>
          </p:cNvCxnSpPr>
          <p:nvPr/>
        </p:nvCxnSpPr>
        <p:spPr>
          <a:xfrm>
            <a:off x="2659773" y="6434573"/>
            <a:ext cx="1800000" cy="0"/>
          </a:xfrm>
          <a:prstGeom prst="straightConnector1">
            <a:avLst/>
          </a:prstGeom>
          <a:ln w="57150">
            <a:solidFill>
              <a:srgbClr val="7030A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9A9809C-D934-E11E-13DB-F5314DE3C173}"/>
              </a:ext>
            </a:extLst>
          </p:cNvPr>
          <p:cNvCxnSpPr>
            <a:cxnSpLocks/>
          </p:cNvCxnSpPr>
          <p:nvPr/>
        </p:nvCxnSpPr>
        <p:spPr>
          <a:xfrm>
            <a:off x="7753800" y="6434573"/>
            <a:ext cx="1800000" cy="0"/>
          </a:xfrm>
          <a:prstGeom prst="straightConnector1">
            <a:avLst/>
          </a:prstGeom>
          <a:ln w="57150">
            <a:solidFill>
              <a:srgbClr val="7030A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ACC754D-1DFE-E547-D892-5FB170BA74BC}"/>
              </a:ext>
            </a:extLst>
          </p:cNvPr>
          <p:cNvSpPr txBox="1"/>
          <p:nvPr/>
        </p:nvSpPr>
        <p:spPr>
          <a:xfrm>
            <a:off x="6848668" y="393099"/>
            <a:ext cx="5176811" cy="1077218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In code, only the input and output seen, not the process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750A50C-BDFB-CF2B-0C9E-F7375F7420F8}"/>
              </a:ext>
            </a:extLst>
          </p:cNvPr>
          <p:cNvSpPr/>
          <p:nvPr/>
        </p:nvSpPr>
        <p:spPr>
          <a:xfrm>
            <a:off x="5041578" y="3202587"/>
            <a:ext cx="21088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Bread Maker</a:t>
            </a:r>
            <a:endParaRPr lang="en-GB" sz="2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471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7" grpId="0"/>
      <p:bldP spid="31" grpId="0" animBg="1"/>
      <p:bldP spid="3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296A103-DD93-8D8B-A2EF-0582562B8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F1B82-0C88-0778-A572-F8BD4F3ED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Functions - Overview</a:t>
            </a:r>
          </a:p>
        </p:txBody>
      </p:sp>
      <p:pic>
        <p:nvPicPr>
          <p:cNvPr id="9" name="Picture 8" descr="The image depicts a kitchen setup with a beaker of water, a bowl of flour, a packet of yeast, a pinch of salt, and a bottle of oil.&#10;&#10;AI-generated content may be incorrect.">
            <a:extLst>
              <a:ext uri="{FF2B5EF4-FFF2-40B4-BE49-F238E27FC236}">
                <a16:creationId xmlns:a16="http://schemas.microsoft.com/office/drawing/2014/main" id="{09A73C3B-0EFB-CDAB-B77F-17B6670C97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773" y="1597854"/>
            <a:ext cx="1800000" cy="4606778"/>
          </a:xfrm>
          <a:prstGeom prst="rect">
            <a:avLst/>
          </a:prstGeom>
        </p:spPr>
      </p:pic>
      <p:pic>
        <p:nvPicPr>
          <p:cNvPr id="15" name="Picture 14" descr="A fresh bread loaf.&#10;&#10;AI-generated content may be incorrect.">
            <a:extLst>
              <a:ext uri="{FF2B5EF4-FFF2-40B4-BE49-F238E27FC236}">
                <a16:creationId xmlns:a16="http://schemas.microsoft.com/office/drawing/2014/main" id="{45EA8645-8D2E-E631-8902-EE0461B526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800" y="2401814"/>
            <a:ext cx="1800000" cy="3802818"/>
          </a:xfrm>
          <a:prstGeom prst="rect">
            <a:avLst/>
          </a:prstGeom>
        </p:spPr>
      </p:pic>
      <p:pic>
        <p:nvPicPr>
          <p:cNvPr id="17" name="Picture 16" descr="The image shows a modern, sleek, stainless steel microwave oven with a built-in digital control panel.&#10;&#10;AI-generated content may be incorrect.">
            <a:extLst>
              <a:ext uri="{FF2B5EF4-FFF2-40B4-BE49-F238E27FC236}">
                <a16:creationId xmlns:a16="http://schemas.microsoft.com/office/drawing/2014/main" id="{2DE64A2C-DB61-16D5-6CAC-6E8F71AB52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113" y="1371600"/>
            <a:ext cx="4465774" cy="3959942"/>
          </a:xfrm>
          <a:prstGeom prst="rect">
            <a:avLst/>
          </a:prstGeom>
        </p:spPr>
      </p:pic>
      <p:pic>
        <p:nvPicPr>
          <p:cNvPr id="19" name="Picture 18" descr="The image shows a step-by-step process in making a loaf of bread, starting with mixing the ingredients, kneading the dough, rising it, and finally baking it.&#10;&#10;AI-generated content may be incorrect.">
            <a:extLst>
              <a:ext uri="{FF2B5EF4-FFF2-40B4-BE49-F238E27FC236}">
                <a16:creationId xmlns:a16="http://schemas.microsoft.com/office/drawing/2014/main" id="{37CA7F1F-D0CD-48F7-EFCA-F2644E4A7E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8786" y="4630900"/>
            <a:ext cx="6096000" cy="157373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5595F697-6309-F4C9-3DC5-798048A6D72E}"/>
              </a:ext>
            </a:extLst>
          </p:cNvPr>
          <p:cNvSpPr/>
          <p:nvPr/>
        </p:nvSpPr>
        <p:spPr>
          <a:xfrm>
            <a:off x="5041578" y="3202587"/>
            <a:ext cx="21088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Bread Maker</a:t>
            </a:r>
            <a:endParaRPr lang="en-GB" sz="2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7525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05C76-4573-F9F1-CF6B-D83DB75CF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6CC80-2259-02DB-6F1A-4275963C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Function –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ED33A8-98AC-8AF6-2018-F38A0EC8E6AD}"/>
              </a:ext>
            </a:extLst>
          </p:cNvPr>
          <p:cNvSpPr txBox="1"/>
          <p:nvPr/>
        </p:nvSpPr>
        <p:spPr>
          <a:xfrm>
            <a:off x="2736262" y="3044276"/>
            <a:ext cx="636402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 world"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DF0FB8-FC9F-56DF-D376-28BB0E382DAD}"/>
              </a:ext>
            </a:extLst>
          </p:cNvPr>
          <p:cNvSpPr/>
          <p:nvPr/>
        </p:nvSpPr>
        <p:spPr>
          <a:xfrm>
            <a:off x="2297400" y="5586769"/>
            <a:ext cx="7597208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marR="0" lvl="0" indent="-4572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</a:t>
            </a:r>
            <a:r>
              <a:rPr kumimoji="0" lang="en-GB" sz="3200" b="0" i="0" u="none" strike="noStrike" kern="1200" cap="none" spc="0" normalizeH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name and p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arentheses</a:t>
            </a:r>
            <a:r>
              <a:rPr kumimoji="0" lang="en-GB" sz="3200" b="0" i="0" u="none" strike="noStrike" kern="1200" cap="none" spc="0" normalizeH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required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457200" marR="0" lvl="0" indent="-4572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3200" dirty="0">
                <a:solidFill>
                  <a:srgbClr val="7030A0"/>
                </a:solidFill>
                <a:latin typeface="Calibri" panose="020F0502020204030204"/>
              </a:rPr>
              <a:t>P</a:t>
            </a:r>
            <a:r>
              <a:rPr kumimoji="0" lang="en-GB" sz="3200" b="0" i="0" u="none" strike="noStrike" kern="1200" cap="none" spc="0" normalizeH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arameters</a:t>
            </a:r>
            <a:r>
              <a:rPr kumimoji="0" lang="en-GB" sz="3200" b="0" i="0" u="none" strike="noStrike" kern="1200" cap="none" spc="0" normalizeH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can be optional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allout: Bent Line with No Border 8">
            <a:extLst>
              <a:ext uri="{FF2B5EF4-FFF2-40B4-BE49-F238E27FC236}">
                <a16:creationId xmlns:a16="http://schemas.microsoft.com/office/drawing/2014/main" id="{B4F7B6E4-60B2-D2E4-1004-906DC3A4F5EC}"/>
              </a:ext>
            </a:extLst>
          </p:cNvPr>
          <p:cNvSpPr/>
          <p:nvPr/>
        </p:nvSpPr>
        <p:spPr>
          <a:xfrm flipH="1">
            <a:off x="701613" y="4196921"/>
            <a:ext cx="2426393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44891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 name</a:t>
            </a:r>
          </a:p>
        </p:txBody>
      </p:sp>
      <p:sp>
        <p:nvSpPr>
          <p:cNvPr id="16" name="Callout: Bent Line with No Border 8">
            <a:extLst>
              <a:ext uri="{FF2B5EF4-FFF2-40B4-BE49-F238E27FC236}">
                <a16:creationId xmlns:a16="http://schemas.microsoft.com/office/drawing/2014/main" id="{875D0D12-1B55-8979-6A3E-0DF77FC02865}"/>
              </a:ext>
            </a:extLst>
          </p:cNvPr>
          <p:cNvSpPr/>
          <p:nvPr/>
        </p:nvSpPr>
        <p:spPr>
          <a:xfrm>
            <a:off x="7308696" y="4279174"/>
            <a:ext cx="3279093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44891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Parameter(s) – Input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CB88AAB-DE6D-CD20-B0DC-D8F699F0794F}"/>
              </a:ext>
            </a:extLst>
          </p:cNvPr>
          <p:cNvCxnSpPr>
            <a:cxnSpLocks/>
          </p:cNvCxnSpPr>
          <p:nvPr/>
        </p:nvCxnSpPr>
        <p:spPr>
          <a:xfrm>
            <a:off x="4760259" y="3813717"/>
            <a:ext cx="3832412" cy="15073"/>
          </a:xfrm>
          <a:prstGeom prst="line">
            <a:avLst/>
          </a:prstGeom>
          <a:ln w="3810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4082A42-98DA-8819-3C48-150B1A86C4A4}"/>
              </a:ext>
            </a:extLst>
          </p:cNvPr>
          <p:cNvSpPr txBox="1"/>
          <p:nvPr/>
        </p:nvSpPr>
        <p:spPr>
          <a:xfrm>
            <a:off x="5546910" y="1794128"/>
            <a:ext cx="2077571" cy="523220"/>
          </a:xfrm>
          <a:prstGeom prst="rect">
            <a:avLst/>
          </a:prstGeom>
          <a:noFill/>
          <a:ln w="38100">
            <a:noFill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1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n-GB" dirty="0"/>
              <a:t>Parentheses</a:t>
            </a:r>
          </a:p>
          <a:p>
            <a:pPr algn="ctr"/>
            <a:r>
              <a:rPr lang="en-GB" dirty="0"/>
              <a:t>(Brackets)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1175986-3088-3479-3741-501A6C0BE786}"/>
              </a:ext>
            </a:extLst>
          </p:cNvPr>
          <p:cNvCxnSpPr>
            <a:stCxn id="19" idx="1"/>
          </p:cNvCxnSpPr>
          <p:nvPr/>
        </p:nvCxnSpPr>
        <p:spPr>
          <a:xfrm flipH="1">
            <a:off x="4672853" y="2055738"/>
            <a:ext cx="874057" cy="1090874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A0DF8A1-EC35-DA2B-A1E3-46C862DF479B}"/>
              </a:ext>
            </a:extLst>
          </p:cNvPr>
          <p:cNvCxnSpPr>
            <a:stCxn id="19" idx="3"/>
          </p:cNvCxnSpPr>
          <p:nvPr/>
        </p:nvCxnSpPr>
        <p:spPr>
          <a:xfrm>
            <a:off x="7624481" y="2055738"/>
            <a:ext cx="1048872" cy="106398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648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uiExpand="1" build="p"/>
      <p:bldP spid="11" grpId="0" animBg="1"/>
      <p:bldP spid="16" grpId="0" animBg="1"/>
      <p:bldP spid="1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8588763-B6D9-8057-FA41-34663FF2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FAEA2-D7B7-16E6-3310-815F3F18C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Function –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A289F-A93A-2713-8BF7-ED70BB2DFE53}"/>
              </a:ext>
            </a:extLst>
          </p:cNvPr>
          <p:cNvSpPr txBox="1"/>
          <p:nvPr/>
        </p:nvSpPr>
        <p:spPr>
          <a:xfrm>
            <a:off x="2736262" y="3044276"/>
            <a:ext cx="636402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 world"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09B1D0-1FD1-FAA0-79C0-7EA22393933B}"/>
              </a:ext>
            </a:extLst>
          </p:cNvPr>
          <p:cNvSpPr/>
          <p:nvPr/>
        </p:nvSpPr>
        <p:spPr>
          <a:xfrm>
            <a:off x="2286314" y="5586769"/>
            <a:ext cx="7619394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marR="0" lvl="0" indent="-4572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                                                    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457200" marR="0" lvl="0" indent="-4572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3200" dirty="0">
                <a:solidFill>
                  <a:srgbClr val="7030A0"/>
                </a:solidFill>
                <a:latin typeface="Calibri" panose="020F0502020204030204"/>
              </a:rPr>
              <a:t>                                                    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55875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Functions – Overview (1)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BF37ED-8E41-4C85-9F06-8D2D64C6FA34}"/>
              </a:ext>
            </a:extLst>
          </p:cNvPr>
          <p:cNvSpPr>
            <a:spLocks noChangeAspect="1"/>
          </p:cNvSpPr>
          <p:nvPr/>
        </p:nvSpPr>
        <p:spPr>
          <a:xfrm>
            <a:off x="4362670" y="2874978"/>
            <a:ext cx="3466660" cy="1733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/>
              <a:t>Process</a:t>
            </a:r>
            <a:endParaRPr lang="en-GB" sz="28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F1D2B69-FD94-45FA-904D-026644A179F1}"/>
              </a:ext>
            </a:extLst>
          </p:cNvPr>
          <p:cNvGrpSpPr/>
          <p:nvPr/>
        </p:nvGrpSpPr>
        <p:grpSpPr>
          <a:xfrm>
            <a:off x="1289918" y="3233810"/>
            <a:ext cx="3060000" cy="1015663"/>
            <a:chOff x="1289918" y="3233810"/>
            <a:chExt cx="3060000" cy="101566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B963B08-C212-4718-A8AA-458D4C59CEBA}"/>
                </a:ext>
              </a:extLst>
            </p:cNvPr>
            <p:cNvSpPr txBox="1"/>
            <p:nvPr/>
          </p:nvSpPr>
          <p:spPr>
            <a:xfrm>
              <a:off x="1289918" y="3233810"/>
              <a:ext cx="198000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GB" sz="6000" b="1" dirty="0">
                  <a:solidFill>
                    <a:srgbClr val="7030A0"/>
                  </a:solidFill>
                </a:rPr>
                <a:t>Input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269918" y="3744661"/>
              <a:ext cx="1080000" cy="0"/>
            </a:xfrm>
            <a:prstGeom prst="straightConnector1">
              <a:avLst/>
            </a:prstGeom>
            <a:ln w="5715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5DB94F7-9DD0-422E-92A8-35167F97B318}"/>
              </a:ext>
            </a:extLst>
          </p:cNvPr>
          <p:cNvGrpSpPr/>
          <p:nvPr/>
        </p:nvGrpSpPr>
        <p:grpSpPr>
          <a:xfrm>
            <a:off x="7839425" y="3233810"/>
            <a:ext cx="3600000" cy="1015663"/>
            <a:chOff x="7839425" y="3233810"/>
            <a:chExt cx="3600000" cy="1015663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7839425" y="3741641"/>
              <a:ext cx="1080000" cy="0"/>
            </a:xfrm>
            <a:prstGeom prst="straightConnector1">
              <a:avLst/>
            </a:prstGeom>
            <a:ln w="5715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22E98D8-233B-4694-9FD3-C4CE473126AC}"/>
                </a:ext>
              </a:extLst>
            </p:cNvPr>
            <p:cNvSpPr txBox="1"/>
            <p:nvPr/>
          </p:nvSpPr>
          <p:spPr>
            <a:xfrm>
              <a:off x="8919425" y="3233810"/>
              <a:ext cx="252000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r">
                <a:defRPr sz="6000">
                  <a:solidFill>
                    <a:srgbClr val="7030A0"/>
                  </a:solidFill>
                </a:defRPr>
              </a:lvl1pPr>
            </a:lstStyle>
            <a:p>
              <a:pPr algn="l"/>
              <a:r>
                <a:rPr lang="en-GB" b="1" dirty="0"/>
                <a:t>Output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1218AD5E-FB79-4236-A655-39ED72972315}"/>
              </a:ext>
            </a:extLst>
          </p:cNvPr>
          <p:cNvSpPr txBox="1"/>
          <p:nvPr/>
        </p:nvSpPr>
        <p:spPr>
          <a:xfrm flipH="1">
            <a:off x="3736732" y="5911406"/>
            <a:ext cx="4718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solidFill>
                  <a:srgbClr val="7030A0"/>
                </a:solidFill>
                <a:latin typeface="Calibri" panose="020F0502020204030204"/>
              </a:rPr>
              <a:t>A function does </a:t>
            </a:r>
            <a:r>
              <a:rPr lang="en-GB" sz="2800" b="1" i="1" dirty="0">
                <a:solidFill>
                  <a:srgbClr val="7030A0"/>
                </a:solidFill>
                <a:latin typeface="Calibri" panose="020F0502020204030204"/>
              </a:rPr>
              <a:t>'something</a:t>
            </a:r>
            <a:r>
              <a:rPr lang="en-GB" sz="2800" b="1" dirty="0">
                <a:solidFill>
                  <a:srgbClr val="7030A0"/>
                </a:solidFill>
                <a:latin typeface="Calibri" panose="020F0502020204030204"/>
              </a:rPr>
              <a:t>'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0649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9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Functions – Overview (1)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BF37ED-8E41-4C85-9F06-8D2D64C6FA34}"/>
              </a:ext>
            </a:extLst>
          </p:cNvPr>
          <p:cNvSpPr>
            <a:spLocks noChangeAspect="1"/>
          </p:cNvSpPr>
          <p:nvPr/>
        </p:nvSpPr>
        <p:spPr>
          <a:xfrm>
            <a:off x="4362670" y="2874978"/>
            <a:ext cx="3466660" cy="173333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8048921-01D2-4C58-8100-1F515D5423A2}"/>
              </a:ext>
            </a:extLst>
          </p:cNvPr>
          <p:cNvCxnSpPr/>
          <p:nvPr/>
        </p:nvCxnSpPr>
        <p:spPr>
          <a:xfrm>
            <a:off x="3269918" y="3744661"/>
            <a:ext cx="1080000" cy="0"/>
          </a:xfrm>
          <a:prstGeom prst="straightConnector1">
            <a:avLst/>
          </a:prstGeom>
          <a:ln w="571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3E1FF36-CE0E-4933-9E8E-C84914E59C64}"/>
              </a:ext>
            </a:extLst>
          </p:cNvPr>
          <p:cNvCxnSpPr/>
          <p:nvPr/>
        </p:nvCxnSpPr>
        <p:spPr>
          <a:xfrm>
            <a:off x="7839425" y="3741641"/>
            <a:ext cx="1080000" cy="0"/>
          </a:xfrm>
          <a:prstGeom prst="straightConnector1">
            <a:avLst/>
          </a:prstGeom>
          <a:ln w="571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205442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Functions – Overview (2)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312516" y="2309726"/>
            <a:ext cx="306183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effectLst/>
              </a:rPr>
              <a:t>Dirty clothes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AAB01A-94DD-4613-BD71-1720FEFEFA8E}"/>
              </a:ext>
            </a:extLst>
          </p:cNvPr>
          <p:cNvSpPr txBox="1"/>
          <p:nvPr/>
        </p:nvSpPr>
        <p:spPr>
          <a:xfrm>
            <a:off x="8783019" y="2309725"/>
            <a:ext cx="32893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</a:rPr>
              <a:t>Clean clothes</a:t>
            </a:r>
            <a:endParaRPr lang="en-GB" sz="4400" dirty="0">
              <a:solidFill>
                <a:srgbClr val="7030A0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963B08-C212-4718-A8AA-458D4C59CEBA}"/>
              </a:ext>
            </a:extLst>
          </p:cNvPr>
          <p:cNvSpPr txBox="1"/>
          <p:nvPr/>
        </p:nvSpPr>
        <p:spPr>
          <a:xfrm>
            <a:off x="1030147" y="3635289"/>
            <a:ext cx="23442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"hello"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3558685" y="3485665"/>
            <a:ext cx="5040000" cy="1080000"/>
            <a:chOff x="3001371" y="3310688"/>
            <a:chExt cx="5040000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Capitalise</a:t>
              </a:r>
              <a:endParaRPr lang="en-GB" sz="28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0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22E98D8-233B-4694-9FD3-C4CE473126AC}"/>
              </a:ext>
            </a:extLst>
          </p:cNvPr>
          <p:cNvSpPr txBox="1"/>
          <p:nvPr/>
        </p:nvSpPr>
        <p:spPr>
          <a:xfrm>
            <a:off x="8783019" y="3635288"/>
            <a:ext cx="237883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"Hello"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11BBBB-743B-4F70-920B-92D86D92F2EF}"/>
              </a:ext>
            </a:extLst>
          </p:cNvPr>
          <p:cNvSpPr txBox="1"/>
          <p:nvPr/>
        </p:nvSpPr>
        <p:spPr>
          <a:xfrm>
            <a:off x="1727947" y="4960852"/>
            <a:ext cx="16464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7, 2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3558685" y="4811228"/>
            <a:ext cx="5040000" cy="1080000"/>
            <a:chOff x="3001371" y="5080311"/>
            <a:chExt cx="5040000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Add together</a:t>
              </a:r>
              <a:endParaRPr lang="en-GB" sz="3200" b="1" baseline="30000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0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044AEBC-420D-48FB-B565-42688EEC339C}"/>
              </a:ext>
            </a:extLst>
          </p:cNvPr>
          <p:cNvSpPr txBox="1"/>
          <p:nvPr/>
        </p:nvSpPr>
        <p:spPr>
          <a:xfrm>
            <a:off x="8783019" y="4960851"/>
            <a:ext cx="7576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9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DD65B88-6C76-4F80-9853-D5FF4D0B0487}"/>
              </a:ext>
            </a:extLst>
          </p:cNvPr>
          <p:cNvGrpSpPr/>
          <p:nvPr/>
        </p:nvGrpSpPr>
        <p:grpSpPr>
          <a:xfrm>
            <a:off x="2338831" y="1241287"/>
            <a:ext cx="7652101" cy="1998815"/>
            <a:chOff x="2896884" y="882401"/>
            <a:chExt cx="7652101" cy="1998815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5DAD2C2-851F-4C0F-A70D-4FCD45DD6765}"/>
                </a:ext>
              </a:extLst>
            </p:cNvPr>
            <p:cNvGrpSpPr/>
            <p:nvPr/>
          </p:nvGrpSpPr>
          <p:grpSpPr>
            <a:xfrm>
              <a:off x="2896884" y="1546532"/>
              <a:ext cx="7652101" cy="1334684"/>
              <a:chOff x="2896884" y="1436004"/>
              <a:chExt cx="7652101" cy="1334684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B7A55C3-637A-47C7-A5CF-AC254EC9D976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3200" b="1" dirty="0"/>
                  <a:t>Wash</a:t>
                </a:r>
                <a:endParaRPr lang="en-GB" sz="2800" dirty="0"/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189ACEA3-6F18-4607-881B-F12B049A3D2E}"/>
                  </a:ext>
                </a:extLst>
              </p:cNvPr>
              <p:cNvCxnSpPr/>
              <p:nvPr/>
            </p:nvCxnSpPr>
            <p:spPr>
              <a:xfrm>
                <a:off x="41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E09A57C-89C4-4FAA-970E-9E980F126D2F}"/>
                  </a:ext>
                </a:extLst>
              </p:cNvPr>
              <p:cNvSpPr/>
              <p:nvPr/>
            </p:nvSpPr>
            <p:spPr>
              <a:xfrm>
                <a:off x="2896884" y="1436004"/>
                <a:ext cx="9829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Input</a:t>
                </a:r>
                <a:endParaRPr lang="en-GB" sz="2800" dirty="0"/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B2454F58-8CBA-4635-A34C-A131067CD4B4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1A2A068-4149-4A5A-BC6B-6EB22C81DDE5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Output</a:t>
                </a:r>
                <a:endParaRPr lang="en-GB" sz="2800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4327629-F8CB-4D2A-9BB4-09E1B414D2D0}"/>
                </a:ext>
              </a:extLst>
            </p:cNvPr>
            <p:cNvSpPr/>
            <p:nvPr/>
          </p:nvSpPr>
          <p:spPr>
            <a:xfrm>
              <a:off x="5870118" y="882401"/>
              <a:ext cx="1533240" cy="954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b="1" dirty="0"/>
                <a:t>Function</a:t>
              </a:r>
            </a:p>
            <a:p>
              <a:pPr algn="ctr"/>
              <a:r>
                <a:rPr lang="en-GB" sz="2800" b="1" dirty="0"/>
                <a:t>(Process)</a:t>
              </a:r>
              <a:endParaRPr lang="en-GB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591392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9" grpId="0"/>
      <p:bldP spid="27" grpId="0"/>
      <p:bldP spid="28" grpId="0"/>
      <p:bldP spid="3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Functions – Overview (2)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8BB5CD-2D25-4988-8438-2F046C3CAEDF}"/>
              </a:ext>
            </a:extLst>
          </p:cNvPr>
          <p:cNvSpPr/>
          <p:nvPr/>
        </p:nvSpPr>
        <p:spPr>
          <a:xfrm>
            <a:off x="5044273" y="2279606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b="1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65508EC-10CA-444D-9646-590379AECB29}"/>
              </a:ext>
            </a:extLst>
          </p:cNvPr>
          <p:cNvCxnSpPr/>
          <p:nvPr/>
        </p:nvCxnSpPr>
        <p:spPr>
          <a:xfrm>
            <a:off x="3604273" y="2819606"/>
            <a:ext cx="1440000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6439D39-54D0-4A73-A61A-412CD2F3A1D8}"/>
              </a:ext>
            </a:extLst>
          </p:cNvPr>
          <p:cNvCxnSpPr/>
          <p:nvPr/>
        </p:nvCxnSpPr>
        <p:spPr>
          <a:xfrm>
            <a:off x="7204273" y="2819606"/>
            <a:ext cx="1440000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3604273" y="3605169"/>
            <a:ext cx="5040000" cy="1080000"/>
            <a:chOff x="3001371" y="3310688"/>
            <a:chExt cx="5040000" cy="1080000"/>
          </a:xfrm>
          <a:noFill/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200" b="1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001371" y="3850688"/>
              <a:ext cx="1440000" cy="0"/>
            </a:xfrm>
            <a:prstGeom prst="straightConnector1">
              <a:avLst/>
            </a:prstGeom>
            <a:grpFill/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440000" cy="0"/>
            </a:xfrm>
            <a:prstGeom prst="straightConnector1">
              <a:avLst/>
            </a:prstGeom>
            <a:grpFill/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3604273" y="4930732"/>
            <a:ext cx="5040000" cy="1080000"/>
            <a:chOff x="3001371" y="5080311"/>
            <a:chExt cx="5040000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200" b="1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0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86903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46DD7-6D8A-4951-0FED-753411817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DAF594-D26E-4C90-2F43-F90D48B03CAC}"/>
              </a:ext>
            </a:extLst>
          </p:cNvPr>
          <p:cNvSpPr txBox="1"/>
          <p:nvPr/>
        </p:nvSpPr>
        <p:spPr>
          <a:xfrm>
            <a:off x="838200" y="1957036"/>
            <a:ext cx="9294159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 world"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</a:p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text = 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 world"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(text)</a:t>
            </a:r>
            <a:endParaRPr lang="en-US" altLang="en-US" sz="4400" dirty="0">
              <a:solidFill>
                <a:srgbClr val="B2B2B2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A18975-3AB8-38F9-DC85-5211A1E4E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Using Functions</a:t>
            </a:r>
          </a:p>
        </p:txBody>
      </p:sp>
      <p:sp>
        <p:nvSpPr>
          <p:cNvPr id="4" name="Callout: Bent Line with No Border 3">
            <a:extLst>
              <a:ext uri="{FF2B5EF4-FFF2-40B4-BE49-F238E27FC236}">
                <a16:creationId xmlns:a16="http://schemas.microsoft.com/office/drawing/2014/main" id="{15AAE337-7E2E-1D3C-32BD-3C23257E92D0}"/>
              </a:ext>
            </a:extLst>
          </p:cNvPr>
          <p:cNvSpPr/>
          <p:nvPr/>
        </p:nvSpPr>
        <p:spPr>
          <a:xfrm>
            <a:off x="7800495" y="2871523"/>
            <a:ext cx="3060000" cy="557477"/>
          </a:xfrm>
          <a:prstGeom prst="callout2">
            <a:avLst>
              <a:gd name="adj1" fmla="val 50675"/>
              <a:gd name="adj2" fmla="val -405"/>
              <a:gd name="adj3" fmla="val 51408"/>
              <a:gd name="adj4" fmla="val -12895"/>
              <a:gd name="adj5" fmla="val -34501"/>
              <a:gd name="adj6" fmla="val -2101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600" b="1" dirty="0">
                <a:solidFill>
                  <a:srgbClr val="7030A0"/>
                </a:solidFill>
              </a:rPr>
              <a:t>Literal used</a:t>
            </a: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206828A7-A992-FDFF-9AED-7A982A0BAE7F}"/>
              </a:ext>
            </a:extLst>
          </p:cNvPr>
          <p:cNvSpPr/>
          <p:nvPr/>
        </p:nvSpPr>
        <p:spPr>
          <a:xfrm>
            <a:off x="5209604" y="5297282"/>
            <a:ext cx="3060000" cy="557477"/>
          </a:xfrm>
          <a:prstGeom prst="callout2">
            <a:avLst>
              <a:gd name="adj1" fmla="val 50675"/>
              <a:gd name="adj2" fmla="val -405"/>
              <a:gd name="adj3" fmla="val 51408"/>
              <a:gd name="adj4" fmla="val -12895"/>
              <a:gd name="adj5" fmla="val -34501"/>
              <a:gd name="adj6" fmla="val -2101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600" b="1" dirty="0">
                <a:solidFill>
                  <a:srgbClr val="7030A0"/>
                </a:solidFill>
              </a:rPr>
              <a:t>Variable used</a:t>
            </a:r>
          </a:p>
        </p:txBody>
      </p:sp>
    </p:spTree>
    <p:extLst>
      <p:ext uri="{BB962C8B-B14F-4D97-AF65-F5344CB8AC3E}">
        <p14:creationId xmlns:p14="http://schemas.microsoft.com/office/powerpoint/2010/main" val="269879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4" grpId="0" animBg="1"/>
      <p:bldP spid="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CF75C56-0C46-AC48-0170-F19E7E003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160432-E730-E6AD-8D71-26BE83A4A3A8}"/>
              </a:ext>
            </a:extLst>
          </p:cNvPr>
          <p:cNvSpPr txBox="1"/>
          <p:nvPr/>
        </p:nvSpPr>
        <p:spPr>
          <a:xfrm>
            <a:off x="838200" y="1957036"/>
            <a:ext cx="9294159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 world"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</a:p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text = 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 world"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(text)</a:t>
            </a:r>
            <a:endParaRPr lang="en-US" altLang="en-US" sz="4400" dirty="0">
              <a:solidFill>
                <a:srgbClr val="B2B2B2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2FF30E-AC8E-C09F-647B-30656EBB3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Using Functions</a:t>
            </a:r>
          </a:p>
        </p:txBody>
      </p:sp>
    </p:spTree>
    <p:extLst>
      <p:ext uri="{BB962C8B-B14F-4D97-AF65-F5344CB8AC3E}">
        <p14:creationId xmlns:p14="http://schemas.microsoft.com/office/powerpoint/2010/main" val="65892603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the predefined function: round</a:t>
            </a:r>
          </a:p>
        </p:txBody>
      </p:sp>
    </p:spTree>
    <p:extLst>
      <p:ext uri="{BB962C8B-B14F-4D97-AF65-F5344CB8AC3E}">
        <p14:creationId xmlns:p14="http://schemas.microsoft.com/office/powerpoint/2010/main" val="16449683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Round (Overview)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921124" y="1950840"/>
            <a:ext cx="301128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3·1415,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AAB01A-94DD-4613-BD71-1720FEFEFA8E}"/>
              </a:ext>
            </a:extLst>
          </p:cNvPr>
          <p:cNvSpPr txBox="1"/>
          <p:nvPr/>
        </p:nvSpPr>
        <p:spPr>
          <a:xfrm>
            <a:off x="9341072" y="1950839"/>
            <a:ext cx="17324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3·142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963B08-C212-4718-A8AA-458D4C59CEBA}"/>
              </a:ext>
            </a:extLst>
          </p:cNvPr>
          <p:cNvSpPr txBox="1"/>
          <p:nvPr/>
        </p:nvSpPr>
        <p:spPr>
          <a:xfrm>
            <a:off x="921124" y="3276403"/>
            <a:ext cx="301128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3·1415, 2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4116738" y="3126779"/>
            <a:ext cx="5040000" cy="1080000"/>
            <a:chOff x="3001371" y="3310688"/>
            <a:chExt cx="5040000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round()</a:t>
              </a:r>
              <a:endPara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0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22E98D8-233B-4694-9FD3-C4CE473126AC}"/>
              </a:ext>
            </a:extLst>
          </p:cNvPr>
          <p:cNvSpPr txBox="1"/>
          <p:nvPr/>
        </p:nvSpPr>
        <p:spPr>
          <a:xfrm>
            <a:off x="9341072" y="3276402"/>
            <a:ext cx="144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3·14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11BBBB-743B-4F70-920B-92D86D92F2EF}"/>
              </a:ext>
            </a:extLst>
          </p:cNvPr>
          <p:cNvSpPr txBox="1"/>
          <p:nvPr/>
        </p:nvSpPr>
        <p:spPr>
          <a:xfrm>
            <a:off x="1779598" y="4601966"/>
            <a:ext cx="21528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3·1415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4116738" y="4452342"/>
            <a:ext cx="5040000" cy="1080000"/>
            <a:chOff x="3001371" y="5080311"/>
            <a:chExt cx="5040000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round()</a:t>
              </a:r>
              <a:endPara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0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044AEBC-420D-48FB-B565-42688EEC339C}"/>
              </a:ext>
            </a:extLst>
          </p:cNvPr>
          <p:cNvSpPr txBox="1"/>
          <p:nvPr/>
        </p:nvSpPr>
        <p:spPr>
          <a:xfrm>
            <a:off x="9341072" y="4601965"/>
            <a:ext cx="12079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64AFC2-DEB9-408B-9B33-41239EB6D45A}"/>
              </a:ext>
            </a:extLst>
          </p:cNvPr>
          <p:cNvSpPr txBox="1"/>
          <p:nvPr/>
        </p:nvSpPr>
        <p:spPr>
          <a:xfrm flipH="1">
            <a:off x="838200" y="5911406"/>
            <a:ext cx="4718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Input: Real, Integer (optional)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3AE61-A5F0-44B0-85E4-A2C24F50939C}"/>
              </a:ext>
            </a:extLst>
          </p:cNvPr>
          <p:cNvSpPr txBox="1"/>
          <p:nvPr/>
        </p:nvSpPr>
        <p:spPr>
          <a:xfrm flipH="1">
            <a:off x="7716737" y="5911406"/>
            <a:ext cx="3558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Output: Real / Integer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DD65B88-6C76-4F80-9853-D5FF4D0B0487}"/>
              </a:ext>
            </a:extLst>
          </p:cNvPr>
          <p:cNvGrpSpPr/>
          <p:nvPr/>
        </p:nvGrpSpPr>
        <p:grpSpPr>
          <a:xfrm>
            <a:off x="2896884" y="1331802"/>
            <a:ext cx="7652101" cy="1549414"/>
            <a:chOff x="2896884" y="1331802"/>
            <a:chExt cx="7652101" cy="1549414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5DAD2C2-851F-4C0F-A70D-4FCD45DD6765}"/>
                </a:ext>
              </a:extLst>
            </p:cNvPr>
            <p:cNvGrpSpPr/>
            <p:nvPr/>
          </p:nvGrpSpPr>
          <p:grpSpPr>
            <a:xfrm>
              <a:off x="2896884" y="1546532"/>
              <a:ext cx="7652101" cy="1334684"/>
              <a:chOff x="2896884" y="1436004"/>
              <a:chExt cx="7652101" cy="1334684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B7A55C3-637A-47C7-A5CF-AC254EC9D976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Round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3200" b="1" dirty="0">
                    <a:solidFill>
                      <a:prstClr val="white"/>
                    </a:solidFill>
                    <a:latin typeface="Calibri" panose="020F0502020204030204"/>
                  </a:rPr>
                  <a:t>to dp</a:t>
                </a:r>
                <a:endParaRPr kumimoji="0" lang="en-GB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189ACEA3-6F18-4607-881B-F12B049A3D2E}"/>
                  </a:ext>
                </a:extLst>
              </p:cNvPr>
              <p:cNvCxnSpPr/>
              <p:nvPr/>
            </p:nvCxnSpPr>
            <p:spPr>
              <a:xfrm>
                <a:off x="41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E09A57C-89C4-4FAA-970E-9E980F126D2F}"/>
                  </a:ext>
                </a:extLst>
              </p:cNvPr>
              <p:cNvSpPr/>
              <p:nvPr/>
            </p:nvSpPr>
            <p:spPr>
              <a:xfrm>
                <a:off x="2896884" y="1436004"/>
                <a:ext cx="9829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Input</a:t>
                </a:r>
                <a:endParaRPr kumimoji="0" lang="en-GB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B2454F58-8CBA-4635-A34C-A131067CD4B4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1A2A068-4149-4A5A-BC6B-6EB22C81DDE5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Output</a:t>
                </a:r>
                <a:endParaRPr kumimoji="0" lang="en-GB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4327629-F8CB-4D2A-9BB4-09E1B414D2D0}"/>
                </a:ext>
              </a:extLst>
            </p:cNvPr>
            <p:cNvSpPr/>
            <p:nvPr/>
          </p:nvSpPr>
          <p:spPr>
            <a:xfrm>
              <a:off x="5895189" y="1331802"/>
              <a:ext cx="148309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Function</a:t>
              </a:r>
              <a:endPara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0660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9" grpId="0"/>
      <p:bldP spid="27" grpId="0"/>
      <p:bldP spid="28" grpId="0"/>
      <p:bldP spid="36" grpId="0"/>
      <p:bldP spid="40" grpId="0"/>
      <p:bldP spid="4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Round (Overview)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921124" y="1950840"/>
            <a:ext cx="301128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3·1415,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963B08-C212-4718-A8AA-458D4C59CEBA}"/>
              </a:ext>
            </a:extLst>
          </p:cNvPr>
          <p:cNvSpPr txBox="1"/>
          <p:nvPr/>
        </p:nvSpPr>
        <p:spPr>
          <a:xfrm>
            <a:off x="921124" y="3276403"/>
            <a:ext cx="301128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3·1415, 2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4116738" y="3126779"/>
            <a:ext cx="5040000" cy="1080000"/>
            <a:chOff x="3001371" y="3310688"/>
            <a:chExt cx="5040000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0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011BBBB-743B-4F70-920B-92D86D92F2EF}"/>
              </a:ext>
            </a:extLst>
          </p:cNvPr>
          <p:cNvSpPr txBox="1"/>
          <p:nvPr/>
        </p:nvSpPr>
        <p:spPr>
          <a:xfrm>
            <a:off x="1779598" y="4601966"/>
            <a:ext cx="21528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3·1415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4116738" y="4452342"/>
            <a:ext cx="5040000" cy="1080000"/>
            <a:chOff x="3001371" y="5080311"/>
            <a:chExt cx="5040000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0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864AFC2-DEB9-408B-9B33-41239EB6D45A}"/>
              </a:ext>
            </a:extLst>
          </p:cNvPr>
          <p:cNvSpPr txBox="1"/>
          <p:nvPr/>
        </p:nvSpPr>
        <p:spPr>
          <a:xfrm flipH="1">
            <a:off x="838200" y="5911406"/>
            <a:ext cx="4718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3AE61-A5F0-44B0-85E4-A2C24F50939C}"/>
              </a:ext>
            </a:extLst>
          </p:cNvPr>
          <p:cNvSpPr txBox="1"/>
          <p:nvPr/>
        </p:nvSpPr>
        <p:spPr>
          <a:xfrm flipH="1">
            <a:off x="7716737" y="5911406"/>
            <a:ext cx="3558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Output: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DD65B88-6C76-4F80-9853-D5FF4D0B0487}"/>
              </a:ext>
            </a:extLst>
          </p:cNvPr>
          <p:cNvGrpSpPr/>
          <p:nvPr/>
        </p:nvGrpSpPr>
        <p:grpSpPr>
          <a:xfrm>
            <a:off x="2896884" y="1331802"/>
            <a:ext cx="7652101" cy="1549414"/>
            <a:chOff x="2896884" y="1331802"/>
            <a:chExt cx="7652101" cy="1549414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5DAD2C2-851F-4C0F-A70D-4FCD45DD6765}"/>
                </a:ext>
              </a:extLst>
            </p:cNvPr>
            <p:cNvGrpSpPr/>
            <p:nvPr/>
          </p:nvGrpSpPr>
          <p:grpSpPr>
            <a:xfrm>
              <a:off x="2896884" y="1546532"/>
              <a:ext cx="7652101" cy="1334684"/>
              <a:chOff x="2896884" y="1436004"/>
              <a:chExt cx="7652101" cy="1334684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B7A55C3-637A-47C7-A5CF-AC254EC9D976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189ACEA3-6F18-4607-881B-F12B049A3D2E}"/>
                  </a:ext>
                </a:extLst>
              </p:cNvPr>
              <p:cNvCxnSpPr/>
              <p:nvPr/>
            </p:nvCxnSpPr>
            <p:spPr>
              <a:xfrm>
                <a:off x="41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E09A57C-89C4-4FAA-970E-9E980F126D2F}"/>
                  </a:ext>
                </a:extLst>
              </p:cNvPr>
              <p:cNvSpPr/>
              <p:nvPr/>
            </p:nvSpPr>
            <p:spPr>
              <a:xfrm>
                <a:off x="2896884" y="1436004"/>
                <a:ext cx="9829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Input</a:t>
                </a:r>
                <a:endParaRPr kumimoji="0" lang="en-GB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B2454F58-8CBA-4635-A34C-A131067CD4B4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1A2A068-4149-4A5A-BC6B-6EB22C81DDE5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Output</a:t>
                </a:r>
                <a:endParaRPr kumimoji="0" lang="en-GB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4327629-F8CB-4D2A-9BB4-09E1B414D2D0}"/>
                </a:ext>
              </a:extLst>
            </p:cNvPr>
            <p:cNvSpPr/>
            <p:nvPr/>
          </p:nvSpPr>
          <p:spPr>
            <a:xfrm>
              <a:off x="5895189" y="1331802"/>
              <a:ext cx="148309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Function</a:t>
              </a:r>
              <a:endPara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738834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round() –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5543345" y="3044277"/>
            <a:ext cx="51605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0086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round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0086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3·1415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0086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18FD7-5699-4405-B11B-E8E902552F72}"/>
              </a:ext>
            </a:extLst>
          </p:cNvPr>
          <p:cNvSpPr txBox="1"/>
          <p:nvPr/>
        </p:nvSpPr>
        <p:spPr>
          <a:xfrm>
            <a:off x="2481943" y="3044278"/>
            <a:ext cx="298618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myValue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0EA2EDD-D55C-4A47-82C6-64769CAA93CE}"/>
              </a:ext>
            </a:extLst>
          </p:cNvPr>
          <p:cNvGrpSpPr/>
          <p:nvPr/>
        </p:nvGrpSpPr>
        <p:grpSpPr>
          <a:xfrm>
            <a:off x="4461414" y="1890270"/>
            <a:ext cx="1433512" cy="1154006"/>
            <a:chOff x="5456197" y="2058777"/>
            <a:chExt cx="1433512" cy="1154006"/>
          </a:xfrm>
        </p:grpSpPr>
        <p:sp>
          <p:nvSpPr>
            <p:cNvPr id="14" name="Arrow: Curved Down 13">
              <a:extLst>
                <a:ext uri="{FF2B5EF4-FFF2-40B4-BE49-F238E27FC236}">
                  <a16:creationId xmlns:a16="http://schemas.microsoft.com/office/drawing/2014/main" id="{62197FF0-B895-45D2-A531-96330FFB0E40}"/>
                </a:ext>
              </a:extLst>
            </p:cNvPr>
            <p:cNvSpPr/>
            <p:nvPr/>
          </p:nvSpPr>
          <p:spPr>
            <a:xfrm flipH="1">
              <a:off x="5456197" y="2581999"/>
              <a:ext cx="1433512" cy="630784"/>
            </a:xfrm>
            <a:prstGeom prst="curvedDownArrow">
              <a:avLst>
                <a:gd name="adj1" fmla="val 14746"/>
                <a:gd name="adj2" fmla="val 42781"/>
                <a:gd name="adj3" fmla="val 35417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06D1F41-C62C-4D11-89A7-FCE586210A4C}"/>
                </a:ext>
              </a:extLst>
            </p:cNvPr>
            <p:cNvSpPr txBox="1"/>
            <p:nvPr/>
          </p:nvSpPr>
          <p:spPr>
            <a:xfrm>
              <a:off x="5546019" y="2058777"/>
              <a:ext cx="12538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Output</a:t>
              </a:r>
              <a:endPara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0EA2B21D-A51A-4C68-6736-F307521409F4}"/>
              </a:ext>
            </a:extLst>
          </p:cNvPr>
          <p:cNvSpPr/>
          <p:nvPr/>
        </p:nvSpPr>
        <p:spPr>
          <a:xfrm>
            <a:off x="1430716" y="5586769"/>
            <a:ext cx="9330568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marR="0" lvl="0" indent="-4572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Decimal places can be omitted: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round(6·23) → 6</a:t>
            </a:r>
          </a:p>
          <a:p>
            <a:pPr marL="457200" marR="0" lvl="0" indent="-4572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to the function can be variables</a:t>
            </a:r>
          </a:p>
        </p:txBody>
      </p:sp>
      <p:sp>
        <p:nvSpPr>
          <p:cNvPr id="11" name="Callout: Bent Line with No Border 8">
            <a:extLst>
              <a:ext uri="{FF2B5EF4-FFF2-40B4-BE49-F238E27FC236}">
                <a16:creationId xmlns:a16="http://schemas.microsoft.com/office/drawing/2014/main" id="{BE719D43-6163-49D4-828A-B0B5B83BCCF0}"/>
              </a:ext>
            </a:extLst>
          </p:cNvPr>
          <p:cNvSpPr/>
          <p:nvPr/>
        </p:nvSpPr>
        <p:spPr>
          <a:xfrm flipH="1">
            <a:off x="3491882" y="4137118"/>
            <a:ext cx="2426393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44891"/>
              <a:gd name="adj6" fmla="val -20114"/>
            </a:avLst>
          </a:prstGeom>
          <a:noFill/>
          <a:ln w="38100" cap="flat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</a:t>
            </a:r>
          </a:p>
        </p:txBody>
      </p:sp>
      <p:sp>
        <p:nvSpPr>
          <p:cNvPr id="16" name="Callout: Bent Line with No Border 8">
            <a:extLst>
              <a:ext uri="{FF2B5EF4-FFF2-40B4-BE49-F238E27FC236}">
                <a16:creationId xmlns:a16="http://schemas.microsoft.com/office/drawing/2014/main" id="{711F4BC2-CAC9-4564-BA2A-43C8759C80A0}"/>
              </a:ext>
            </a:extLst>
          </p:cNvPr>
          <p:cNvSpPr/>
          <p:nvPr/>
        </p:nvSpPr>
        <p:spPr>
          <a:xfrm>
            <a:off x="9317254" y="4233181"/>
            <a:ext cx="2426393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44891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BF135F-CF4A-4C2A-A66B-246046943CF2}"/>
              </a:ext>
            </a:extLst>
          </p:cNvPr>
          <p:cNvCxnSpPr>
            <a:cxnSpLocks/>
          </p:cNvCxnSpPr>
          <p:nvPr/>
        </p:nvCxnSpPr>
        <p:spPr>
          <a:xfrm>
            <a:off x="7542401" y="3773526"/>
            <a:ext cx="2664000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8769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3" grpId="0" build="p"/>
      <p:bldP spid="11" grpId="0" animBg="1"/>
      <p:bldP spid="1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round() –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5543345" y="3044277"/>
            <a:ext cx="51605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0086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round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0086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3·1415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0086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18FD7-5699-4405-B11B-E8E902552F72}"/>
              </a:ext>
            </a:extLst>
          </p:cNvPr>
          <p:cNvSpPr txBox="1"/>
          <p:nvPr/>
        </p:nvSpPr>
        <p:spPr>
          <a:xfrm>
            <a:off x="2481943" y="3044278"/>
            <a:ext cx="298618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myValue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A2B21D-A51A-4C68-6736-F307521409F4}"/>
              </a:ext>
            </a:extLst>
          </p:cNvPr>
          <p:cNvSpPr/>
          <p:nvPr/>
        </p:nvSpPr>
        <p:spPr>
          <a:xfrm>
            <a:off x="1349059" y="5586769"/>
            <a:ext cx="949388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marR="0" lvl="0" indent="-4572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Decimal places can be omitted: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round(6·23) →  </a:t>
            </a:r>
          </a:p>
          <a:p>
            <a:pPr marL="457200" marR="0" lvl="0" indent="-4572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to the function can be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492523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3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FAE4F-F0B1-4662-BFA5-2EEA8858E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Rounding to an Integer (Python)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6B4BB-6A6E-450B-AF61-C6975E97196D}"/>
              </a:ext>
            </a:extLst>
          </p:cNvPr>
          <p:cNvSpPr txBox="1"/>
          <p:nvPr/>
        </p:nvSpPr>
        <p:spPr>
          <a:xfrm>
            <a:off x="838200" y="2871282"/>
            <a:ext cx="10515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GB" sz="4400" i="1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 ·1 ·2 ·3 ·4 ·5 ·6 ·7 ·8 ·9 </a:t>
            </a:r>
            <a:r>
              <a:rPr lang="en-GB" sz="4400" i="1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GB" sz="4400" dirty="0">
                <a:solidFill>
                  <a:srgbClr val="FF0000"/>
                </a:solidFill>
                <a:latin typeface="Consolas" panose="020B0609020204030204" pitchFamily="49" charset="0"/>
              </a:rPr>
              <a:t>+1</a:t>
            </a:r>
            <a:endParaRPr kumimoji="0" lang="en-GB" sz="44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E5B9FC80-585A-44E3-9A7A-3A82D2971AA5}"/>
              </a:ext>
            </a:extLst>
          </p:cNvPr>
          <p:cNvCxnSpPr>
            <a:cxnSpLocks/>
          </p:cNvCxnSpPr>
          <p:nvPr/>
        </p:nvCxnSpPr>
        <p:spPr>
          <a:xfrm rot="10800000" flipV="1">
            <a:off x="1275859" y="3573143"/>
            <a:ext cx="936000" cy="900000"/>
          </a:xfrm>
          <a:prstGeom prst="bentConnector3">
            <a:avLst>
              <a:gd name="adj1" fmla="val 1948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E7D2718E-B412-4A23-81D8-A9AFBBBC53C8}"/>
              </a:ext>
            </a:extLst>
          </p:cNvPr>
          <p:cNvCxnSpPr>
            <a:cxnSpLocks/>
          </p:cNvCxnSpPr>
          <p:nvPr/>
        </p:nvCxnSpPr>
        <p:spPr>
          <a:xfrm rot="10800000" flipV="1">
            <a:off x="2239687" y="3573143"/>
            <a:ext cx="936000" cy="900000"/>
          </a:xfrm>
          <a:prstGeom prst="bentConnector3">
            <a:avLst>
              <a:gd name="adj1" fmla="val 1948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A6E32B0E-9F5E-4124-8819-ADC05671A8A8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03515" y="3573143"/>
            <a:ext cx="936000" cy="900000"/>
          </a:xfrm>
          <a:prstGeom prst="bentConnector3">
            <a:avLst>
              <a:gd name="adj1" fmla="val 1948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D094A40C-130E-478E-8DE8-8692BD05A61F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67344" y="3573143"/>
            <a:ext cx="936000" cy="900000"/>
          </a:xfrm>
          <a:prstGeom prst="bentConnector3">
            <a:avLst>
              <a:gd name="adj1" fmla="val 1948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D34CB33-0A2F-4355-A7F4-B9C4519BB7B3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9637263" y="3573144"/>
            <a:ext cx="936000" cy="900000"/>
          </a:xfrm>
          <a:prstGeom prst="bentConnector3">
            <a:avLst>
              <a:gd name="adj1" fmla="val 1948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776B2FB4-16B3-4383-B008-E877553085F5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8659362" y="3573143"/>
            <a:ext cx="936000" cy="900000"/>
          </a:xfrm>
          <a:prstGeom prst="bentConnector3">
            <a:avLst>
              <a:gd name="adj1" fmla="val 1948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BD4750D-6011-47D9-B177-400D59E2A225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7681461" y="3573143"/>
            <a:ext cx="936000" cy="900000"/>
          </a:xfrm>
          <a:prstGeom prst="bentConnector3">
            <a:avLst>
              <a:gd name="adj1" fmla="val 1948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6F05E26D-4E1C-4DFE-8C9F-DE91553F506E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703560" y="3573143"/>
            <a:ext cx="936000" cy="900000"/>
          </a:xfrm>
          <a:prstGeom prst="bentConnector3">
            <a:avLst>
              <a:gd name="adj1" fmla="val 1948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6C26B92-F91E-40A5-88BF-7DAB633BA5F1}"/>
              </a:ext>
            </a:extLst>
          </p:cNvPr>
          <p:cNvSpPr txBox="1"/>
          <p:nvPr/>
        </p:nvSpPr>
        <p:spPr>
          <a:xfrm>
            <a:off x="735675" y="2348062"/>
            <a:ext cx="12471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Integer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71B756-7078-43C7-9059-FD18A00C1590}"/>
              </a:ext>
            </a:extLst>
          </p:cNvPr>
          <p:cNvSpPr txBox="1"/>
          <p:nvPr/>
        </p:nvSpPr>
        <p:spPr>
          <a:xfrm>
            <a:off x="9949695" y="2435413"/>
            <a:ext cx="12471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Integer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4B74F1-891F-44A2-8E33-3FFF8D7077B3}"/>
              </a:ext>
            </a:extLst>
          </p:cNvPr>
          <p:cNvSpPr/>
          <p:nvPr/>
        </p:nvSpPr>
        <p:spPr>
          <a:xfrm>
            <a:off x="2753484" y="5908100"/>
            <a:ext cx="66850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marR="0" lvl="0" indent="-4572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3200" dirty="0">
                <a:solidFill>
                  <a:srgbClr val="7030A0"/>
                </a:solidFill>
                <a:latin typeface="Calibri" panose="020F0502020204030204"/>
              </a:rPr>
              <a:t>Tied: rounds to nearest even integer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F48D3D-64A1-473B-8A75-FAFAF7003BE0}"/>
              </a:ext>
            </a:extLst>
          </p:cNvPr>
          <p:cNvSpPr txBox="1"/>
          <p:nvPr/>
        </p:nvSpPr>
        <p:spPr>
          <a:xfrm>
            <a:off x="1060845" y="4994042"/>
            <a:ext cx="327841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0086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round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0086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3.5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298566-28FE-415F-96C1-9E66F22659EC}"/>
              </a:ext>
            </a:extLst>
          </p:cNvPr>
          <p:cNvSpPr txBox="1"/>
          <p:nvPr/>
        </p:nvSpPr>
        <p:spPr>
          <a:xfrm>
            <a:off x="6688089" y="4991425"/>
            <a:ext cx="327841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0086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round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lang="en-GB" sz="4400" dirty="0">
                <a:solidFill>
                  <a:srgbClr val="0086B3"/>
                </a:solidFill>
                <a:latin typeface="Consolas" panose="020B0609020204030204" pitchFamily="49" charset="0"/>
              </a:rPr>
              <a:t>4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0086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.5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84CD20B-A0C3-4F7A-AE7A-CE84AEAD8778}"/>
              </a:ext>
            </a:extLst>
          </p:cNvPr>
          <p:cNvGrpSpPr/>
          <p:nvPr/>
        </p:nvGrpSpPr>
        <p:grpSpPr>
          <a:xfrm>
            <a:off x="5442488" y="3573143"/>
            <a:ext cx="936000" cy="1546331"/>
            <a:chOff x="5442488" y="3573143"/>
            <a:chExt cx="936000" cy="154633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9C506D-7BBC-47FC-81EB-DC1B35DABBF8}"/>
                </a:ext>
              </a:extLst>
            </p:cNvPr>
            <p:cNvGrpSpPr/>
            <p:nvPr/>
          </p:nvGrpSpPr>
          <p:grpSpPr>
            <a:xfrm>
              <a:off x="5442488" y="3573143"/>
              <a:ext cx="936000" cy="900000"/>
              <a:chOff x="523102" y="3725543"/>
              <a:chExt cx="936000" cy="900000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9137C440-EAA7-45AB-AEAE-C359B80BA470}"/>
                  </a:ext>
                </a:extLst>
              </p:cNvPr>
              <p:cNvCxnSpPr/>
              <p:nvPr/>
            </p:nvCxnSpPr>
            <p:spPr>
              <a:xfrm>
                <a:off x="991102" y="3725543"/>
                <a:ext cx="0" cy="900000"/>
              </a:xfrm>
              <a:prstGeom prst="line">
                <a:avLst/>
              </a:prstGeom>
              <a:ln w="38100">
                <a:solidFill>
                  <a:srgbClr val="FF0000"/>
                </a:solidFill>
                <a:headEnd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A229CCD2-2E9A-4665-B3BF-737C24DCF2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3102" y="4625543"/>
                <a:ext cx="93600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  <a:headEnd type="triangl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2814893-56ED-4E3A-A466-857CE93500CD}"/>
                </a:ext>
              </a:extLst>
            </p:cNvPr>
            <p:cNvSpPr txBox="1"/>
            <p:nvPr/>
          </p:nvSpPr>
          <p:spPr>
            <a:xfrm>
              <a:off x="5696783" y="4473143"/>
              <a:ext cx="39786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600" b="1" dirty="0">
                  <a:solidFill>
                    <a:srgbClr val="FF0000"/>
                  </a:solidFill>
                </a:rPr>
                <a:t>?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DDEC6D2B-AC52-4B95-9EC4-0A183FC39DEC}"/>
              </a:ext>
            </a:extLst>
          </p:cNvPr>
          <p:cNvSpPr txBox="1"/>
          <p:nvPr/>
        </p:nvSpPr>
        <p:spPr>
          <a:xfrm>
            <a:off x="4225468" y="4991425"/>
            <a:ext cx="12170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GB" sz="4400" dirty="0">
                <a:solidFill>
                  <a:prstClr val="black"/>
                </a:solidFill>
                <a:latin typeface="Consolas" panose="020B0609020204030204" pitchFamily="49" charset="0"/>
              </a:rPr>
              <a:t>→ </a:t>
            </a:r>
            <a:r>
              <a:rPr lang="en-GB" sz="44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303787-A1FF-43AC-A99A-8808ABDBDC70}"/>
              </a:ext>
            </a:extLst>
          </p:cNvPr>
          <p:cNvSpPr txBox="1"/>
          <p:nvPr/>
        </p:nvSpPr>
        <p:spPr>
          <a:xfrm>
            <a:off x="9889083" y="4991424"/>
            <a:ext cx="12170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GB" sz="4400" dirty="0">
                <a:solidFill>
                  <a:prstClr val="black"/>
                </a:solidFill>
                <a:latin typeface="Consolas" panose="020B0609020204030204" pitchFamily="49" charset="0"/>
              </a:rPr>
              <a:t>→ </a:t>
            </a:r>
            <a:r>
              <a:rPr lang="en-GB" sz="44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29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/>
      <p:bldP spid="22" grpId="0"/>
      <p:bldP spid="23" grpId="0" build="p"/>
      <p:bldP spid="24" grpId="0"/>
      <p:bldP spid="25" grpId="0"/>
      <p:bldP spid="28" grpId="0"/>
      <p:bldP spid="29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FAE4F-F0B1-4662-BFA5-2EEA8858E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Rounding to an Integer (Python)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6B4BB-6A6E-450B-AF61-C6975E97196D}"/>
              </a:ext>
            </a:extLst>
          </p:cNvPr>
          <p:cNvSpPr txBox="1"/>
          <p:nvPr/>
        </p:nvSpPr>
        <p:spPr>
          <a:xfrm>
            <a:off x="838200" y="2871282"/>
            <a:ext cx="10515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GB" sz="4400" i="1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 ·1 ·2 ·3 ·4 ·5 ·6 ·7 ·8 ·9 </a:t>
            </a:r>
            <a:r>
              <a:rPr lang="en-GB" sz="4400" i="1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GB" sz="4400" dirty="0">
                <a:solidFill>
                  <a:srgbClr val="FF0000"/>
                </a:solidFill>
                <a:latin typeface="Consolas" panose="020B0609020204030204" pitchFamily="49" charset="0"/>
              </a:rPr>
              <a:t>+1</a:t>
            </a:r>
            <a:endParaRPr kumimoji="0" lang="en-GB" sz="44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E5B9FC80-585A-44E3-9A7A-3A82D2971AA5}"/>
              </a:ext>
            </a:extLst>
          </p:cNvPr>
          <p:cNvCxnSpPr>
            <a:cxnSpLocks/>
          </p:cNvCxnSpPr>
          <p:nvPr/>
        </p:nvCxnSpPr>
        <p:spPr>
          <a:xfrm rot="10800000" flipV="1">
            <a:off x="1275859" y="3573143"/>
            <a:ext cx="936000" cy="900000"/>
          </a:xfrm>
          <a:prstGeom prst="bentConnector3">
            <a:avLst>
              <a:gd name="adj1" fmla="val 1948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E7D2718E-B412-4A23-81D8-A9AFBBBC53C8}"/>
              </a:ext>
            </a:extLst>
          </p:cNvPr>
          <p:cNvCxnSpPr>
            <a:cxnSpLocks/>
          </p:cNvCxnSpPr>
          <p:nvPr/>
        </p:nvCxnSpPr>
        <p:spPr>
          <a:xfrm rot="10800000" flipV="1">
            <a:off x="2239687" y="3573143"/>
            <a:ext cx="936000" cy="900000"/>
          </a:xfrm>
          <a:prstGeom prst="bentConnector3">
            <a:avLst>
              <a:gd name="adj1" fmla="val 1948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A6E32B0E-9F5E-4124-8819-ADC05671A8A8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03515" y="3573143"/>
            <a:ext cx="936000" cy="900000"/>
          </a:xfrm>
          <a:prstGeom prst="bentConnector3">
            <a:avLst>
              <a:gd name="adj1" fmla="val 1948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D094A40C-130E-478E-8DE8-8692BD05A61F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67344" y="3573143"/>
            <a:ext cx="936000" cy="900000"/>
          </a:xfrm>
          <a:prstGeom prst="bentConnector3">
            <a:avLst>
              <a:gd name="adj1" fmla="val 1948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D34CB33-0A2F-4355-A7F4-B9C4519BB7B3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9637263" y="3573144"/>
            <a:ext cx="936000" cy="900000"/>
          </a:xfrm>
          <a:prstGeom prst="bentConnector3">
            <a:avLst>
              <a:gd name="adj1" fmla="val 1948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776B2FB4-16B3-4383-B008-E877553085F5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8659362" y="3573143"/>
            <a:ext cx="936000" cy="900000"/>
          </a:xfrm>
          <a:prstGeom prst="bentConnector3">
            <a:avLst>
              <a:gd name="adj1" fmla="val 1948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BD4750D-6011-47D9-B177-400D59E2A225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7681461" y="3573143"/>
            <a:ext cx="936000" cy="900000"/>
          </a:xfrm>
          <a:prstGeom prst="bentConnector3">
            <a:avLst>
              <a:gd name="adj1" fmla="val 1948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6F05E26D-4E1C-4DFE-8C9F-DE91553F506E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703560" y="3573143"/>
            <a:ext cx="936000" cy="900000"/>
          </a:xfrm>
          <a:prstGeom prst="bentConnector3">
            <a:avLst>
              <a:gd name="adj1" fmla="val 1948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23765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string concatenation</a:t>
            </a:r>
          </a:p>
        </p:txBody>
      </p:sp>
    </p:spTree>
    <p:extLst>
      <p:ext uri="{BB962C8B-B14F-4D97-AF65-F5344CB8AC3E}">
        <p14:creationId xmlns:p14="http://schemas.microsoft.com/office/powerpoint/2010/main" val="213381687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Joining words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690688"/>
            <a:ext cx="180530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/>
              <a:t>Hello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873" y="5365777"/>
            <a:ext cx="19809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/>
              <a:t>world</a:t>
            </a:r>
          </a:p>
        </p:txBody>
      </p:sp>
    </p:spTree>
    <p:extLst>
      <p:ext uri="{BB962C8B-B14F-4D97-AF65-F5344CB8AC3E}">
        <p14:creationId xmlns:p14="http://schemas.microsoft.com/office/powerpoint/2010/main" val="1965653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9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0.24583 0.28496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92" y="14236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1.48148E-6 L -0.30169 -0.25324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091" y="-126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Joining strings together - concatenation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690688"/>
            <a:ext cx="24352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/>
              <a:t>"Hello"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42892" y="5455718"/>
            <a:ext cx="26109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/>
              <a:t>"world"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4459" y="3604861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338081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9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18398 0.28542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93" y="14259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44444E-6 L -0.22826 -0.26435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19" y="-132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Concatenation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18731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word1 = 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"Hello"</a:t>
            </a: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word2 = 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"world"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word1 + word2)</a:t>
            </a:r>
          </a:p>
          <a:p>
            <a:pPr marL="0" indent="0" eaLnBrk="0" fontAlgn="base" hangingPunct="0">
              <a:spcBef>
                <a:spcPct val="0"/>
              </a:spcBef>
              <a:buNone/>
            </a:pPr>
            <a:r>
              <a:rPr lang="en-GB" altLang="en-US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</a:p>
          <a:p>
            <a:pPr mar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GB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(word1 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+ word2)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C43208AF-781C-4B91-9936-EDC8CEBB29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063370"/>
              </p:ext>
            </p:extLst>
          </p:nvPr>
        </p:nvGraphicFramePr>
        <p:xfrm>
          <a:off x="7279042" y="1027906"/>
          <a:ext cx="422226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131">
                  <a:extLst>
                    <a:ext uri="{9D8B030D-6E8A-4147-A177-3AD203B41FA5}">
                      <a16:colId xmlns:a16="http://schemas.microsoft.com/office/drawing/2014/main" val="2894499520"/>
                    </a:ext>
                  </a:extLst>
                </a:gridCol>
                <a:gridCol w="2111131">
                  <a:extLst>
                    <a:ext uri="{9D8B030D-6E8A-4147-A177-3AD203B41FA5}">
                      <a16:colId xmlns:a16="http://schemas.microsoft.com/office/drawing/2014/main" val="2978893554"/>
                    </a:ext>
                  </a:extLst>
                </a:gridCol>
              </a:tblGrid>
              <a:tr h="599709">
                <a:tc>
                  <a:txBody>
                    <a:bodyPr/>
                    <a:lstStyle/>
                    <a:p>
                      <a:pPr algn="ctr"/>
                      <a:r>
                        <a:rPr lang="en-GB" sz="3600"/>
                        <a:t>word1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/>
                        <a:t>word2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316171"/>
                  </a:ext>
                </a:extLst>
              </a:tr>
              <a:tr h="599709"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216021"/>
                  </a:ext>
                </a:extLst>
              </a:tr>
              <a:tr h="599709"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74994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5044C6B-B8B2-42E9-8A26-62530E4EC433}"/>
              </a:ext>
            </a:extLst>
          </p:cNvPr>
          <p:cNvSpPr txBox="1"/>
          <p:nvPr/>
        </p:nvSpPr>
        <p:spPr>
          <a:xfrm>
            <a:off x="7301512" y="1649135"/>
            <a:ext cx="2088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"Hello"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5A64B2-A607-4914-8ACE-4CD40676E19B}"/>
              </a:ext>
            </a:extLst>
          </p:cNvPr>
          <p:cNvSpPr txBox="1"/>
          <p:nvPr/>
        </p:nvSpPr>
        <p:spPr>
          <a:xfrm>
            <a:off x="9600574" y="2251897"/>
            <a:ext cx="1668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"world"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E2FF736-3AE8-4D3D-9D8D-4DADD39BAF6C}"/>
              </a:ext>
            </a:extLst>
          </p:cNvPr>
          <p:cNvGrpSpPr/>
          <p:nvPr/>
        </p:nvGrpSpPr>
        <p:grpSpPr>
          <a:xfrm>
            <a:off x="3909157" y="2916540"/>
            <a:ext cx="3100247" cy="1418084"/>
            <a:chOff x="4138651" y="2898228"/>
            <a:chExt cx="3100247" cy="1418084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1554E53-5CD9-44A2-832A-6042706CA65C}"/>
                </a:ext>
              </a:extLst>
            </p:cNvPr>
            <p:cNvSpPr/>
            <p:nvPr/>
          </p:nvSpPr>
          <p:spPr>
            <a:xfrm>
              <a:off x="4138651" y="3776312"/>
              <a:ext cx="540000" cy="5400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Callout: Bent Line with No Border 8">
              <a:extLst>
                <a:ext uri="{FF2B5EF4-FFF2-40B4-BE49-F238E27FC236}">
                  <a16:creationId xmlns:a16="http://schemas.microsoft.com/office/drawing/2014/main" id="{FDAD8DE4-9B79-4C7B-84B6-854583B22E60}"/>
                </a:ext>
              </a:extLst>
            </p:cNvPr>
            <p:cNvSpPr/>
            <p:nvPr/>
          </p:nvSpPr>
          <p:spPr>
            <a:xfrm>
              <a:off x="5150236" y="2898228"/>
              <a:ext cx="2088662" cy="635696"/>
            </a:xfrm>
            <a:prstGeom prst="callout2">
              <a:avLst>
                <a:gd name="adj1" fmla="val 49150"/>
                <a:gd name="adj2" fmla="val 154"/>
                <a:gd name="adj3" fmla="val 50581"/>
                <a:gd name="adj4" fmla="val -19746"/>
                <a:gd name="adj5" fmla="val 133457"/>
                <a:gd name="adj6" fmla="val -32496"/>
              </a:avLst>
            </a:prstGeom>
            <a:noFill/>
            <a:ln w="38100">
              <a:solidFill>
                <a:schemeClr val="accent6">
                  <a:lumMod val="75000"/>
                </a:schemeClr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Concatenate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9A8AD2B-4076-454E-BB4A-73A68D3DBD63}"/>
              </a:ext>
            </a:extLst>
          </p:cNvPr>
          <p:cNvGrpSpPr/>
          <p:nvPr/>
        </p:nvGrpSpPr>
        <p:grpSpPr>
          <a:xfrm>
            <a:off x="3810074" y="4553015"/>
            <a:ext cx="2053896" cy="1045899"/>
            <a:chOff x="4035716" y="3942846"/>
            <a:chExt cx="2053896" cy="1045899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C87FC2A-30EF-4226-842A-FF7C94B6A31C}"/>
                </a:ext>
              </a:extLst>
            </p:cNvPr>
            <p:cNvSpPr/>
            <p:nvPr/>
          </p:nvSpPr>
          <p:spPr>
            <a:xfrm>
              <a:off x="5470589" y="4448745"/>
              <a:ext cx="540000" cy="5400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D761425-3AE6-4705-AA4B-32B34522071A}"/>
                </a:ext>
              </a:extLst>
            </p:cNvPr>
            <p:cNvSpPr/>
            <p:nvPr/>
          </p:nvSpPr>
          <p:spPr>
            <a:xfrm>
              <a:off x="4123786" y="4448745"/>
              <a:ext cx="540000" cy="5400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C9B0F73-6051-42B9-BECD-16A492C860D3}"/>
                </a:ext>
              </a:extLst>
            </p:cNvPr>
            <p:cNvSpPr/>
            <p:nvPr/>
          </p:nvSpPr>
          <p:spPr>
            <a:xfrm>
              <a:off x="4035716" y="3942846"/>
              <a:ext cx="2053896" cy="523220"/>
            </a:xfrm>
            <a:prstGeom prst="rect">
              <a:avLst/>
            </a:prstGeom>
            <a:noFill/>
            <a:ln w="38100">
              <a:noFill/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b="1" dirty="0">
                  <a:solidFill>
                    <a:srgbClr val="7030A0"/>
                  </a:solidFill>
                  <a:latin typeface="Calibri" panose="020F0502020204030204"/>
                </a:rPr>
                <a:t>Concatenate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806F122A-A4D7-4D98-8079-A94E787033A3}"/>
              </a:ext>
            </a:extLst>
          </p:cNvPr>
          <p:cNvSpPr/>
          <p:nvPr/>
        </p:nvSpPr>
        <p:spPr>
          <a:xfrm>
            <a:off x="1229424" y="6086743"/>
            <a:ext cx="97331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3200" dirty="0">
                <a:solidFill>
                  <a:srgbClr val="7030A0"/>
                </a:solidFill>
                <a:latin typeface="Calibri" panose="020F0502020204030204"/>
              </a:rPr>
              <a:t>C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oncatenate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strings</a:t>
            </a:r>
            <a:r>
              <a:rPr kumimoji="0" lang="en-GB" sz="3200" b="0" i="0" u="none" strike="noStrike" kern="1200" cap="none" spc="0" normalizeH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/ or variables of string data type 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7064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21" grpId="0" uiExpand="1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Concatenation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word1 = </a:t>
            </a:r>
            <a:r>
              <a:rPr lang="en-GB" altLang="en-US" dirty="0">
                <a:solidFill>
                  <a:srgbClr val="183691"/>
                </a:solidFill>
                <a:latin typeface="Consolas" panose="020B0609020204030204" pitchFamily="49" charset="0"/>
              </a:rPr>
              <a:t>"Hello"</a:t>
            </a:r>
            <a:endParaRPr lang="en-GB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word2 = </a:t>
            </a:r>
            <a:r>
              <a:rPr lang="en-GB" altLang="en-US" dirty="0">
                <a:solidFill>
                  <a:srgbClr val="183691"/>
                </a:solidFill>
                <a:latin typeface="Consolas" panose="020B0609020204030204" pitchFamily="49" charset="0"/>
              </a:rPr>
              <a:t>"world"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  <a:endParaRPr lang="en-GB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(word1 + word2)</a:t>
            </a:r>
          </a:p>
          <a:p>
            <a:pPr marL="0" indent="0" eaLnBrk="0" fontAlgn="base" hangingPunct="0">
              <a:spcBef>
                <a:spcPct val="0"/>
              </a:spcBef>
              <a:buNone/>
            </a:pPr>
            <a:r>
              <a:rPr lang="en-GB" altLang="en-US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</a:p>
          <a:p>
            <a:pPr marL="0" indent="0" eaLnBrk="0" fontAlgn="base" hangingPunct="0">
              <a:spcBef>
                <a:spcPct val="0"/>
              </a:spcBef>
              <a:buNone/>
            </a:pPr>
            <a:r>
              <a:rPr lang="en-GB" altLang="en-US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GB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(word1 + </a:t>
            </a:r>
            <a:r>
              <a:rPr lang="en-GB" altLang="en-US" dirty="0">
                <a:solidFill>
                  <a:srgbClr val="183691"/>
                </a:solidFill>
                <a:latin typeface="Consolas" panose="020B0609020204030204" pitchFamily="49" charset="0"/>
              </a:rPr>
              <a:t>" "</a:t>
            </a:r>
            <a:r>
              <a:rPr lang="en-GB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word2)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C43208AF-781C-4B91-9936-EDC8CEBB2953}"/>
              </a:ext>
            </a:extLst>
          </p:cNvPr>
          <p:cNvGraphicFramePr>
            <a:graphicFrameLocks/>
          </p:cNvGraphicFramePr>
          <p:nvPr/>
        </p:nvGraphicFramePr>
        <p:xfrm>
          <a:off x="7257188" y="1006535"/>
          <a:ext cx="422226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131">
                  <a:extLst>
                    <a:ext uri="{9D8B030D-6E8A-4147-A177-3AD203B41FA5}">
                      <a16:colId xmlns:a16="http://schemas.microsoft.com/office/drawing/2014/main" val="2894499520"/>
                    </a:ext>
                  </a:extLst>
                </a:gridCol>
                <a:gridCol w="2111131">
                  <a:extLst>
                    <a:ext uri="{9D8B030D-6E8A-4147-A177-3AD203B41FA5}">
                      <a16:colId xmlns:a16="http://schemas.microsoft.com/office/drawing/2014/main" val="2978893554"/>
                    </a:ext>
                  </a:extLst>
                </a:gridCol>
              </a:tblGrid>
              <a:tr h="599709">
                <a:tc>
                  <a:txBody>
                    <a:bodyPr/>
                    <a:lstStyle/>
                    <a:p>
                      <a:pPr algn="ctr"/>
                      <a:r>
                        <a:rPr lang="en-GB" sz="3600"/>
                        <a:t>word1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/>
                        <a:t>word2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316171"/>
                  </a:ext>
                </a:extLst>
              </a:tr>
              <a:tr h="599709"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216021"/>
                  </a:ext>
                </a:extLst>
              </a:tr>
              <a:tr h="599709"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74994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3877BAD-6CFE-45F1-8B82-18D77D211265}"/>
              </a:ext>
            </a:extLst>
          </p:cNvPr>
          <p:cNvSpPr/>
          <p:nvPr/>
        </p:nvSpPr>
        <p:spPr>
          <a:xfrm>
            <a:off x="1229424" y="6086743"/>
            <a:ext cx="23946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3200" dirty="0">
                <a:solidFill>
                  <a:srgbClr val="7030A0"/>
                </a:solidFill>
                <a:latin typeface="Calibri" panose="020F0502020204030204"/>
              </a:rPr>
              <a:t>C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oncatenate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652078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Concatenation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690688"/>
            <a:ext cx="171713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/>
              <a:t>Joins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42892" y="5455718"/>
            <a:ext cx="28885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/>
              <a:t>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4181" y="5822514"/>
            <a:ext cx="6963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Not integers, real, or Boolean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72455" y="2921169"/>
            <a:ext cx="22470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dirty="0">
                <a:solidFill>
                  <a:srgbClr val="FF0000"/>
                </a:solidFill>
              </a:rPr>
              <a:t>strings</a:t>
            </a:r>
          </a:p>
        </p:txBody>
      </p:sp>
    </p:spTree>
    <p:extLst>
      <p:ext uri="{BB962C8B-B14F-4D97-AF65-F5344CB8AC3E}">
        <p14:creationId xmlns:p14="http://schemas.microsoft.com/office/powerpoint/2010/main" val="2249139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9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1.85185E-6 L 0.20117 0.1794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52" y="8958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4.44444E-6 L -0.1293 -0.36944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71" y="-18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10" grpId="0"/>
      <p:bldP spid="6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Concatenation</a:t>
            </a:r>
          </a:p>
        </p:txBody>
      </p:sp>
    </p:spTree>
    <p:extLst>
      <p:ext uri="{BB962C8B-B14F-4D97-AF65-F5344CB8AC3E}">
        <p14:creationId xmlns:p14="http://schemas.microsoft.com/office/powerpoint/2010/main" val="221501921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casting to a string</a:t>
            </a:r>
          </a:p>
        </p:txBody>
      </p:sp>
    </p:spTree>
    <p:extLst>
      <p:ext uri="{BB962C8B-B14F-4D97-AF65-F5344CB8AC3E}">
        <p14:creationId xmlns:p14="http://schemas.microsoft.com/office/powerpoint/2010/main" val="189428881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Cast (convert) to String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2501153" y="2008715"/>
            <a:ext cx="90008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42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AAB01A-94DD-4613-BD71-1720FEFEFA8E}"/>
              </a:ext>
            </a:extLst>
          </p:cNvPr>
          <p:cNvSpPr txBox="1"/>
          <p:nvPr/>
        </p:nvSpPr>
        <p:spPr>
          <a:xfrm>
            <a:off x="8809906" y="2008714"/>
            <a:ext cx="144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"42"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963B08-C212-4718-A8AA-458D4C59CEBA}"/>
              </a:ext>
            </a:extLst>
          </p:cNvPr>
          <p:cNvSpPr txBox="1"/>
          <p:nvPr/>
        </p:nvSpPr>
        <p:spPr>
          <a:xfrm>
            <a:off x="1902759" y="3334278"/>
            <a:ext cx="14984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3.14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3585572" y="3184654"/>
            <a:ext cx="5040000" cy="1080000"/>
            <a:chOff x="3001371" y="3310688"/>
            <a:chExt cx="5040000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str()</a:t>
              </a:r>
              <a:endParaRPr lang="en-GB" sz="28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0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22E98D8-233B-4694-9FD3-C4CE473126AC}"/>
              </a:ext>
            </a:extLst>
          </p:cNvPr>
          <p:cNvSpPr txBox="1"/>
          <p:nvPr/>
        </p:nvSpPr>
        <p:spPr>
          <a:xfrm>
            <a:off x="8809906" y="3334277"/>
            <a:ext cx="216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"3.14"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11BBBB-743B-4F70-920B-92D86D92F2EF}"/>
              </a:ext>
            </a:extLst>
          </p:cNvPr>
          <p:cNvSpPr txBox="1"/>
          <p:nvPr/>
        </p:nvSpPr>
        <p:spPr>
          <a:xfrm>
            <a:off x="1961239" y="4659841"/>
            <a:ext cx="144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True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3585572" y="4510217"/>
            <a:ext cx="5040000" cy="1080000"/>
            <a:chOff x="3001371" y="5080311"/>
            <a:chExt cx="5040000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str()</a:t>
              </a:r>
              <a:endParaRPr lang="en-GB" b="1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0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044AEBC-420D-48FB-B565-42688EEC339C}"/>
              </a:ext>
            </a:extLst>
          </p:cNvPr>
          <p:cNvSpPr txBox="1"/>
          <p:nvPr/>
        </p:nvSpPr>
        <p:spPr>
          <a:xfrm>
            <a:off x="8809905" y="4659840"/>
            <a:ext cx="206579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"True"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64AFC2-DEB9-408B-9B33-41239EB6D45A}"/>
              </a:ext>
            </a:extLst>
          </p:cNvPr>
          <p:cNvSpPr txBox="1"/>
          <p:nvPr/>
        </p:nvSpPr>
        <p:spPr>
          <a:xfrm flipH="1">
            <a:off x="2200458" y="5911406"/>
            <a:ext cx="2825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Input: Non-string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3AE61-A5F0-44B0-85E4-A2C24F50939C}"/>
              </a:ext>
            </a:extLst>
          </p:cNvPr>
          <p:cNvSpPr txBox="1"/>
          <p:nvPr/>
        </p:nvSpPr>
        <p:spPr>
          <a:xfrm flipH="1">
            <a:off x="7185572" y="5911406"/>
            <a:ext cx="2543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Output: String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719C3BD-F593-4011-9BA6-B640A7171A40}"/>
              </a:ext>
            </a:extLst>
          </p:cNvPr>
          <p:cNvGrpSpPr/>
          <p:nvPr/>
        </p:nvGrpSpPr>
        <p:grpSpPr>
          <a:xfrm>
            <a:off x="2419510" y="1389677"/>
            <a:ext cx="7598309" cy="1549414"/>
            <a:chOff x="2950676" y="1331802"/>
            <a:chExt cx="7598309" cy="1549414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4A964A7-0168-4E7A-906C-FEFE84614309}"/>
                </a:ext>
              </a:extLst>
            </p:cNvPr>
            <p:cNvGrpSpPr/>
            <p:nvPr/>
          </p:nvGrpSpPr>
          <p:grpSpPr>
            <a:xfrm>
              <a:off x="2950676" y="1546532"/>
              <a:ext cx="7598309" cy="1334684"/>
              <a:chOff x="2950676" y="1436004"/>
              <a:chExt cx="7598309" cy="133468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C8BB5CD-2D25-4988-8438-2F046C3CAEDF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3200" b="1" dirty="0"/>
                  <a:t>Cast to string</a:t>
                </a:r>
                <a:endParaRPr lang="en-GB" sz="2800" dirty="0"/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B65508EC-10CA-444D-9646-590379AECB29}"/>
                  </a:ext>
                </a:extLst>
              </p:cNvPr>
              <p:cNvCxnSpPr/>
              <p:nvPr/>
            </p:nvCxnSpPr>
            <p:spPr>
              <a:xfrm>
                <a:off x="41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C389AA2-F17C-4A57-B4B8-B88E8D396085}"/>
                  </a:ext>
                </a:extLst>
              </p:cNvPr>
              <p:cNvSpPr/>
              <p:nvPr/>
            </p:nvSpPr>
            <p:spPr>
              <a:xfrm>
                <a:off x="2950676" y="1436004"/>
                <a:ext cx="9829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Input</a:t>
                </a:r>
                <a:endParaRPr lang="en-GB" sz="2800" dirty="0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6439D39-54D0-4A73-A61A-412CD2F3A1D8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1C2B82A-6827-4FCA-91A0-98D36326CD98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Output</a:t>
                </a:r>
                <a:endParaRPr lang="en-GB" sz="2800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D439433-C8FD-42A5-9F35-B193F13CFFA9}"/>
                </a:ext>
              </a:extLst>
            </p:cNvPr>
            <p:cNvSpPr/>
            <p:nvPr/>
          </p:nvSpPr>
          <p:spPr>
            <a:xfrm>
              <a:off x="5895189" y="1331802"/>
              <a:ext cx="148309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b="1" dirty="0"/>
                <a:t>Function</a:t>
              </a:r>
              <a:endParaRPr lang="en-GB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15013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9" grpId="0"/>
      <p:bldP spid="27" grpId="0"/>
      <p:bldP spid="28" grpId="0"/>
      <p:bldP spid="36" grpId="0"/>
      <p:bldP spid="40" grpId="0"/>
      <p:bldP spid="4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Cast (convert) to String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3592301" y="3126779"/>
            <a:ext cx="5040000" cy="1080000"/>
            <a:chOff x="3001371" y="3310688"/>
            <a:chExt cx="5040000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0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3592301" y="4452342"/>
            <a:ext cx="5040000" cy="1080000"/>
            <a:chOff x="3001371" y="5080311"/>
            <a:chExt cx="5040000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0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864AFC2-DEB9-408B-9B33-41239EB6D45A}"/>
              </a:ext>
            </a:extLst>
          </p:cNvPr>
          <p:cNvSpPr txBox="1"/>
          <p:nvPr/>
        </p:nvSpPr>
        <p:spPr>
          <a:xfrm flipH="1">
            <a:off x="2207187" y="5911406"/>
            <a:ext cx="2825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Input: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3AE61-A5F0-44B0-85E4-A2C24F50939C}"/>
              </a:ext>
            </a:extLst>
          </p:cNvPr>
          <p:cNvSpPr txBox="1"/>
          <p:nvPr/>
        </p:nvSpPr>
        <p:spPr>
          <a:xfrm flipH="1">
            <a:off x="7192301" y="5911406"/>
            <a:ext cx="2543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Output: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24992DE-6CE7-4192-8BD2-1739D6B0557D}"/>
              </a:ext>
            </a:extLst>
          </p:cNvPr>
          <p:cNvGrpSpPr/>
          <p:nvPr/>
        </p:nvGrpSpPr>
        <p:grpSpPr>
          <a:xfrm>
            <a:off x="2372447" y="1331802"/>
            <a:ext cx="7652101" cy="1549414"/>
            <a:chOff x="2896884" y="1331802"/>
            <a:chExt cx="7652101" cy="154941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CC03498-E52B-4879-AE2F-6C8D9FA27CA3}"/>
                </a:ext>
              </a:extLst>
            </p:cNvPr>
            <p:cNvGrpSpPr/>
            <p:nvPr/>
          </p:nvGrpSpPr>
          <p:grpSpPr>
            <a:xfrm>
              <a:off x="2896884" y="1546532"/>
              <a:ext cx="7652101" cy="1334684"/>
              <a:chOff x="2896884" y="1436004"/>
              <a:chExt cx="7652101" cy="1334684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2CFFA7C-9945-4D85-97DC-ABBE38FBC643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800" dirty="0"/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2B0E79E-B616-4CBA-87AE-B30088755BF8}"/>
                  </a:ext>
                </a:extLst>
              </p:cNvPr>
              <p:cNvCxnSpPr/>
              <p:nvPr/>
            </p:nvCxnSpPr>
            <p:spPr>
              <a:xfrm>
                <a:off x="41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A64D53E-459C-465F-A694-218502FC04C1}"/>
                  </a:ext>
                </a:extLst>
              </p:cNvPr>
              <p:cNvSpPr/>
              <p:nvPr/>
            </p:nvSpPr>
            <p:spPr>
              <a:xfrm>
                <a:off x="2896884" y="1436004"/>
                <a:ext cx="9829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Input</a:t>
                </a:r>
                <a:endParaRPr lang="en-GB" sz="2800" dirty="0"/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BFCFFD06-7B9B-4C03-97F5-8BF4553627D1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8D76964-7EBD-4A1E-AEA5-42294110E243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Output</a:t>
                </a:r>
                <a:endParaRPr lang="en-GB" sz="2800" dirty="0"/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ADC3FDD-16CE-4DDD-96B4-07B62E953E14}"/>
                </a:ext>
              </a:extLst>
            </p:cNvPr>
            <p:cNvSpPr/>
            <p:nvPr/>
          </p:nvSpPr>
          <p:spPr>
            <a:xfrm>
              <a:off x="5895189" y="1331802"/>
              <a:ext cx="148309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b="1" dirty="0"/>
                <a:t>Function</a:t>
              </a:r>
              <a:endParaRPr lang="en-GB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048132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noProof="0" dirty="0"/>
              <a:t>str() -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6423021" y="3044278"/>
            <a:ext cx="39525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GB" sz="4400" dirty="0">
                <a:effectLst/>
                <a:latin typeface="Consolas" panose="020B0609020204030204" pitchFamily="49" charset="0"/>
              </a:rPr>
              <a:t>(42)</a:t>
            </a:r>
          </a:p>
        </p:txBody>
      </p:sp>
      <p:sp>
        <p:nvSpPr>
          <p:cNvPr id="5" name="Callout: Bent Line with No Border 8">
            <a:extLst>
              <a:ext uri="{FF2B5EF4-FFF2-40B4-BE49-F238E27FC236}">
                <a16:creationId xmlns:a16="http://schemas.microsoft.com/office/drawing/2014/main" id="{FE76DF5F-81B3-45AC-A628-BBE9287E827D}"/>
              </a:ext>
            </a:extLst>
          </p:cNvPr>
          <p:cNvSpPr/>
          <p:nvPr/>
        </p:nvSpPr>
        <p:spPr>
          <a:xfrm flipH="1">
            <a:off x="4094520" y="4132699"/>
            <a:ext cx="2426393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44891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chemeClr val="tx1"/>
                </a:solidFill>
              </a:rPr>
              <a:t>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18FD7-5699-4405-B11B-E8E902552F72}"/>
              </a:ext>
            </a:extLst>
          </p:cNvPr>
          <p:cNvSpPr txBox="1"/>
          <p:nvPr/>
        </p:nvSpPr>
        <p:spPr>
          <a:xfrm>
            <a:off x="2822101" y="3044279"/>
            <a:ext cx="35257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 err="1">
                <a:effectLst/>
                <a:latin typeface="Consolas" panose="020B0609020204030204" pitchFamily="49" charset="0"/>
              </a:rPr>
              <a:t>myString</a:t>
            </a:r>
            <a:r>
              <a:rPr lang="en-GB" sz="4400" dirty="0">
                <a:effectLst/>
                <a:latin typeface="Consolas" panose="020B0609020204030204" pitchFamily="49" charset="0"/>
              </a:rPr>
              <a:t> =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0EA2EDD-D55C-4A47-82C6-64769CAA93CE}"/>
              </a:ext>
            </a:extLst>
          </p:cNvPr>
          <p:cNvGrpSpPr/>
          <p:nvPr/>
        </p:nvGrpSpPr>
        <p:grpSpPr>
          <a:xfrm>
            <a:off x="5341090" y="1890271"/>
            <a:ext cx="1433512" cy="1154006"/>
            <a:chOff x="5456197" y="2058777"/>
            <a:chExt cx="1433512" cy="1154006"/>
          </a:xfrm>
        </p:grpSpPr>
        <p:sp>
          <p:nvSpPr>
            <p:cNvPr id="14" name="Arrow: Curved Down 13">
              <a:extLst>
                <a:ext uri="{FF2B5EF4-FFF2-40B4-BE49-F238E27FC236}">
                  <a16:creationId xmlns:a16="http://schemas.microsoft.com/office/drawing/2014/main" id="{62197FF0-B895-45D2-A531-96330FFB0E40}"/>
                </a:ext>
              </a:extLst>
            </p:cNvPr>
            <p:cNvSpPr/>
            <p:nvPr/>
          </p:nvSpPr>
          <p:spPr>
            <a:xfrm flipH="1">
              <a:off x="5456197" y="2581999"/>
              <a:ext cx="1433512" cy="630784"/>
            </a:xfrm>
            <a:prstGeom prst="curvedDownArrow">
              <a:avLst>
                <a:gd name="adj1" fmla="val 14746"/>
                <a:gd name="adj2" fmla="val 42781"/>
                <a:gd name="adj3" fmla="val 35417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06D1F41-C62C-4D11-89A7-FCE586210A4C}"/>
                </a:ext>
              </a:extLst>
            </p:cNvPr>
            <p:cNvSpPr txBox="1"/>
            <p:nvPr/>
          </p:nvSpPr>
          <p:spPr>
            <a:xfrm>
              <a:off x="5546019" y="2058777"/>
              <a:ext cx="12538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>
                  <a:solidFill>
                    <a:srgbClr val="7030A0"/>
                  </a:solidFill>
                </a:rPr>
                <a:t>Output</a:t>
              </a:r>
              <a:endParaRPr lang="en-GB" sz="3200" b="1" dirty="0">
                <a:solidFill>
                  <a:srgbClr val="7030A0"/>
                </a:solidFill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B2E87098-E01A-4642-9F58-DC02F2CCC6CE}"/>
              </a:ext>
            </a:extLst>
          </p:cNvPr>
          <p:cNvSpPr/>
          <p:nvPr/>
        </p:nvSpPr>
        <p:spPr>
          <a:xfrm>
            <a:off x="3694670" y="5416317"/>
            <a:ext cx="480266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Casts non-string to string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Input can be a variable</a:t>
            </a:r>
          </a:p>
        </p:txBody>
      </p:sp>
      <p:sp>
        <p:nvSpPr>
          <p:cNvPr id="11" name="Callout: Bent Line with No Border 8">
            <a:extLst>
              <a:ext uri="{FF2B5EF4-FFF2-40B4-BE49-F238E27FC236}">
                <a16:creationId xmlns:a16="http://schemas.microsoft.com/office/drawing/2014/main" id="{0C70402D-F0E1-4195-99E3-3EC955CDA995}"/>
              </a:ext>
            </a:extLst>
          </p:cNvPr>
          <p:cNvSpPr/>
          <p:nvPr/>
        </p:nvSpPr>
        <p:spPr>
          <a:xfrm>
            <a:off x="8555882" y="4132699"/>
            <a:ext cx="2426393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44891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chemeClr val="tx1"/>
                </a:solidFill>
              </a:rPr>
              <a:t>Input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5BB990-B5E3-4B1F-A169-BAA74A8C19A6}"/>
              </a:ext>
            </a:extLst>
          </p:cNvPr>
          <p:cNvCxnSpPr>
            <a:cxnSpLocks/>
          </p:cNvCxnSpPr>
          <p:nvPr/>
        </p:nvCxnSpPr>
        <p:spPr>
          <a:xfrm>
            <a:off x="7752252" y="3697795"/>
            <a:ext cx="612000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227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12" grpId="0"/>
      <p:bldP spid="10" grpId="0"/>
      <p:bldP spid="11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noProof="0" dirty="0"/>
              <a:t>str() -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6423021" y="3044278"/>
            <a:ext cx="39525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GB" sz="4400" dirty="0">
                <a:effectLst/>
                <a:latin typeface="Consolas" panose="020B0609020204030204" pitchFamily="49" charset="0"/>
              </a:rPr>
              <a:t>(42)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18FD7-5699-4405-B11B-E8E902552F72}"/>
              </a:ext>
            </a:extLst>
          </p:cNvPr>
          <p:cNvSpPr txBox="1"/>
          <p:nvPr/>
        </p:nvSpPr>
        <p:spPr>
          <a:xfrm>
            <a:off x="2822101" y="3044279"/>
            <a:ext cx="35257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 err="1">
                <a:effectLst/>
                <a:latin typeface="Consolas" panose="020B0609020204030204" pitchFamily="49" charset="0"/>
              </a:rPr>
              <a:t>myString</a:t>
            </a:r>
            <a:r>
              <a:rPr lang="en-GB" sz="4400" dirty="0">
                <a:effectLst/>
                <a:latin typeface="Consolas" panose="020B0609020204030204" pitchFamily="49" charset="0"/>
              </a:rPr>
              <a:t> =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F26195-16AC-49B6-9DD0-FA8C4EA41025}"/>
              </a:ext>
            </a:extLst>
          </p:cNvPr>
          <p:cNvSpPr/>
          <p:nvPr/>
        </p:nvSpPr>
        <p:spPr>
          <a:xfrm>
            <a:off x="3587942" y="5416317"/>
            <a:ext cx="5016117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                                              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25069328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Python Example – 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word1 = 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"Height:"</a:t>
            </a: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num1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1.56</a:t>
            </a: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text = word1 +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(text)</a:t>
            </a:r>
            <a:endParaRPr lang="en-GB" altLang="en-US" sz="4400" noProof="0" dirty="0">
              <a:latin typeface="Arial" panose="020B0604020202020204" pitchFamily="34" charset="0"/>
            </a:endParaRP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C43208AF-781C-4B91-9936-EDC8CEBB29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6467241"/>
              </p:ext>
            </p:extLst>
          </p:nvPr>
        </p:nvGraphicFramePr>
        <p:xfrm>
          <a:off x="7257188" y="1006535"/>
          <a:ext cx="422226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131">
                  <a:extLst>
                    <a:ext uri="{9D8B030D-6E8A-4147-A177-3AD203B41FA5}">
                      <a16:colId xmlns:a16="http://schemas.microsoft.com/office/drawing/2014/main" val="2894499520"/>
                    </a:ext>
                  </a:extLst>
                </a:gridCol>
                <a:gridCol w="2111131">
                  <a:extLst>
                    <a:ext uri="{9D8B030D-6E8A-4147-A177-3AD203B41FA5}">
                      <a16:colId xmlns:a16="http://schemas.microsoft.com/office/drawing/2014/main" val="2978893554"/>
                    </a:ext>
                  </a:extLst>
                </a:gridCol>
              </a:tblGrid>
              <a:tr h="599709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word1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num1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316171"/>
                  </a:ext>
                </a:extLst>
              </a:tr>
              <a:tr h="599709"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216021"/>
                  </a:ext>
                </a:extLst>
              </a:tr>
              <a:tr h="599709"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74994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5044C6B-B8B2-42E9-8A26-62530E4EC433}"/>
              </a:ext>
            </a:extLst>
          </p:cNvPr>
          <p:cNvSpPr txBox="1"/>
          <p:nvPr/>
        </p:nvSpPr>
        <p:spPr>
          <a:xfrm>
            <a:off x="7301512" y="1649135"/>
            <a:ext cx="2088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"Height:"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5A64B2-A607-4914-8ACE-4CD40676E19B}"/>
              </a:ext>
            </a:extLst>
          </p:cNvPr>
          <p:cNvSpPr txBox="1"/>
          <p:nvPr/>
        </p:nvSpPr>
        <p:spPr>
          <a:xfrm>
            <a:off x="9600574" y="2251897"/>
            <a:ext cx="1668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1.56</a:t>
            </a:r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101CE1DA-CF24-4A9D-9FBC-66903C4B8F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4629917"/>
              </p:ext>
            </p:extLst>
          </p:nvPr>
        </p:nvGraphicFramePr>
        <p:xfrm>
          <a:off x="8290101" y="3109638"/>
          <a:ext cx="3208654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8654">
                  <a:extLst>
                    <a:ext uri="{9D8B030D-6E8A-4147-A177-3AD203B41FA5}">
                      <a16:colId xmlns:a16="http://schemas.microsoft.com/office/drawing/2014/main" val="2894499520"/>
                    </a:ext>
                  </a:extLst>
                </a:gridCol>
              </a:tblGrid>
              <a:tr h="599709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316171"/>
                  </a:ext>
                </a:extLst>
              </a:tr>
              <a:tr h="599709"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21602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2E36C9C-5B70-40D1-B78B-2949A410512C}"/>
              </a:ext>
            </a:extLst>
          </p:cNvPr>
          <p:cNvSpPr txBox="1"/>
          <p:nvPr/>
        </p:nvSpPr>
        <p:spPr>
          <a:xfrm>
            <a:off x="8379288" y="3748362"/>
            <a:ext cx="2976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"Height: 1.56"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C73EE8-87CF-B14C-FC25-DCDD2B78EA0B}"/>
              </a:ext>
            </a:extLst>
          </p:cNvPr>
          <p:cNvSpPr txBox="1"/>
          <p:nvPr/>
        </p:nvSpPr>
        <p:spPr>
          <a:xfrm>
            <a:off x="4596961" y="3748362"/>
            <a:ext cx="13147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183691"/>
                </a:solidFill>
                <a:latin typeface="Consolas" panose="020B0609020204030204" pitchFamily="49" charset="0"/>
              </a:rPr>
              <a:t>" "</a:t>
            </a:r>
            <a:r>
              <a:rPr lang="en-GB" sz="3200" dirty="0">
                <a:latin typeface="Consolas" panose="020B0609020204030204" pitchFamily="49" charset="0"/>
              </a:rPr>
              <a:t> +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E46508-CFEE-552E-DF28-6D508EC574F4}"/>
              </a:ext>
            </a:extLst>
          </p:cNvPr>
          <p:cNvSpPr txBox="1"/>
          <p:nvPr/>
        </p:nvSpPr>
        <p:spPr>
          <a:xfrm>
            <a:off x="5911745" y="3748362"/>
            <a:ext cx="22188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(num1</a:t>
            </a:r>
            <a:r>
              <a:rPr lang="en-GB" sz="3200" dirty="0">
                <a:latin typeface="Consolas" panose="020B0609020204030204" pitchFamily="49" charset="0"/>
              </a:rPr>
              <a:t>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EA73FCE-77CA-43D9-BC52-6771804AD930}"/>
              </a:ext>
            </a:extLst>
          </p:cNvPr>
          <p:cNvGrpSpPr/>
          <p:nvPr/>
        </p:nvGrpSpPr>
        <p:grpSpPr>
          <a:xfrm>
            <a:off x="5848062" y="4360128"/>
            <a:ext cx="2218876" cy="619816"/>
            <a:chOff x="5848062" y="4360128"/>
            <a:chExt cx="2218876" cy="61981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6ACC12-8002-46B7-808C-25B612F49837}"/>
                </a:ext>
              </a:extLst>
            </p:cNvPr>
            <p:cNvSpPr/>
            <p:nvPr/>
          </p:nvSpPr>
          <p:spPr>
            <a:xfrm>
              <a:off x="5848062" y="4456724"/>
              <a:ext cx="2218876" cy="523220"/>
            </a:xfrm>
            <a:prstGeom prst="rect">
              <a:avLst/>
            </a:prstGeom>
            <a:noFill/>
            <a:ln w="38100">
              <a:noFill/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b="1" dirty="0">
                  <a:solidFill>
                    <a:srgbClr val="7030A0"/>
                  </a:solidFill>
                  <a:latin typeface="Calibri" panose="020F0502020204030204"/>
                </a:rPr>
                <a:t>Cast to string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A5CE73B-25D0-4342-9EB9-40F35BE74219}"/>
                </a:ext>
              </a:extLst>
            </p:cNvPr>
            <p:cNvCxnSpPr/>
            <p:nvPr/>
          </p:nvCxnSpPr>
          <p:spPr>
            <a:xfrm>
              <a:off x="5967500" y="4360128"/>
              <a:ext cx="1980000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24EBB1E-DF1C-470D-834E-6135B98CFDB5}"/>
                </a:ext>
              </a:extLst>
            </p:cNvPr>
            <p:cNvCxnSpPr/>
            <p:nvPr/>
          </p:nvCxnSpPr>
          <p:spPr>
            <a:xfrm>
              <a:off x="6957500" y="4365502"/>
              <a:ext cx="0" cy="18000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66392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8" grpId="0"/>
      <p:bldP spid="12" grpId="0"/>
      <p:bldP spid="13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Python Example – 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word1 = 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"Height:"</a:t>
            </a: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num1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1.56</a:t>
            </a: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text = word1 +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6 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(text)</a:t>
            </a:r>
            <a:endParaRPr lang="en-GB" altLang="en-US" sz="4400" noProof="0" dirty="0">
              <a:latin typeface="Arial" panose="020B0604020202020204" pitchFamily="34" charset="0"/>
            </a:endParaRP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C43208AF-781C-4B91-9936-EDC8CEBB2953}"/>
              </a:ext>
            </a:extLst>
          </p:cNvPr>
          <p:cNvGraphicFramePr>
            <a:graphicFrameLocks/>
          </p:cNvGraphicFramePr>
          <p:nvPr/>
        </p:nvGraphicFramePr>
        <p:xfrm>
          <a:off x="7257188" y="1006535"/>
          <a:ext cx="422226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131">
                  <a:extLst>
                    <a:ext uri="{9D8B030D-6E8A-4147-A177-3AD203B41FA5}">
                      <a16:colId xmlns:a16="http://schemas.microsoft.com/office/drawing/2014/main" val="2894499520"/>
                    </a:ext>
                  </a:extLst>
                </a:gridCol>
                <a:gridCol w="2111131">
                  <a:extLst>
                    <a:ext uri="{9D8B030D-6E8A-4147-A177-3AD203B41FA5}">
                      <a16:colId xmlns:a16="http://schemas.microsoft.com/office/drawing/2014/main" val="2978893554"/>
                    </a:ext>
                  </a:extLst>
                </a:gridCol>
              </a:tblGrid>
              <a:tr h="599709">
                <a:tc>
                  <a:txBody>
                    <a:bodyPr/>
                    <a:lstStyle/>
                    <a:p>
                      <a:pPr algn="ctr"/>
                      <a:r>
                        <a:rPr lang="en-GB" sz="3600"/>
                        <a:t>word1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num1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316171"/>
                  </a:ext>
                </a:extLst>
              </a:tr>
              <a:tr h="599709"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216021"/>
                  </a:ext>
                </a:extLst>
              </a:tr>
              <a:tr h="599709"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74994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5044C6B-B8B2-42E9-8A26-62530E4EC433}"/>
              </a:ext>
            </a:extLst>
          </p:cNvPr>
          <p:cNvSpPr txBox="1"/>
          <p:nvPr/>
        </p:nvSpPr>
        <p:spPr>
          <a:xfrm>
            <a:off x="7301512" y="1649135"/>
            <a:ext cx="2088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"Height:"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5A64B2-A607-4914-8ACE-4CD40676E19B}"/>
              </a:ext>
            </a:extLst>
          </p:cNvPr>
          <p:cNvSpPr txBox="1"/>
          <p:nvPr/>
        </p:nvSpPr>
        <p:spPr>
          <a:xfrm>
            <a:off x="9600574" y="2251897"/>
            <a:ext cx="1668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"1.56"</a:t>
            </a:r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101CE1DA-CF24-4A9D-9FBC-66903C4B8F03}"/>
              </a:ext>
            </a:extLst>
          </p:cNvPr>
          <p:cNvGraphicFramePr>
            <a:graphicFrameLocks/>
          </p:cNvGraphicFramePr>
          <p:nvPr/>
        </p:nvGraphicFramePr>
        <p:xfrm>
          <a:off x="8290101" y="3109638"/>
          <a:ext cx="3208654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8654">
                  <a:extLst>
                    <a:ext uri="{9D8B030D-6E8A-4147-A177-3AD203B41FA5}">
                      <a16:colId xmlns:a16="http://schemas.microsoft.com/office/drawing/2014/main" val="2894499520"/>
                    </a:ext>
                  </a:extLst>
                </a:gridCol>
              </a:tblGrid>
              <a:tr h="599709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316171"/>
                  </a:ext>
                </a:extLst>
              </a:tr>
              <a:tr h="599709"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21602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2E36C9C-5B70-40D1-B78B-2949A410512C}"/>
              </a:ext>
            </a:extLst>
          </p:cNvPr>
          <p:cNvSpPr txBox="1"/>
          <p:nvPr/>
        </p:nvSpPr>
        <p:spPr>
          <a:xfrm>
            <a:off x="8379288" y="3748362"/>
            <a:ext cx="2976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"Height: 1.56"</a:t>
            </a:r>
          </a:p>
        </p:txBody>
      </p:sp>
    </p:spTree>
    <p:extLst>
      <p:ext uri="{BB962C8B-B14F-4D97-AF65-F5344CB8AC3E}">
        <p14:creationId xmlns:p14="http://schemas.microsoft.com/office/powerpoint/2010/main" val="152789886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keyboard input</a:t>
            </a:r>
          </a:p>
        </p:txBody>
      </p:sp>
    </p:spTree>
    <p:extLst>
      <p:ext uri="{BB962C8B-B14F-4D97-AF65-F5344CB8AC3E}">
        <p14:creationId xmlns:p14="http://schemas.microsoft.com/office/powerpoint/2010/main" val="427805318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User input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266220" y="1950840"/>
            <a:ext cx="39324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"Enter name"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AAB01A-94DD-4613-BD71-1720FEFEFA8E}"/>
              </a:ext>
            </a:extLst>
          </p:cNvPr>
          <p:cNvSpPr txBox="1"/>
          <p:nvPr/>
        </p:nvSpPr>
        <p:spPr>
          <a:xfrm>
            <a:off x="9607291" y="1950839"/>
            <a:ext cx="17324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"Tom"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4382958" y="3126779"/>
            <a:ext cx="5040000" cy="1080000"/>
            <a:chOff x="3001371" y="3310688"/>
            <a:chExt cx="5040000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input()</a:t>
              </a:r>
              <a:endParaRPr lang="en-GB" sz="28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0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22E98D8-233B-4694-9FD3-C4CE473126AC}"/>
              </a:ext>
            </a:extLst>
          </p:cNvPr>
          <p:cNvSpPr txBox="1"/>
          <p:nvPr/>
        </p:nvSpPr>
        <p:spPr>
          <a:xfrm>
            <a:off x="9607292" y="3276402"/>
            <a:ext cx="216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"3.14"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11BBBB-743B-4F70-920B-92D86D92F2EF}"/>
              </a:ext>
            </a:extLst>
          </p:cNvPr>
          <p:cNvSpPr txBox="1"/>
          <p:nvPr/>
        </p:nvSpPr>
        <p:spPr>
          <a:xfrm>
            <a:off x="573521" y="4601966"/>
            <a:ext cx="36251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"Enter age"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4382958" y="4452342"/>
            <a:ext cx="5040000" cy="1080000"/>
            <a:chOff x="3001371" y="5080311"/>
            <a:chExt cx="5040000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input()</a:t>
              </a:r>
              <a:endParaRPr lang="en-GB" b="1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0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044AEBC-420D-48FB-B565-42688EEC339C}"/>
              </a:ext>
            </a:extLst>
          </p:cNvPr>
          <p:cNvSpPr txBox="1"/>
          <p:nvPr/>
        </p:nvSpPr>
        <p:spPr>
          <a:xfrm>
            <a:off x="9607292" y="4601965"/>
            <a:ext cx="144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"17"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64AFC2-DEB9-408B-9B33-41239EB6D45A}"/>
              </a:ext>
            </a:extLst>
          </p:cNvPr>
          <p:cNvSpPr txBox="1"/>
          <p:nvPr/>
        </p:nvSpPr>
        <p:spPr>
          <a:xfrm flipH="1">
            <a:off x="2197853" y="5911406"/>
            <a:ext cx="3625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Input: String (optional)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3AE61-A5F0-44B0-85E4-A2C24F50939C}"/>
              </a:ext>
            </a:extLst>
          </p:cNvPr>
          <p:cNvSpPr txBox="1"/>
          <p:nvPr/>
        </p:nvSpPr>
        <p:spPr>
          <a:xfrm flipH="1">
            <a:off x="7982958" y="5911406"/>
            <a:ext cx="2543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Output: String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719C3BD-F593-4011-9BA6-B640A7171A40}"/>
              </a:ext>
            </a:extLst>
          </p:cNvPr>
          <p:cNvGrpSpPr/>
          <p:nvPr/>
        </p:nvGrpSpPr>
        <p:grpSpPr>
          <a:xfrm>
            <a:off x="3163104" y="1331802"/>
            <a:ext cx="7652101" cy="1549414"/>
            <a:chOff x="2896884" y="1331802"/>
            <a:chExt cx="7652101" cy="1549414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4A964A7-0168-4E7A-906C-FEFE84614309}"/>
                </a:ext>
              </a:extLst>
            </p:cNvPr>
            <p:cNvGrpSpPr/>
            <p:nvPr/>
          </p:nvGrpSpPr>
          <p:grpSpPr>
            <a:xfrm>
              <a:off x="2896884" y="1546532"/>
              <a:ext cx="7652101" cy="1334684"/>
              <a:chOff x="2896884" y="1436004"/>
              <a:chExt cx="7652101" cy="133468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C8BB5CD-2D25-4988-8438-2F046C3CAEDF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3200" b="1" dirty="0"/>
                  <a:t>Get user input</a:t>
                </a:r>
                <a:endParaRPr lang="en-GB" sz="2800" dirty="0"/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B65508EC-10CA-444D-9646-590379AECB29}"/>
                  </a:ext>
                </a:extLst>
              </p:cNvPr>
              <p:cNvCxnSpPr/>
              <p:nvPr/>
            </p:nvCxnSpPr>
            <p:spPr>
              <a:xfrm>
                <a:off x="41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C389AA2-F17C-4A57-B4B8-B88E8D396085}"/>
                  </a:ext>
                </a:extLst>
              </p:cNvPr>
              <p:cNvSpPr/>
              <p:nvPr/>
            </p:nvSpPr>
            <p:spPr>
              <a:xfrm>
                <a:off x="2896884" y="1436004"/>
                <a:ext cx="9829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Input</a:t>
                </a:r>
                <a:endParaRPr lang="en-GB" sz="2800" dirty="0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6439D39-54D0-4A73-A61A-412CD2F3A1D8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1C2B82A-6827-4FCA-91A0-98D36326CD98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Output</a:t>
                </a:r>
                <a:endParaRPr lang="en-GB" sz="2800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D439433-C8FD-42A5-9F35-B193F13CFFA9}"/>
                </a:ext>
              </a:extLst>
            </p:cNvPr>
            <p:cNvSpPr/>
            <p:nvPr/>
          </p:nvSpPr>
          <p:spPr>
            <a:xfrm>
              <a:off x="5895189" y="1331802"/>
              <a:ext cx="148309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b="1" dirty="0"/>
                <a:t>Function</a:t>
              </a:r>
              <a:endParaRPr lang="en-GB" sz="2800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2B1725C-FDAD-8E32-26CF-A25787BAC84D}"/>
              </a:ext>
            </a:extLst>
          </p:cNvPr>
          <p:cNvSpPr txBox="1"/>
          <p:nvPr/>
        </p:nvSpPr>
        <p:spPr>
          <a:xfrm>
            <a:off x="914400" y="3211912"/>
            <a:ext cx="32842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"Enter pi"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81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27" grpId="0"/>
      <p:bldP spid="28" grpId="0"/>
      <p:bldP spid="36" grpId="0"/>
      <p:bldP spid="40" grpId="0"/>
      <p:bldP spid="41" grpId="0"/>
      <p:bldP spid="4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User input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4382958" y="3126779"/>
            <a:ext cx="5040000" cy="1080000"/>
            <a:chOff x="3001371" y="3310688"/>
            <a:chExt cx="5040000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0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4382958" y="4452342"/>
            <a:ext cx="5040000" cy="1080000"/>
            <a:chOff x="3001371" y="5080311"/>
            <a:chExt cx="5040000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  <a:noFill/>
            <a:ln w="38100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0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864AFC2-DEB9-408B-9B33-41239EB6D45A}"/>
              </a:ext>
            </a:extLst>
          </p:cNvPr>
          <p:cNvSpPr txBox="1"/>
          <p:nvPr/>
        </p:nvSpPr>
        <p:spPr>
          <a:xfrm flipH="1">
            <a:off x="2197853" y="5911406"/>
            <a:ext cx="3625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Input: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3AE61-A5F0-44B0-85E4-A2C24F50939C}"/>
              </a:ext>
            </a:extLst>
          </p:cNvPr>
          <p:cNvSpPr txBox="1"/>
          <p:nvPr/>
        </p:nvSpPr>
        <p:spPr>
          <a:xfrm flipH="1">
            <a:off x="7982958" y="5911406"/>
            <a:ext cx="2543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Output: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719C3BD-F593-4011-9BA6-B640A7171A40}"/>
              </a:ext>
            </a:extLst>
          </p:cNvPr>
          <p:cNvGrpSpPr/>
          <p:nvPr/>
        </p:nvGrpSpPr>
        <p:grpSpPr>
          <a:xfrm>
            <a:off x="3163104" y="1331802"/>
            <a:ext cx="7652101" cy="1549414"/>
            <a:chOff x="2896884" y="1331802"/>
            <a:chExt cx="7652101" cy="1549414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4A964A7-0168-4E7A-906C-FEFE84614309}"/>
                </a:ext>
              </a:extLst>
            </p:cNvPr>
            <p:cNvGrpSpPr/>
            <p:nvPr/>
          </p:nvGrpSpPr>
          <p:grpSpPr>
            <a:xfrm>
              <a:off x="2896884" y="1546532"/>
              <a:ext cx="7652101" cy="1334684"/>
              <a:chOff x="2896884" y="1436004"/>
              <a:chExt cx="7652101" cy="133468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C8BB5CD-2D25-4988-8438-2F046C3CAEDF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800" dirty="0"/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B65508EC-10CA-444D-9646-590379AECB29}"/>
                  </a:ext>
                </a:extLst>
              </p:cNvPr>
              <p:cNvCxnSpPr/>
              <p:nvPr/>
            </p:nvCxnSpPr>
            <p:spPr>
              <a:xfrm>
                <a:off x="41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C389AA2-F17C-4A57-B4B8-B88E8D396085}"/>
                  </a:ext>
                </a:extLst>
              </p:cNvPr>
              <p:cNvSpPr/>
              <p:nvPr/>
            </p:nvSpPr>
            <p:spPr>
              <a:xfrm>
                <a:off x="2896884" y="1436004"/>
                <a:ext cx="9829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Input</a:t>
                </a:r>
                <a:endParaRPr lang="en-GB" sz="2800" dirty="0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6439D39-54D0-4A73-A61A-412CD2F3A1D8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1C2B82A-6827-4FCA-91A0-98D36326CD98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Output</a:t>
                </a:r>
                <a:endParaRPr lang="en-GB" sz="2800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D439433-C8FD-42A5-9F35-B193F13CFFA9}"/>
                </a:ext>
              </a:extLst>
            </p:cNvPr>
            <p:cNvSpPr/>
            <p:nvPr/>
          </p:nvSpPr>
          <p:spPr>
            <a:xfrm>
              <a:off x="5895189" y="1331802"/>
              <a:ext cx="148309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b="1" dirty="0"/>
                <a:t>Function</a:t>
              </a:r>
              <a:endParaRPr lang="en-GB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73708550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486065" y="3640023"/>
            <a:ext cx="11303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GB" sz="4400" dirty="0">
                <a:effectLst/>
                <a:latin typeface="Consolas" panose="020B0609020204030204" pitchFamily="49" charset="0"/>
              </a:rPr>
              <a:t> = </a:t>
            </a: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input</a:t>
            </a:r>
            <a:r>
              <a:rPr lang="en-GB" sz="4400" dirty="0">
                <a:effectLst/>
                <a:latin typeface="Consolas" panose="020B0609020204030204" pitchFamily="49" charset="0"/>
              </a:rPr>
              <a:t>("What is your name? ")</a:t>
            </a:r>
          </a:p>
        </p:txBody>
      </p:sp>
      <p:sp>
        <p:nvSpPr>
          <p:cNvPr id="9" name="Callout: Bent Line with No Border 8">
            <a:extLst>
              <a:ext uri="{FF2B5EF4-FFF2-40B4-BE49-F238E27FC236}">
                <a16:creationId xmlns:a16="http://schemas.microsoft.com/office/drawing/2014/main" id="{FE76DF5F-81B3-45AC-A628-BBE9287E827D}"/>
              </a:ext>
            </a:extLst>
          </p:cNvPr>
          <p:cNvSpPr/>
          <p:nvPr/>
        </p:nvSpPr>
        <p:spPr>
          <a:xfrm>
            <a:off x="8204506" y="4866978"/>
            <a:ext cx="2726823" cy="862642"/>
          </a:xfrm>
          <a:prstGeom prst="callout2">
            <a:avLst>
              <a:gd name="adj1" fmla="val 51327"/>
              <a:gd name="adj2" fmla="val -4474"/>
              <a:gd name="adj3" fmla="val 51580"/>
              <a:gd name="adj4" fmla="val -19869"/>
              <a:gd name="adj5" fmla="val -62274"/>
              <a:gd name="adj6" fmla="val -1971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dirty="0">
                <a:solidFill>
                  <a:schemeClr val="tx1"/>
                </a:solidFill>
              </a:rPr>
              <a:t>Displayed on the screen (optional)</a:t>
            </a:r>
          </a:p>
        </p:txBody>
      </p:sp>
      <p:sp>
        <p:nvSpPr>
          <p:cNvPr id="10" name="Callout: Bent Line with No Border 9">
            <a:extLst>
              <a:ext uri="{FF2B5EF4-FFF2-40B4-BE49-F238E27FC236}">
                <a16:creationId xmlns:a16="http://schemas.microsoft.com/office/drawing/2014/main" id="{63103218-B9D4-422B-962F-7D51D458C2E6}"/>
              </a:ext>
            </a:extLst>
          </p:cNvPr>
          <p:cNvSpPr/>
          <p:nvPr/>
        </p:nvSpPr>
        <p:spPr>
          <a:xfrm>
            <a:off x="3860002" y="2319867"/>
            <a:ext cx="2728236" cy="862642"/>
          </a:xfrm>
          <a:prstGeom prst="callout2">
            <a:avLst>
              <a:gd name="adj1" fmla="val 50169"/>
              <a:gd name="adj2" fmla="val -432"/>
              <a:gd name="adj3" fmla="val 50714"/>
              <a:gd name="adj4" fmla="val -13748"/>
              <a:gd name="adj5" fmla="val 164190"/>
              <a:gd name="adj6" fmla="val -1373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>
                <a:solidFill>
                  <a:schemeClr val="tx1"/>
                </a:solidFill>
              </a:rPr>
              <a:t>input</a:t>
            </a:r>
            <a:r>
              <a:rPr lang="en-GB" sz="2800">
                <a:solidFill>
                  <a:schemeClr val="tx1"/>
                </a:solidFill>
              </a:rPr>
              <a:t>( ) function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input() – Example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29BF46-84AE-42C7-A90E-9C70AB8384FA}"/>
              </a:ext>
            </a:extLst>
          </p:cNvPr>
          <p:cNvSpPr/>
          <p:nvPr/>
        </p:nvSpPr>
        <p:spPr>
          <a:xfrm>
            <a:off x="2624093" y="6066411"/>
            <a:ext cx="69438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3200" dirty="0">
                <a:solidFill>
                  <a:srgbClr val="7030A0"/>
                </a:solidFill>
              </a:rPr>
              <a:t>Everything from the keyboard is a </a:t>
            </a:r>
            <a:r>
              <a:rPr lang="en-GB" sz="3200" b="1" dirty="0">
                <a:solidFill>
                  <a:srgbClr val="7030A0"/>
                </a:solidFill>
              </a:rPr>
              <a:t>string</a:t>
            </a:r>
            <a:r>
              <a:rPr lang="en-GB" sz="3200" dirty="0">
                <a:solidFill>
                  <a:srgbClr val="7030A0"/>
                </a:solidFill>
              </a:rPr>
              <a:t>!</a:t>
            </a:r>
            <a:endParaRPr lang="en-GB" sz="32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62AA1A5-DE93-4C83-A1A1-16F8C77F7EA1}"/>
              </a:ext>
            </a:extLst>
          </p:cNvPr>
          <p:cNvGrpSpPr/>
          <p:nvPr/>
        </p:nvGrpSpPr>
        <p:grpSpPr>
          <a:xfrm>
            <a:off x="1463571" y="2486017"/>
            <a:ext cx="1433512" cy="1154006"/>
            <a:chOff x="5456197" y="2058777"/>
            <a:chExt cx="1433512" cy="1154006"/>
          </a:xfrm>
        </p:grpSpPr>
        <p:sp>
          <p:nvSpPr>
            <p:cNvPr id="12" name="Arrow: Curved Down 11">
              <a:extLst>
                <a:ext uri="{FF2B5EF4-FFF2-40B4-BE49-F238E27FC236}">
                  <a16:creationId xmlns:a16="http://schemas.microsoft.com/office/drawing/2014/main" id="{74CD36F8-C7A2-46BF-8A0A-5AE363F7C1BC}"/>
                </a:ext>
              </a:extLst>
            </p:cNvPr>
            <p:cNvSpPr/>
            <p:nvPr/>
          </p:nvSpPr>
          <p:spPr>
            <a:xfrm flipH="1">
              <a:off x="5456197" y="2581999"/>
              <a:ext cx="1433512" cy="630784"/>
            </a:xfrm>
            <a:prstGeom prst="curvedDownArrow">
              <a:avLst>
                <a:gd name="adj1" fmla="val 14746"/>
                <a:gd name="adj2" fmla="val 42781"/>
                <a:gd name="adj3" fmla="val 35417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3D5F880-BDAD-4CF9-B88B-2EE894125808}"/>
                </a:ext>
              </a:extLst>
            </p:cNvPr>
            <p:cNvSpPr txBox="1"/>
            <p:nvPr/>
          </p:nvSpPr>
          <p:spPr>
            <a:xfrm>
              <a:off x="5546019" y="2058777"/>
              <a:ext cx="12538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/>
                <a:t>Output</a:t>
              </a:r>
              <a:endParaRPr lang="en-GB" sz="3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480322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10" grpId="0" animBg="1"/>
      <p:bldP spid="14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486065" y="3640023"/>
            <a:ext cx="11303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GB" sz="4400" dirty="0">
                <a:effectLst/>
                <a:latin typeface="Consolas" panose="020B0609020204030204" pitchFamily="49" charset="0"/>
              </a:rPr>
              <a:t> = </a:t>
            </a: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input</a:t>
            </a:r>
            <a:r>
              <a:rPr lang="en-GB" sz="4400" dirty="0">
                <a:effectLst/>
                <a:latin typeface="Consolas" panose="020B0609020204030204" pitchFamily="49" charset="0"/>
              </a:rPr>
              <a:t>("What is your name? ")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input() – Example</a:t>
            </a:r>
          </a:p>
        </p:txBody>
      </p:sp>
    </p:spTree>
    <p:extLst>
      <p:ext uri="{BB962C8B-B14F-4D97-AF65-F5344CB8AC3E}">
        <p14:creationId xmlns:p14="http://schemas.microsoft.com/office/powerpoint/2010/main" val="183716077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C2D2C2C4-CFB3-48A4-AF5C-2C875B2EFB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8111408"/>
              </p:ext>
            </p:extLst>
          </p:nvPr>
        </p:nvGraphicFramePr>
        <p:xfrm>
          <a:off x="6888848" y="1142206"/>
          <a:ext cx="422226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131">
                  <a:extLst>
                    <a:ext uri="{9D8B030D-6E8A-4147-A177-3AD203B41FA5}">
                      <a16:colId xmlns:a16="http://schemas.microsoft.com/office/drawing/2014/main" val="2894499520"/>
                    </a:ext>
                  </a:extLst>
                </a:gridCol>
                <a:gridCol w="2111131">
                  <a:extLst>
                    <a:ext uri="{9D8B030D-6E8A-4147-A177-3AD203B41FA5}">
                      <a16:colId xmlns:a16="http://schemas.microsoft.com/office/drawing/2014/main" val="2978893554"/>
                    </a:ext>
                  </a:extLst>
                </a:gridCol>
              </a:tblGrid>
              <a:tr h="599709">
                <a:tc>
                  <a:txBody>
                    <a:bodyPr/>
                    <a:lstStyle/>
                    <a:p>
                      <a:pPr algn="ctr"/>
                      <a:r>
                        <a:rPr lang="en-GB" sz="3600"/>
                        <a:t>value1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/>
                        <a:t>value2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316171"/>
                  </a:ext>
                </a:extLst>
              </a:tr>
              <a:tr h="599709"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216021"/>
                  </a:ext>
                </a:extLst>
              </a:tr>
              <a:tr h="599709"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749944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Python Example – input()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value1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"1st: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value2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"2nd: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result = value1 + value2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(result)</a:t>
            </a:r>
            <a:endParaRPr lang="en-GB" altLang="en-US" sz="4400" noProof="0" dirty="0">
              <a:latin typeface="Arial" panose="020B0604020202020204" pitchFamily="34" charset="0"/>
            </a:endParaRPr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F68E8778-7703-40F7-B771-E03A015D1D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6675687"/>
              </p:ext>
            </p:extLst>
          </p:nvPr>
        </p:nvGraphicFramePr>
        <p:xfrm>
          <a:off x="7582450" y="3637051"/>
          <a:ext cx="282330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307">
                  <a:extLst>
                    <a:ext uri="{9D8B030D-6E8A-4147-A177-3AD203B41FA5}">
                      <a16:colId xmlns:a16="http://schemas.microsoft.com/office/drawing/2014/main" val="2894499520"/>
                    </a:ext>
                  </a:extLst>
                </a:gridCol>
              </a:tblGrid>
              <a:tr h="599709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316171"/>
                  </a:ext>
                </a:extLst>
              </a:tr>
              <a:tr h="599709"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216021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C09C1D1-7764-47BE-89EB-824870F98D61}"/>
              </a:ext>
            </a:extLst>
          </p:cNvPr>
          <p:cNvSpPr/>
          <p:nvPr/>
        </p:nvSpPr>
        <p:spPr>
          <a:xfrm>
            <a:off x="2624093" y="6066411"/>
            <a:ext cx="69438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Everything</a:t>
            </a:r>
            <a:r>
              <a:rPr lang="en-GB" sz="3200" dirty="0">
                <a:solidFill>
                  <a:srgbClr val="7030A0"/>
                </a:solidFill>
              </a:rPr>
              <a:t> from the keyboard is a </a:t>
            </a:r>
            <a:r>
              <a:rPr lang="en-GB" sz="3200" b="1" dirty="0">
                <a:solidFill>
                  <a:srgbClr val="7030A0"/>
                </a:solidFill>
              </a:rPr>
              <a:t>string</a:t>
            </a:r>
            <a:r>
              <a:rPr lang="en-GB" sz="3200" dirty="0">
                <a:solidFill>
                  <a:srgbClr val="7030A0"/>
                </a:solidFill>
              </a:rPr>
              <a:t>!</a:t>
            </a:r>
            <a:endParaRPr lang="en-GB" sz="32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791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C2D2C2C4-CFB3-48A4-AF5C-2C875B2EFB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1827392"/>
              </p:ext>
            </p:extLst>
          </p:nvPr>
        </p:nvGraphicFramePr>
        <p:xfrm>
          <a:off x="6882124" y="1142206"/>
          <a:ext cx="422226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131">
                  <a:extLst>
                    <a:ext uri="{9D8B030D-6E8A-4147-A177-3AD203B41FA5}">
                      <a16:colId xmlns:a16="http://schemas.microsoft.com/office/drawing/2014/main" val="2894499520"/>
                    </a:ext>
                  </a:extLst>
                </a:gridCol>
                <a:gridCol w="2111131">
                  <a:extLst>
                    <a:ext uri="{9D8B030D-6E8A-4147-A177-3AD203B41FA5}">
                      <a16:colId xmlns:a16="http://schemas.microsoft.com/office/drawing/2014/main" val="2978893554"/>
                    </a:ext>
                  </a:extLst>
                </a:gridCol>
              </a:tblGrid>
              <a:tr h="599709">
                <a:tc>
                  <a:txBody>
                    <a:bodyPr/>
                    <a:lstStyle/>
                    <a:p>
                      <a:pPr algn="ctr"/>
                      <a:r>
                        <a:rPr lang="en-GB" sz="3600"/>
                        <a:t>value1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/>
                        <a:t>value2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316171"/>
                  </a:ext>
                </a:extLst>
              </a:tr>
              <a:tr h="599709"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216021"/>
                  </a:ext>
                </a:extLst>
              </a:tr>
              <a:tr h="599709"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749944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Python Example – input()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value1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"1st: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value2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"2nd: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result = value1 +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(result)</a:t>
            </a:r>
            <a:endParaRPr lang="en-GB" altLang="en-US" sz="4400" noProof="0" dirty="0">
              <a:latin typeface="Arial" panose="020B0604020202020204" pitchFamily="34" charset="0"/>
            </a:endParaRPr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F68E8778-7703-40F7-B771-E03A015D1D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4915134"/>
              </p:ext>
            </p:extLst>
          </p:nvPr>
        </p:nvGraphicFramePr>
        <p:xfrm>
          <a:off x="7595904" y="3637051"/>
          <a:ext cx="282330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307">
                  <a:extLst>
                    <a:ext uri="{9D8B030D-6E8A-4147-A177-3AD203B41FA5}">
                      <a16:colId xmlns:a16="http://schemas.microsoft.com/office/drawing/2014/main" val="2894499520"/>
                    </a:ext>
                  </a:extLst>
                </a:gridCol>
              </a:tblGrid>
              <a:tr h="599709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316171"/>
                  </a:ext>
                </a:extLst>
              </a:tr>
              <a:tr h="599709"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216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413803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casting to a number</a:t>
            </a:r>
          </a:p>
        </p:txBody>
      </p:sp>
    </p:spTree>
    <p:extLst>
      <p:ext uri="{BB962C8B-B14F-4D97-AF65-F5344CB8AC3E}">
        <p14:creationId xmlns:p14="http://schemas.microsoft.com/office/powerpoint/2010/main" val="171094895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Cast (convert) to Integer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1517301" y="1950840"/>
            <a:ext cx="241510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"42"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AAB01A-94DD-4613-BD71-1720FEFEFA8E}"/>
              </a:ext>
            </a:extLst>
          </p:cNvPr>
          <p:cNvSpPr txBox="1"/>
          <p:nvPr/>
        </p:nvSpPr>
        <p:spPr>
          <a:xfrm>
            <a:off x="9341072" y="1950839"/>
            <a:ext cx="144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42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963B08-C212-4718-A8AA-458D4C59CEBA}"/>
              </a:ext>
            </a:extLst>
          </p:cNvPr>
          <p:cNvSpPr txBox="1"/>
          <p:nvPr/>
        </p:nvSpPr>
        <p:spPr>
          <a:xfrm>
            <a:off x="2160397" y="3276403"/>
            <a:ext cx="17720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"0"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4116738" y="3126779"/>
            <a:ext cx="5040000" cy="1080000"/>
            <a:chOff x="3001371" y="3310688"/>
            <a:chExt cx="5040000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int()</a:t>
              </a:r>
              <a:endParaRPr lang="en-GB" sz="28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0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22E98D8-233B-4694-9FD3-C4CE473126AC}"/>
              </a:ext>
            </a:extLst>
          </p:cNvPr>
          <p:cNvSpPr txBox="1"/>
          <p:nvPr/>
        </p:nvSpPr>
        <p:spPr>
          <a:xfrm>
            <a:off x="9341072" y="3276402"/>
            <a:ext cx="216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0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11BBBB-743B-4F70-920B-92D86D92F2EF}"/>
              </a:ext>
            </a:extLst>
          </p:cNvPr>
          <p:cNvSpPr txBox="1"/>
          <p:nvPr/>
        </p:nvSpPr>
        <p:spPr>
          <a:xfrm>
            <a:off x="1779598" y="4601966"/>
            <a:ext cx="21528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"-9"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4116738" y="4452342"/>
            <a:ext cx="5040000" cy="1080000"/>
            <a:chOff x="3001371" y="5080311"/>
            <a:chExt cx="5040000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int()</a:t>
              </a:r>
              <a:endParaRPr lang="en-GB" b="1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0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044AEBC-420D-48FB-B565-42688EEC339C}"/>
              </a:ext>
            </a:extLst>
          </p:cNvPr>
          <p:cNvSpPr txBox="1"/>
          <p:nvPr/>
        </p:nvSpPr>
        <p:spPr>
          <a:xfrm>
            <a:off x="9341071" y="4601965"/>
            <a:ext cx="265030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-9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64AFC2-DEB9-408B-9B33-41239EB6D45A}"/>
              </a:ext>
            </a:extLst>
          </p:cNvPr>
          <p:cNvSpPr txBox="1"/>
          <p:nvPr/>
        </p:nvSpPr>
        <p:spPr>
          <a:xfrm flipH="1">
            <a:off x="2731624" y="5911406"/>
            <a:ext cx="2825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Input: String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3AE61-A5F0-44B0-85E4-A2C24F50939C}"/>
              </a:ext>
            </a:extLst>
          </p:cNvPr>
          <p:cNvSpPr txBox="1"/>
          <p:nvPr/>
        </p:nvSpPr>
        <p:spPr>
          <a:xfrm flipH="1">
            <a:off x="7716738" y="5911406"/>
            <a:ext cx="2543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Output: Integer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1D550B0-78F8-4609-ACA7-D01FA28DE5F0}"/>
              </a:ext>
            </a:extLst>
          </p:cNvPr>
          <p:cNvGrpSpPr/>
          <p:nvPr/>
        </p:nvGrpSpPr>
        <p:grpSpPr>
          <a:xfrm>
            <a:off x="2896884" y="1331802"/>
            <a:ext cx="7652101" cy="1549414"/>
            <a:chOff x="2896884" y="1331802"/>
            <a:chExt cx="7652101" cy="1549414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9FCA59A-C6C8-4FE7-937D-F924D6025527}"/>
                </a:ext>
              </a:extLst>
            </p:cNvPr>
            <p:cNvGrpSpPr/>
            <p:nvPr/>
          </p:nvGrpSpPr>
          <p:grpSpPr>
            <a:xfrm>
              <a:off x="2896884" y="1546532"/>
              <a:ext cx="7652101" cy="1334684"/>
              <a:chOff x="2896884" y="1436004"/>
              <a:chExt cx="7652101" cy="1334684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3E1E4FC-6C2F-4382-A28C-7A8F885DF0B5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3200" b="1" dirty="0"/>
                  <a:t>Cast to integer</a:t>
                </a:r>
                <a:endParaRPr lang="en-GB" sz="2800" dirty="0"/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CC2826AC-7F44-4299-8866-DE1764F90F4A}"/>
                  </a:ext>
                </a:extLst>
              </p:cNvPr>
              <p:cNvCxnSpPr/>
              <p:nvPr/>
            </p:nvCxnSpPr>
            <p:spPr>
              <a:xfrm>
                <a:off x="41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34FD2816-373D-4177-B305-495048083F64}"/>
                  </a:ext>
                </a:extLst>
              </p:cNvPr>
              <p:cNvSpPr/>
              <p:nvPr/>
            </p:nvSpPr>
            <p:spPr>
              <a:xfrm>
                <a:off x="2896884" y="1436004"/>
                <a:ext cx="9829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Input</a:t>
                </a:r>
                <a:endParaRPr lang="en-GB" sz="2800" dirty="0"/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B3F632AB-302E-41E3-885B-DC06229F5D2C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3BE8097-0B13-408B-A322-A52C7D9895B5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Output</a:t>
                </a:r>
                <a:endParaRPr lang="en-GB" sz="2800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7C97C83-F114-4D54-B529-3C7158697F3F}"/>
                </a:ext>
              </a:extLst>
            </p:cNvPr>
            <p:cNvSpPr/>
            <p:nvPr/>
          </p:nvSpPr>
          <p:spPr>
            <a:xfrm>
              <a:off x="5895189" y="1331802"/>
              <a:ext cx="148309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b="1" dirty="0"/>
                <a:t>Function</a:t>
              </a:r>
              <a:endParaRPr lang="en-GB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376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9" grpId="0"/>
      <p:bldP spid="27" grpId="0"/>
      <p:bldP spid="28" grpId="0"/>
      <p:bldP spid="36" grpId="0"/>
      <p:bldP spid="40" grpId="0"/>
      <p:bldP spid="41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Cast (convert) to Integer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4116738" y="3126779"/>
            <a:ext cx="5040000" cy="1080000"/>
            <a:chOff x="3001371" y="3310688"/>
            <a:chExt cx="5040000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0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4116738" y="4452342"/>
            <a:ext cx="5040000" cy="1080000"/>
            <a:chOff x="3001371" y="5080311"/>
            <a:chExt cx="5040000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0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864AFC2-DEB9-408B-9B33-41239EB6D45A}"/>
              </a:ext>
            </a:extLst>
          </p:cNvPr>
          <p:cNvSpPr txBox="1"/>
          <p:nvPr/>
        </p:nvSpPr>
        <p:spPr>
          <a:xfrm flipH="1">
            <a:off x="2731624" y="5911406"/>
            <a:ext cx="2825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Input: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3AE61-A5F0-44B0-85E4-A2C24F50939C}"/>
              </a:ext>
            </a:extLst>
          </p:cNvPr>
          <p:cNvSpPr txBox="1"/>
          <p:nvPr/>
        </p:nvSpPr>
        <p:spPr>
          <a:xfrm flipH="1">
            <a:off x="7716738" y="5911406"/>
            <a:ext cx="2543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Output: 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AACA79B-13CE-484A-9E10-BCEE8158831C}"/>
              </a:ext>
            </a:extLst>
          </p:cNvPr>
          <p:cNvGrpSpPr/>
          <p:nvPr/>
        </p:nvGrpSpPr>
        <p:grpSpPr>
          <a:xfrm>
            <a:off x="2896884" y="1331802"/>
            <a:ext cx="7652101" cy="1549414"/>
            <a:chOff x="2896884" y="1331802"/>
            <a:chExt cx="7652101" cy="154941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81089BF-E1D9-40B2-A628-58D0924934DF}"/>
                </a:ext>
              </a:extLst>
            </p:cNvPr>
            <p:cNvGrpSpPr/>
            <p:nvPr/>
          </p:nvGrpSpPr>
          <p:grpSpPr>
            <a:xfrm>
              <a:off x="2896884" y="1546532"/>
              <a:ext cx="7652101" cy="1334684"/>
              <a:chOff x="2896884" y="1436004"/>
              <a:chExt cx="7652101" cy="1334684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9A0F8047-9003-42F3-8C14-90236A33FDFA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800" dirty="0"/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C5F7325B-E9A4-490E-ACB6-0F71E2B1FA28}"/>
                  </a:ext>
                </a:extLst>
              </p:cNvPr>
              <p:cNvCxnSpPr/>
              <p:nvPr/>
            </p:nvCxnSpPr>
            <p:spPr>
              <a:xfrm>
                <a:off x="41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AC3DA51-3D32-4C03-B43A-5E3DDDF85D21}"/>
                  </a:ext>
                </a:extLst>
              </p:cNvPr>
              <p:cNvSpPr/>
              <p:nvPr/>
            </p:nvSpPr>
            <p:spPr>
              <a:xfrm>
                <a:off x="2896884" y="1436004"/>
                <a:ext cx="9829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Input</a:t>
                </a:r>
                <a:endParaRPr lang="en-GB" sz="2800" dirty="0"/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D830847D-7E87-41A5-8202-EC479F705D49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ADE27D93-022F-47DA-9FFC-6CCECF413FB5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Output</a:t>
                </a:r>
                <a:endParaRPr lang="en-GB" sz="2800" dirty="0"/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58E1C9A-584A-4710-BE6A-5C6827CCC16B}"/>
                </a:ext>
              </a:extLst>
            </p:cNvPr>
            <p:cNvSpPr/>
            <p:nvPr/>
          </p:nvSpPr>
          <p:spPr>
            <a:xfrm>
              <a:off x="5895189" y="1331802"/>
              <a:ext cx="148309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b="1" dirty="0"/>
                <a:t>Function</a:t>
              </a:r>
              <a:endParaRPr lang="en-GB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7939793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noProof="0" dirty="0"/>
              <a:t>int() -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6423021" y="3044278"/>
            <a:ext cx="39525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r>
              <a:rPr lang="en-GB" sz="4400" dirty="0">
                <a:effectLst/>
                <a:latin typeface="Consolas" panose="020B0609020204030204" pitchFamily="49" charset="0"/>
              </a:rPr>
              <a:t>(</a:t>
            </a:r>
            <a:r>
              <a:rPr lang="en-GB" sz="4400" dirty="0">
                <a:solidFill>
                  <a:srgbClr val="183691"/>
                </a:solidFill>
                <a:effectLst/>
                <a:latin typeface="Consolas" panose="020B0609020204030204" pitchFamily="49" charset="0"/>
              </a:rPr>
              <a:t>"42"</a:t>
            </a:r>
            <a:r>
              <a:rPr lang="en-GB" sz="4400" dirty="0"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Callout: Bent Line with No Border 8">
            <a:extLst>
              <a:ext uri="{FF2B5EF4-FFF2-40B4-BE49-F238E27FC236}">
                <a16:creationId xmlns:a16="http://schemas.microsoft.com/office/drawing/2014/main" id="{FE76DF5F-81B3-45AC-A628-BBE9287E827D}"/>
              </a:ext>
            </a:extLst>
          </p:cNvPr>
          <p:cNvSpPr/>
          <p:nvPr/>
        </p:nvSpPr>
        <p:spPr>
          <a:xfrm flipH="1">
            <a:off x="4094520" y="4132699"/>
            <a:ext cx="2426393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44891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chemeClr val="tx1"/>
                </a:solidFill>
              </a:rPr>
              <a:t>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18FD7-5699-4405-B11B-E8E902552F72}"/>
              </a:ext>
            </a:extLst>
          </p:cNvPr>
          <p:cNvSpPr txBox="1"/>
          <p:nvPr/>
        </p:nvSpPr>
        <p:spPr>
          <a:xfrm>
            <a:off x="2617504" y="3044279"/>
            <a:ext cx="37303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 err="1">
                <a:effectLst/>
                <a:latin typeface="Consolas" panose="020B0609020204030204" pitchFamily="49" charset="0"/>
              </a:rPr>
              <a:t>myInteger</a:t>
            </a:r>
            <a:r>
              <a:rPr lang="en-GB" sz="4400" dirty="0">
                <a:effectLst/>
                <a:latin typeface="Consolas" panose="020B0609020204030204" pitchFamily="49" charset="0"/>
              </a:rPr>
              <a:t> =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0EA2EDD-D55C-4A47-82C6-64769CAA93CE}"/>
              </a:ext>
            </a:extLst>
          </p:cNvPr>
          <p:cNvGrpSpPr/>
          <p:nvPr/>
        </p:nvGrpSpPr>
        <p:grpSpPr>
          <a:xfrm>
            <a:off x="5341090" y="1890271"/>
            <a:ext cx="1433512" cy="1154006"/>
            <a:chOff x="5456197" y="2058777"/>
            <a:chExt cx="1433512" cy="1154006"/>
          </a:xfrm>
        </p:grpSpPr>
        <p:sp>
          <p:nvSpPr>
            <p:cNvPr id="14" name="Arrow: Curved Down 13">
              <a:extLst>
                <a:ext uri="{FF2B5EF4-FFF2-40B4-BE49-F238E27FC236}">
                  <a16:creationId xmlns:a16="http://schemas.microsoft.com/office/drawing/2014/main" id="{62197FF0-B895-45D2-A531-96330FFB0E40}"/>
                </a:ext>
              </a:extLst>
            </p:cNvPr>
            <p:cNvSpPr/>
            <p:nvPr/>
          </p:nvSpPr>
          <p:spPr>
            <a:xfrm flipH="1">
              <a:off x="5456197" y="2581999"/>
              <a:ext cx="1433512" cy="630784"/>
            </a:xfrm>
            <a:prstGeom prst="curvedDownArrow">
              <a:avLst>
                <a:gd name="adj1" fmla="val 14746"/>
                <a:gd name="adj2" fmla="val 42781"/>
                <a:gd name="adj3" fmla="val 35417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06D1F41-C62C-4D11-89A7-FCE586210A4C}"/>
                </a:ext>
              </a:extLst>
            </p:cNvPr>
            <p:cNvSpPr txBox="1"/>
            <p:nvPr/>
          </p:nvSpPr>
          <p:spPr>
            <a:xfrm>
              <a:off x="5546019" y="2058777"/>
              <a:ext cx="12538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/>
                <a:t>Output</a:t>
              </a:r>
              <a:endParaRPr lang="en-GB" sz="3200" b="1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B2E87098-E01A-4642-9F58-DC02F2CCC6CE}"/>
              </a:ext>
            </a:extLst>
          </p:cNvPr>
          <p:cNvSpPr/>
          <p:nvPr/>
        </p:nvSpPr>
        <p:spPr>
          <a:xfrm>
            <a:off x="3661198" y="5415657"/>
            <a:ext cx="4869603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Converts string to integer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Input can be a variable</a:t>
            </a:r>
          </a:p>
        </p:txBody>
      </p:sp>
      <p:sp>
        <p:nvSpPr>
          <p:cNvPr id="11" name="Callout: Bent Line with No Border 8">
            <a:extLst>
              <a:ext uri="{FF2B5EF4-FFF2-40B4-BE49-F238E27FC236}">
                <a16:creationId xmlns:a16="http://schemas.microsoft.com/office/drawing/2014/main" id="{0C70402D-F0E1-4195-99E3-3EC955CDA995}"/>
              </a:ext>
            </a:extLst>
          </p:cNvPr>
          <p:cNvSpPr/>
          <p:nvPr/>
        </p:nvSpPr>
        <p:spPr>
          <a:xfrm>
            <a:off x="8914699" y="4132699"/>
            <a:ext cx="2426393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44891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chemeClr val="tx1"/>
                </a:solidFill>
              </a:rPr>
              <a:t>Input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5BB990-B5E3-4B1F-A169-BAA74A8C19A6}"/>
              </a:ext>
            </a:extLst>
          </p:cNvPr>
          <p:cNvCxnSpPr>
            <a:cxnSpLocks/>
          </p:cNvCxnSpPr>
          <p:nvPr/>
        </p:nvCxnSpPr>
        <p:spPr>
          <a:xfrm>
            <a:off x="7818507" y="3697795"/>
            <a:ext cx="1080000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5897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12" grpId="0"/>
      <p:bldP spid="10" grpId="0"/>
      <p:bldP spid="11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noProof="0" dirty="0"/>
              <a:t>int() -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6423021" y="3044278"/>
            <a:ext cx="39525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r>
              <a:rPr lang="en-GB" sz="4400" dirty="0">
                <a:effectLst/>
                <a:latin typeface="Consolas" panose="020B0609020204030204" pitchFamily="49" charset="0"/>
              </a:rPr>
              <a:t>(</a:t>
            </a:r>
            <a:r>
              <a:rPr lang="en-GB" sz="4400" dirty="0">
                <a:solidFill>
                  <a:srgbClr val="183691"/>
                </a:solidFill>
                <a:effectLst/>
                <a:latin typeface="Consolas" panose="020B0609020204030204" pitchFamily="49" charset="0"/>
              </a:rPr>
              <a:t>"42"</a:t>
            </a:r>
            <a:r>
              <a:rPr lang="en-GB" sz="4400" dirty="0"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18FD7-5699-4405-B11B-E8E902552F72}"/>
              </a:ext>
            </a:extLst>
          </p:cNvPr>
          <p:cNvSpPr txBox="1"/>
          <p:nvPr/>
        </p:nvSpPr>
        <p:spPr>
          <a:xfrm>
            <a:off x="2617504" y="3044279"/>
            <a:ext cx="37303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 err="1">
                <a:effectLst/>
                <a:latin typeface="Consolas" panose="020B0609020204030204" pitchFamily="49" charset="0"/>
              </a:rPr>
              <a:t>myInteger</a:t>
            </a:r>
            <a:r>
              <a:rPr lang="en-GB" sz="4400" dirty="0">
                <a:effectLst/>
                <a:latin typeface="Consolas" panose="020B0609020204030204" pitchFamily="49" charset="0"/>
              </a:rPr>
              <a:t> = </a:t>
            </a:r>
          </a:p>
        </p:txBody>
      </p:sp>
    </p:spTree>
    <p:extLst>
      <p:ext uri="{BB962C8B-B14F-4D97-AF65-F5344CB8AC3E}">
        <p14:creationId xmlns:p14="http://schemas.microsoft.com/office/powerpoint/2010/main" val="77411819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Cast (convert) to Real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1517301" y="1950840"/>
            <a:ext cx="241510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"4.2"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AAB01A-94DD-4613-BD71-1720FEFEFA8E}"/>
              </a:ext>
            </a:extLst>
          </p:cNvPr>
          <p:cNvSpPr txBox="1"/>
          <p:nvPr/>
        </p:nvSpPr>
        <p:spPr>
          <a:xfrm>
            <a:off x="9341072" y="1950839"/>
            <a:ext cx="144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4.2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963B08-C212-4718-A8AA-458D4C59CEBA}"/>
              </a:ext>
            </a:extLst>
          </p:cNvPr>
          <p:cNvSpPr txBox="1"/>
          <p:nvPr/>
        </p:nvSpPr>
        <p:spPr>
          <a:xfrm>
            <a:off x="2160397" y="3276403"/>
            <a:ext cx="17720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"0"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4116738" y="3126779"/>
            <a:ext cx="5040000" cy="1080000"/>
            <a:chOff x="3001371" y="3310688"/>
            <a:chExt cx="5040000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float()</a:t>
              </a:r>
              <a:endParaRPr lang="en-GB" sz="28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0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22E98D8-233B-4694-9FD3-C4CE473126AC}"/>
              </a:ext>
            </a:extLst>
          </p:cNvPr>
          <p:cNvSpPr txBox="1"/>
          <p:nvPr/>
        </p:nvSpPr>
        <p:spPr>
          <a:xfrm>
            <a:off x="9341072" y="3276402"/>
            <a:ext cx="216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0.0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11BBBB-743B-4F70-920B-92D86D92F2EF}"/>
              </a:ext>
            </a:extLst>
          </p:cNvPr>
          <p:cNvSpPr txBox="1"/>
          <p:nvPr/>
        </p:nvSpPr>
        <p:spPr>
          <a:xfrm>
            <a:off x="1779598" y="4601966"/>
            <a:ext cx="21528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"-9.6"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4116738" y="4452342"/>
            <a:ext cx="5040000" cy="1080000"/>
            <a:chOff x="3001371" y="5080311"/>
            <a:chExt cx="5040000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float()</a:t>
              </a:r>
              <a:endParaRPr lang="en-GB" b="1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0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044AEBC-420D-48FB-B565-42688EEC339C}"/>
              </a:ext>
            </a:extLst>
          </p:cNvPr>
          <p:cNvSpPr txBox="1"/>
          <p:nvPr/>
        </p:nvSpPr>
        <p:spPr>
          <a:xfrm>
            <a:off x="9341071" y="4601965"/>
            <a:ext cx="265030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-9.6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64AFC2-DEB9-408B-9B33-41239EB6D45A}"/>
              </a:ext>
            </a:extLst>
          </p:cNvPr>
          <p:cNvSpPr txBox="1"/>
          <p:nvPr/>
        </p:nvSpPr>
        <p:spPr>
          <a:xfrm flipH="1">
            <a:off x="2731624" y="5911406"/>
            <a:ext cx="2825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Input: String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3AE61-A5F0-44B0-85E4-A2C24F50939C}"/>
              </a:ext>
            </a:extLst>
          </p:cNvPr>
          <p:cNvSpPr txBox="1"/>
          <p:nvPr/>
        </p:nvSpPr>
        <p:spPr>
          <a:xfrm flipH="1">
            <a:off x="7716738" y="5911406"/>
            <a:ext cx="2543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Output: Real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DD65B88-6C76-4F80-9853-D5FF4D0B0487}"/>
              </a:ext>
            </a:extLst>
          </p:cNvPr>
          <p:cNvGrpSpPr/>
          <p:nvPr/>
        </p:nvGrpSpPr>
        <p:grpSpPr>
          <a:xfrm>
            <a:off x="2896884" y="1331802"/>
            <a:ext cx="7652101" cy="1549414"/>
            <a:chOff x="2896884" y="1331802"/>
            <a:chExt cx="7652101" cy="1549414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5DAD2C2-851F-4C0F-A70D-4FCD45DD6765}"/>
                </a:ext>
              </a:extLst>
            </p:cNvPr>
            <p:cNvGrpSpPr/>
            <p:nvPr/>
          </p:nvGrpSpPr>
          <p:grpSpPr>
            <a:xfrm>
              <a:off x="2896884" y="1546532"/>
              <a:ext cx="7652101" cy="1334684"/>
              <a:chOff x="2896884" y="1436004"/>
              <a:chExt cx="7652101" cy="1334684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B7A55C3-637A-47C7-A5CF-AC254EC9D976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3200" b="1" dirty="0"/>
                  <a:t>Cast to real</a:t>
                </a:r>
                <a:endParaRPr lang="en-GB" sz="2800" dirty="0"/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189ACEA3-6F18-4607-881B-F12B049A3D2E}"/>
                  </a:ext>
                </a:extLst>
              </p:cNvPr>
              <p:cNvCxnSpPr/>
              <p:nvPr/>
            </p:nvCxnSpPr>
            <p:spPr>
              <a:xfrm>
                <a:off x="41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E09A57C-89C4-4FAA-970E-9E980F126D2F}"/>
                  </a:ext>
                </a:extLst>
              </p:cNvPr>
              <p:cNvSpPr/>
              <p:nvPr/>
            </p:nvSpPr>
            <p:spPr>
              <a:xfrm>
                <a:off x="2896884" y="1436004"/>
                <a:ext cx="9829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Input</a:t>
                </a:r>
                <a:endParaRPr lang="en-GB" sz="2800" dirty="0"/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B2454F58-8CBA-4635-A34C-A131067CD4B4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1A2A068-4149-4A5A-BC6B-6EB22C81DDE5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Output</a:t>
                </a:r>
                <a:endParaRPr lang="en-GB" sz="2800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4327629-F8CB-4D2A-9BB4-09E1B414D2D0}"/>
                </a:ext>
              </a:extLst>
            </p:cNvPr>
            <p:cNvSpPr/>
            <p:nvPr/>
          </p:nvSpPr>
          <p:spPr>
            <a:xfrm>
              <a:off x="5895189" y="1331802"/>
              <a:ext cx="148309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b="1" dirty="0"/>
                <a:t>Function</a:t>
              </a:r>
              <a:endParaRPr lang="en-GB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564556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9" grpId="0"/>
      <p:bldP spid="27" grpId="0"/>
      <p:bldP spid="28" grpId="0"/>
      <p:bldP spid="36" grpId="0"/>
      <p:bldP spid="40" grpId="0"/>
      <p:bldP spid="41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Cast (convert) to Real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4116738" y="3126779"/>
            <a:ext cx="5040000" cy="1080000"/>
            <a:chOff x="3001371" y="3310688"/>
            <a:chExt cx="5040000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0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4116738" y="4452342"/>
            <a:ext cx="5040000" cy="1080000"/>
            <a:chOff x="3001371" y="5080311"/>
            <a:chExt cx="5040000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0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864AFC2-DEB9-408B-9B33-41239EB6D45A}"/>
              </a:ext>
            </a:extLst>
          </p:cNvPr>
          <p:cNvSpPr txBox="1"/>
          <p:nvPr/>
        </p:nvSpPr>
        <p:spPr>
          <a:xfrm flipH="1">
            <a:off x="2731624" y="5911406"/>
            <a:ext cx="2825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Input: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3AE61-A5F0-44B0-85E4-A2C24F50939C}"/>
              </a:ext>
            </a:extLst>
          </p:cNvPr>
          <p:cNvSpPr txBox="1"/>
          <p:nvPr/>
        </p:nvSpPr>
        <p:spPr>
          <a:xfrm flipH="1">
            <a:off x="7716738" y="5911406"/>
            <a:ext cx="2543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Output: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ED38382-3D24-4F32-A445-53F8FBC5118E}"/>
              </a:ext>
            </a:extLst>
          </p:cNvPr>
          <p:cNvGrpSpPr/>
          <p:nvPr/>
        </p:nvGrpSpPr>
        <p:grpSpPr>
          <a:xfrm>
            <a:off x="2896884" y="1331802"/>
            <a:ext cx="7652101" cy="1549414"/>
            <a:chOff x="2896884" y="1331802"/>
            <a:chExt cx="7652101" cy="154941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CA1ACF4-C655-4C78-B686-286341CEDE75}"/>
                </a:ext>
              </a:extLst>
            </p:cNvPr>
            <p:cNvGrpSpPr/>
            <p:nvPr/>
          </p:nvGrpSpPr>
          <p:grpSpPr>
            <a:xfrm>
              <a:off x="2896884" y="1546532"/>
              <a:ext cx="7652101" cy="1334684"/>
              <a:chOff x="2896884" y="1436004"/>
              <a:chExt cx="7652101" cy="1334684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6A809AC-BEE2-418A-AA6D-4CBBAD6CA4B9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800" dirty="0"/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7CCE423E-417E-40F6-86AE-174788571368}"/>
                  </a:ext>
                </a:extLst>
              </p:cNvPr>
              <p:cNvCxnSpPr/>
              <p:nvPr/>
            </p:nvCxnSpPr>
            <p:spPr>
              <a:xfrm>
                <a:off x="41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BCABF83-62CA-4C81-9C61-6F5AF81E3F2E}"/>
                  </a:ext>
                </a:extLst>
              </p:cNvPr>
              <p:cNvSpPr/>
              <p:nvPr/>
            </p:nvSpPr>
            <p:spPr>
              <a:xfrm>
                <a:off x="2896884" y="1436004"/>
                <a:ext cx="9829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Input</a:t>
                </a:r>
                <a:endParaRPr lang="en-GB" sz="2800" dirty="0"/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E2C84B21-C526-4327-B472-9B8D988B61FD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27D4A06-7107-4D1C-9E61-40789A6DCC29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Output</a:t>
                </a:r>
                <a:endParaRPr lang="en-GB" sz="2800" dirty="0"/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75B40BF-5F24-4173-9A9F-1DF97A64DDE4}"/>
                </a:ext>
              </a:extLst>
            </p:cNvPr>
            <p:cNvSpPr/>
            <p:nvPr/>
          </p:nvSpPr>
          <p:spPr>
            <a:xfrm>
              <a:off x="5895189" y="1331802"/>
              <a:ext cx="148309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b="1" dirty="0"/>
                <a:t>Function</a:t>
              </a:r>
              <a:endParaRPr lang="en-GB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9355442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noProof="0" dirty="0"/>
              <a:t>float() -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5103507" y="3044278"/>
            <a:ext cx="39525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float</a:t>
            </a:r>
            <a:r>
              <a:rPr lang="en-GB" sz="4400" dirty="0">
                <a:effectLst/>
                <a:latin typeface="Consolas" panose="020B0609020204030204" pitchFamily="49" charset="0"/>
              </a:rPr>
              <a:t>(</a:t>
            </a:r>
            <a:r>
              <a:rPr lang="en-GB" sz="4400" dirty="0">
                <a:solidFill>
                  <a:srgbClr val="183691"/>
                </a:solidFill>
                <a:effectLst/>
                <a:latin typeface="Consolas" panose="020B0609020204030204" pitchFamily="49" charset="0"/>
              </a:rPr>
              <a:t>"4.2"</a:t>
            </a:r>
            <a:r>
              <a:rPr lang="en-GB" sz="4400" dirty="0"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Callout: Bent Line with No Border 8">
            <a:extLst>
              <a:ext uri="{FF2B5EF4-FFF2-40B4-BE49-F238E27FC236}">
                <a16:creationId xmlns:a16="http://schemas.microsoft.com/office/drawing/2014/main" id="{FE76DF5F-81B3-45AC-A628-BBE9287E827D}"/>
              </a:ext>
            </a:extLst>
          </p:cNvPr>
          <p:cNvSpPr/>
          <p:nvPr/>
        </p:nvSpPr>
        <p:spPr>
          <a:xfrm flipH="1">
            <a:off x="2775006" y="4132699"/>
            <a:ext cx="2426393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44891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18FD7-5699-4405-B11B-E8E902552F72}"/>
              </a:ext>
            </a:extLst>
          </p:cNvPr>
          <p:cNvSpPr txBox="1"/>
          <p:nvPr/>
        </p:nvSpPr>
        <p:spPr>
          <a:xfrm>
            <a:off x="1297990" y="3044279"/>
            <a:ext cx="37303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 err="1">
                <a:effectLst/>
                <a:latin typeface="Consolas" panose="020B0609020204030204" pitchFamily="49" charset="0"/>
              </a:rPr>
              <a:t>myReal</a:t>
            </a:r>
            <a:r>
              <a:rPr lang="en-GB" sz="4400" dirty="0">
                <a:effectLst/>
                <a:latin typeface="Consolas" panose="020B0609020204030204" pitchFamily="49" charset="0"/>
              </a:rPr>
              <a:t> =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0EA2EDD-D55C-4A47-82C6-64769CAA93CE}"/>
              </a:ext>
            </a:extLst>
          </p:cNvPr>
          <p:cNvGrpSpPr/>
          <p:nvPr/>
        </p:nvGrpSpPr>
        <p:grpSpPr>
          <a:xfrm>
            <a:off x="4021576" y="1890271"/>
            <a:ext cx="1433512" cy="1154006"/>
            <a:chOff x="5456197" y="2058777"/>
            <a:chExt cx="1433512" cy="1154006"/>
          </a:xfrm>
        </p:grpSpPr>
        <p:sp>
          <p:nvSpPr>
            <p:cNvPr id="14" name="Arrow: Curved Down 13">
              <a:extLst>
                <a:ext uri="{FF2B5EF4-FFF2-40B4-BE49-F238E27FC236}">
                  <a16:creationId xmlns:a16="http://schemas.microsoft.com/office/drawing/2014/main" id="{62197FF0-B895-45D2-A531-96330FFB0E40}"/>
                </a:ext>
              </a:extLst>
            </p:cNvPr>
            <p:cNvSpPr/>
            <p:nvPr/>
          </p:nvSpPr>
          <p:spPr>
            <a:xfrm flipH="1">
              <a:off x="5456197" y="2581999"/>
              <a:ext cx="1433512" cy="630784"/>
            </a:xfrm>
            <a:prstGeom prst="curvedDownArrow">
              <a:avLst>
                <a:gd name="adj1" fmla="val 14746"/>
                <a:gd name="adj2" fmla="val 42781"/>
                <a:gd name="adj3" fmla="val 35417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06D1F41-C62C-4D11-89A7-FCE586210A4C}"/>
                </a:ext>
              </a:extLst>
            </p:cNvPr>
            <p:cNvSpPr txBox="1"/>
            <p:nvPr/>
          </p:nvSpPr>
          <p:spPr>
            <a:xfrm>
              <a:off x="5546019" y="2058777"/>
              <a:ext cx="12538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>
                  <a:solidFill>
                    <a:srgbClr val="7030A0"/>
                  </a:solidFill>
                </a:rPr>
                <a:t>Output</a:t>
              </a:r>
              <a:endParaRPr lang="en-GB" sz="3200" b="1" dirty="0">
                <a:solidFill>
                  <a:srgbClr val="7030A0"/>
                </a:solidFill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B2E87098-E01A-4642-9F58-DC02F2CCC6CE}"/>
              </a:ext>
            </a:extLst>
          </p:cNvPr>
          <p:cNvSpPr/>
          <p:nvPr/>
        </p:nvSpPr>
        <p:spPr>
          <a:xfrm>
            <a:off x="3877989" y="5415657"/>
            <a:ext cx="4436023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Converts string to real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Input can be a variable</a:t>
            </a:r>
          </a:p>
        </p:txBody>
      </p:sp>
      <p:sp>
        <p:nvSpPr>
          <p:cNvPr id="11" name="Callout: Bent Line with No Border 8">
            <a:extLst>
              <a:ext uri="{FF2B5EF4-FFF2-40B4-BE49-F238E27FC236}">
                <a16:creationId xmlns:a16="http://schemas.microsoft.com/office/drawing/2014/main" id="{0C70402D-F0E1-4195-99E3-3EC955CDA995}"/>
              </a:ext>
            </a:extLst>
          </p:cNvPr>
          <p:cNvSpPr/>
          <p:nvPr/>
        </p:nvSpPr>
        <p:spPr>
          <a:xfrm>
            <a:off x="8289666" y="4132699"/>
            <a:ext cx="2426393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44891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Input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5BB990-B5E3-4B1F-A169-BAA74A8C19A6}"/>
              </a:ext>
            </a:extLst>
          </p:cNvPr>
          <p:cNvCxnSpPr>
            <a:cxnSpLocks/>
          </p:cNvCxnSpPr>
          <p:nvPr/>
        </p:nvCxnSpPr>
        <p:spPr>
          <a:xfrm>
            <a:off x="7251341" y="3697795"/>
            <a:ext cx="1188000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709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12" grpId="0"/>
      <p:bldP spid="10" grpId="0" build="p"/>
      <p:bldP spid="11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noProof="0" dirty="0"/>
              <a:t>float() -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5103507" y="3044278"/>
            <a:ext cx="39525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float</a:t>
            </a:r>
            <a:r>
              <a:rPr lang="en-GB" sz="4400" dirty="0">
                <a:effectLst/>
                <a:latin typeface="Consolas" panose="020B0609020204030204" pitchFamily="49" charset="0"/>
              </a:rPr>
              <a:t>(</a:t>
            </a:r>
            <a:r>
              <a:rPr lang="en-GB" sz="4400" dirty="0">
                <a:solidFill>
                  <a:srgbClr val="183691"/>
                </a:solidFill>
                <a:effectLst/>
                <a:latin typeface="Consolas" panose="020B0609020204030204" pitchFamily="49" charset="0"/>
              </a:rPr>
              <a:t>"4.2"</a:t>
            </a:r>
            <a:r>
              <a:rPr lang="en-GB" sz="4400" dirty="0"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18FD7-5699-4405-B11B-E8E902552F72}"/>
              </a:ext>
            </a:extLst>
          </p:cNvPr>
          <p:cNvSpPr txBox="1"/>
          <p:nvPr/>
        </p:nvSpPr>
        <p:spPr>
          <a:xfrm>
            <a:off x="1297990" y="3044279"/>
            <a:ext cx="37303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 err="1">
                <a:effectLst/>
                <a:latin typeface="Consolas" panose="020B0609020204030204" pitchFamily="49" charset="0"/>
              </a:rPr>
              <a:t>myReal</a:t>
            </a:r>
            <a:r>
              <a:rPr lang="en-GB" sz="4400" dirty="0">
                <a:effectLst/>
                <a:latin typeface="Consolas" panose="020B0609020204030204" pitchFamily="49" charset="0"/>
              </a:rPr>
              <a:t> = </a:t>
            </a:r>
          </a:p>
        </p:txBody>
      </p:sp>
    </p:spTree>
    <p:extLst>
      <p:ext uri="{BB962C8B-B14F-4D97-AF65-F5344CB8AC3E}">
        <p14:creationId xmlns:p14="http://schemas.microsoft.com/office/powerpoint/2010/main" val="388819061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Using Multiple Functions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2E98D8-233B-4694-9FD3-C4CE473126AC}"/>
              </a:ext>
            </a:extLst>
          </p:cNvPr>
          <p:cNvSpPr txBox="1"/>
          <p:nvPr/>
        </p:nvSpPr>
        <p:spPr>
          <a:xfrm>
            <a:off x="10306662" y="2756911"/>
            <a:ext cx="9192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17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11BBBB-743B-4F70-920B-92D86D92F2EF}"/>
              </a:ext>
            </a:extLst>
          </p:cNvPr>
          <p:cNvSpPr txBox="1"/>
          <p:nvPr/>
        </p:nvSpPr>
        <p:spPr>
          <a:xfrm>
            <a:off x="-88048" y="2737408"/>
            <a:ext cx="20910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"Age?"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44AEBC-420D-48FB-B565-42688EEC339C}"/>
              </a:ext>
            </a:extLst>
          </p:cNvPr>
          <p:cNvSpPr txBox="1"/>
          <p:nvPr/>
        </p:nvSpPr>
        <p:spPr>
          <a:xfrm>
            <a:off x="5396153" y="2472253"/>
            <a:ext cx="144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"17"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A41FE4-5D48-4C2E-B458-9157C7913AEE}"/>
              </a:ext>
            </a:extLst>
          </p:cNvPr>
          <p:cNvGrpSpPr/>
          <p:nvPr/>
        </p:nvGrpSpPr>
        <p:grpSpPr>
          <a:xfrm>
            <a:off x="765436" y="1755085"/>
            <a:ext cx="3910717" cy="1923714"/>
            <a:chOff x="765436" y="1755085"/>
            <a:chExt cx="3910717" cy="192371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389AA2-F17C-4A57-B4B8-B88E8D396085}"/>
                </a:ext>
              </a:extLst>
            </p:cNvPr>
            <p:cNvSpPr/>
            <p:nvPr/>
          </p:nvSpPr>
          <p:spPr>
            <a:xfrm>
              <a:off x="765436" y="2039586"/>
              <a:ext cx="98296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800" b="1" dirty="0"/>
                <a:t>Input</a:t>
              </a:r>
              <a:endParaRPr lang="en-GB" sz="2800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D439433-C8FD-42A5-9F35-B193F13CFFA9}"/>
                </a:ext>
              </a:extLst>
            </p:cNvPr>
            <p:cNvSpPr/>
            <p:nvPr/>
          </p:nvSpPr>
          <p:spPr>
            <a:xfrm>
              <a:off x="2610929" y="1755085"/>
              <a:ext cx="1970411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3200" b="1" dirty="0"/>
                <a:t>Function 1</a:t>
              </a:r>
              <a:endParaRPr lang="en-GB" sz="32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2516153" y="2598799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input()</a:t>
              </a:r>
              <a:endParaRPr lang="en-GB" sz="28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>
              <a:cxnSpLocks/>
            </p:cNvCxnSpPr>
            <p:nvPr/>
          </p:nvCxnSpPr>
          <p:spPr>
            <a:xfrm>
              <a:off x="1890228" y="3138799"/>
              <a:ext cx="625925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576DB45-F478-4222-A26D-CCD548668595}"/>
              </a:ext>
            </a:extLst>
          </p:cNvPr>
          <p:cNvSpPr txBox="1"/>
          <p:nvPr/>
        </p:nvSpPr>
        <p:spPr>
          <a:xfrm>
            <a:off x="10306644" y="4469625"/>
            <a:ext cx="14953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3.14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397D43-024D-484C-86BC-4EEA6F6ED406}"/>
              </a:ext>
            </a:extLst>
          </p:cNvPr>
          <p:cNvSpPr txBox="1"/>
          <p:nvPr/>
        </p:nvSpPr>
        <p:spPr>
          <a:xfrm>
            <a:off x="223472" y="4450122"/>
            <a:ext cx="177951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"Pi?"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1742ED-D47A-4C3A-8F27-312B559A095D}"/>
              </a:ext>
            </a:extLst>
          </p:cNvPr>
          <p:cNvSpPr txBox="1"/>
          <p:nvPr/>
        </p:nvSpPr>
        <p:spPr>
          <a:xfrm>
            <a:off x="5041412" y="4183400"/>
            <a:ext cx="20910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"3.14"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1EFD11C-05A4-409E-8AA9-7C11516ABDFB}"/>
              </a:ext>
            </a:extLst>
          </p:cNvPr>
          <p:cNvGrpSpPr/>
          <p:nvPr/>
        </p:nvGrpSpPr>
        <p:grpSpPr>
          <a:xfrm>
            <a:off x="1890210" y="4311513"/>
            <a:ext cx="8379317" cy="1080000"/>
            <a:chOff x="57876" y="3006403"/>
            <a:chExt cx="8379317" cy="10800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EED3CA6-201D-43FC-B33E-7753DFBEAA1F}"/>
                </a:ext>
              </a:extLst>
            </p:cNvPr>
            <p:cNvSpPr/>
            <p:nvPr/>
          </p:nvSpPr>
          <p:spPr>
            <a:xfrm>
              <a:off x="683801" y="3006403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input()</a:t>
              </a:r>
              <a:endParaRPr lang="en-GB" sz="2800" dirty="0"/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D24F94E9-5DD3-471A-BEC4-C51CB78C4654}"/>
                </a:ext>
              </a:extLst>
            </p:cNvPr>
            <p:cNvCxnSpPr>
              <a:cxnSpLocks/>
            </p:cNvCxnSpPr>
            <p:nvPr/>
          </p:nvCxnSpPr>
          <p:spPr>
            <a:xfrm>
              <a:off x="57876" y="3546403"/>
              <a:ext cx="625925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9C225F9-0A1F-4636-968F-48FB4C309FA1}"/>
                </a:ext>
              </a:extLst>
            </p:cNvPr>
            <p:cNvCxnSpPr>
              <a:cxnSpLocks/>
              <a:stCxn id="44" idx="3"/>
              <a:endCxn id="47" idx="1"/>
            </p:cNvCxnSpPr>
            <p:nvPr/>
          </p:nvCxnSpPr>
          <p:spPr>
            <a:xfrm>
              <a:off x="2843801" y="3546403"/>
              <a:ext cx="2805811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9631049-B495-4686-89AC-C0B68E7C9B9B}"/>
                </a:ext>
              </a:extLst>
            </p:cNvPr>
            <p:cNvSpPr/>
            <p:nvPr/>
          </p:nvSpPr>
          <p:spPr>
            <a:xfrm>
              <a:off x="5649612" y="3006403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float()</a:t>
              </a:r>
              <a:endParaRPr lang="en-GB" sz="2800" dirty="0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6F618287-5055-4E40-B33D-DE3CADA11541}"/>
                </a:ext>
              </a:extLst>
            </p:cNvPr>
            <p:cNvCxnSpPr>
              <a:cxnSpLocks/>
              <a:stCxn id="47" idx="3"/>
            </p:cNvCxnSpPr>
            <p:nvPr/>
          </p:nvCxnSpPr>
          <p:spPr>
            <a:xfrm flipV="1">
              <a:off x="7809612" y="3529733"/>
              <a:ext cx="627581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5A13407-79D4-4B7D-ACCC-B3D0B6863359}"/>
              </a:ext>
            </a:extLst>
          </p:cNvPr>
          <p:cNvGrpSpPr/>
          <p:nvPr/>
        </p:nvGrpSpPr>
        <p:grpSpPr>
          <a:xfrm>
            <a:off x="4676153" y="1752643"/>
            <a:ext cx="6677647" cy="1926156"/>
            <a:chOff x="4676153" y="1752643"/>
            <a:chExt cx="6677647" cy="1926156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E252C6D-1A57-4941-B24E-9BCE6248F316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 flipV="1">
              <a:off x="9641964" y="3122129"/>
              <a:ext cx="627581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B3DDC47-2868-4254-A43A-25919B4F9709}"/>
                </a:ext>
              </a:extLst>
            </p:cNvPr>
            <p:cNvGrpSpPr/>
            <p:nvPr/>
          </p:nvGrpSpPr>
          <p:grpSpPr>
            <a:xfrm>
              <a:off x="4676153" y="1752643"/>
              <a:ext cx="6677647" cy="1926156"/>
              <a:chOff x="4676153" y="1752643"/>
              <a:chExt cx="6677647" cy="192615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1C2B82A-6827-4FCA-91A0-98D36326CD98}"/>
                  </a:ext>
                </a:extLst>
              </p:cNvPr>
              <p:cNvSpPr/>
              <p:nvPr/>
            </p:nvSpPr>
            <p:spPr>
              <a:xfrm>
                <a:off x="10099931" y="2039586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Output</a:t>
                </a:r>
                <a:endParaRPr lang="en-GB" sz="2800" dirty="0"/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C3E1FF36-CE0E-4933-9E8E-C84914E59C64}"/>
                  </a:ext>
                </a:extLst>
              </p:cNvPr>
              <p:cNvCxnSpPr>
                <a:cxnSpLocks/>
                <a:stCxn id="20" idx="3"/>
                <a:endCxn id="30" idx="1"/>
              </p:cNvCxnSpPr>
              <p:nvPr/>
            </p:nvCxnSpPr>
            <p:spPr>
              <a:xfrm>
                <a:off x="4676153" y="3138799"/>
                <a:ext cx="2805811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8469C47-3422-4416-A929-BC261791E125}"/>
                  </a:ext>
                </a:extLst>
              </p:cNvPr>
              <p:cNvSpPr/>
              <p:nvPr/>
            </p:nvSpPr>
            <p:spPr>
              <a:xfrm>
                <a:off x="7481964" y="2598799"/>
                <a:ext cx="2160000" cy="108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3200" b="1" dirty="0"/>
                  <a:t>int()</a:t>
                </a:r>
                <a:endParaRPr lang="en-GB" sz="2800" dirty="0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53939C52-7146-4ABC-9DCB-CE6D04A91E70}"/>
                  </a:ext>
                </a:extLst>
              </p:cNvPr>
              <p:cNvSpPr/>
              <p:nvPr/>
            </p:nvSpPr>
            <p:spPr>
              <a:xfrm>
                <a:off x="7576740" y="1752643"/>
                <a:ext cx="197041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sz="3200" b="1" dirty="0"/>
                  <a:t>Function 2</a:t>
                </a:r>
                <a:endParaRPr lang="en-GB" sz="3200" dirty="0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5A0D07A7-B85E-4436-8AF8-65F34D8F8858}"/>
                  </a:ext>
                </a:extLst>
              </p:cNvPr>
              <p:cNvSpPr/>
              <p:nvPr/>
            </p:nvSpPr>
            <p:spPr>
              <a:xfrm>
                <a:off x="4915228" y="2039586"/>
                <a:ext cx="236154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Output / Input</a:t>
                </a:r>
                <a:endParaRPr lang="en-GB" sz="2800" dirty="0"/>
              </a:p>
            </p:txBody>
          </p:sp>
        </p:grp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CE8FF4E-A29A-4634-89AE-E045BD7C522D}"/>
              </a:ext>
            </a:extLst>
          </p:cNvPr>
          <p:cNvSpPr txBox="1"/>
          <p:nvPr/>
        </p:nvSpPr>
        <p:spPr>
          <a:xfrm>
            <a:off x="1226333" y="5822457"/>
            <a:ext cx="9739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Output of one function </a:t>
            </a:r>
            <a:r>
              <a:rPr lang="en-GB" sz="3600" b="1" dirty="0">
                <a:solidFill>
                  <a:srgbClr val="FF0000"/>
                </a:solidFill>
              </a:rPr>
              <a:t>=</a:t>
            </a:r>
            <a:r>
              <a:rPr lang="en-GB" sz="3600" dirty="0">
                <a:solidFill>
                  <a:srgbClr val="7030A0"/>
                </a:solidFill>
              </a:rPr>
              <a:t> input of the next function</a:t>
            </a:r>
          </a:p>
        </p:txBody>
      </p:sp>
    </p:spTree>
    <p:extLst>
      <p:ext uri="{BB962C8B-B14F-4D97-AF65-F5344CB8AC3E}">
        <p14:creationId xmlns:p14="http://schemas.microsoft.com/office/powerpoint/2010/main" val="176028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36" grpId="0"/>
      <p:bldP spid="33" grpId="0"/>
      <p:bldP spid="35" grpId="0"/>
      <p:bldP spid="42" grpId="0"/>
      <p:bldP spid="29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Using Multiple Functions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A41FE4-5D48-4C2E-B458-9157C7913AEE}"/>
              </a:ext>
            </a:extLst>
          </p:cNvPr>
          <p:cNvGrpSpPr/>
          <p:nvPr/>
        </p:nvGrpSpPr>
        <p:grpSpPr>
          <a:xfrm>
            <a:off x="765436" y="1755085"/>
            <a:ext cx="3910717" cy="1923714"/>
            <a:chOff x="765436" y="1755085"/>
            <a:chExt cx="3910717" cy="192371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389AA2-F17C-4A57-B4B8-B88E8D396085}"/>
                </a:ext>
              </a:extLst>
            </p:cNvPr>
            <p:cNvSpPr/>
            <p:nvPr/>
          </p:nvSpPr>
          <p:spPr>
            <a:xfrm>
              <a:off x="765436" y="2039586"/>
              <a:ext cx="98296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800" b="1" dirty="0"/>
                <a:t>Input</a:t>
              </a:r>
              <a:endParaRPr lang="en-GB" sz="2800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D439433-C8FD-42A5-9F35-B193F13CFFA9}"/>
                </a:ext>
              </a:extLst>
            </p:cNvPr>
            <p:cNvSpPr/>
            <p:nvPr/>
          </p:nvSpPr>
          <p:spPr>
            <a:xfrm>
              <a:off x="2610929" y="1755085"/>
              <a:ext cx="1970411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3200" b="1" dirty="0"/>
                <a:t>Function 1</a:t>
              </a:r>
              <a:endParaRPr lang="en-GB" sz="32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2516153" y="2598799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>
              <a:cxnSpLocks/>
            </p:cNvCxnSpPr>
            <p:nvPr/>
          </p:nvCxnSpPr>
          <p:spPr>
            <a:xfrm>
              <a:off x="1890228" y="3138799"/>
              <a:ext cx="625925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1EFD11C-05A4-409E-8AA9-7C11516ABDFB}"/>
              </a:ext>
            </a:extLst>
          </p:cNvPr>
          <p:cNvGrpSpPr/>
          <p:nvPr/>
        </p:nvGrpSpPr>
        <p:grpSpPr>
          <a:xfrm>
            <a:off x="1890210" y="4311513"/>
            <a:ext cx="8379317" cy="1080000"/>
            <a:chOff x="57876" y="3006403"/>
            <a:chExt cx="8379317" cy="10800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EED3CA6-201D-43FC-B33E-7753DFBEAA1F}"/>
                </a:ext>
              </a:extLst>
            </p:cNvPr>
            <p:cNvSpPr/>
            <p:nvPr/>
          </p:nvSpPr>
          <p:spPr>
            <a:xfrm>
              <a:off x="683801" y="3006403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/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D24F94E9-5DD3-471A-BEC4-C51CB78C4654}"/>
                </a:ext>
              </a:extLst>
            </p:cNvPr>
            <p:cNvCxnSpPr>
              <a:cxnSpLocks/>
            </p:cNvCxnSpPr>
            <p:nvPr/>
          </p:nvCxnSpPr>
          <p:spPr>
            <a:xfrm>
              <a:off x="57876" y="3546403"/>
              <a:ext cx="625925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9C225F9-0A1F-4636-968F-48FB4C309FA1}"/>
                </a:ext>
              </a:extLst>
            </p:cNvPr>
            <p:cNvCxnSpPr>
              <a:cxnSpLocks/>
              <a:stCxn id="44" idx="3"/>
              <a:endCxn id="47" idx="1"/>
            </p:cNvCxnSpPr>
            <p:nvPr/>
          </p:nvCxnSpPr>
          <p:spPr>
            <a:xfrm>
              <a:off x="2843801" y="3546403"/>
              <a:ext cx="2805811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9631049-B495-4686-89AC-C0B68E7C9B9B}"/>
                </a:ext>
              </a:extLst>
            </p:cNvPr>
            <p:cNvSpPr/>
            <p:nvPr/>
          </p:nvSpPr>
          <p:spPr>
            <a:xfrm>
              <a:off x="5649612" y="3006403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6F618287-5055-4E40-B33D-DE3CADA11541}"/>
                </a:ext>
              </a:extLst>
            </p:cNvPr>
            <p:cNvCxnSpPr>
              <a:cxnSpLocks/>
              <a:stCxn id="47" idx="3"/>
            </p:cNvCxnSpPr>
            <p:nvPr/>
          </p:nvCxnSpPr>
          <p:spPr>
            <a:xfrm flipV="1">
              <a:off x="7809612" y="3529733"/>
              <a:ext cx="627581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5A13407-79D4-4B7D-ACCC-B3D0B6863359}"/>
              </a:ext>
            </a:extLst>
          </p:cNvPr>
          <p:cNvGrpSpPr/>
          <p:nvPr/>
        </p:nvGrpSpPr>
        <p:grpSpPr>
          <a:xfrm>
            <a:off x="4676153" y="1752643"/>
            <a:ext cx="6677647" cy="1926156"/>
            <a:chOff x="4676153" y="1752643"/>
            <a:chExt cx="6677647" cy="1926156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E252C6D-1A57-4941-B24E-9BCE6248F316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 flipV="1">
              <a:off x="9641964" y="3122129"/>
              <a:ext cx="627581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B3DDC47-2868-4254-A43A-25919B4F9709}"/>
                </a:ext>
              </a:extLst>
            </p:cNvPr>
            <p:cNvGrpSpPr/>
            <p:nvPr/>
          </p:nvGrpSpPr>
          <p:grpSpPr>
            <a:xfrm>
              <a:off x="4676153" y="1752643"/>
              <a:ext cx="6677647" cy="1926156"/>
              <a:chOff x="4676153" y="1752643"/>
              <a:chExt cx="6677647" cy="192615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1C2B82A-6827-4FCA-91A0-98D36326CD98}"/>
                  </a:ext>
                </a:extLst>
              </p:cNvPr>
              <p:cNvSpPr/>
              <p:nvPr/>
            </p:nvSpPr>
            <p:spPr>
              <a:xfrm>
                <a:off x="10099931" y="2039586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Output</a:t>
                </a:r>
                <a:endParaRPr lang="en-GB" sz="2800" dirty="0"/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C3E1FF36-CE0E-4933-9E8E-C84914E59C64}"/>
                  </a:ext>
                </a:extLst>
              </p:cNvPr>
              <p:cNvCxnSpPr>
                <a:cxnSpLocks/>
                <a:stCxn id="20" idx="3"/>
                <a:endCxn id="30" idx="1"/>
              </p:cNvCxnSpPr>
              <p:nvPr/>
            </p:nvCxnSpPr>
            <p:spPr>
              <a:xfrm>
                <a:off x="4676153" y="3138799"/>
                <a:ext cx="2805811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8469C47-3422-4416-A929-BC261791E125}"/>
                  </a:ext>
                </a:extLst>
              </p:cNvPr>
              <p:cNvSpPr/>
              <p:nvPr/>
            </p:nvSpPr>
            <p:spPr>
              <a:xfrm>
                <a:off x="7481964" y="2598799"/>
                <a:ext cx="2160000" cy="10800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800" dirty="0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53939C52-7146-4ABC-9DCB-CE6D04A91E70}"/>
                  </a:ext>
                </a:extLst>
              </p:cNvPr>
              <p:cNvSpPr/>
              <p:nvPr/>
            </p:nvSpPr>
            <p:spPr>
              <a:xfrm>
                <a:off x="7576740" y="1752643"/>
                <a:ext cx="197041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sz="3200" b="1" dirty="0"/>
                  <a:t>Function 2</a:t>
                </a:r>
                <a:endParaRPr lang="en-GB" sz="3200" dirty="0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5A0D07A7-B85E-4436-8AF8-65F34D8F8858}"/>
                  </a:ext>
                </a:extLst>
              </p:cNvPr>
              <p:cNvSpPr/>
              <p:nvPr/>
            </p:nvSpPr>
            <p:spPr>
              <a:xfrm>
                <a:off x="4915228" y="2039586"/>
                <a:ext cx="236154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Output / Input</a:t>
                </a:r>
                <a:endParaRPr lang="en-GB" sz="2800" dirty="0"/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1C7445C-607D-4BCC-A03C-1876310A983B}"/>
              </a:ext>
            </a:extLst>
          </p:cNvPr>
          <p:cNvSpPr txBox="1"/>
          <p:nvPr/>
        </p:nvSpPr>
        <p:spPr>
          <a:xfrm>
            <a:off x="1607854" y="5822457"/>
            <a:ext cx="8976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of one function </a:t>
            </a:r>
            <a:r>
              <a:rPr lang="en-GB" sz="3600" b="1" dirty="0">
                <a:solidFill>
                  <a:srgbClr val="FF0000"/>
                </a:solidFill>
              </a:rPr>
              <a:t>=</a:t>
            </a:r>
            <a:r>
              <a:rPr lang="en-GB" sz="3600" dirty="0">
                <a:solidFill>
                  <a:srgbClr val="7030A0"/>
                </a:solidFill>
              </a:rPr>
              <a:t>                of the next function</a:t>
            </a:r>
          </a:p>
        </p:txBody>
      </p:sp>
    </p:spTree>
    <p:extLst>
      <p:ext uri="{BB962C8B-B14F-4D97-AF65-F5344CB8AC3E}">
        <p14:creationId xmlns:p14="http://schemas.microsoft.com/office/powerpoint/2010/main" val="88010731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noProof="0" dirty="0"/>
              <a:t>input() &amp; int() -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4235406" y="3044278"/>
            <a:ext cx="613551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int(              )</a:t>
            </a:r>
          </a:p>
        </p:txBody>
      </p:sp>
      <p:sp>
        <p:nvSpPr>
          <p:cNvPr id="5" name="Callout: Bent Line with No Border 8">
            <a:extLst>
              <a:ext uri="{FF2B5EF4-FFF2-40B4-BE49-F238E27FC236}">
                <a16:creationId xmlns:a16="http://schemas.microsoft.com/office/drawing/2014/main" id="{FE76DF5F-81B3-45AC-A628-BBE9287E827D}"/>
              </a:ext>
            </a:extLst>
          </p:cNvPr>
          <p:cNvSpPr/>
          <p:nvPr/>
        </p:nvSpPr>
        <p:spPr>
          <a:xfrm flipH="1">
            <a:off x="4267828" y="4656268"/>
            <a:ext cx="1742214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95878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Function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18FD7-5699-4405-B11B-E8E902552F72}"/>
              </a:ext>
            </a:extLst>
          </p:cNvPr>
          <p:cNvSpPr txBox="1"/>
          <p:nvPr/>
        </p:nvSpPr>
        <p:spPr>
          <a:xfrm>
            <a:off x="838200" y="3044279"/>
            <a:ext cx="33219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latin typeface="Consolas" panose="020B0609020204030204" pitchFamily="49" charset="0"/>
              </a:rPr>
              <a:t>age</a:t>
            </a:r>
            <a:r>
              <a:rPr lang="en-GB" sz="4400" dirty="0">
                <a:effectLst/>
                <a:latin typeface="Consolas" panose="020B0609020204030204" pitchFamily="49" charset="0"/>
              </a:rPr>
              <a:t> =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0EA2EDD-D55C-4A47-82C6-64769CAA93CE}"/>
              </a:ext>
            </a:extLst>
          </p:cNvPr>
          <p:cNvGrpSpPr/>
          <p:nvPr/>
        </p:nvGrpSpPr>
        <p:grpSpPr>
          <a:xfrm>
            <a:off x="3111049" y="1890271"/>
            <a:ext cx="1518365" cy="1154006"/>
            <a:chOff x="5413771" y="2058777"/>
            <a:chExt cx="1518365" cy="1154006"/>
          </a:xfrm>
        </p:grpSpPr>
        <p:sp>
          <p:nvSpPr>
            <p:cNvPr id="14" name="Arrow: Curved Down 13">
              <a:extLst>
                <a:ext uri="{FF2B5EF4-FFF2-40B4-BE49-F238E27FC236}">
                  <a16:creationId xmlns:a16="http://schemas.microsoft.com/office/drawing/2014/main" id="{62197FF0-B895-45D2-A531-96330FFB0E40}"/>
                </a:ext>
              </a:extLst>
            </p:cNvPr>
            <p:cNvSpPr/>
            <p:nvPr/>
          </p:nvSpPr>
          <p:spPr>
            <a:xfrm flipH="1">
              <a:off x="5456197" y="2581999"/>
              <a:ext cx="1433512" cy="630784"/>
            </a:xfrm>
            <a:prstGeom prst="curvedDownArrow">
              <a:avLst>
                <a:gd name="adj1" fmla="val 14746"/>
                <a:gd name="adj2" fmla="val 42781"/>
                <a:gd name="adj3" fmla="val 35417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06D1F41-C62C-4D11-89A7-FCE586210A4C}"/>
                </a:ext>
              </a:extLst>
            </p:cNvPr>
            <p:cNvSpPr txBox="1"/>
            <p:nvPr/>
          </p:nvSpPr>
          <p:spPr>
            <a:xfrm>
              <a:off x="5413771" y="2058777"/>
              <a:ext cx="151836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>
                  <a:solidFill>
                    <a:srgbClr val="7030A0"/>
                  </a:solidFill>
                </a:rPr>
                <a:t>Output 2</a:t>
              </a:r>
              <a:endParaRPr lang="en-GB" sz="3200" b="1" dirty="0">
                <a:solidFill>
                  <a:srgbClr val="7030A0"/>
                </a:solidFill>
              </a:endParaRPr>
            </a:p>
          </p:txBody>
        </p:sp>
      </p:grpSp>
      <p:sp>
        <p:nvSpPr>
          <p:cNvPr id="11" name="Callout: Bent Line with No Border 8">
            <a:extLst>
              <a:ext uri="{FF2B5EF4-FFF2-40B4-BE49-F238E27FC236}">
                <a16:creationId xmlns:a16="http://schemas.microsoft.com/office/drawing/2014/main" id="{0C70402D-F0E1-4195-99E3-3EC955CDA995}"/>
              </a:ext>
            </a:extLst>
          </p:cNvPr>
          <p:cNvSpPr/>
          <p:nvPr/>
        </p:nvSpPr>
        <p:spPr>
          <a:xfrm>
            <a:off x="8474787" y="4224947"/>
            <a:ext cx="1367576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44891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Input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6617E9-3982-441A-9B3E-543DC8342009}"/>
              </a:ext>
            </a:extLst>
          </p:cNvPr>
          <p:cNvSpPr txBox="1"/>
          <p:nvPr/>
        </p:nvSpPr>
        <p:spPr>
          <a:xfrm>
            <a:off x="5478237" y="3044279"/>
            <a:ext cx="456649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effectLst/>
                <a:latin typeface="Consolas" panose="020B0609020204030204" pitchFamily="49" charset="0"/>
              </a:rPr>
              <a:t>input(</a:t>
            </a:r>
            <a:r>
              <a:rPr lang="en-GB" sz="4400" dirty="0">
                <a:solidFill>
                  <a:srgbClr val="183691"/>
                </a:solidFill>
                <a:effectLst/>
                <a:latin typeface="Consolas" panose="020B0609020204030204" pitchFamily="49" charset="0"/>
              </a:rPr>
              <a:t>"Age? "</a:t>
            </a:r>
            <a:r>
              <a:rPr lang="en-GB" sz="4400" dirty="0">
                <a:effectLst/>
                <a:latin typeface="Consolas" panose="020B0609020204030204" pitchFamily="49" charset="0"/>
              </a:rPr>
              <a:t>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BD871A9-869C-4330-AED7-2432221214C9}"/>
              </a:ext>
            </a:extLst>
          </p:cNvPr>
          <p:cNvGrpSpPr/>
          <p:nvPr/>
        </p:nvGrpSpPr>
        <p:grpSpPr>
          <a:xfrm>
            <a:off x="4791915" y="1459387"/>
            <a:ext cx="1754005" cy="1584892"/>
            <a:chOff x="5295950" y="1627891"/>
            <a:chExt cx="1754005" cy="1584892"/>
          </a:xfrm>
        </p:grpSpPr>
        <p:sp>
          <p:nvSpPr>
            <p:cNvPr id="18" name="Arrow: Curved Down 17">
              <a:extLst>
                <a:ext uri="{FF2B5EF4-FFF2-40B4-BE49-F238E27FC236}">
                  <a16:creationId xmlns:a16="http://schemas.microsoft.com/office/drawing/2014/main" id="{422BF478-04B7-4F0F-ABC5-1085EA480400}"/>
                </a:ext>
              </a:extLst>
            </p:cNvPr>
            <p:cNvSpPr/>
            <p:nvPr/>
          </p:nvSpPr>
          <p:spPr>
            <a:xfrm flipH="1">
              <a:off x="5456197" y="2581999"/>
              <a:ext cx="1433512" cy="630784"/>
            </a:xfrm>
            <a:prstGeom prst="curvedDownArrow">
              <a:avLst>
                <a:gd name="adj1" fmla="val 14746"/>
                <a:gd name="adj2" fmla="val 42781"/>
                <a:gd name="adj3" fmla="val 35417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AD92A7D-151E-46DB-BC41-671542C9120B}"/>
                </a:ext>
              </a:extLst>
            </p:cNvPr>
            <p:cNvSpPr txBox="1"/>
            <p:nvPr/>
          </p:nvSpPr>
          <p:spPr>
            <a:xfrm>
              <a:off x="5295950" y="1627891"/>
              <a:ext cx="1754005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>
                  <a:solidFill>
                    <a:srgbClr val="7030A0"/>
                  </a:solidFill>
                </a:rPr>
                <a:t>Output 1 /</a:t>
              </a:r>
            </a:p>
            <a:p>
              <a:pPr algn="ctr"/>
              <a:r>
                <a:rPr lang="en-GB" sz="2800" b="1" dirty="0">
                  <a:solidFill>
                    <a:srgbClr val="7030A0"/>
                  </a:solidFill>
                </a:rPr>
                <a:t>Input 2</a:t>
              </a:r>
              <a:endParaRPr lang="en-GB" sz="3200" b="1" dirty="0">
                <a:solidFill>
                  <a:srgbClr val="7030A0"/>
                </a:solidFill>
              </a:endParaRPr>
            </a:p>
          </p:txBody>
        </p:sp>
      </p:grpSp>
      <p:sp>
        <p:nvSpPr>
          <p:cNvPr id="20" name="Callout: Bent Line with No Border 8">
            <a:extLst>
              <a:ext uri="{FF2B5EF4-FFF2-40B4-BE49-F238E27FC236}">
                <a16:creationId xmlns:a16="http://schemas.microsoft.com/office/drawing/2014/main" id="{28434900-09DB-4B16-8ABF-1E129B8B161E}"/>
              </a:ext>
            </a:extLst>
          </p:cNvPr>
          <p:cNvSpPr/>
          <p:nvPr/>
        </p:nvSpPr>
        <p:spPr>
          <a:xfrm flipH="1">
            <a:off x="2720712" y="4132699"/>
            <a:ext cx="1742213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39977"/>
              <a:gd name="adj6" fmla="val -1986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Function 2</a:t>
            </a:r>
          </a:p>
        </p:txBody>
      </p:sp>
    </p:spTree>
    <p:extLst>
      <p:ext uri="{BB962C8B-B14F-4D97-AF65-F5344CB8AC3E}">
        <p14:creationId xmlns:p14="http://schemas.microsoft.com/office/powerpoint/2010/main" val="2134099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12" grpId="0"/>
      <p:bldP spid="11" grpId="0" animBg="1"/>
      <p:bldP spid="16" grpId="0"/>
      <p:bldP spid="20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noProof="0" dirty="0"/>
              <a:t>input() &amp; int() -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4235406" y="3044278"/>
            <a:ext cx="613551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int(              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18FD7-5699-4405-B11B-E8E902552F72}"/>
              </a:ext>
            </a:extLst>
          </p:cNvPr>
          <p:cNvSpPr txBox="1"/>
          <p:nvPr/>
        </p:nvSpPr>
        <p:spPr>
          <a:xfrm>
            <a:off x="838200" y="3044279"/>
            <a:ext cx="33219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latin typeface="Consolas" panose="020B0609020204030204" pitchFamily="49" charset="0"/>
              </a:rPr>
              <a:t>age</a:t>
            </a:r>
            <a:r>
              <a:rPr lang="en-GB" sz="4400" dirty="0">
                <a:effectLst/>
                <a:latin typeface="Consolas" panose="020B0609020204030204" pitchFamily="49" charset="0"/>
              </a:rPr>
              <a:t> =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6617E9-3982-441A-9B3E-543DC8342009}"/>
              </a:ext>
            </a:extLst>
          </p:cNvPr>
          <p:cNvSpPr txBox="1"/>
          <p:nvPr/>
        </p:nvSpPr>
        <p:spPr>
          <a:xfrm>
            <a:off x="5478237" y="3044279"/>
            <a:ext cx="456649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effectLst/>
                <a:latin typeface="Consolas" panose="020B0609020204030204" pitchFamily="49" charset="0"/>
              </a:rPr>
              <a:t>input(</a:t>
            </a:r>
            <a:r>
              <a:rPr lang="en-GB" sz="4400" dirty="0">
                <a:solidFill>
                  <a:srgbClr val="183691"/>
                </a:solidFill>
                <a:effectLst/>
                <a:latin typeface="Consolas" panose="020B0609020204030204" pitchFamily="49" charset="0"/>
              </a:rPr>
              <a:t>"Age? "</a:t>
            </a:r>
            <a:r>
              <a:rPr lang="en-GB" sz="4400" dirty="0"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4627438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C2D2C2C4-CFB3-48A4-AF5C-2C875B2EFB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58158"/>
              </p:ext>
            </p:extLst>
          </p:nvPr>
        </p:nvGraphicFramePr>
        <p:xfrm>
          <a:off x="7836880" y="1142206"/>
          <a:ext cx="422226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131">
                  <a:extLst>
                    <a:ext uri="{9D8B030D-6E8A-4147-A177-3AD203B41FA5}">
                      <a16:colId xmlns:a16="http://schemas.microsoft.com/office/drawing/2014/main" val="2894499520"/>
                    </a:ext>
                  </a:extLst>
                </a:gridCol>
                <a:gridCol w="2111131">
                  <a:extLst>
                    <a:ext uri="{9D8B030D-6E8A-4147-A177-3AD203B41FA5}">
                      <a16:colId xmlns:a16="http://schemas.microsoft.com/office/drawing/2014/main" val="2978893554"/>
                    </a:ext>
                  </a:extLst>
                </a:gridCol>
              </a:tblGrid>
              <a:tr h="599709">
                <a:tc>
                  <a:txBody>
                    <a:bodyPr/>
                    <a:lstStyle/>
                    <a:p>
                      <a:pPr algn="ctr"/>
                      <a:r>
                        <a:rPr lang="en-GB" sz="3600"/>
                        <a:t>value1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/>
                        <a:t>value2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316171"/>
                  </a:ext>
                </a:extLst>
              </a:tr>
              <a:tr h="599709"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216021"/>
                  </a:ext>
                </a:extLst>
              </a:tr>
              <a:tr h="599709"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749944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Python Example –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value1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"1st: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value2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"2nd: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result = value1 + value2</a:t>
            </a:r>
          </a:p>
          <a:p>
            <a:pPr mar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dirty="0">
                <a:solidFill>
                  <a:srgbClr val="183691"/>
                </a:solidFill>
                <a:latin typeface="Consolas" panose="020B0609020204030204" pitchFamily="49" charset="0"/>
              </a:rPr>
              <a:t>"Result: " 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result</a:t>
            </a:r>
            <a:r>
              <a:rPr lang="en-GB" dirty="0">
                <a:latin typeface="Consolas" panose="020B0609020204030204" pitchFamily="49" charset="0"/>
              </a:rPr>
              <a:t>)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altLang="en-US" sz="4400" noProof="0" dirty="0">
              <a:latin typeface="Arial" panose="020B0604020202020204" pitchFamily="34" charset="0"/>
            </a:endParaRPr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F68E8778-7703-40F7-B771-E03A015D1D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978266"/>
              </p:ext>
            </p:extLst>
          </p:nvPr>
        </p:nvGraphicFramePr>
        <p:xfrm>
          <a:off x="8530493" y="3637051"/>
          <a:ext cx="282330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307">
                  <a:extLst>
                    <a:ext uri="{9D8B030D-6E8A-4147-A177-3AD203B41FA5}">
                      <a16:colId xmlns:a16="http://schemas.microsoft.com/office/drawing/2014/main" val="2894499520"/>
                    </a:ext>
                  </a:extLst>
                </a:gridCol>
              </a:tblGrid>
              <a:tr h="599709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316171"/>
                  </a:ext>
                </a:extLst>
              </a:tr>
              <a:tr h="599709"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216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8440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C2D2C2C4-CFB3-48A4-AF5C-2C875B2EFB4E}"/>
              </a:ext>
            </a:extLst>
          </p:cNvPr>
          <p:cNvGraphicFramePr>
            <a:graphicFrameLocks/>
          </p:cNvGraphicFramePr>
          <p:nvPr/>
        </p:nvGraphicFramePr>
        <p:xfrm>
          <a:off x="7836880" y="1142206"/>
          <a:ext cx="422226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131">
                  <a:extLst>
                    <a:ext uri="{9D8B030D-6E8A-4147-A177-3AD203B41FA5}">
                      <a16:colId xmlns:a16="http://schemas.microsoft.com/office/drawing/2014/main" val="2894499520"/>
                    </a:ext>
                  </a:extLst>
                </a:gridCol>
                <a:gridCol w="2111131">
                  <a:extLst>
                    <a:ext uri="{9D8B030D-6E8A-4147-A177-3AD203B41FA5}">
                      <a16:colId xmlns:a16="http://schemas.microsoft.com/office/drawing/2014/main" val="2978893554"/>
                    </a:ext>
                  </a:extLst>
                </a:gridCol>
              </a:tblGrid>
              <a:tr h="599709">
                <a:tc>
                  <a:txBody>
                    <a:bodyPr/>
                    <a:lstStyle/>
                    <a:p>
                      <a:pPr algn="ctr"/>
                      <a:r>
                        <a:rPr lang="en-GB" sz="3600"/>
                        <a:t>value1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/>
                        <a:t>value2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316171"/>
                  </a:ext>
                </a:extLst>
              </a:tr>
              <a:tr h="599709"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216021"/>
                  </a:ext>
                </a:extLst>
              </a:tr>
              <a:tr h="599709">
                <a:tc>
                  <a:txBody>
                    <a:bodyPr/>
                    <a:lstStyle/>
                    <a:p>
                      <a:pPr algn="ctr"/>
                      <a:endParaRPr lang="en-GB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749944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Python Example –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value1 =    (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"1st: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value2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"2nd: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result = value1 +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dirty="0">
                <a:solidFill>
                  <a:srgbClr val="183691"/>
                </a:solidFill>
                <a:latin typeface="Consolas" panose="020B0609020204030204" pitchFamily="49" charset="0"/>
              </a:rPr>
              <a:t>"Result: " </a:t>
            </a:r>
            <a:r>
              <a:rPr lang="en-GB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endParaRPr lang="en-GB" altLang="en-US" sz="4400" noProof="0" dirty="0">
              <a:latin typeface="Arial" panose="020B0604020202020204" pitchFamily="34" charset="0"/>
            </a:endParaRPr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F68E8778-7703-40F7-B771-E03A015D1D1C}"/>
              </a:ext>
            </a:extLst>
          </p:cNvPr>
          <p:cNvGraphicFramePr>
            <a:graphicFrameLocks/>
          </p:cNvGraphicFramePr>
          <p:nvPr/>
        </p:nvGraphicFramePr>
        <p:xfrm>
          <a:off x="8530493" y="3637051"/>
          <a:ext cx="282330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307">
                  <a:extLst>
                    <a:ext uri="{9D8B030D-6E8A-4147-A177-3AD203B41FA5}">
                      <a16:colId xmlns:a16="http://schemas.microsoft.com/office/drawing/2014/main" val="2894499520"/>
                    </a:ext>
                  </a:extLst>
                </a:gridCol>
              </a:tblGrid>
              <a:tr h="599709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316171"/>
                  </a:ext>
                </a:extLst>
              </a:tr>
              <a:tr h="599709"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216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25577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fixed loops</a:t>
            </a:r>
          </a:p>
        </p:txBody>
      </p:sp>
    </p:spTree>
    <p:extLst>
      <p:ext uri="{BB962C8B-B14F-4D97-AF65-F5344CB8AC3E}">
        <p14:creationId xmlns:p14="http://schemas.microsoft.com/office/powerpoint/2010/main" val="266367436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D4138A-7198-4970-B917-D68D685836BD}"/>
              </a:ext>
            </a:extLst>
          </p:cNvPr>
          <p:cNvSpPr txBox="1"/>
          <p:nvPr/>
        </p:nvSpPr>
        <p:spPr>
          <a:xfrm>
            <a:off x="3464812" y="2506900"/>
            <a:ext cx="362397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7200"/>
              </a:spcAft>
            </a:pPr>
            <a:r>
              <a:rPr lang="en-GB" sz="4400" dirty="0">
                <a:effectLst/>
                <a:latin typeface="Consolas" panose="020B0609020204030204" pitchFamily="49" charset="0"/>
              </a:rPr>
              <a:t>range(1, </a:t>
            </a:r>
            <a:r>
              <a:rPr lang="en-GB" sz="4400" dirty="0">
                <a:latin typeface="Consolas" panose="020B0609020204030204" pitchFamily="49" charset="0"/>
              </a:rPr>
              <a:t>5</a:t>
            </a:r>
            <a:r>
              <a:rPr lang="en-GB" sz="4400" dirty="0"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Callout: Bent Line with No Border 7">
            <a:extLst>
              <a:ext uri="{FF2B5EF4-FFF2-40B4-BE49-F238E27FC236}">
                <a16:creationId xmlns:a16="http://schemas.microsoft.com/office/drawing/2014/main" id="{8145E81F-1949-4DFF-BEDD-AF463B4A35D1}"/>
              </a:ext>
            </a:extLst>
          </p:cNvPr>
          <p:cNvSpPr/>
          <p:nvPr/>
        </p:nvSpPr>
        <p:spPr>
          <a:xfrm>
            <a:off x="4049080" y="3350434"/>
            <a:ext cx="1796104" cy="580056"/>
          </a:xfrm>
          <a:prstGeom prst="callout2">
            <a:avLst>
              <a:gd name="adj1" fmla="val 50983"/>
              <a:gd name="adj2" fmla="val 101585"/>
              <a:gd name="adj3" fmla="val 50982"/>
              <a:gd name="adj4" fmla="val 133205"/>
              <a:gd name="adj5" fmla="val -25887"/>
              <a:gd name="adj6" fmla="val 13362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Stop value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Sequences</a:t>
            </a:r>
          </a:p>
        </p:txBody>
      </p:sp>
      <p:sp>
        <p:nvSpPr>
          <p:cNvPr id="11" name="Callout: Bent Line with No Border 9">
            <a:extLst>
              <a:ext uri="{FF2B5EF4-FFF2-40B4-BE49-F238E27FC236}">
                <a16:creationId xmlns:a16="http://schemas.microsoft.com/office/drawing/2014/main" id="{63103218-B9D4-422B-962F-7D51D458C2E6}"/>
              </a:ext>
            </a:extLst>
          </p:cNvPr>
          <p:cNvSpPr/>
          <p:nvPr/>
        </p:nvSpPr>
        <p:spPr>
          <a:xfrm>
            <a:off x="655379" y="3366292"/>
            <a:ext cx="2643085" cy="564198"/>
          </a:xfrm>
          <a:prstGeom prst="callout2">
            <a:avLst>
              <a:gd name="adj1" fmla="val 51972"/>
              <a:gd name="adj2" fmla="val 100482"/>
              <a:gd name="adj3" fmla="val 52200"/>
              <a:gd name="adj4" fmla="val 112548"/>
              <a:gd name="adj5" fmla="val -36744"/>
              <a:gd name="adj6" fmla="val 11261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range( ) function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D4138A-7198-4970-B917-D68D685836BD}"/>
              </a:ext>
            </a:extLst>
          </p:cNvPr>
          <p:cNvSpPr txBox="1"/>
          <p:nvPr/>
        </p:nvSpPr>
        <p:spPr>
          <a:xfrm>
            <a:off x="3584948" y="4795991"/>
            <a:ext cx="27095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7200"/>
              </a:spcAft>
            </a:pPr>
            <a:r>
              <a:rPr lang="en-GB" sz="4400" dirty="0">
                <a:effectLst/>
                <a:latin typeface="Consolas" panose="020B0609020204030204" pitchFamily="49" charset="0"/>
              </a:rPr>
              <a:t>range(5)</a:t>
            </a:r>
          </a:p>
        </p:txBody>
      </p:sp>
      <p:sp>
        <p:nvSpPr>
          <p:cNvPr id="15" name="Callout: Bent Line with No Border 7">
            <a:extLst>
              <a:ext uri="{FF2B5EF4-FFF2-40B4-BE49-F238E27FC236}">
                <a16:creationId xmlns:a16="http://schemas.microsoft.com/office/drawing/2014/main" id="{8145E81F-1949-4DFF-BEDD-AF463B4A35D1}"/>
              </a:ext>
            </a:extLst>
          </p:cNvPr>
          <p:cNvSpPr/>
          <p:nvPr/>
        </p:nvSpPr>
        <p:spPr>
          <a:xfrm>
            <a:off x="3802588" y="5821213"/>
            <a:ext cx="3797238" cy="515662"/>
          </a:xfrm>
          <a:prstGeom prst="callout2">
            <a:avLst>
              <a:gd name="adj1" fmla="val 17546"/>
              <a:gd name="adj2" fmla="val 48725"/>
              <a:gd name="adj3" fmla="val -33305"/>
              <a:gd name="adj4" fmla="val 48608"/>
              <a:gd name="adj5" fmla="val -72777"/>
              <a:gd name="adj6" fmla="val 4879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Stop value (starts at 0)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8791" y="2449410"/>
            <a:ext cx="1406147" cy="8844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D4138A-7198-4970-B917-D68D685836BD}"/>
              </a:ext>
            </a:extLst>
          </p:cNvPr>
          <p:cNvSpPr txBox="1"/>
          <p:nvPr/>
        </p:nvSpPr>
        <p:spPr>
          <a:xfrm>
            <a:off x="8571111" y="2568455"/>
            <a:ext cx="27826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7200"/>
              </a:spcAft>
            </a:pPr>
            <a:r>
              <a:rPr lang="en-GB" sz="3600" i="1" dirty="0">
                <a:latin typeface="Consolas" panose="020B0609020204030204" pitchFamily="49" charset="0"/>
              </a:rPr>
              <a:t>1, 2, 3, 4</a:t>
            </a:r>
            <a:endParaRPr lang="en-GB" sz="3600" i="1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6294518" y="4754195"/>
            <a:ext cx="1406147" cy="8844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D4138A-7198-4970-B917-D68D685836BD}"/>
              </a:ext>
            </a:extLst>
          </p:cNvPr>
          <p:cNvSpPr txBox="1"/>
          <p:nvPr/>
        </p:nvSpPr>
        <p:spPr>
          <a:xfrm>
            <a:off x="7837825" y="4857546"/>
            <a:ext cx="35159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7200"/>
              </a:spcAft>
            </a:pPr>
            <a:r>
              <a:rPr lang="en-GB" sz="3600" i="1" dirty="0">
                <a:latin typeface="Consolas" panose="020B0609020204030204" pitchFamily="49" charset="0"/>
              </a:rPr>
              <a:t>0, 1, 2, 3, 4</a:t>
            </a:r>
            <a:endParaRPr lang="en-GB" sz="3600" i="1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21" name="Callout: Bent Line with No Border 20">
            <a:extLst>
              <a:ext uri="{FF2B5EF4-FFF2-40B4-BE49-F238E27FC236}">
                <a16:creationId xmlns:a16="http://schemas.microsoft.com/office/drawing/2014/main" id="{71CD696E-F74E-1DF7-B04E-7033DA6EBB6E}"/>
              </a:ext>
            </a:extLst>
          </p:cNvPr>
          <p:cNvSpPr/>
          <p:nvPr/>
        </p:nvSpPr>
        <p:spPr>
          <a:xfrm>
            <a:off x="3068598" y="1886315"/>
            <a:ext cx="1878534" cy="564198"/>
          </a:xfrm>
          <a:prstGeom prst="callout2">
            <a:avLst>
              <a:gd name="adj1" fmla="val 50983"/>
              <a:gd name="adj2" fmla="val 101585"/>
              <a:gd name="adj3" fmla="val 50982"/>
              <a:gd name="adj4" fmla="val 133205"/>
              <a:gd name="adj5" fmla="val 126341"/>
              <a:gd name="adj6" fmla="val 132819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Start value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6907B5-2C9C-1172-4FC6-F8047F201066}"/>
              </a:ext>
            </a:extLst>
          </p:cNvPr>
          <p:cNvSpPr txBox="1"/>
          <p:nvPr/>
        </p:nvSpPr>
        <p:spPr>
          <a:xfrm>
            <a:off x="613128" y="4965268"/>
            <a:ext cx="218963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All values</a:t>
            </a:r>
          </a:p>
          <a:p>
            <a:r>
              <a:rPr lang="en-GB" sz="3200" b="1" dirty="0">
                <a:solidFill>
                  <a:srgbClr val="FF0000"/>
                </a:solidFill>
              </a:rPr>
              <a:t>are integers</a:t>
            </a:r>
            <a:endParaRPr lang="en-GB" sz="3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B98828-579F-4145-80AF-55779194683E}"/>
              </a:ext>
            </a:extLst>
          </p:cNvPr>
          <p:cNvSpPr txBox="1"/>
          <p:nvPr/>
        </p:nvSpPr>
        <p:spPr>
          <a:xfrm>
            <a:off x="6096000" y="1273497"/>
            <a:ext cx="53931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Stop – Start: Number of values</a:t>
            </a:r>
            <a:endParaRPr lang="en-GB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F49C59-7B1E-411C-8E49-CDBF3989209E}"/>
              </a:ext>
            </a:extLst>
          </p:cNvPr>
          <p:cNvSpPr txBox="1"/>
          <p:nvPr/>
        </p:nvSpPr>
        <p:spPr>
          <a:xfrm>
            <a:off x="8792571" y="6154320"/>
            <a:ext cx="3371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Last value: Stop - 1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616306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8" grpId="0" animBg="1"/>
      <p:bldP spid="11" grpId="0" animBg="1"/>
      <p:bldP spid="14" grpId="0" build="p"/>
      <p:bldP spid="15" grpId="0" animBg="1"/>
      <p:bldP spid="10" grpId="0" animBg="1"/>
      <p:bldP spid="13" grpId="0" build="p"/>
      <p:bldP spid="16" grpId="0" animBg="1"/>
      <p:bldP spid="17" grpId="0" build="p"/>
      <p:bldP spid="21" grpId="0" animBg="1"/>
      <p:bldP spid="22" grpId="0"/>
      <p:bldP spid="23" grpId="0"/>
      <p:bldP spid="24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D4138A-7198-4970-B917-D68D685836BD}"/>
              </a:ext>
            </a:extLst>
          </p:cNvPr>
          <p:cNvSpPr txBox="1"/>
          <p:nvPr/>
        </p:nvSpPr>
        <p:spPr>
          <a:xfrm>
            <a:off x="3464812" y="2506900"/>
            <a:ext cx="362397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7200"/>
              </a:spcAft>
            </a:pPr>
            <a:r>
              <a:rPr lang="en-GB" sz="4400" dirty="0">
                <a:effectLst/>
                <a:latin typeface="Consolas" panose="020B0609020204030204" pitchFamily="49" charset="0"/>
              </a:rPr>
              <a:t>range(1, </a:t>
            </a:r>
            <a:r>
              <a:rPr lang="en-GB" sz="4400" dirty="0">
                <a:latin typeface="Consolas" panose="020B0609020204030204" pitchFamily="49" charset="0"/>
              </a:rPr>
              <a:t>5</a:t>
            </a:r>
            <a:r>
              <a:rPr lang="en-GB" sz="4400" dirty="0"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Sequences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D4138A-7198-4970-B917-D68D685836BD}"/>
              </a:ext>
            </a:extLst>
          </p:cNvPr>
          <p:cNvSpPr txBox="1"/>
          <p:nvPr/>
        </p:nvSpPr>
        <p:spPr>
          <a:xfrm>
            <a:off x="3584948" y="4795991"/>
            <a:ext cx="27095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7200"/>
              </a:spcAft>
            </a:pPr>
            <a:r>
              <a:rPr lang="en-GB" sz="4400" dirty="0">
                <a:effectLst/>
                <a:latin typeface="Consolas" panose="020B0609020204030204" pitchFamily="49" charset="0"/>
              </a:rPr>
              <a:t>range(5)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8791" y="2449410"/>
            <a:ext cx="1406147" cy="8844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ight Arrow 15"/>
          <p:cNvSpPr/>
          <p:nvPr/>
        </p:nvSpPr>
        <p:spPr>
          <a:xfrm>
            <a:off x="6294518" y="4754195"/>
            <a:ext cx="1406147" cy="8844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592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4" grpId="0" build="p"/>
      <p:bldP spid="10" grpId="0" animBg="1"/>
      <p:bldP spid="16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D4138A-7198-4970-B917-D68D685836BD}"/>
              </a:ext>
            </a:extLst>
          </p:cNvPr>
          <p:cNvSpPr txBox="1"/>
          <p:nvPr/>
        </p:nvSpPr>
        <p:spPr>
          <a:xfrm>
            <a:off x="838200" y="2536460"/>
            <a:ext cx="943613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counter 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     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(counter)</a:t>
            </a:r>
            <a:endParaRPr lang="en-US" altLang="en-US" sz="44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5 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"Finished!"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en-US" sz="4400" dirty="0">
              <a:solidFill>
                <a:srgbClr val="B2B2B2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0012B8AC-6A2E-46EA-8B77-F2D850227826}"/>
              </a:ext>
            </a:extLst>
          </p:cNvPr>
          <p:cNvSpPr/>
          <p:nvPr/>
        </p:nvSpPr>
        <p:spPr>
          <a:xfrm>
            <a:off x="1166549" y="1673818"/>
            <a:ext cx="2254070" cy="862642"/>
          </a:xfrm>
          <a:prstGeom prst="callout2">
            <a:avLst>
              <a:gd name="adj1" fmla="val 50315"/>
              <a:gd name="adj2" fmla="val 100204"/>
              <a:gd name="adj3" fmla="val 50245"/>
              <a:gd name="adj4" fmla="val 112299"/>
              <a:gd name="adj5" fmla="val 107348"/>
              <a:gd name="adj6" fmla="val 11193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Loop variable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570052" y="3583011"/>
            <a:ext cx="3933923" cy="1692549"/>
            <a:chOff x="7619999" y="3594340"/>
            <a:chExt cx="3933923" cy="667854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9D020B91-7067-4A9C-9D08-9C39E10155FC}"/>
                </a:ext>
              </a:extLst>
            </p:cNvPr>
            <p:cNvSpPr/>
            <p:nvPr/>
          </p:nvSpPr>
          <p:spPr>
            <a:xfrm>
              <a:off x="7619999" y="3594340"/>
              <a:ext cx="485955" cy="667854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8A8750E-48D9-426C-B2E1-2F205372B95F}"/>
                </a:ext>
              </a:extLst>
            </p:cNvPr>
            <p:cNvSpPr txBox="1"/>
            <p:nvPr/>
          </p:nvSpPr>
          <p:spPr>
            <a:xfrm>
              <a:off x="8239367" y="3638877"/>
              <a:ext cx="3314555" cy="578778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GB" sz="2800" b="1" dirty="0">
                  <a:solidFill>
                    <a:srgbClr val="7030A0"/>
                  </a:solidFill>
                </a:rPr>
                <a:t>Code to be repeated  indented</a:t>
              </a:r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Fixed Loop – Start Value</a:t>
            </a:r>
          </a:p>
        </p:txBody>
      </p:sp>
      <p:sp>
        <p:nvSpPr>
          <p:cNvPr id="4" name="Callout: Bent Line with No Border 3">
            <a:extLst>
              <a:ext uri="{FF2B5EF4-FFF2-40B4-BE49-F238E27FC236}">
                <a16:creationId xmlns:a16="http://schemas.microsoft.com/office/drawing/2014/main" id="{76A1E863-82DB-AD5B-59E0-3AAA9503CE8B}"/>
              </a:ext>
            </a:extLst>
          </p:cNvPr>
          <p:cNvSpPr/>
          <p:nvPr/>
        </p:nvSpPr>
        <p:spPr>
          <a:xfrm>
            <a:off x="8368495" y="1467915"/>
            <a:ext cx="1087495" cy="862642"/>
          </a:xfrm>
          <a:prstGeom prst="callout2">
            <a:avLst>
              <a:gd name="adj1" fmla="val 50315"/>
              <a:gd name="adj2" fmla="val 100204"/>
              <a:gd name="adj3" fmla="val 50245"/>
              <a:gd name="adj4" fmla="val 121963"/>
              <a:gd name="adj5" fmla="val 141135"/>
              <a:gd name="adj6" fmla="val 12167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Colon</a:t>
            </a:r>
          </a:p>
        </p:txBody>
      </p:sp>
      <p:sp>
        <p:nvSpPr>
          <p:cNvPr id="12" name="Callout: Bent Line with No Border 11">
            <a:extLst>
              <a:ext uri="{FF2B5EF4-FFF2-40B4-BE49-F238E27FC236}">
                <a16:creationId xmlns:a16="http://schemas.microsoft.com/office/drawing/2014/main" id="{D5451DFE-FE85-4E33-8947-0DD215E1863A}"/>
              </a:ext>
            </a:extLst>
          </p:cNvPr>
          <p:cNvSpPr/>
          <p:nvPr/>
        </p:nvSpPr>
        <p:spPr>
          <a:xfrm>
            <a:off x="5748867" y="1465270"/>
            <a:ext cx="1821185" cy="862642"/>
          </a:xfrm>
          <a:prstGeom prst="callout2">
            <a:avLst>
              <a:gd name="adj1" fmla="val 50315"/>
              <a:gd name="adj2" fmla="val 100204"/>
              <a:gd name="adj3" fmla="val 50245"/>
              <a:gd name="adj4" fmla="val 121963"/>
              <a:gd name="adj5" fmla="val 141135"/>
              <a:gd name="adj6" fmla="val 12828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Start value</a:t>
            </a:r>
          </a:p>
        </p:txBody>
      </p:sp>
    </p:spTree>
    <p:extLst>
      <p:ext uri="{BB962C8B-B14F-4D97-AF65-F5344CB8AC3E}">
        <p14:creationId xmlns:p14="http://schemas.microsoft.com/office/powerpoint/2010/main" val="1286943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animBg="1"/>
      <p:bldP spid="4" grpId="0" animBg="1"/>
      <p:bldP spid="12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D4138A-7198-4970-B917-D68D685836BD}"/>
              </a:ext>
            </a:extLst>
          </p:cNvPr>
          <p:cNvSpPr txBox="1"/>
          <p:nvPr/>
        </p:nvSpPr>
        <p:spPr>
          <a:xfrm>
            <a:off x="838200" y="2536460"/>
            <a:ext cx="943613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counter 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     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(counter)</a:t>
            </a:r>
            <a:endParaRPr lang="en-US" altLang="en-US" sz="44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5 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"Finished!"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en-US" sz="4400" dirty="0">
              <a:solidFill>
                <a:srgbClr val="B2B2B2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Fixed Loop – Start Value</a:t>
            </a:r>
          </a:p>
        </p:txBody>
      </p:sp>
    </p:spTree>
    <p:extLst>
      <p:ext uri="{BB962C8B-B14F-4D97-AF65-F5344CB8AC3E}">
        <p14:creationId xmlns:p14="http://schemas.microsoft.com/office/powerpoint/2010/main" val="314823601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D4138A-7198-4970-B917-D68D685836BD}"/>
              </a:ext>
            </a:extLst>
          </p:cNvPr>
          <p:cNvSpPr txBox="1"/>
          <p:nvPr/>
        </p:nvSpPr>
        <p:spPr>
          <a:xfrm>
            <a:off x="838200" y="2536460"/>
            <a:ext cx="943613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number 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     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(number + 1)</a:t>
            </a:r>
            <a:endParaRPr lang="en-US" altLang="en-US" sz="44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5 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"Finished!"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en-US" sz="4400" dirty="0">
              <a:solidFill>
                <a:srgbClr val="B2B2B2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0012B8AC-6A2E-46EA-8B77-F2D850227826}"/>
              </a:ext>
            </a:extLst>
          </p:cNvPr>
          <p:cNvSpPr/>
          <p:nvPr/>
        </p:nvSpPr>
        <p:spPr>
          <a:xfrm>
            <a:off x="1166549" y="1673818"/>
            <a:ext cx="2254070" cy="862642"/>
          </a:xfrm>
          <a:prstGeom prst="callout2">
            <a:avLst>
              <a:gd name="adj1" fmla="val 50315"/>
              <a:gd name="adj2" fmla="val 100204"/>
              <a:gd name="adj3" fmla="val 50245"/>
              <a:gd name="adj4" fmla="val 112299"/>
              <a:gd name="adj5" fmla="val 107348"/>
              <a:gd name="adj6" fmla="val 11193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Loop variable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8001852" y="3583011"/>
            <a:ext cx="3933923" cy="1692549"/>
            <a:chOff x="7619999" y="3594340"/>
            <a:chExt cx="3933923" cy="667854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9D020B91-7067-4A9C-9D08-9C39E10155FC}"/>
                </a:ext>
              </a:extLst>
            </p:cNvPr>
            <p:cNvSpPr/>
            <p:nvPr/>
          </p:nvSpPr>
          <p:spPr>
            <a:xfrm>
              <a:off x="7619999" y="3594340"/>
              <a:ext cx="485955" cy="667854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8A8750E-48D9-426C-B2E1-2F205372B95F}"/>
                </a:ext>
              </a:extLst>
            </p:cNvPr>
            <p:cNvSpPr txBox="1"/>
            <p:nvPr/>
          </p:nvSpPr>
          <p:spPr>
            <a:xfrm>
              <a:off x="8239367" y="3638877"/>
              <a:ext cx="3314555" cy="578778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GB" sz="2800" b="1" dirty="0">
                  <a:solidFill>
                    <a:srgbClr val="7030A0"/>
                  </a:solidFill>
                </a:rPr>
                <a:t>Code to be repeated  indented</a:t>
              </a:r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Fixed Loop – No Start Value</a:t>
            </a:r>
          </a:p>
        </p:txBody>
      </p:sp>
      <p:sp>
        <p:nvSpPr>
          <p:cNvPr id="4" name="Callout: Bent Line with No Border 3">
            <a:extLst>
              <a:ext uri="{FF2B5EF4-FFF2-40B4-BE49-F238E27FC236}">
                <a16:creationId xmlns:a16="http://schemas.microsoft.com/office/drawing/2014/main" id="{76A1E863-82DB-AD5B-59E0-3AAA9503CE8B}"/>
              </a:ext>
            </a:extLst>
          </p:cNvPr>
          <p:cNvSpPr/>
          <p:nvPr/>
        </p:nvSpPr>
        <p:spPr>
          <a:xfrm>
            <a:off x="6956384" y="1467915"/>
            <a:ext cx="1261117" cy="862642"/>
          </a:xfrm>
          <a:prstGeom prst="callout2">
            <a:avLst>
              <a:gd name="adj1" fmla="val 50315"/>
              <a:gd name="adj2" fmla="val 100204"/>
              <a:gd name="adj3" fmla="val 50115"/>
              <a:gd name="adj4" fmla="val 118027"/>
              <a:gd name="adj5" fmla="val 137110"/>
              <a:gd name="adj6" fmla="val 11828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Colon</a:t>
            </a:r>
          </a:p>
        </p:txBody>
      </p:sp>
    </p:spTree>
    <p:extLst>
      <p:ext uri="{BB962C8B-B14F-4D97-AF65-F5344CB8AC3E}">
        <p14:creationId xmlns:p14="http://schemas.microsoft.com/office/powerpoint/2010/main" val="562336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25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animBg="1"/>
      <p:bldP spid="4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D4138A-7198-4970-B917-D68D685836BD}"/>
              </a:ext>
            </a:extLst>
          </p:cNvPr>
          <p:cNvSpPr txBox="1"/>
          <p:nvPr/>
        </p:nvSpPr>
        <p:spPr>
          <a:xfrm>
            <a:off x="838200" y="2536460"/>
            <a:ext cx="943613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number 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     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(number + 1)</a:t>
            </a:r>
            <a:endParaRPr lang="en-US" altLang="en-US" sz="44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5 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"Finished!"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en-US" sz="4400" dirty="0">
              <a:solidFill>
                <a:srgbClr val="B2B2B2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Fixed Loop – No Start Value</a:t>
            </a:r>
          </a:p>
        </p:txBody>
      </p:sp>
    </p:spTree>
    <p:extLst>
      <p:ext uri="{BB962C8B-B14F-4D97-AF65-F5344CB8AC3E}">
        <p14:creationId xmlns:p14="http://schemas.microsoft.com/office/powerpoint/2010/main" val="107333050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a standard algorithm for a running total within a loop</a:t>
            </a:r>
          </a:p>
        </p:txBody>
      </p:sp>
    </p:spTree>
    <p:extLst>
      <p:ext uri="{BB962C8B-B14F-4D97-AF65-F5344CB8AC3E}">
        <p14:creationId xmlns:p14="http://schemas.microsoft.com/office/powerpoint/2010/main" val="380571540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Running total - Fixed Loop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value: int = </a:t>
            </a:r>
            <a:r>
              <a:rPr lang="en-GB" altLang="en-US" sz="40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</a:p>
          <a:p>
            <a:pPr mar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total: int = </a:t>
            </a:r>
            <a:r>
              <a:rPr lang="en-GB" altLang="en-US" sz="40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  <a:endParaRPr lang="en-GB" altLang="en-US" sz="4000" noProof="0" dirty="0">
              <a:solidFill>
                <a:srgbClr val="0086B3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40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counter </a:t>
            </a:r>
            <a:r>
              <a:rPr lang="en-GB" altLang="en-US" sz="40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40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40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4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  <a:endParaRPr lang="en-GB" altLang="en-US" sz="400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value = </a:t>
            </a:r>
            <a:r>
              <a:rPr lang="en-GB" altLang="en-US" sz="40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40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40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"Value: "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  <a:endParaRPr lang="en-GB" altLang="en-US" sz="400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total = total + value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endParaRPr lang="en-GB" altLang="en-US" sz="5400" noProof="0" dirty="0">
              <a:latin typeface="Arial" panose="020B0604020202020204" pitchFamily="34" charset="0"/>
            </a:endParaRPr>
          </a:p>
        </p:txBody>
      </p:sp>
      <p:sp>
        <p:nvSpPr>
          <p:cNvPr id="2" name="Callout: Bent Line with No Border 8">
            <a:extLst>
              <a:ext uri="{FF2B5EF4-FFF2-40B4-BE49-F238E27FC236}">
                <a16:creationId xmlns:a16="http://schemas.microsoft.com/office/drawing/2014/main" id="{08E77E49-87FD-FA4E-E7EC-2A87609FF1A5}"/>
              </a:ext>
            </a:extLst>
          </p:cNvPr>
          <p:cNvSpPr/>
          <p:nvPr/>
        </p:nvSpPr>
        <p:spPr>
          <a:xfrm>
            <a:off x="8480367" y="3528432"/>
            <a:ext cx="2381413" cy="568516"/>
          </a:xfrm>
          <a:prstGeom prst="callout2">
            <a:avLst>
              <a:gd name="adj1" fmla="val 49740"/>
              <a:gd name="adj2" fmla="val -893"/>
              <a:gd name="adj3" fmla="val 50497"/>
              <a:gd name="adj4" fmla="val -19802"/>
              <a:gd name="adj5" fmla="val 157241"/>
              <a:gd name="adj6" fmla="val -6720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Get new value</a:t>
            </a:r>
          </a:p>
        </p:txBody>
      </p:sp>
      <p:sp>
        <p:nvSpPr>
          <p:cNvPr id="5" name="Callout: Bent Line with No Border 8">
            <a:extLst>
              <a:ext uri="{FF2B5EF4-FFF2-40B4-BE49-F238E27FC236}">
                <a16:creationId xmlns:a16="http://schemas.microsoft.com/office/drawing/2014/main" id="{6E1680AB-4214-D0B4-248A-DE6A61414F38}"/>
              </a:ext>
            </a:extLst>
          </p:cNvPr>
          <p:cNvSpPr/>
          <p:nvPr/>
        </p:nvSpPr>
        <p:spPr>
          <a:xfrm>
            <a:off x="8480367" y="5231238"/>
            <a:ext cx="2047933" cy="568516"/>
          </a:xfrm>
          <a:prstGeom prst="callout2">
            <a:avLst>
              <a:gd name="adj1" fmla="val 49740"/>
              <a:gd name="adj2" fmla="val -893"/>
              <a:gd name="adj3" fmla="val 50231"/>
              <a:gd name="adj4" fmla="val -19072"/>
              <a:gd name="adj5" fmla="val 88148"/>
              <a:gd name="adj6" fmla="val -5465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Add to total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2419078-3ED5-EE44-3476-F3E305781F00}"/>
              </a:ext>
            </a:extLst>
          </p:cNvPr>
          <p:cNvGrpSpPr/>
          <p:nvPr/>
        </p:nvGrpSpPr>
        <p:grpSpPr>
          <a:xfrm>
            <a:off x="4646017" y="1844675"/>
            <a:ext cx="3767922" cy="1031875"/>
            <a:chOff x="7465700" y="4091601"/>
            <a:chExt cx="3767922" cy="1031875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02531D6E-4045-0BA1-B29F-D38C5ED32B2B}"/>
                </a:ext>
              </a:extLst>
            </p:cNvPr>
            <p:cNvSpPr/>
            <p:nvPr/>
          </p:nvSpPr>
          <p:spPr>
            <a:xfrm>
              <a:off x="7465700" y="4091601"/>
              <a:ext cx="383079" cy="1031875"/>
            </a:xfrm>
            <a:prstGeom prst="rightBrace">
              <a:avLst>
                <a:gd name="adj1" fmla="val 0"/>
                <a:gd name="adj2" fmla="val 49508"/>
              </a:avLst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264A8F8-8253-D8AB-3C7E-49A1D6A6BDD7}"/>
                </a:ext>
              </a:extLst>
            </p:cNvPr>
            <p:cNvSpPr txBox="1"/>
            <p:nvPr/>
          </p:nvSpPr>
          <p:spPr>
            <a:xfrm>
              <a:off x="7919067" y="4345928"/>
              <a:ext cx="33145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b="1" dirty="0">
                  <a:solidFill>
                    <a:srgbClr val="7030A0"/>
                  </a:solidFill>
                </a:rPr>
                <a:t>Initialise variables</a:t>
              </a:r>
            </a:p>
          </p:txBody>
        </p:sp>
      </p:grpSp>
      <p:sp>
        <p:nvSpPr>
          <p:cNvPr id="9" name="Callout: Bent Line with No Border 8">
            <a:extLst>
              <a:ext uri="{FF2B5EF4-FFF2-40B4-BE49-F238E27FC236}">
                <a16:creationId xmlns:a16="http://schemas.microsoft.com/office/drawing/2014/main" id="{A9ADD810-5765-5C6A-2884-D1A6959E4354}"/>
              </a:ext>
            </a:extLst>
          </p:cNvPr>
          <p:cNvSpPr/>
          <p:nvPr/>
        </p:nvSpPr>
        <p:spPr>
          <a:xfrm>
            <a:off x="7576833" y="2622791"/>
            <a:ext cx="3855000" cy="568516"/>
          </a:xfrm>
          <a:prstGeom prst="callout2">
            <a:avLst>
              <a:gd name="adj1" fmla="val 49740"/>
              <a:gd name="adj2" fmla="val -893"/>
              <a:gd name="adj3" fmla="val 50497"/>
              <a:gd name="adj4" fmla="val -14613"/>
              <a:gd name="adj5" fmla="val 148599"/>
              <a:gd name="adj6" fmla="val -2412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How many values to add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25EBCB-801E-43AF-A04E-FF70CB2F143D}"/>
              </a:ext>
            </a:extLst>
          </p:cNvPr>
          <p:cNvSpPr txBox="1"/>
          <p:nvPr/>
        </p:nvSpPr>
        <p:spPr>
          <a:xfrm>
            <a:off x="8197624" y="702955"/>
            <a:ext cx="31561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Add multiple values together in a loop</a:t>
            </a:r>
          </a:p>
        </p:txBody>
      </p:sp>
    </p:spTree>
    <p:extLst>
      <p:ext uri="{BB962C8B-B14F-4D97-AF65-F5344CB8AC3E}">
        <p14:creationId xmlns:p14="http://schemas.microsoft.com/office/powerpoint/2010/main" val="931807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2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2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" grpId="0" animBg="1"/>
      <p:bldP spid="5" grpId="0" animBg="1"/>
      <p:bldP spid="9" grpId="0" animBg="1"/>
      <p:bldP spid="10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Running total - Fixed Loop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value = </a:t>
            </a:r>
            <a:r>
              <a:rPr lang="en-GB" altLang="en-US" sz="40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</a:p>
          <a:p>
            <a:pPr mar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total = </a:t>
            </a:r>
            <a:r>
              <a:rPr lang="en-GB" altLang="en-US" sz="40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  <a:endParaRPr lang="en-GB" altLang="en-US" sz="4000" noProof="0" dirty="0">
              <a:solidFill>
                <a:srgbClr val="0086B3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40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counter </a:t>
            </a:r>
            <a:r>
              <a:rPr lang="en-GB" altLang="en-US" sz="40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40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40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4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  <a:endParaRPr lang="en-GB" altLang="en-US" sz="400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value = </a:t>
            </a:r>
            <a:r>
              <a:rPr lang="en-GB" altLang="en-US" sz="40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40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40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"Value: "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  <a:endParaRPr lang="en-GB" altLang="en-US" sz="400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total = total + value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endParaRPr lang="en-GB" altLang="en-US" sz="5400" noProof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524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2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2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noProof="0" dirty="0"/>
              <a:t>Describe and use:</a:t>
            </a:r>
          </a:p>
          <a:p>
            <a:pPr lvl="1"/>
            <a:r>
              <a:rPr lang="en-GB" sz="3200" noProof="0" dirty="0">
                <a:ea typeface="Calibri"/>
                <a:cs typeface="Calibri"/>
              </a:rPr>
              <a:t>Python shell</a:t>
            </a:r>
          </a:p>
          <a:p>
            <a:pPr lvl="1"/>
            <a:r>
              <a:rPr lang="en-GB" sz="3200" noProof="0" dirty="0">
                <a:ea typeface="Calibri"/>
                <a:cs typeface="Calibri"/>
              </a:rPr>
              <a:t>print</a:t>
            </a:r>
          </a:p>
          <a:p>
            <a:pPr lvl="1"/>
            <a:r>
              <a:rPr lang="en-GB" sz="3200" i="1" noProof="0" dirty="0"/>
              <a:t>input</a:t>
            </a:r>
          </a:p>
        </p:txBody>
      </p:sp>
    </p:spTree>
    <p:extLst>
      <p:ext uri="{BB962C8B-B14F-4D97-AF65-F5344CB8AC3E}">
        <p14:creationId xmlns:p14="http://schemas.microsoft.com/office/powerpoint/2010/main" val="94362210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use:</a:t>
            </a:r>
          </a:p>
          <a:p>
            <a:pPr lvl="1"/>
            <a:r>
              <a:rPr lang="en-GB" sz="3200" noProof="0" dirty="0"/>
              <a:t>meaningful identifiers</a:t>
            </a:r>
          </a:p>
          <a:p>
            <a:pPr lvl="1"/>
            <a:r>
              <a:rPr lang="en-GB" sz="3200" noProof="0" dirty="0"/>
              <a:t>internal commentary</a:t>
            </a:r>
          </a:p>
          <a:p>
            <a:pPr lvl="1"/>
            <a:r>
              <a:rPr lang="en-GB" sz="3200" noProof="0" dirty="0"/>
              <a:t>white space</a:t>
            </a:r>
          </a:p>
          <a:p>
            <a:pPr lvl="1"/>
            <a:r>
              <a:rPr lang="en-GB" sz="3200" noProof="0" dirty="0"/>
              <a:t>indentation</a:t>
            </a:r>
          </a:p>
        </p:txBody>
      </p:sp>
    </p:spTree>
    <p:extLst>
      <p:ext uri="{BB962C8B-B14F-4D97-AF65-F5344CB8AC3E}">
        <p14:creationId xmlns:p14="http://schemas.microsoft.com/office/powerpoint/2010/main" val="219783292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8A032-8C33-48C1-A520-3AA934B4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Readability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D0FD1-9092-480D-93EA-8417C352F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3800" y="1825625"/>
            <a:ext cx="54360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cow =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sea =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bob = sea + cow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2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2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"Sum: "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(bob))</a:t>
            </a:r>
            <a:endParaRPr lang="en-GB" altLang="en-US" sz="2600" noProof="0" dirty="0">
              <a:latin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B36DF-3923-4687-B0C7-961840948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436000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value1 =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value2 =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3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total = value1 + value2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2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2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"Sum: "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(total))</a:t>
            </a:r>
            <a:endParaRPr lang="en-GB" altLang="en-US" sz="2600" noProof="0" dirty="0"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3800" y="4001294"/>
            <a:ext cx="49003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3600" b="1" dirty="0"/>
              <a:t>1. Meaningful identifiers</a:t>
            </a:r>
          </a:p>
        </p:txBody>
      </p:sp>
    </p:spTree>
    <p:extLst>
      <p:ext uri="{BB962C8B-B14F-4D97-AF65-F5344CB8AC3E}">
        <p14:creationId xmlns:p14="http://schemas.microsoft.com/office/powerpoint/2010/main" val="285373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  <p:bldP spid="5" grpId="0" build="p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8A032-8C33-48C1-A520-3AA934B4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Readability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D0FD1-9092-480D-93EA-8417C352F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3800" y="1825625"/>
            <a:ext cx="54360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cow =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sea =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bob = sea + cow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2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2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"Sum: "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(bob))</a:t>
            </a:r>
            <a:endParaRPr lang="en-GB" altLang="en-US" sz="2600" noProof="0" dirty="0">
              <a:latin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None/>
            </a:pPr>
            <a:endParaRPr lang="en-GB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B36DF-3923-4687-B0C7-961840948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436000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2600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Store two values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value1 =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value2 =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3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2600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Calculate the total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total = value1 + value2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GB" altLang="en-US" sz="2600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Display the result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GB" altLang="en-US" sz="2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2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Sum: "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(total))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3800" y="4001294"/>
            <a:ext cx="4900380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3600" b="1" dirty="0"/>
              <a:t>1. Meaningful identifiers</a:t>
            </a:r>
          </a:p>
          <a:p>
            <a:pPr>
              <a:spcAft>
                <a:spcPts val="1200"/>
              </a:spcAft>
            </a:pPr>
            <a:r>
              <a:rPr lang="en-GB" sz="3600" b="1" dirty="0"/>
              <a:t>2. Internal commentary</a:t>
            </a:r>
          </a:p>
        </p:txBody>
      </p:sp>
    </p:spTree>
    <p:extLst>
      <p:ext uri="{BB962C8B-B14F-4D97-AF65-F5344CB8AC3E}">
        <p14:creationId xmlns:p14="http://schemas.microsoft.com/office/powerpoint/2010/main" val="25579036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  <p:bldP spid="5" grpId="0" build="p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8A032-8C33-48C1-A520-3AA934B4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Readability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D0FD1-9092-480D-93EA-8417C352F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3800" y="1825625"/>
            <a:ext cx="5436000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cow =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sea =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3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bob = sea + cow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2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2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"Sum: "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(bob))</a:t>
            </a:r>
            <a:endParaRPr lang="en-GB" altLang="en-US" sz="2600" noProof="0" dirty="0">
              <a:latin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B36DF-3923-4687-B0C7-961840948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436000" cy="4351338"/>
          </a:xfrm>
        </p:spPr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2600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Store two values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value1 =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value2 =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3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sz="2600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Calculate the sum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total = value1 + value2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GB" altLang="en-US" sz="2600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Display the result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9 </a:t>
            </a:r>
            <a:r>
              <a:rPr lang="en-GB" altLang="en-US" sz="2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2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"Sum: "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(total))</a:t>
            </a:r>
            <a:endParaRPr lang="en-GB" altLang="en-US" sz="2600" noProof="0" dirty="0"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3800" y="4001294"/>
            <a:ext cx="5321137" cy="27699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3600" b="1" dirty="0"/>
              <a:t>1. Meaningful identifiers</a:t>
            </a:r>
          </a:p>
          <a:p>
            <a:pPr>
              <a:spcAft>
                <a:spcPts val="1200"/>
              </a:spcAft>
            </a:pPr>
            <a:r>
              <a:rPr lang="en-GB" sz="3600" b="1" dirty="0"/>
              <a:t>2. Internal commentary</a:t>
            </a:r>
          </a:p>
          <a:p>
            <a:pPr>
              <a:spcAft>
                <a:spcPts val="1200"/>
              </a:spcAft>
            </a:pPr>
            <a:r>
              <a:rPr lang="en-GB" sz="3600" b="1" dirty="0"/>
              <a:t>3. White space</a:t>
            </a:r>
          </a:p>
          <a:p>
            <a:pPr>
              <a:spcAft>
                <a:spcPts val="1200"/>
              </a:spcAft>
            </a:pPr>
            <a:r>
              <a:rPr lang="en-GB" sz="3600" b="1" dirty="0"/>
              <a:t>4. Indentation (not shown)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01D82BA-D295-480F-B55C-9E399D5E8DB5}"/>
              </a:ext>
            </a:extLst>
          </p:cNvPr>
          <p:cNvSpPr/>
          <p:nvPr/>
        </p:nvSpPr>
        <p:spPr>
          <a:xfrm>
            <a:off x="4449116" y="2322095"/>
            <a:ext cx="1455821" cy="783054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9933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1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  <p:bldP spid="6" grpId="0" uiExpand="1" build="p"/>
      <p:bldP spid="5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8A032-8C33-48C1-A520-3AA934B4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Readability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D0FD1-9092-480D-93EA-8417C352F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3800" y="1825625"/>
            <a:ext cx="5436000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cow =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sea =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3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bob = sea + cow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2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2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"Sum: "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(bob))</a:t>
            </a:r>
            <a:endParaRPr lang="en-GB" altLang="en-US" sz="2600" noProof="0" dirty="0">
              <a:latin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B36DF-3923-4687-B0C7-961840948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436000" cy="4351338"/>
          </a:xfrm>
        </p:spPr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2600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Store two values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value1 =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value2 =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3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sz="2600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Calculate the sum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total = value1 + value2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GB" altLang="en-US" sz="2600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Display the result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9 </a:t>
            </a:r>
            <a:r>
              <a:rPr lang="en-GB" altLang="en-US" sz="2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2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"Sum: "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(total))</a:t>
            </a:r>
            <a:endParaRPr lang="en-GB" altLang="en-US" sz="2600" noProof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74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use:</a:t>
            </a:r>
          </a:p>
          <a:p>
            <a:pPr lvl="1"/>
            <a:r>
              <a:rPr lang="en-GB" sz="3200" noProof="0" dirty="0"/>
              <a:t>meaningful identifiers</a:t>
            </a:r>
          </a:p>
          <a:p>
            <a:pPr lvl="1"/>
            <a:r>
              <a:rPr lang="en-GB" sz="3200" noProof="0" dirty="0"/>
              <a:t>internal commentary</a:t>
            </a:r>
          </a:p>
          <a:p>
            <a:pPr lvl="1"/>
            <a:r>
              <a:rPr lang="en-GB" sz="3200" noProof="0" dirty="0"/>
              <a:t>white space</a:t>
            </a:r>
          </a:p>
          <a:p>
            <a:pPr lvl="1"/>
            <a:r>
              <a:rPr lang="en-GB" sz="3200" b="1" noProof="0" dirty="0"/>
              <a:t>indentation</a:t>
            </a:r>
          </a:p>
        </p:txBody>
      </p:sp>
    </p:spTree>
    <p:extLst>
      <p:ext uri="{BB962C8B-B14F-4D97-AF65-F5344CB8AC3E}">
        <p14:creationId xmlns:p14="http://schemas.microsoft.com/office/powerpoint/2010/main" val="329053811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8A032-8C33-48C1-A520-3AA934B4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Indentation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D0FD1-9092-480D-93EA-8417C352F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3800" y="1825625"/>
            <a:ext cx="5436000" cy="4351338"/>
          </a:xfrm>
        </p:spPr>
        <p:txBody>
          <a:bodyPr>
            <a:normAutofit/>
          </a:bodyPr>
          <a:lstStyle/>
          <a:p>
            <a:r>
              <a:rPr lang="en-GB" noProof="0" dirty="0"/>
              <a:t>spaces at the start of a line</a:t>
            </a:r>
          </a:p>
          <a:p>
            <a:r>
              <a:rPr lang="en-GB" noProof="0" dirty="0"/>
              <a:t>indicates a block of code</a:t>
            </a:r>
          </a:p>
          <a:p>
            <a:r>
              <a:rPr lang="en-GB" noProof="0" dirty="0"/>
              <a:t>Python: very important</a:t>
            </a:r>
          </a:p>
          <a:p>
            <a:r>
              <a:rPr lang="en-GB" noProof="0" dirty="0"/>
              <a:t>Python: follows a colon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B36DF-3923-4687-B0C7-961840948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71216" y="1825625"/>
            <a:ext cx="5636984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2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counter </a:t>
            </a:r>
            <a:r>
              <a:rPr lang="en-GB" altLang="en-US" sz="2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6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     # Display value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     </a:t>
            </a:r>
            <a:r>
              <a:rPr lang="en-GB" altLang="en-US" sz="2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(counter)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     # Display squared value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     </a:t>
            </a:r>
            <a:r>
              <a:rPr lang="en-GB" altLang="en-US" sz="2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(counter ** 2)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8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9 </a:t>
            </a:r>
            <a:r>
              <a:rPr lang="en-GB" altLang="en-US" sz="2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2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"All done!"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GB" altLang="en-US" sz="260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GB" altLang="en-US" sz="280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en-GB" altLang="en-US" sz="2600" noProof="0" dirty="0">
              <a:latin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11DBD42-74A9-1DFB-A9EA-639ED1939A01}"/>
              </a:ext>
            </a:extLst>
          </p:cNvPr>
          <p:cNvGrpSpPr/>
          <p:nvPr/>
        </p:nvGrpSpPr>
        <p:grpSpPr>
          <a:xfrm>
            <a:off x="6172202" y="2826075"/>
            <a:ext cx="1172127" cy="2350437"/>
            <a:chOff x="5756560" y="3130195"/>
            <a:chExt cx="1324529" cy="2350437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B801C745-1F92-46CB-A585-A4384156A181}"/>
                </a:ext>
              </a:extLst>
            </p:cNvPr>
            <p:cNvSpPr/>
            <p:nvPr/>
          </p:nvSpPr>
          <p:spPr>
            <a:xfrm flipH="1">
              <a:off x="6385639" y="3130195"/>
              <a:ext cx="695450" cy="2350437"/>
            </a:xfrm>
            <a:prstGeom prst="rightBrace">
              <a:avLst>
                <a:gd name="adj1" fmla="val 0"/>
                <a:gd name="adj2" fmla="val 50770"/>
              </a:avLst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737ACA5-A063-A294-DB2A-3C5F940C669C}"/>
                </a:ext>
              </a:extLst>
            </p:cNvPr>
            <p:cNvSpPr txBox="1"/>
            <p:nvPr/>
          </p:nvSpPr>
          <p:spPr>
            <a:xfrm rot="16200000">
              <a:off x="5030127" y="4186025"/>
              <a:ext cx="197608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2800" b="1" dirty="0">
                  <a:solidFill>
                    <a:srgbClr val="7030A0"/>
                  </a:solidFill>
                </a:rPr>
                <a:t>Code block</a:t>
              </a:r>
            </a:p>
          </p:txBody>
        </p:sp>
      </p:grpSp>
      <p:sp>
        <p:nvSpPr>
          <p:cNvPr id="9" name="Callout: Bent Line with No Border 8">
            <a:extLst>
              <a:ext uri="{FF2B5EF4-FFF2-40B4-BE49-F238E27FC236}">
                <a16:creationId xmlns:a16="http://schemas.microsoft.com/office/drawing/2014/main" id="{83FB1337-ADE2-E7DB-57D3-BFDFE117AA48}"/>
              </a:ext>
            </a:extLst>
          </p:cNvPr>
          <p:cNvSpPr/>
          <p:nvPr/>
        </p:nvSpPr>
        <p:spPr>
          <a:xfrm>
            <a:off x="2694778" y="5285458"/>
            <a:ext cx="2476644" cy="525463"/>
          </a:xfrm>
          <a:prstGeom prst="callout2">
            <a:avLst>
              <a:gd name="adj1" fmla="val 50336"/>
              <a:gd name="adj2" fmla="val 99954"/>
              <a:gd name="adj3" fmla="val 50392"/>
              <a:gd name="adj4" fmla="val 131808"/>
              <a:gd name="adj5" fmla="val 98917"/>
              <a:gd name="adj6" fmla="val 150062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Code block end</a:t>
            </a:r>
          </a:p>
          <a:p>
            <a:pPr algn="r"/>
            <a:r>
              <a:rPr lang="en-GB" sz="2800" b="1" dirty="0">
                <a:solidFill>
                  <a:srgbClr val="7030A0"/>
                </a:solidFill>
              </a:rPr>
              <a:t>(Not indented)</a:t>
            </a:r>
          </a:p>
        </p:txBody>
      </p:sp>
      <p:sp>
        <p:nvSpPr>
          <p:cNvPr id="11" name="Callout: Bent Line with No Border 10">
            <a:extLst>
              <a:ext uri="{FF2B5EF4-FFF2-40B4-BE49-F238E27FC236}">
                <a16:creationId xmlns:a16="http://schemas.microsoft.com/office/drawing/2014/main" id="{4A19A1FB-ECA6-4694-B637-300440FD5518}"/>
              </a:ext>
            </a:extLst>
          </p:cNvPr>
          <p:cNvSpPr/>
          <p:nvPr/>
        </p:nvSpPr>
        <p:spPr>
          <a:xfrm>
            <a:off x="9870723" y="1292163"/>
            <a:ext cx="1087495" cy="465993"/>
          </a:xfrm>
          <a:prstGeom prst="callout2">
            <a:avLst>
              <a:gd name="adj1" fmla="val 50315"/>
              <a:gd name="adj2" fmla="val 100204"/>
              <a:gd name="adj3" fmla="val 50245"/>
              <a:gd name="adj4" fmla="val 121963"/>
              <a:gd name="adj5" fmla="val 141135"/>
              <a:gd name="adj6" fmla="val 12167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Colon</a:t>
            </a:r>
          </a:p>
        </p:txBody>
      </p:sp>
    </p:spTree>
    <p:extLst>
      <p:ext uri="{BB962C8B-B14F-4D97-AF65-F5344CB8AC3E}">
        <p14:creationId xmlns:p14="http://schemas.microsoft.com/office/powerpoint/2010/main" val="449172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7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25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  <p:bldP spid="9" grpId="0" animBg="1"/>
      <p:bldP spid="11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8A032-8C33-48C1-A520-3AA934B4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Indentation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D0FD1-9092-480D-93EA-8417C352F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3800" y="1825625"/>
            <a:ext cx="5436000" cy="4351338"/>
          </a:xfrm>
        </p:spPr>
        <p:txBody>
          <a:bodyPr>
            <a:normAutofit/>
          </a:bodyPr>
          <a:lstStyle/>
          <a:p>
            <a:r>
              <a:rPr lang="en-GB" noProof="0" dirty="0"/>
              <a:t>spaces at the </a:t>
            </a:r>
          </a:p>
          <a:p>
            <a:r>
              <a:rPr lang="en-GB" noProof="0" dirty="0"/>
              <a:t>indicates a </a:t>
            </a:r>
          </a:p>
          <a:p>
            <a:r>
              <a:rPr lang="en-GB" noProof="0" dirty="0"/>
              <a:t>Python: </a:t>
            </a:r>
          </a:p>
          <a:p>
            <a:r>
              <a:rPr lang="en-GB" noProof="0" dirty="0"/>
              <a:t>Python: follows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B36DF-3923-4687-B0C7-961840948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71216" y="1825625"/>
            <a:ext cx="5636984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2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counter </a:t>
            </a:r>
            <a:r>
              <a:rPr lang="en-GB" altLang="en-US" sz="2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sz="2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6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     # Display value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     </a:t>
            </a:r>
            <a:r>
              <a:rPr lang="en-GB" altLang="en-US" sz="2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(counter)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     # Display squared value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     </a:t>
            </a:r>
            <a:r>
              <a:rPr lang="en-GB" altLang="en-US" sz="2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(counter ** 2)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8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9 </a:t>
            </a:r>
            <a:r>
              <a:rPr lang="en-GB" altLang="en-US" sz="2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2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"All done!"</a:t>
            </a:r>
            <a:r>
              <a:rPr lang="en-GB" altLang="en-US" sz="2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GB" altLang="en-US" sz="260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GB" altLang="en-US" sz="280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en-GB" altLang="en-US" sz="2600" noProof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902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D37F7A6-E716-44FD-8FE1-3268AFEF6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Program Layout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F46296-45DB-4518-B55D-3898A3F68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noProof="0" dirty="0"/>
              <a:t>TAD</a:t>
            </a:r>
          </a:p>
          <a:p>
            <a:pPr marL="514350" indent="-514350">
              <a:buFont typeface="+mj-lt"/>
              <a:buAutoNum type="arabicPeriod"/>
            </a:pPr>
            <a:r>
              <a:rPr lang="en-GB" noProof="0" dirty="0"/>
              <a:t>Import code</a:t>
            </a:r>
          </a:p>
          <a:p>
            <a:pPr marL="514350" indent="-514350">
              <a:buFont typeface="+mj-lt"/>
              <a:buAutoNum type="arabicPeriod"/>
            </a:pPr>
            <a:r>
              <a:rPr lang="en-GB" noProof="0" dirty="0"/>
              <a:t>Initialise variables – correct data</a:t>
            </a:r>
            <a:r>
              <a:rPr lang="en-GB" dirty="0"/>
              <a:t> </a:t>
            </a:r>
            <a:r>
              <a:rPr lang="en-GB" noProof="0" dirty="0"/>
              <a:t>types</a:t>
            </a:r>
          </a:p>
          <a:p>
            <a:pPr marL="514350" indent="-514350">
              <a:buFont typeface="+mj-lt"/>
              <a:buAutoNum type="arabicPeriod"/>
            </a:pPr>
            <a:r>
              <a:rPr lang="en-GB" noProof="0" dirty="0"/>
              <a:t>Get values from user – assign</a:t>
            </a:r>
            <a:r>
              <a:rPr lang="en-GB" dirty="0"/>
              <a:t> (</a:t>
            </a:r>
            <a:r>
              <a:rPr lang="en-GB" noProof="0" dirty="0"/>
              <a:t>cast if necessary)</a:t>
            </a:r>
          </a:p>
          <a:p>
            <a:pPr marL="514350" indent="-514350">
              <a:buFont typeface="+mj-lt"/>
              <a:buAutoNum type="arabicPeriod"/>
            </a:pPr>
            <a:r>
              <a:rPr lang="en-GB" noProof="0" dirty="0"/>
              <a:t>Use values from user</a:t>
            </a:r>
          </a:p>
          <a:p>
            <a:pPr marL="514350" indent="-514350">
              <a:buFont typeface="+mj-lt"/>
              <a:buAutoNum type="arabicPeriod"/>
            </a:pPr>
            <a:r>
              <a:rPr lang="en-GB" noProof="0" dirty="0"/>
              <a:t>Display results – concatenate</a:t>
            </a:r>
            <a:r>
              <a:rPr lang="en-GB" dirty="0"/>
              <a:t> (</a:t>
            </a:r>
            <a:r>
              <a:rPr lang="en-GB" noProof="0" dirty="0"/>
              <a:t>cast if necessary)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11FE4D-6F07-418A-88D7-065AC2FD5F62}"/>
              </a:ext>
            </a:extLst>
          </p:cNvPr>
          <p:cNvSpPr txBox="1"/>
          <p:nvPr/>
        </p:nvSpPr>
        <p:spPr>
          <a:xfrm>
            <a:off x="9473349" y="5377289"/>
            <a:ext cx="18165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7030A0"/>
                </a:solidFill>
              </a:rPr>
              <a:t>3. Output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5BCF7D-BA06-48DF-B3E5-E7DEA8966742}"/>
              </a:ext>
            </a:extLst>
          </p:cNvPr>
          <p:cNvSpPr txBox="1"/>
          <p:nvPr/>
        </p:nvSpPr>
        <p:spPr>
          <a:xfrm>
            <a:off x="9473349" y="3930870"/>
            <a:ext cx="15055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7030A0"/>
                </a:solidFill>
              </a:rPr>
              <a:t>1. Input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2995FD-BC67-4006-9363-5A4CC0C66BE9}"/>
              </a:ext>
            </a:extLst>
          </p:cNvPr>
          <p:cNvSpPr txBox="1"/>
          <p:nvPr/>
        </p:nvSpPr>
        <p:spPr>
          <a:xfrm>
            <a:off x="9473349" y="4654079"/>
            <a:ext cx="18804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7030A0"/>
                </a:solidFill>
              </a:rPr>
              <a:t>2. Process</a:t>
            </a:r>
          </a:p>
        </p:txBody>
      </p:sp>
    </p:spTree>
    <p:extLst>
      <p:ext uri="{BB962C8B-B14F-4D97-AF65-F5344CB8AC3E}">
        <p14:creationId xmlns:p14="http://schemas.microsoft.com/office/powerpoint/2010/main" val="811224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D37F7A6-E716-44FD-8FE1-3268AFEF6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Program Layout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F46296-45DB-4518-B55D-3898A3F68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spcAft>
                <a:spcPts val="1800"/>
              </a:spcAft>
              <a:buFont typeface="+mj-lt"/>
              <a:buAutoNum type="arabicPeriod"/>
            </a:pPr>
            <a:r>
              <a:rPr lang="en-GB" noProof="0" dirty="0"/>
              <a:t>TAD</a:t>
            </a:r>
          </a:p>
          <a:p>
            <a:pPr marL="514350" indent="-514350">
              <a:spcAft>
                <a:spcPts val="1800"/>
              </a:spcAft>
              <a:buFont typeface="+mj-lt"/>
              <a:buAutoNum type="arabicPeriod"/>
            </a:pPr>
            <a:r>
              <a:rPr lang="en-GB" noProof="0" dirty="0"/>
              <a:t>Import</a:t>
            </a:r>
          </a:p>
          <a:p>
            <a:pPr marL="514350" indent="-514350">
              <a:spcAft>
                <a:spcPts val="1800"/>
              </a:spcAft>
              <a:buFont typeface="+mj-lt"/>
              <a:buAutoNum type="arabicPeriod"/>
            </a:pPr>
            <a:r>
              <a:rPr lang="en-GB" noProof="0" dirty="0"/>
              <a:t>Initialise </a:t>
            </a:r>
          </a:p>
          <a:p>
            <a:pPr marL="514350" indent="-514350">
              <a:spcAft>
                <a:spcPts val="1800"/>
              </a:spcAft>
              <a:buFont typeface="+mj-lt"/>
              <a:buAutoNum type="arabicPeriod"/>
            </a:pPr>
            <a:r>
              <a:rPr lang="en-GB" noProof="0" dirty="0"/>
              <a:t>Get values </a:t>
            </a:r>
          </a:p>
          <a:p>
            <a:pPr marL="514350" indent="-514350">
              <a:spcAft>
                <a:spcPts val="1800"/>
              </a:spcAft>
              <a:buFont typeface="+mj-lt"/>
              <a:buAutoNum type="arabicPeriod"/>
            </a:pPr>
            <a:r>
              <a:rPr lang="en-GB" noProof="0" dirty="0"/>
              <a:t>Use values</a:t>
            </a:r>
          </a:p>
          <a:p>
            <a:pPr marL="514350" indent="-514350">
              <a:spcAft>
                <a:spcPts val="1800"/>
              </a:spcAft>
              <a:buFont typeface="+mj-lt"/>
              <a:buAutoNum type="arabicPeriod"/>
            </a:pPr>
            <a:r>
              <a:rPr lang="en-GB" noProof="0" dirty="0"/>
              <a:t>Display</a:t>
            </a:r>
          </a:p>
        </p:txBody>
      </p:sp>
    </p:spTree>
    <p:extLst>
      <p:ext uri="{BB962C8B-B14F-4D97-AF65-F5344CB8AC3E}">
        <p14:creationId xmlns:p14="http://schemas.microsoft.com/office/powerpoint/2010/main" val="2374843762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simple conditions</a:t>
            </a:r>
          </a:p>
        </p:txBody>
      </p:sp>
    </p:spTree>
    <p:extLst>
      <p:ext uri="{BB962C8B-B14F-4D97-AF65-F5344CB8AC3E}">
        <p14:creationId xmlns:p14="http://schemas.microsoft.com/office/powerpoint/2010/main" val="33027625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Boolean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sz="16600" noProof="0" dirty="0"/>
              <a:t>True</a:t>
            </a:r>
          </a:p>
          <a:p>
            <a:pPr marL="0" indent="0" algn="ctr">
              <a:buNone/>
            </a:pPr>
            <a:r>
              <a:rPr lang="en-GB" noProof="0" dirty="0"/>
              <a:t>1</a:t>
            </a:r>
          </a:p>
          <a:p>
            <a:pPr marL="0" indent="0" algn="ctr">
              <a:buNone/>
            </a:pPr>
            <a:r>
              <a:rPr lang="en-GB" noProof="0" dirty="0"/>
              <a:t>On</a:t>
            </a:r>
          </a:p>
          <a:p>
            <a:pPr marL="0" indent="0" algn="ctr">
              <a:buNone/>
            </a:pPr>
            <a:r>
              <a:rPr lang="en-GB" noProof="0" dirty="0"/>
              <a:t>Yes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sz="16600" noProof="0" dirty="0"/>
              <a:t>False</a:t>
            </a:r>
          </a:p>
          <a:p>
            <a:pPr marL="0" indent="0" algn="ctr">
              <a:buNone/>
            </a:pPr>
            <a:r>
              <a:rPr lang="en-GB" noProof="0" dirty="0"/>
              <a:t>0</a:t>
            </a:r>
          </a:p>
          <a:p>
            <a:pPr marL="0" indent="0" algn="ctr">
              <a:buNone/>
            </a:pPr>
            <a:r>
              <a:rPr lang="en-GB" noProof="0" dirty="0"/>
              <a:t>Off</a:t>
            </a:r>
          </a:p>
          <a:p>
            <a:pPr marL="0" indent="0" algn="ctr">
              <a:buNone/>
            </a:pPr>
            <a:r>
              <a:rPr lang="en-GB" noProof="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737641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Boolean</a:t>
            </a:r>
          </a:p>
        </p:txBody>
      </p:sp>
    </p:spTree>
    <p:extLst>
      <p:ext uri="{BB962C8B-B14F-4D97-AF65-F5344CB8AC3E}">
        <p14:creationId xmlns:p14="http://schemas.microsoft.com/office/powerpoint/2010/main" val="122041855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Comparison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70760" y="1825625"/>
            <a:ext cx="155448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GB" sz="3600" noProof="0" dirty="0"/>
              <a:t>==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GB" sz="3600" noProof="0" dirty="0"/>
              <a:t>&gt;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GB" sz="3600" noProof="0" dirty="0"/>
              <a:t>&gt;=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GB" sz="3600" noProof="0" dirty="0"/>
              <a:t>&lt;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GB" sz="3600" noProof="0" dirty="0"/>
              <a:t>&lt;=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GB" sz="3600" noProof="0" dirty="0"/>
              <a:t>!=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8600" y="1825625"/>
            <a:ext cx="5242560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sz="3600" noProof="0" dirty="0"/>
              <a:t>Equality, the same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sz="3600" noProof="0" dirty="0"/>
              <a:t>Greater than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sz="3600" noProof="0" dirty="0"/>
              <a:t>Greater than or equal to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sz="3600" noProof="0" dirty="0"/>
              <a:t>Less than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sz="3600" noProof="0" dirty="0"/>
              <a:t>Less than or equal to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sz="3600" noProof="0" dirty="0"/>
              <a:t>Inequality, not the same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821E29-F4FD-43F1-874A-10D2E5647E0C}"/>
              </a:ext>
            </a:extLst>
          </p:cNvPr>
          <p:cNvSpPr txBox="1"/>
          <p:nvPr/>
        </p:nvSpPr>
        <p:spPr>
          <a:xfrm>
            <a:off x="5949386" y="643185"/>
            <a:ext cx="51508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b="1" dirty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/ Relational Operators</a:t>
            </a:r>
          </a:p>
        </p:txBody>
      </p:sp>
    </p:spTree>
    <p:extLst>
      <p:ext uri="{BB962C8B-B14F-4D97-AF65-F5344CB8AC3E}">
        <p14:creationId xmlns:p14="http://schemas.microsoft.com/office/powerpoint/2010/main" val="3091582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  <p:bldP spid="5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Comparison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70760" y="1825625"/>
            <a:ext cx="155448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GB" sz="3600" noProof="0" dirty="0"/>
              <a:t>==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GB" sz="3600" noProof="0" dirty="0"/>
              <a:t>&gt;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GB" sz="3600" noProof="0" dirty="0"/>
              <a:t>&gt;=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GB" sz="3600" noProof="0" dirty="0"/>
              <a:t>&lt;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GB" sz="3600" noProof="0" dirty="0"/>
              <a:t>&lt;=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GB" sz="3600" noProof="0" dirty="0"/>
              <a:t>!=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8600" y="1825625"/>
            <a:ext cx="5242560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sz="3600" noProof="0" dirty="0"/>
              <a:t>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sz="3600" noProof="0" dirty="0"/>
              <a:t>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sz="3600" noProof="0" dirty="0"/>
              <a:t>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sz="3600" noProof="0" dirty="0"/>
              <a:t>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sz="3600" noProof="0" dirty="0"/>
              <a:t>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sz="3600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163449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True or False?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5 == 5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5 &lt; 3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6 != 9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89 &gt;= 89</a:t>
            </a:r>
          </a:p>
          <a:p>
            <a:pPr marL="0" indent="457200">
              <a:spcBef>
                <a:spcPts val="0"/>
              </a:spcBef>
              <a:spcAft>
                <a:spcPts val="600"/>
              </a:spcAft>
              <a:buNone/>
            </a:pPr>
            <a:r>
              <a:rPr lang="en-GB" noProof="0" dirty="0"/>
              <a:t>val1 = 7.5	val2 = 7.5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val1 == val2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"A" == "a"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True != False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GB" noProof="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True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False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True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True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GB" noProof="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True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False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720888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uiExpand="1" build="p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True or False?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5 == 5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5 &lt; 3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6 != 9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89 &gt;= 89</a:t>
            </a:r>
          </a:p>
          <a:p>
            <a:pPr marL="0" indent="457200">
              <a:spcBef>
                <a:spcPts val="0"/>
              </a:spcBef>
              <a:spcAft>
                <a:spcPts val="600"/>
              </a:spcAft>
              <a:buNone/>
            </a:pPr>
            <a:r>
              <a:rPr lang="en-GB" noProof="0" dirty="0"/>
              <a:t>val1 = 7.5	val2 = 7.5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val1 == val2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"A" == "a"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True != False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GB" noProof="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GB" noProof="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318284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selection with simple conditions</a:t>
            </a:r>
          </a:p>
        </p:txBody>
      </p:sp>
    </p:spTree>
    <p:extLst>
      <p:ext uri="{BB962C8B-B14F-4D97-AF65-F5344CB8AC3E}">
        <p14:creationId xmlns:p14="http://schemas.microsoft.com/office/powerpoint/2010/main" val="3128796867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68545-DD8A-D8FD-B396-F9D61A767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B3576-3BAB-D401-24FB-656F88734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If your eyes are blue, raise your hand</a:t>
            </a:r>
          </a:p>
          <a:p>
            <a:endParaRPr lang="en-GB" noProof="0" dirty="0"/>
          </a:p>
          <a:p>
            <a:r>
              <a:rPr lang="en-GB" noProof="0" dirty="0"/>
              <a:t>If your hair is dark, put a finger </a:t>
            </a:r>
            <a:r>
              <a:rPr lang="en-GB" b="1" i="1" noProof="0" dirty="0"/>
              <a:t>on</a:t>
            </a:r>
            <a:r>
              <a:rPr lang="en-GB" noProof="0" dirty="0"/>
              <a:t> your nose</a:t>
            </a:r>
          </a:p>
          <a:p>
            <a:endParaRPr lang="en-GB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96AED6-4DD3-5934-4B03-C13A9A9BD534}"/>
              </a:ext>
            </a:extLst>
          </p:cNvPr>
          <p:cNvSpPr txBox="1"/>
          <p:nvPr/>
        </p:nvSpPr>
        <p:spPr>
          <a:xfrm>
            <a:off x="2153611" y="4813055"/>
            <a:ext cx="78847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If the test is True, do something</a:t>
            </a:r>
          </a:p>
          <a:p>
            <a:pPr algn="ctr"/>
            <a:endParaRPr lang="en-GB" sz="3600" dirty="0">
              <a:solidFill>
                <a:srgbClr val="7030A0"/>
              </a:solidFill>
            </a:endParaRPr>
          </a:p>
          <a:p>
            <a:pPr algn="ctr"/>
            <a:r>
              <a:rPr lang="en-GB" sz="3600" dirty="0">
                <a:solidFill>
                  <a:srgbClr val="7030A0"/>
                </a:solidFill>
              </a:rPr>
              <a:t>If the test is False, do nothing</a:t>
            </a:r>
          </a:p>
        </p:txBody>
      </p:sp>
    </p:spTree>
    <p:extLst>
      <p:ext uri="{BB962C8B-B14F-4D97-AF65-F5344CB8AC3E}">
        <p14:creationId xmlns:p14="http://schemas.microsoft.com/office/powerpoint/2010/main" val="285329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EC60C7C-6284-98B7-FC7F-AAF84071A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600"/>
            <a:ext cx="10515600" cy="1325563"/>
          </a:xfrm>
        </p:spPr>
        <p:txBody>
          <a:bodyPr/>
          <a:lstStyle/>
          <a:p>
            <a:r>
              <a:rPr lang="en-GB" noProof="0" dirty="0"/>
              <a:t>if – Single Selection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4A42C50-8A3C-5C67-75D6-3D36B1ED7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Example 1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454F646-D258-0082-06E8-52AA982DD54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04851241"/>
              </p:ext>
            </p:extLst>
          </p:nvPr>
        </p:nvGraphicFramePr>
        <p:xfrm>
          <a:off x="836613" y="2498769"/>
          <a:ext cx="4510184" cy="3960000"/>
        </p:xfrm>
        <a:graphic>
          <a:graphicData uri="http://schemas.openxmlformats.org/drawingml/2006/table">
            <a:tbl>
              <a:tblPr/>
              <a:tblGrid>
                <a:gridCol w="562395">
                  <a:extLst>
                    <a:ext uri="{9D8B030D-6E8A-4147-A177-3AD203B41FA5}">
                      <a16:colId xmlns:a16="http://schemas.microsoft.com/office/drawing/2014/main" val="4142325296"/>
                    </a:ext>
                  </a:extLst>
                </a:gridCol>
                <a:gridCol w="3947789">
                  <a:extLst>
                    <a:ext uri="{9D8B030D-6E8A-4147-A177-3AD203B41FA5}">
                      <a16:colId xmlns:a16="http://schemas.microsoft.com/office/drawing/2014/main" val="2315416920"/>
                    </a:ext>
                  </a:extLst>
                </a:gridCol>
              </a:tblGrid>
              <a:tr h="396000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la-Latn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endParaRPr lang="en-GB" sz="3600" dirty="0">
                        <a:solidFill>
                          <a:srgbClr val="B2B2B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  <a:endParaRPr lang="la-Latn" sz="3600" dirty="0">
                        <a:solidFill>
                          <a:srgbClr val="B2B2B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endParaRPr lang="la-Latn" sz="3600" dirty="0">
                        <a:solidFill>
                          <a:srgbClr val="B2B2B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6</a:t>
                      </a:r>
                      <a:endParaRPr lang="la-Latn" sz="3600" dirty="0">
                        <a:solidFill>
                          <a:srgbClr val="B2B2B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7</a:t>
                      </a:r>
                      <a:endParaRPr lang="la-Latn" sz="3600" dirty="0">
                        <a:solidFill>
                          <a:srgbClr val="B2B2B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la-Latn" sz="3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number = </a:t>
                      </a:r>
                      <a:r>
                        <a:rPr lang="la-Latn" sz="3600" dirty="0">
                          <a:solidFill>
                            <a:srgbClr val="0086B3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endParaRPr lang="en-GB" sz="3600" dirty="0">
                        <a:solidFill>
                          <a:srgbClr val="0086B3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la-Latn" sz="36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la-Latn" sz="3600" dirty="0">
                          <a:solidFill>
                            <a:srgbClr val="A71D5D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la-Latn" sz="3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number &gt; </a:t>
                      </a:r>
                      <a:r>
                        <a:rPr lang="la-Latn" sz="3600" dirty="0">
                          <a:solidFill>
                            <a:srgbClr val="0086B3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la-Latn" sz="3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endParaRPr lang="la-Latn" sz="36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la-Latn" sz="3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la-Latn" sz="36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# </a:t>
                      </a:r>
                      <a:r>
                        <a:rPr lang="en-GB" sz="36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If true</a:t>
                      </a:r>
                      <a:endParaRPr lang="la-Latn" sz="36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la-Latn" sz="3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US" altLang="en-US" sz="3600" dirty="0">
                          <a:solidFill>
                            <a:srgbClr val="A71D5D"/>
                          </a:solidFill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en-US" altLang="en-US" sz="36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en-US" sz="3600" dirty="0">
                          <a:solidFill>
                            <a:srgbClr val="183691"/>
                          </a:solidFill>
                          <a:latin typeface="Consolas" panose="020B0609020204030204" pitchFamily="49" charset="0"/>
                        </a:rPr>
                        <a:t>"Hi"</a:t>
                      </a:r>
                      <a:r>
                        <a:rPr lang="en-US" altLang="en-US" sz="3600" kern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en-US" sz="3600" dirty="0">
                          <a:solidFill>
                            <a:srgbClr val="18369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endParaRPr lang="la-Latn" sz="36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la-Latn" sz="36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3600" dirty="0">
                          <a:solidFill>
                            <a:srgbClr val="A71D5D"/>
                          </a:solidFill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en-US" altLang="en-US" sz="36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en-US" sz="3600" dirty="0">
                          <a:solidFill>
                            <a:srgbClr val="183691"/>
                          </a:solidFill>
                          <a:latin typeface="Consolas" panose="020B0609020204030204" pitchFamily="49" charset="0"/>
                        </a:rPr>
                        <a:t>"Bye"</a:t>
                      </a:r>
                      <a:r>
                        <a:rPr lang="en-US" altLang="en-US" sz="3600" kern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en-US" sz="3600" dirty="0">
                          <a:solidFill>
                            <a:srgbClr val="18369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endParaRPr lang="la-Latn" sz="36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322567"/>
                  </a:ext>
                </a:extLst>
              </a:tr>
            </a:tbl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B364FA3-C6B8-FCBB-0DCB-D577EAEB0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noProof="0" dirty="0"/>
              <a:t>Example 2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946FDF27-D3EF-BC56-4B7D-3E620D08C86E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671553754"/>
              </p:ext>
            </p:extLst>
          </p:nvPr>
        </p:nvGraphicFramePr>
        <p:xfrm>
          <a:off x="6172200" y="2498769"/>
          <a:ext cx="4510184" cy="3960000"/>
        </p:xfrm>
        <a:graphic>
          <a:graphicData uri="http://schemas.openxmlformats.org/drawingml/2006/table">
            <a:tbl>
              <a:tblPr/>
              <a:tblGrid>
                <a:gridCol w="566974">
                  <a:extLst>
                    <a:ext uri="{9D8B030D-6E8A-4147-A177-3AD203B41FA5}">
                      <a16:colId xmlns:a16="http://schemas.microsoft.com/office/drawing/2014/main" val="4081216847"/>
                    </a:ext>
                  </a:extLst>
                </a:gridCol>
                <a:gridCol w="3943210">
                  <a:extLst>
                    <a:ext uri="{9D8B030D-6E8A-4147-A177-3AD203B41FA5}">
                      <a16:colId xmlns:a16="http://schemas.microsoft.com/office/drawing/2014/main" val="3713326392"/>
                    </a:ext>
                  </a:extLst>
                </a:gridCol>
              </a:tblGrid>
              <a:tr h="396000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la-Latn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endParaRPr lang="en-GB" sz="3600" dirty="0">
                        <a:solidFill>
                          <a:srgbClr val="B2B2B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  <a:endParaRPr lang="la-Latn" sz="3600" dirty="0">
                        <a:solidFill>
                          <a:srgbClr val="B2B2B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  <a:endParaRPr lang="la-Latn" sz="3600" dirty="0">
                        <a:solidFill>
                          <a:srgbClr val="B2B2B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6</a:t>
                      </a:r>
                      <a:endParaRPr lang="la-Latn" sz="3600" dirty="0">
                        <a:solidFill>
                          <a:srgbClr val="B2B2B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7</a:t>
                      </a:r>
                      <a:endParaRPr lang="la-Latn" sz="3600" dirty="0">
                        <a:solidFill>
                          <a:srgbClr val="B2B2B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la-Latn" sz="3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number = </a:t>
                      </a:r>
                      <a:r>
                        <a:rPr lang="en-GB" sz="3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-</a:t>
                      </a:r>
                      <a:r>
                        <a:rPr lang="la-Latn" sz="3600" dirty="0">
                          <a:solidFill>
                            <a:srgbClr val="0086B3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endParaRPr lang="en-GB" sz="3600" dirty="0">
                        <a:solidFill>
                          <a:srgbClr val="0086B3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la-Latn" sz="36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la-Latn" sz="3600" dirty="0">
                          <a:solidFill>
                            <a:srgbClr val="A71D5D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la-Latn" sz="3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number &gt; </a:t>
                      </a:r>
                      <a:r>
                        <a:rPr lang="la-Latn" sz="3600" dirty="0">
                          <a:solidFill>
                            <a:srgbClr val="0086B3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la-Latn" sz="3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endParaRPr lang="la-Latn" sz="36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la-Latn" sz="3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la-Latn" sz="36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# </a:t>
                      </a:r>
                      <a:r>
                        <a:rPr lang="en-GB" sz="36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If true</a:t>
                      </a:r>
                      <a:endParaRPr lang="la-Latn" sz="36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la-Latn" sz="3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US" altLang="en-US" sz="3600" dirty="0">
                          <a:solidFill>
                            <a:srgbClr val="A71D5D"/>
                          </a:solidFill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en-US" altLang="en-US" sz="36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en-US" sz="3600" dirty="0">
                          <a:solidFill>
                            <a:srgbClr val="183691"/>
                          </a:solidFill>
                          <a:latin typeface="Consolas" panose="020B0609020204030204" pitchFamily="49" charset="0"/>
                        </a:rPr>
                        <a:t>"Hi"</a:t>
                      </a:r>
                      <a:r>
                        <a:rPr lang="en-US" altLang="en-US" sz="3600" kern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en-US" sz="3600" dirty="0">
                          <a:solidFill>
                            <a:srgbClr val="18369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endParaRPr lang="la-Latn" sz="36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la-Latn" sz="36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3600" dirty="0">
                          <a:solidFill>
                            <a:srgbClr val="A71D5D"/>
                          </a:solidFill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en-US" altLang="en-US" sz="36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en-US" sz="3600" dirty="0">
                          <a:solidFill>
                            <a:srgbClr val="183691"/>
                          </a:solidFill>
                          <a:latin typeface="Consolas" panose="020B0609020204030204" pitchFamily="49" charset="0"/>
                        </a:rPr>
                        <a:t>"Bye"</a:t>
                      </a:r>
                      <a:r>
                        <a:rPr lang="en-US" altLang="en-US" sz="3600" kern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en-US" sz="3600" dirty="0">
                          <a:solidFill>
                            <a:srgbClr val="18369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endParaRPr lang="la-Latn" sz="36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104783"/>
                  </a:ext>
                </a:extLst>
              </a:tr>
            </a:tbl>
          </a:graphicData>
        </a:graphic>
      </p:graphicFrame>
      <p:sp>
        <p:nvSpPr>
          <p:cNvPr id="20" name="Arrow: Bent 19">
            <a:extLst>
              <a:ext uri="{FF2B5EF4-FFF2-40B4-BE49-F238E27FC236}">
                <a16:creationId xmlns:a16="http://schemas.microsoft.com/office/drawing/2014/main" id="{E6CFCAC3-1064-90D0-3F52-C5F36DB0DA56}"/>
              </a:ext>
            </a:extLst>
          </p:cNvPr>
          <p:cNvSpPr/>
          <p:nvPr/>
        </p:nvSpPr>
        <p:spPr>
          <a:xfrm rot="10800000">
            <a:off x="4869755" y="4127401"/>
            <a:ext cx="477042" cy="516787"/>
          </a:xfrm>
          <a:prstGeom prst="bentArrow">
            <a:avLst>
              <a:gd name="adj1" fmla="val 29997"/>
              <a:gd name="adj2" fmla="val 25000"/>
              <a:gd name="adj3" fmla="val 25000"/>
              <a:gd name="adj4" fmla="val 437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Bent 20">
            <a:extLst>
              <a:ext uri="{FF2B5EF4-FFF2-40B4-BE49-F238E27FC236}">
                <a16:creationId xmlns:a16="http://schemas.microsoft.com/office/drawing/2014/main" id="{3E53D74E-F81F-EDE9-E089-360D8CCD4C5F}"/>
              </a:ext>
            </a:extLst>
          </p:cNvPr>
          <p:cNvSpPr/>
          <p:nvPr/>
        </p:nvSpPr>
        <p:spPr>
          <a:xfrm rot="10800000">
            <a:off x="10226841" y="4165399"/>
            <a:ext cx="577283" cy="2022876"/>
          </a:xfrm>
          <a:prstGeom prst="bentArrow">
            <a:avLst>
              <a:gd name="adj1" fmla="val 22261"/>
              <a:gd name="adj2" fmla="val 25000"/>
              <a:gd name="adj3" fmla="val 25000"/>
              <a:gd name="adj4" fmla="val 437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7EBDCE5E-93E0-BA9E-F09E-E8A4C7655DFE}"/>
              </a:ext>
            </a:extLst>
          </p:cNvPr>
          <p:cNvSpPr/>
          <p:nvPr/>
        </p:nvSpPr>
        <p:spPr>
          <a:xfrm>
            <a:off x="2940050" y="5254122"/>
            <a:ext cx="311150" cy="65405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91C4A1E-BEB6-4860-9E42-4E9463ED0A43}"/>
              </a:ext>
            </a:extLst>
          </p:cNvPr>
          <p:cNvGrpSpPr/>
          <p:nvPr/>
        </p:nvGrpSpPr>
        <p:grpSpPr>
          <a:xfrm>
            <a:off x="2070101" y="2947381"/>
            <a:ext cx="2670560" cy="892082"/>
            <a:chOff x="5729820" y="1874195"/>
            <a:chExt cx="5522683" cy="1519643"/>
          </a:xfrm>
        </p:grpSpPr>
        <p:sp>
          <p:nvSpPr>
            <p:cNvPr id="13" name="Right Brace 12">
              <a:extLst>
                <a:ext uri="{FF2B5EF4-FFF2-40B4-BE49-F238E27FC236}">
                  <a16:creationId xmlns:a16="http://schemas.microsoft.com/office/drawing/2014/main" id="{AFE68C80-03F9-4AD0-8A88-FD3DE07C519D}"/>
                </a:ext>
              </a:extLst>
            </p:cNvPr>
            <p:cNvSpPr/>
            <p:nvPr/>
          </p:nvSpPr>
          <p:spPr>
            <a:xfrm rot="16200000">
              <a:off x="8235362" y="376697"/>
              <a:ext cx="511599" cy="5522683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7030A0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ED9B3CD-18A8-4B63-B4C5-EE70A7A942C1}"/>
                </a:ext>
              </a:extLst>
            </p:cNvPr>
            <p:cNvSpPr txBox="1"/>
            <p:nvPr/>
          </p:nvSpPr>
          <p:spPr>
            <a:xfrm>
              <a:off x="6558859" y="1874195"/>
              <a:ext cx="3864607" cy="8912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>
                  <a:solidFill>
                    <a:srgbClr val="7030A0"/>
                  </a:solidFill>
                </a:rPr>
                <a:t>True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713C0FB-A865-41A5-A083-099A2DD612E5}"/>
              </a:ext>
            </a:extLst>
          </p:cNvPr>
          <p:cNvGrpSpPr/>
          <p:nvPr/>
        </p:nvGrpSpPr>
        <p:grpSpPr>
          <a:xfrm>
            <a:off x="7471612" y="2947381"/>
            <a:ext cx="2610853" cy="892082"/>
            <a:chOff x="5729820" y="1874195"/>
            <a:chExt cx="5522683" cy="1519643"/>
          </a:xfrm>
        </p:grpSpPr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5143CC03-D700-4CC5-BFAB-B7F96B163386}"/>
                </a:ext>
              </a:extLst>
            </p:cNvPr>
            <p:cNvSpPr/>
            <p:nvPr/>
          </p:nvSpPr>
          <p:spPr>
            <a:xfrm rot="16200000">
              <a:off x="8235362" y="376697"/>
              <a:ext cx="511599" cy="5522683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7030A0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7B8230E-5E55-432E-9C9F-A134DFD96783}"/>
                </a:ext>
              </a:extLst>
            </p:cNvPr>
            <p:cNvSpPr txBox="1"/>
            <p:nvPr/>
          </p:nvSpPr>
          <p:spPr>
            <a:xfrm>
              <a:off x="6558859" y="1874195"/>
              <a:ext cx="3864607" cy="8912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>
                  <a:solidFill>
                    <a:srgbClr val="7030A0"/>
                  </a:solidFill>
                </a:rPr>
                <a:t>False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6596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 build="p"/>
      <p:bldP spid="20" grpId="0" animBg="1"/>
      <p:bldP spid="21" grpId="0" animBg="1"/>
      <p:bldP spid="22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EC60C7C-6284-98B7-FC7F-AAF84071A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600"/>
            <a:ext cx="10515600" cy="1325563"/>
          </a:xfrm>
        </p:spPr>
        <p:txBody>
          <a:bodyPr/>
          <a:lstStyle/>
          <a:p>
            <a:r>
              <a:rPr lang="en-GB" noProof="0" dirty="0"/>
              <a:t>if – Single Selection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4A42C50-8A3C-5C67-75D6-3D36B1ED7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454F646-D258-0082-06E8-52AA982DD54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58379455"/>
              </p:ext>
            </p:extLst>
          </p:nvPr>
        </p:nvGraphicFramePr>
        <p:xfrm>
          <a:off x="836612" y="2498769"/>
          <a:ext cx="4472400" cy="3960000"/>
        </p:xfrm>
        <a:graphic>
          <a:graphicData uri="http://schemas.openxmlformats.org/drawingml/2006/table">
            <a:tbl>
              <a:tblPr/>
              <a:tblGrid>
                <a:gridCol w="548087">
                  <a:extLst>
                    <a:ext uri="{9D8B030D-6E8A-4147-A177-3AD203B41FA5}">
                      <a16:colId xmlns:a16="http://schemas.microsoft.com/office/drawing/2014/main" val="4142325296"/>
                    </a:ext>
                  </a:extLst>
                </a:gridCol>
                <a:gridCol w="3924313">
                  <a:extLst>
                    <a:ext uri="{9D8B030D-6E8A-4147-A177-3AD203B41FA5}">
                      <a16:colId xmlns:a16="http://schemas.microsoft.com/office/drawing/2014/main" val="2315416920"/>
                    </a:ext>
                  </a:extLst>
                </a:gridCol>
              </a:tblGrid>
              <a:tr h="396000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la-Latn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1 </a:t>
                      </a:r>
                      <a:endParaRPr lang="en-GB" sz="3600" dirty="0">
                        <a:solidFill>
                          <a:srgbClr val="B2B2B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  <a:endParaRPr lang="la-Latn" sz="3600" dirty="0">
                        <a:solidFill>
                          <a:srgbClr val="B2B2B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la-Latn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la-Latn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la-Latn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GB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6</a:t>
                      </a:r>
                      <a:endParaRPr lang="la-Latn" sz="3600" dirty="0">
                        <a:solidFill>
                          <a:srgbClr val="B2B2B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7</a:t>
                      </a:r>
                      <a:r>
                        <a:rPr lang="la-Latn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la-Latn" sz="3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number = </a:t>
                      </a:r>
                      <a:r>
                        <a:rPr lang="la-Latn" sz="3600" dirty="0">
                          <a:solidFill>
                            <a:srgbClr val="0086B3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endParaRPr lang="en-GB" sz="3600" dirty="0">
                        <a:solidFill>
                          <a:srgbClr val="0086B3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la-Latn" sz="36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la-Latn" sz="3600" dirty="0">
                          <a:solidFill>
                            <a:srgbClr val="A71D5D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la-Latn" sz="3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number &gt; </a:t>
                      </a:r>
                      <a:r>
                        <a:rPr lang="la-Latn" sz="3600" dirty="0">
                          <a:solidFill>
                            <a:srgbClr val="0086B3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la-Latn" sz="3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endParaRPr lang="la-Latn" sz="36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la-Latn" sz="3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la-Latn" sz="36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# </a:t>
                      </a:r>
                      <a:r>
                        <a:rPr lang="en-GB" sz="36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If true</a:t>
                      </a:r>
                      <a:endParaRPr lang="la-Latn" sz="36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la-Latn" sz="3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US" altLang="en-US" sz="3600" dirty="0">
                          <a:solidFill>
                            <a:srgbClr val="A71D5D"/>
                          </a:solidFill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en-US" altLang="en-US" sz="36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en-US" sz="3600" dirty="0">
                          <a:solidFill>
                            <a:srgbClr val="183691"/>
                          </a:solidFill>
                          <a:latin typeface="Consolas" panose="020B0609020204030204" pitchFamily="49" charset="0"/>
                        </a:rPr>
                        <a:t>"Hi"</a:t>
                      </a:r>
                      <a:r>
                        <a:rPr lang="en-US" altLang="en-US" sz="3600" kern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en-US" sz="3600" dirty="0">
                          <a:solidFill>
                            <a:srgbClr val="18369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endParaRPr lang="la-Latn" sz="36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la-Latn" sz="36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3600" dirty="0">
                          <a:solidFill>
                            <a:srgbClr val="A71D5D"/>
                          </a:solidFill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en-US" altLang="en-US" sz="36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en-US" sz="3600" dirty="0">
                          <a:solidFill>
                            <a:srgbClr val="183691"/>
                          </a:solidFill>
                          <a:latin typeface="Consolas" panose="020B0609020204030204" pitchFamily="49" charset="0"/>
                        </a:rPr>
                        <a:t>"Bye"</a:t>
                      </a:r>
                      <a:r>
                        <a:rPr lang="en-US" altLang="en-US" sz="3600" kern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en-US" sz="3600" dirty="0">
                          <a:solidFill>
                            <a:srgbClr val="18369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endParaRPr lang="la-Latn" sz="36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322567"/>
                  </a:ext>
                </a:extLst>
              </a:tr>
            </a:tbl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B364FA3-C6B8-FCBB-0DCB-D577EAEB0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946FDF27-D3EF-BC56-4B7D-3E620D08C86E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696894451"/>
              </p:ext>
            </p:extLst>
          </p:nvPr>
        </p:nvGraphicFramePr>
        <p:xfrm>
          <a:off x="6172199" y="2498769"/>
          <a:ext cx="4472399" cy="3960000"/>
        </p:xfrm>
        <a:graphic>
          <a:graphicData uri="http://schemas.openxmlformats.org/drawingml/2006/table">
            <a:tbl>
              <a:tblPr/>
              <a:tblGrid>
                <a:gridCol w="584297">
                  <a:extLst>
                    <a:ext uri="{9D8B030D-6E8A-4147-A177-3AD203B41FA5}">
                      <a16:colId xmlns:a16="http://schemas.microsoft.com/office/drawing/2014/main" val="4081216847"/>
                    </a:ext>
                  </a:extLst>
                </a:gridCol>
                <a:gridCol w="3888102">
                  <a:extLst>
                    <a:ext uri="{9D8B030D-6E8A-4147-A177-3AD203B41FA5}">
                      <a16:colId xmlns:a16="http://schemas.microsoft.com/office/drawing/2014/main" val="3713326392"/>
                    </a:ext>
                  </a:extLst>
                </a:gridCol>
              </a:tblGrid>
              <a:tr h="396000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la-Latn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1 </a:t>
                      </a:r>
                      <a:endParaRPr lang="en-GB" sz="3600" dirty="0">
                        <a:solidFill>
                          <a:srgbClr val="B2B2B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  <a:endParaRPr lang="la-Latn" sz="3600" dirty="0">
                        <a:solidFill>
                          <a:srgbClr val="B2B2B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la-Latn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la-Latn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la-Latn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GB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6</a:t>
                      </a:r>
                      <a:endParaRPr lang="la-Latn" sz="3600" dirty="0">
                        <a:solidFill>
                          <a:srgbClr val="B2B2B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7</a:t>
                      </a:r>
                      <a:r>
                        <a:rPr lang="la-Latn" sz="3600" dirty="0">
                          <a:solidFill>
                            <a:srgbClr val="B2B2B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la-Latn" sz="3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number = </a:t>
                      </a:r>
                      <a:r>
                        <a:rPr lang="en-GB" sz="3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-</a:t>
                      </a:r>
                      <a:r>
                        <a:rPr lang="la-Latn" sz="3600" dirty="0">
                          <a:solidFill>
                            <a:srgbClr val="0086B3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endParaRPr lang="en-GB" sz="3600" dirty="0">
                        <a:solidFill>
                          <a:srgbClr val="0086B3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la-Latn" sz="36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la-Latn" sz="3600" dirty="0">
                          <a:solidFill>
                            <a:srgbClr val="A71D5D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la-Latn" sz="3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number &gt; </a:t>
                      </a:r>
                      <a:r>
                        <a:rPr lang="la-Latn" sz="3600" dirty="0">
                          <a:solidFill>
                            <a:srgbClr val="0086B3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la-Latn" sz="3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endParaRPr lang="la-Latn" sz="36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la-Latn" sz="3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la-Latn" sz="36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# </a:t>
                      </a:r>
                      <a:r>
                        <a:rPr lang="en-GB" sz="36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If true</a:t>
                      </a:r>
                      <a:endParaRPr lang="la-Latn" sz="36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la-Latn" sz="3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US" altLang="en-US" sz="3600" dirty="0">
                          <a:solidFill>
                            <a:srgbClr val="A71D5D"/>
                          </a:solidFill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en-US" altLang="en-US" sz="36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en-US" sz="3600" dirty="0">
                          <a:solidFill>
                            <a:srgbClr val="183691"/>
                          </a:solidFill>
                          <a:latin typeface="Consolas" panose="020B0609020204030204" pitchFamily="49" charset="0"/>
                        </a:rPr>
                        <a:t>"Hi"</a:t>
                      </a:r>
                      <a:r>
                        <a:rPr lang="en-US" altLang="en-US" sz="3600" kern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en-US" sz="3600" dirty="0">
                          <a:solidFill>
                            <a:srgbClr val="18369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endParaRPr lang="la-Latn" sz="36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la-Latn" sz="36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3600" dirty="0">
                          <a:solidFill>
                            <a:srgbClr val="A71D5D"/>
                          </a:solidFill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en-US" altLang="en-US" sz="36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en-US" sz="3600" dirty="0">
                          <a:solidFill>
                            <a:srgbClr val="183691"/>
                          </a:solidFill>
                          <a:latin typeface="Consolas" panose="020B0609020204030204" pitchFamily="49" charset="0"/>
                        </a:rPr>
                        <a:t>"Bye"</a:t>
                      </a:r>
                      <a:r>
                        <a:rPr lang="en-US" altLang="en-US" sz="3600" kern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en-US" sz="3600" dirty="0">
                          <a:solidFill>
                            <a:srgbClr val="18369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endParaRPr lang="la-Latn" sz="36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104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5974423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992C3-7BE4-4687-2CB9-1CA420A53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B5F57F88-BAC5-60CE-2F94-967E97FDB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080000"/>
          </a:xfrm>
        </p:spPr>
        <p:txBody>
          <a:bodyPr/>
          <a:lstStyle/>
          <a:p>
            <a:r>
              <a:rPr lang="en-GB" noProof="0" dirty="0"/>
              <a:t>Design – if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8440499-B7BF-41F1-B37B-57D19C48F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445125"/>
            <a:ext cx="5157787" cy="540000"/>
          </a:xfrm>
        </p:spPr>
        <p:txBody>
          <a:bodyPr anchor="ctr" anchorCtr="0"/>
          <a:lstStyle/>
          <a:p>
            <a:r>
              <a:rPr lang="en-GB" noProof="0" dirty="0"/>
              <a:t>Structure diagram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3B184D2-D421-CDDC-6134-BE9317033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45125"/>
            <a:ext cx="5183188" cy="540000"/>
          </a:xfrm>
        </p:spPr>
        <p:txBody>
          <a:bodyPr anchor="ctr" anchorCtr="0"/>
          <a:lstStyle/>
          <a:p>
            <a:r>
              <a:rPr lang="en-GB" noProof="0" dirty="0"/>
              <a:t>Flowchart</a:t>
            </a:r>
          </a:p>
        </p:txBody>
      </p:sp>
      <p:sp>
        <p:nvSpPr>
          <p:cNvPr id="25" name="Callout: Bent Line with No Border 24">
            <a:extLst>
              <a:ext uri="{FF2B5EF4-FFF2-40B4-BE49-F238E27FC236}">
                <a16:creationId xmlns:a16="http://schemas.microsoft.com/office/drawing/2014/main" id="{CE8A4088-0B6B-5BCA-5BEB-F79C67C5F670}"/>
              </a:ext>
            </a:extLst>
          </p:cNvPr>
          <p:cNvSpPr/>
          <p:nvPr/>
        </p:nvSpPr>
        <p:spPr>
          <a:xfrm>
            <a:off x="7642362" y="3039608"/>
            <a:ext cx="432000" cy="360000"/>
          </a:xfrm>
          <a:prstGeom prst="callout2">
            <a:avLst>
              <a:gd name="adj1" fmla="val 50983"/>
              <a:gd name="adj2" fmla="val 101585"/>
              <a:gd name="adj3" fmla="val 50822"/>
              <a:gd name="adj4" fmla="val 144665"/>
              <a:gd name="adj5" fmla="val 96248"/>
              <a:gd name="adj6" fmla="val 18961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if</a:t>
            </a:r>
          </a:p>
        </p:txBody>
      </p:sp>
      <p:sp>
        <p:nvSpPr>
          <p:cNvPr id="26" name="Callout: Bent Line with No Border 25">
            <a:extLst>
              <a:ext uri="{FF2B5EF4-FFF2-40B4-BE49-F238E27FC236}">
                <a16:creationId xmlns:a16="http://schemas.microsoft.com/office/drawing/2014/main" id="{BE38946F-26FB-99A6-E0A3-C1F72F914B9D}"/>
              </a:ext>
            </a:extLst>
          </p:cNvPr>
          <p:cNvSpPr/>
          <p:nvPr/>
        </p:nvSpPr>
        <p:spPr>
          <a:xfrm>
            <a:off x="1156170" y="2414824"/>
            <a:ext cx="432000" cy="324000"/>
          </a:xfrm>
          <a:prstGeom prst="callout2">
            <a:avLst>
              <a:gd name="adj1" fmla="val 50983"/>
              <a:gd name="adj2" fmla="val 101585"/>
              <a:gd name="adj3" fmla="val 49977"/>
              <a:gd name="adj4" fmla="val 144665"/>
              <a:gd name="adj5" fmla="val 49460"/>
              <a:gd name="adj6" fmla="val 20867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if</a:t>
            </a:r>
          </a:p>
        </p:txBody>
      </p:sp>
      <p:pic>
        <p:nvPicPr>
          <p:cNvPr id="7" name="Content Placeholder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7BC6AF4-6952-D230-6541-F1A38A1567E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545" y="1985125"/>
            <a:ext cx="2244067" cy="3271884"/>
          </a:xfrm>
        </p:spPr>
      </p:pic>
      <p:pic>
        <p:nvPicPr>
          <p:cNvPr id="9" name="Content Placeholder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25CCBCD-43D3-56BA-90E2-35B215CE29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8673" y="1985125"/>
            <a:ext cx="1817496" cy="4327993"/>
          </a:xfrm>
        </p:spPr>
      </p:pic>
    </p:spTree>
    <p:extLst>
      <p:ext uri="{BB962C8B-B14F-4D97-AF65-F5344CB8AC3E}">
        <p14:creationId xmlns:p14="http://schemas.microsoft.com/office/powerpoint/2010/main" val="3762346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  <p:bldP spid="19" grpId="0" build="p"/>
      <p:bldP spid="25" grpId="0" animBg="1"/>
      <p:bldP spid="26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1F2EC54-9866-8270-1AA5-924BC4987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F47563A4-0AE6-1125-A12A-CF840E9DE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080000"/>
          </a:xfrm>
        </p:spPr>
        <p:txBody>
          <a:bodyPr/>
          <a:lstStyle/>
          <a:p>
            <a:r>
              <a:rPr lang="en-GB" noProof="0" dirty="0"/>
              <a:t>Design – if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355E030-FBD0-2A6C-5B85-4FBEDBCD9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445125"/>
            <a:ext cx="5157787" cy="540000"/>
          </a:xfrm>
        </p:spPr>
        <p:txBody>
          <a:bodyPr anchor="ctr" anchorCtr="0"/>
          <a:lstStyle/>
          <a:p>
            <a:r>
              <a:rPr lang="en-GB" noProof="0" dirty="0"/>
              <a:t>Structure diagram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C57592A-2C22-B432-CFAE-AFA537FC80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45125"/>
            <a:ext cx="5183188" cy="540000"/>
          </a:xfrm>
        </p:spPr>
        <p:txBody>
          <a:bodyPr anchor="ctr" anchorCtr="0"/>
          <a:lstStyle/>
          <a:p>
            <a:r>
              <a:rPr lang="en-GB" noProof="0" dirty="0"/>
              <a:t>Flowchart</a:t>
            </a:r>
          </a:p>
        </p:txBody>
      </p:sp>
      <p:pic>
        <p:nvPicPr>
          <p:cNvPr id="7" name="Content Placeholder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1F1E60D-4BD7-4474-40BC-40C10202738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545" y="1985125"/>
            <a:ext cx="2244067" cy="3271884"/>
          </a:xfrm>
        </p:spPr>
      </p:pic>
      <p:pic>
        <p:nvPicPr>
          <p:cNvPr id="9" name="Content Placeholder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BEB22B2-30BB-FC56-1765-02A6ECB0F5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8673" y="1985125"/>
            <a:ext cx="1817496" cy="4327993"/>
          </a:xfrm>
        </p:spPr>
      </p:pic>
    </p:spTree>
    <p:extLst>
      <p:ext uri="{BB962C8B-B14F-4D97-AF65-F5344CB8AC3E}">
        <p14:creationId xmlns:p14="http://schemas.microsoft.com/office/powerpoint/2010/main" val="4007377518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selection with simple conditions</a:t>
            </a:r>
          </a:p>
        </p:txBody>
      </p:sp>
    </p:spTree>
    <p:extLst>
      <p:ext uri="{BB962C8B-B14F-4D97-AF65-F5344CB8AC3E}">
        <p14:creationId xmlns:p14="http://schemas.microsoft.com/office/powerpoint/2010/main" val="544491002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68545-DD8A-D8FD-B396-F9D61A767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B3576-3BAB-D401-24FB-656F88734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If your eyes are blue, raise your hand</a:t>
            </a:r>
          </a:p>
          <a:p>
            <a:pPr marL="914400" lvl="2" indent="0">
              <a:buNone/>
            </a:pPr>
            <a:r>
              <a:rPr lang="en-GB" sz="3200" noProof="0" dirty="0"/>
              <a:t>Otherwise, put a finger </a:t>
            </a:r>
            <a:r>
              <a:rPr lang="en-GB" sz="3200" b="1" i="1" noProof="0" dirty="0"/>
              <a:t>on</a:t>
            </a:r>
            <a:r>
              <a:rPr lang="en-GB" sz="3200" noProof="0" dirty="0"/>
              <a:t> your nose</a:t>
            </a:r>
            <a:endParaRPr lang="en-GB" noProof="0" dirty="0"/>
          </a:p>
          <a:p>
            <a:pPr>
              <a:spcBef>
                <a:spcPts val="2400"/>
              </a:spcBef>
            </a:pPr>
            <a:r>
              <a:rPr lang="en-GB" noProof="0" dirty="0"/>
              <a:t>If your hair is dark, put a finger </a:t>
            </a:r>
            <a:r>
              <a:rPr lang="en-GB" b="1" i="1" noProof="0" dirty="0"/>
              <a:t>on</a:t>
            </a:r>
            <a:r>
              <a:rPr lang="en-GB" noProof="0" dirty="0"/>
              <a:t> your nose</a:t>
            </a:r>
          </a:p>
          <a:p>
            <a:pPr marL="914400" lvl="2" indent="0">
              <a:buNone/>
            </a:pPr>
            <a:r>
              <a:rPr lang="en-GB" sz="3200" noProof="0" dirty="0"/>
              <a:t>Otherwise, raise your hand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F6F816-10F4-C44A-C790-5C532A225343}"/>
              </a:ext>
            </a:extLst>
          </p:cNvPr>
          <p:cNvSpPr txBox="1"/>
          <p:nvPr/>
        </p:nvSpPr>
        <p:spPr>
          <a:xfrm>
            <a:off x="2153611" y="5138658"/>
            <a:ext cx="788477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If the test is True, do something</a:t>
            </a:r>
          </a:p>
          <a:p>
            <a:pPr algn="ctr">
              <a:spcBef>
                <a:spcPts val="1200"/>
              </a:spcBef>
            </a:pPr>
            <a:r>
              <a:rPr lang="en-GB" sz="3600" dirty="0"/>
              <a:t>If the test is False, do something else</a:t>
            </a:r>
          </a:p>
        </p:txBody>
      </p:sp>
    </p:spTree>
    <p:extLst>
      <p:ext uri="{BB962C8B-B14F-4D97-AF65-F5344CB8AC3E}">
        <p14:creationId xmlns:p14="http://schemas.microsoft.com/office/powerpoint/2010/main" val="3304716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A3A6C-9ED8-7CC6-BD2F-05CA48D85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4"/>
            <a:ext cx="5157787" cy="3953695"/>
          </a:xfrm>
        </p:spPr>
        <p:txBody>
          <a:bodyPr>
            <a:noAutofit/>
          </a:bodyPr>
          <a:lstStyle/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360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 = </a:t>
            </a:r>
            <a:r>
              <a:rPr lang="en-GB" sz="3600" noProof="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5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endParaRPr lang="en-GB" sz="3600" noProof="0" dirty="0">
              <a:solidFill>
                <a:srgbClr val="B2B2B2"/>
              </a:solidFill>
              <a:effectLst/>
              <a:latin typeface="Consolas" panose="020B0609020204030204" pitchFamily="49" charset="0"/>
            </a:endParaRPr>
          </a:p>
          <a:p>
            <a:pPr marL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GB" sz="3600" noProof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 if</a:t>
            </a:r>
            <a:r>
              <a:rPr lang="en-GB" sz="360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 == </a:t>
            </a:r>
            <a:r>
              <a:rPr lang="en-GB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GB" sz="360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GB" sz="3600" noProof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3600" noProof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 True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5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  <a:r>
              <a:rPr lang="en-GB" sz="36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3600" kern="1200" noProof="0" dirty="0">
                <a:solidFill>
                  <a:srgbClr val="A71D5D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lang="en-GB" sz="3600" noProof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  <a:r>
              <a:rPr lang="en-GB" sz="3600" noProof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3600" noProof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 False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BD251B-FE1C-39E4-D63D-25288425CE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4"/>
            <a:ext cx="5183188" cy="3953695"/>
          </a:xfrm>
        </p:spPr>
        <p:txBody>
          <a:bodyPr>
            <a:normAutofit/>
          </a:bodyPr>
          <a:lstStyle/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360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 = -</a:t>
            </a:r>
            <a:r>
              <a:rPr lang="en-GB" sz="3600" noProof="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5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endParaRPr lang="en-GB" sz="3600" noProof="0" dirty="0">
              <a:solidFill>
                <a:srgbClr val="B2B2B2"/>
              </a:solidFill>
              <a:effectLst/>
              <a:latin typeface="Consolas" panose="020B0609020204030204" pitchFamily="49" charset="0"/>
            </a:endParaRP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GB" sz="3600" noProof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 if</a:t>
            </a:r>
            <a:r>
              <a:rPr lang="en-GB" sz="360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 == </a:t>
            </a:r>
            <a:r>
              <a:rPr lang="en-GB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GB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36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GB" sz="3600" noProof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3600" noProof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 True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5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6 </a:t>
            </a:r>
            <a:r>
              <a:rPr lang="en-GB" sz="3600" kern="1200" noProof="0" dirty="0">
                <a:solidFill>
                  <a:srgbClr val="A71D5D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lang="en-GB" sz="3600" noProof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GB" sz="3600" noProof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3600" noProof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 False</a:t>
            </a:r>
            <a:endParaRPr lang="en-GB" sz="3600" noProof="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EC60C7C-6284-98B7-FC7F-AAF84071A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600"/>
            <a:ext cx="10515600" cy="1325563"/>
          </a:xfrm>
        </p:spPr>
        <p:txBody>
          <a:bodyPr/>
          <a:lstStyle/>
          <a:p>
            <a:r>
              <a:rPr lang="en-GB" noProof="0" dirty="0"/>
              <a:t>if, else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4A42C50-8A3C-5C67-75D6-3D36B1ED7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Example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B364FA3-C6B8-FCBB-0DCB-D577EAEB0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noProof="0" dirty="0"/>
              <a:t>Example 2</a:t>
            </a:r>
          </a:p>
        </p:txBody>
      </p:sp>
      <p:sp>
        <p:nvSpPr>
          <p:cNvPr id="20" name="Arrow: Bent 19">
            <a:extLst>
              <a:ext uri="{FF2B5EF4-FFF2-40B4-BE49-F238E27FC236}">
                <a16:creationId xmlns:a16="http://schemas.microsoft.com/office/drawing/2014/main" id="{E6CFCAC3-1064-90D0-3F52-C5F36DB0DA56}"/>
              </a:ext>
            </a:extLst>
          </p:cNvPr>
          <p:cNvSpPr/>
          <p:nvPr/>
        </p:nvSpPr>
        <p:spPr>
          <a:xfrm rot="10800000">
            <a:off x="4511876" y="4164999"/>
            <a:ext cx="593930" cy="476250"/>
          </a:xfrm>
          <a:prstGeom prst="ben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Bent 20">
            <a:extLst>
              <a:ext uri="{FF2B5EF4-FFF2-40B4-BE49-F238E27FC236}">
                <a16:creationId xmlns:a16="http://schemas.microsoft.com/office/drawing/2014/main" id="{3E53D74E-F81F-EDE9-E089-360D8CCD4C5F}"/>
              </a:ext>
            </a:extLst>
          </p:cNvPr>
          <p:cNvSpPr/>
          <p:nvPr/>
        </p:nvSpPr>
        <p:spPr>
          <a:xfrm rot="10800000">
            <a:off x="10010662" y="4164999"/>
            <a:ext cx="467925" cy="2046142"/>
          </a:xfrm>
          <a:prstGeom prst="bentArrow">
            <a:avLst>
              <a:gd name="adj1" fmla="val 31761"/>
              <a:gd name="adj2" fmla="val 25000"/>
              <a:gd name="adj3" fmla="val 25000"/>
              <a:gd name="adj4" fmla="val 437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1E056F0-518B-418C-ACDC-D4B9CCA8CACD}"/>
              </a:ext>
            </a:extLst>
          </p:cNvPr>
          <p:cNvGrpSpPr/>
          <p:nvPr/>
        </p:nvGrpSpPr>
        <p:grpSpPr>
          <a:xfrm>
            <a:off x="2146981" y="2888995"/>
            <a:ext cx="2837614" cy="892082"/>
            <a:chOff x="5729820" y="1874195"/>
            <a:chExt cx="5522683" cy="1519643"/>
          </a:xfrm>
        </p:grpSpPr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27EB92AF-D9FC-46BE-9D9B-E420D827C03B}"/>
                </a:ext>
              </a:extLst>
            </p:cNvPr>
            <p:cNvSpPr/>
            <p:nvPr/>
          </p:nvSpPr>
          <p:spPr>
            <a:xfrm rot="16200000">
              <a:off x="8235362" y="376697"/>
              <a:ext cx="511599" cy="5522683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7030A0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AF0656B-A3BF-4FBB-A1B2-9C35B2173F27}"/>
                </a:ext>
              </a:extLst>
            </p:cNvPr>
            <p:cNvSpPr txBox="1"/>
            <p:nvPr/>
          </p:nvSpPr>
          <p:spPr>
            <a:xfrm>
              <a:off x="6558859" y="1874195"/>
              <a:ext cx="3864607" cy="8912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>
                  <a:solidFill>
                    <a:srgbClr val="7030A0"/>
                  </a:solidFill>
                </a:rPr>
                <a:t>True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57FCDE0-6F37-4CB3-9210-1CE54931324C}"/>
              </a:ext>
            </a:extLst>
          </p:cNvPr>
          <p:cNvGrpSpPr/>
          <p:nvPr/>
        </p:nvGrpSpPr>
        <p:grpSpPr>
          <a:xfrm>
            <a:off x="7498848" y="2888995"/>
            <a:ext cx="2812682" cy="892082"/>
            <a:chOff x="5729820" y="1874195"/>
            <a:chExt cx="5522683" cy="1519643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B691B445-5BBC-498E-9860-50BEEDFA027C}"/>
                </a:ext>
              </a:extLst>
            </p:cNvPr>
            <p:cNvSpPr/>
            <p:nvPr/>
          </p:nvSpPr>
          <p:spPr>
            <a:xfrm rot="16200000">
              <a:off x="8235362" y="376697"/>
              <a:ext cx="511599" cy="5522683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7030A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CC4C362-9F69-4F33-92CC-EBBA7430CADE}"/>
                </a:ext>
              </a:extLst>
            </p:cNvPr>
            <p:cNvSpPr txBox="1"/>
            <p:nvPr/>
          </p:nvSpPr>
          <p:spPr>
            <a:xfrm>
              <a:off x="6558859" y="1874195"/>
              <a:ext cx="3864607" cy="8912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>
                  <a:solidFill>
                    <a:srgbClr val="7030A0"/>
                  </a:solidFill>
                </a:rPr>
                <a:t>False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2147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1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 build="p"/>
      <p:bldP spid="9" grpId="0" build="p"/>
      <p:bldP spid="10" grpId="0" build="p"/>
      <p:bldP spid="20" grpId="0" animBg="1"/>
      <p:bldP spid="21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A3A6C-9ED8-7CC6-BD2F-05CA48D85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4"/>
            <a:ext cx="5157787" cy="3953695"/>
          </a:xfrm>
        </p:spPr>
        <p:txBody>
          <a:bodyPr>
            <a:noAutofit/>
          </a:bodyPr>
          <a:lstStyle/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360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 = </a:t>
            </a:r>
            <a:r>
              <a:rPr lang="en-GB" sz="3600" noProof="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5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endParaRPr lang="en-GB" sz="3600" noProof="0" dirty="0">
              <a:solidFill>
                <a:srgbClr val="B2B2B2"/>
              </a:solidFill>
              <a:effectLst/>
              <a:latin typeface="Consolas" panose="020B0609020204030204" pitchFamily="49" charset="0"/>
            </a:endParaRPr>
          </a:p>
          <a:p>
            <a:pPr marL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GB" sz="3600" noProof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 if</a:t>
            </a:r>
            <a:r>
              <a:rPr lang="en-GB" sz="360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 == </a:t>
            </a:r>
            <a:r>
              <a:rPr lang="en-GB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GB" sz="360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GB" sz="3600" noProof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3600" noProof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 True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5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  <a:r>
              <a:rPr lang="en-GB" sz="36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3600" kern="1200" noProof="0" dirty="0">
                <a:solidFill>
                  <a:srgbClr val="A71D5D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lang="en-GB" sz="3600" noProof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  <a:r>
              <a:rPr lang="en-GB" sz="3600" noProof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3600" noProof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 False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BD251B-FE1C-39E4-D63D-25288425CE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4"/>
            <a:ext cx="5183188" cy="3953695"/>
          </a:xfrm>
        </p:spPr>
        <p:txBody>
          <a:bodyPr>
            <a:normAutofit/>
          </a:bodyPr>
          <a:lstStyle/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360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 = -</a:t>
            </a:r>
            <a:r>
              <a:rPr lang="en-GB" sz="3600" noProof="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5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endParaRPr lang="en-GB" sz="3600" noProof="0" dirty="0">
              <a:solidFill>
                <a:srgbClr val="B2B2B2"/>
              </a:solidFill>
              <a:effectLst/>
              <a:latin typeface="Consolas" panose="020B0609020204030204" pitchFamily="49" charset="0"/>
            </a:endParaRP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GB" sz="3600" noProof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 if</a:t>
            </a:r>
            <a:r>
              <a:rPr lang="en-GB" sz="360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 == </a:t>
            </a:r>
            <a:r>
              <a:rPr lang="en-GB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GB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36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GB" sz="3600" noProof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3600" noProof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 True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5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6 </a:t>
            </a:r>
            <a:r>
              <a:rPr lang="en-GB" sz="3600" kern="1200" noProof="0" dirty="0">
                <a:solidFill>
                  <a:srgbClr val="A71D5D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lang="en-GB" sz="3600" noProof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GB" sz="3600" noProof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3600" noProof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 False</a:t>
            </a:r>
            <a:endParaRPr lang="en-GB" sz="3600" noProof="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EC60C7C-6284-98B7-FC7F-AAF84071A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600"/>
            <a:ext cx="10515600" cy="1325563"/>
          </a:xfrm>
        </p:spPr>
        <p:txBody>
          <a:bodyPr/>
          <a:lstStyle/>
          <a:p>
            <a:r>
              <a:rPr lang="en-GB" noProof="0" dirty="0"/>
              <a:t>if, else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82480-6F37-D13A-603C-BCFE2F8E2C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23CAF82-E190-F144-BE19-C40F49313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066404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4067D-F2E8-4493-C2D2-DA54F76C7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599E05C-6F6A-F79B-5E3F-B87AF509CB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124" y="2002537"/>
            <a:ext cx="3487424" cy="2293101"/>
          </a:xfr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3C3D323D-ABD3-7ADB-87F2-22C3E70C8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080000"/>
          </a:xfrm>
        </p:spPr>
        <p:txBody>
          <a:bodyPr/>
          <a:lstStyle/>
          <a:p>
            <a:r>
              <a:rPr lang="en-GB" noProof="0" dirty="0"/>
              <a:t>Design – if, else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238F026-CF44-4C2D-F3F2-7ADA4D1C2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445125"/>
            <a:ext cx="5157787" cy="540000"/>
          </a:xfrm>
        </p:spPr>
        <p:txBody>
          <a:bodyPr anchor="ctr" anchorCtr="0"/>
          <a:lstStyle/>
          <a:p>
            <a:r>
              <a:rPr lang="en-GB" noProof="0" dirty="0"/>
              <a:t>Structure diagram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0B90243-CE24-4A5D-EF63-CD0FF82D70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45125"/>
            <a:ext cx="5183188" cy="540000"/>
          </a:xfrm>
        </p:spPr>
        <p:txBody>
          <a:bodyPr anchor="ctr" anchorCtr="0"/>
          <a:lstStyle/>
          <a:p>
            <a:r>
              <a:rPr lang="en-GB" noProof="0" dirty="0"/>
              <a:t>Flowchart</a:t>
            </a:r>
          </a:p>
        </p:txBody>
      </p:sp>
      <p:sp>
        <p:nvSpPr>
          <p:cNvPr id="25" name="Callout: Bent Line with No Border 24">
            <a:extLst>
              <a:ext uri="{FF2B5EF4-FFF2-40B4-BE49-F238E27FC236}">
                <a16:creationId xmlns:a16="http://schemas.microsoft.com/office/drawing/2014/main" id="{9A7361B1-92CD-CDF5-C309-88A725511215}"/>
              </a:ext>
            </a:extLst>
          </p:cNvPr>
          <p:cNvSpPr/>
          <p:nvPr/>
        </p:nvSpPr>
        <p:spPr>
          <a:xfrm>
            <a:off x="7113400" y="3081362"/>
            <a:ext cx="432000" cy="360000"/>
          </a:xfrm>
          <a:prstGeom prst="callout2">
            <a:avLst>
              <a:gd name="adj1" fmla="val 50983"/>
              <a:gd name="adj2" fmla="val 101585"/>
              <a:gd name="adj3" fmla="val 50822"/>
              <a:gd name="adj4" fmla="val 144665"/>
              <a:gd name="adj5" fmla="val 96248"/>
              <a:gd name="adj6" fmla="val 18961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if</a:t>
            </a:r>
          </a:p>
        </p:txBody>
      </p:sp>
      <p:sp>
        <p:nvSpPr>
          <p:cNvPr id="26" name="Callout: Bent Line with No Border 25">
            <a:extLst>
              <a:ext uri="{FF2B5EF4-FFF2-40B4-BE49-F238E27FC236}">
                <a16:creationId xmlns:a16="http://schemas.microsoft.com/office/drawing/2014/main" id="{8006507F-8CD3-2327-B6F1-8CC14A00690F}"/>
              </a:ext>
            </a:extLst>
          </p:cNvPr>
          <p:cNvSpPr/>
          <p:nvPr/>
        </p:nvSpPr>
        <p:spPr>
          <a:xfrm>
            <a:off x="1445588" y="2266986"/>
            <a:ext cx="432000" cy="324000"/>
          </a:xfrm>
          <a:prstGeom prst="callout2">
            <a:avLst>
              <a:gd name="adj1" fmla="val 50983"/>
              <a:gd name="adj2" fmla="val 101585"/>
              <a:gd name="adj3" fmla="val 49977"/>
              <a:gd name="adj4" fmla="val 144665"/>
              <a:gd name="adj5" fmla="val 49460"/>
              <a:gd name="adj6" fmla="val 20867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if</a:t>
            </a:r>
          </a:p>
        </p:txBody>
      </p:sp>
      <p:sp>
        <p:nvSpPr>
          <p:cNvPr id="27" name="Callout: Bent Line with No Border 8">
            <a:extLst>
              <a:ext uri="{FF2B5EF4-FFF2-40B4-BE49-F238E27FC236}">
                <a16:creationId xmlns:a16="http://schemas.microsoft.com/office/drawing/2014/main" id="{3FF8145B-53DC-24EC-81C5-5C6D1B1ADAA5}"/>
              </a:ext>
            </a:extLst>
          </p:cNvPr>
          <p:cNvSpPr/>
          <p:nvPr/>
        </p:nvSpPr>
        <p:spPr>
          <a:xfrm>
            <a:off x="4930446" y="2997662"/>
            <a:ext cx="791610" cy="360000"/>
          </a:xfrm>
          <a:prstGeom prst="callout2">
            <a:avLst>
              <a:gd name="adj1" fmla="val 50071"/>
              <a:gd name="adj2" fmla="val 9"/>
              <a:gd name="adj3" fmla="val 50561"/>
              <a:gd name="adj4" fmla="val -27034"/>
              <a:gd name="adj5" fmla="val 137586"/>
              <a:gd name="adj6" fmla="val -4860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else</a:t>
            </a:r>
          </a:p>
        </p:txBody>
      </p:sp>
      <p:sp>
        <p:nvSpPr>
          <p:cNvPr id="28" name="Callout: Bent Line with No Border 8">
            <a:extLst>
              <a:ext uri="{FF2B5EF4-FFF2-40B4-BE49-F238E27FC236}">
                <a16:creationId xmlns:a16="http://schemas.microsoft.com/office/drawing/2014/main" id="{0C1A6742-C66E-B414-EE46-03A102ECCCE7}"/>
              </a:ext>
            </a:extLst>
          </p:cNvPr>
          <p:cNvSpPr/>
          <p:nvPr/>
        </p:nvSpPr>
        <p:spPr>
          <a:xfrm>
            <a:off x="10606860" y="4169664"/>
            <a:ext cx="791610" cy="360000"/>
          </a:xfrm>
          <a:prstGeom prst="callout2">
            <a:avLst>
              <a:gd name="adj1" fmla="val 50071"/>
              <a:gd name="adj2" fmla="val 9"/>
              <a:gd name="adj3" fmla="val 50561"/>
              <a:gd name="adj4" fmla="val -27034"/>
              <a:gd name="adj5" fmla="val 137586"/>
              <a:gd name="adj6" fmla="val -4860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else</a:t>
            </a:r>
          </a:p>
        </p:txBody>
      </p:sp>
      <p:pic>
        <p:nvPicPr>
          <p:cNvPr id="9" name="Content Placeholder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5DA4A76-599D-D5D0-9B4C-B692D5C3C18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400" y="2002537"/>
            <a:ext cx="2752539" cy="4310580"/>
          </a:xfrm>
        </p:spPr>
      </p:pic>
    </p:spTree>
    <p:extLst>
      <p:ext uri="{BB962C8B-B14F-4D97-AF65-F5344CB8AC3E}">
        <p14:creationId xmlns:p14="http://schemas.microsoft.com/office/powerpoint/2010/main" val="391925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  <p:bldP spid="19" grpId="0" build="p"/>
      <p:bldP spid="25" grpId="0" animBg="1"/>
      <p:bldP spid="26" grpId="0" animBg="1"/>
      <p:bldP spid="27" grpId="0" animBg="1"/>
      <p:bldP spid="28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CD96FF5-D9EC-D03F-E7BE-ED6B4865E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142BCF8-8BF5-60AC-34E6-6106EC36747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124" y="2002537"/>
            <a:ext cx="3487424" cy="2293101"/>
          </a:xfr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F3F5A714-A065-C8FD-7BD6-383C58CEF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080000"/>
          </a:xfrm>
        </p:spPr>
        <p:txBody>
          <a:bodyPr/>
          <a:lstStyle/>
          <a:p>
            <a:r>
              <a:rPr lang="en-GB" noProof="0" dirty="0"/>
              <a:t>Design – if, else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437F2E3-9C17-1CD8-2F82-E4D46399F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445125"/>
            <a:ext cx="5157787" cy="540000"/>
          </a:xfrm>
        </p:spPr>
        <p:txBody>
          <a:bodyPr anchor="ctr" anchorCtr="0"/>
          <a:lstStyle/>
          <a:p>
            <a:r>
              <a:rPr lang="en-GB" noProof="0" dirty="0"/>
              <a:t>Structure diagram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37CC5F6-C935-4A2A-2F8D-0727FAC3C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45125"/>
            <a:ext cx="5183188" cy="540000"/>
          </a:xfrm>
        </p:spPr>
        <p:txBody>
          <a:bodyPr anchor="ctr" anchorCtr="0"/>
          <a:lstStyle/>
          <a:p>
            <a:r>
              <a:rPr lang="en-GB" noProof="0" dirty="0"/>
              <a:t>Flowchart</a:t>
            </a:r>
          </a:p>
        </p:txBody>
      </p:sp>
      <p:pic>
        <p:nvPicPr>
          <p:cNvPr id="9" name="Content Placeholder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48D1149-4493-C939-0190-AEE29C6A2AF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400" y="2002537"/>
            <a:ext cx="2752539" cy="4310580"/>
          </a:xfrm>
        </p:spPr>
      </p:pic>
    </p:spTree>
    <p:extLst>
      <p:ext uri="{BB962C8B-B14F-4D97-AF65-F5344CB8AC3E}">
        <p14:creationId xmlns:p14="http://schemas.microsoft.com/office/powerpoint/2010/main" val="1854589234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selection with simple conditions</a:t>
            </a:r>
          </a:p>
        </p:txBody>
      </p:sp>
    </p:spTree>
    <p:extLst>
      <p:ext uri="{BB962C8B-B14F-4D97-AF65-F5344CB8AC3E}">
        <p14:creationId xmlns:p14="http://schemas.microsoft.com/office/powerpoint/2010/main" val="3919104682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90D3B-8DFE-B617-488C-B7106B7EF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695F01A-7D77-C7A1-8CA1-040E81AA2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Nested if – Multiple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5F726-4486-685C-793D-1FEBF6082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0101"/>
            <a:ext cx="10515600" cy="4817332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 1</a:t>
            </a:r>
            <a:r>
              <a:rPr lang="en-GB" sz="280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 = </a:t>
            </a:r>
            <a:r>
              <a:rPr lang="en-GB" altLang="en-US" sz="28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28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28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"Enter a whole number: "</a:t>
            </a:r>
            <a:r>
              <a:rPr lang="en-GB" altLang="en-US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2</a:t>
            </a:r>
            <a:endParaRPr lang="en-GB" sz="2800" noProof="0" dirty="0">
              <a:solidFill>
                <a:srgbClr val="B2B2B2"/>
              </a:solidFill>
              <a:effectLst/>
              <a:latin typeface="Consolas" panose="020B0609020204030204" pitchFamily="49" charset="0"/>
            </a:endParaRPr>
          </a:p>
          <a:p>
            <a:pPr marL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 3</a:t>
            </a:r>
            <a:r>
              <a:rPr lang="en-GB" sz="2800" noProof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 if</a:t>
            </a:r>
            <a:r>
              <a:rPr lang="en-GB" sz="280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 &gt; </a:t>
            </a:r>
            <a:r>
              <a:rPr lang="en-GB" sz="28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GB" sz="280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 4</a:t>
            </a:r>
            <a:r>
              <a:rPr lang="en-GB" sz="2800" noProof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   </a:t>
            </a:r>
            <a:r>
              <a:rPr lang="en-GB" sz="2800" noProof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 True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 5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6</a:t>
            </a:r>
            <a:r>
              <a:rPr lang="en-GB" sz="28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800" kern="1200" noProof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GB" sz="2800" noProof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7</a:t>
            </a:r>
            <a:r>
              <a:rPr lang="en-GB" sz="28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     if</a:t>
            </a:r>
            <a:r>
              <a:rPr lang="en-GB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number &lt; </a:t>
            </a:r>
            <a:r>
              <a:rPr lang="en-GB" sz="28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GB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8</a:t>
            </a:r>
            <a:r>
              <a:rPr lang="en-GB" sz="2800" noProof="0" dirty="0">
                <a:latin typeface="Consolas" panose="020B0609020204030204" pitchFamily="49" charset="0"/>
              </a:rPr>
              <a:t>         </a:t>
            </a:r>
            <a:r>
              <a:rPr lang="en-GB" sz="2800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True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9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10     </a:t>
            </a:r>
            <a:r>
              <a:rPr lang="en-GB" sz="28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else</a:t>
            </a:r>
            <a:r>
              <a:rPr lang="en-GB" sz="2800" noProof="0" dirty="0">
                <a:latin typeface="Consolas" panose="020B0609020204030204" pitchFamily="49" charset="0"/>
              </a:rPr>
              <a:t>: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11</a:t>
            </a:r>
            <a:r>
              <a:rPr lang="en-GB" sz="2800" noProof="0" dirty="0">
                <a:latin typeface="Consolas" panose="020B0609020204030204" pitchFamily="49" charset="0"/>
              </a:rPr>
              <a:t>         </a:t>
            </a:r>
            <a:r>
              <a:rPr lang="en-GB" sz="2800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False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6587E07-ED50-0D2E-1B23-25AF1D6B946E}"/>
              </a:ext>
            </a:extLst>
          </p:cNvPr>
          <p:cNvGrpSpPr/>
          <p:nvPr/>
        </p:nvGrpSpPr>
        <p:grpSpPr>
          <a:xfrm>
            <a:off x="5124105" y="4060711"/>
            <a:ext cx="2564806" cy="2136099"/>
            <a:chOff x="3838276" y="1277747"/>
            <a:chExt cx="4991731" cy="3702651"/>
          </a:xfrm>
        </p:grpSpPr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E848BD68-710E-1E2F-0EDC-E994A7D99853}"/>
                </a:ext>
              </a:extLst>
            </p:cNvPr>
            <p:cNvSpPr/>
            <p:nvPr/>
          </p:nvSpPr>
          <p:spPr>
            <a:xfrm>
              <a:off x="3838276" y="1277747"/>
              <a:ext cx="661352" cy="3702651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7030A0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8B67CE3-72B9-8C33-4D20-98F7E68A7197}"/>
                </a:ext>
              </a:extLst>
            </p:cNvPr>
            <p:cNvSpPr txBox="1"/>
            <p:nvPr/>
          </p:nvSpPr>
          <p:spPr>
            <a:xfrm>
              <a:off x="4499628" y="2316421"/>
              <a:ext cx="4330379" cy="186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200" b="1" dirty="0">
                  <a:solidFill>
                    <a:srgbClr val="7030A0"/>
                  </a:solidFill>
                </a:rPr>
                <a:t>Nested if</a:t>
              </a:r>
            </a:p>
            <a:p>
              <a:r>
                <a:rPr lang="en-GB" sz="3200" b="1" dirty="0">
                  <a:solidFill>
                    <a:srgbClr val="7030A0"/>
                  </a:solidFill>
                </a:rPr>
                <a:t>(inside else)</a:t>
              </a:r>
            </a:p>
          </p:txBody>
        </p:sp>
      </p:grpSp>
      <p:sp>
        <p:nvSpPr>
          <p:cNvPr id="9" name="Arrow: Down 8">
            <a:extLst>
              <a:ext uri="{FF2B5EF4-FFF2-40B4-BE49-F238E27FC236}">
                <a16:creationId xmlns:a16="http://schemas.microsoft.com/office/drawing/2014/main" id="{79064034-05FC-10A4-AE95-E793A6DDDA6C}"/>
              </a:ext>
            </a:extLst>
          </p:cNvPr>
          <p:cNvSpPr/>
          <p:nvPr/>
        </p:nvSpPr>
        <p:spPr>
          <a:xfrm>
            <a:off x="6204781" y="2385550"/>
            <a:ext cx="590309" cy="1947912"/>
          </a:xfrm>
          <a:prstGeom prst="downArrow">
            <a:avLst>
              <a:gd name="adj1" fmla="val 34314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2F1E7-FCA7-F3F8-86F8-0FAE52E0D504}"/>
              </a:ext>
            </a:extLst>
          </p:cNvPr>
          <p:cNvSpPr txBox="1"/>
          <p:nvPr/>
        </p:nvSpPr>
        <p:spPr>
          <a:xfrm>
            <a:off x="6795090" y="2385549"/>
            <a:ext cx="4074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7030A0"/>
                </a:solidFill>
              </a:rPr>
              <a:t>Tests done in order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374F5D-F43B-6781-E6B6-FC3C44D77427}"/>
              </a:ext>
            </a:extLst>
          </p:cNvPr>
          <p:cNvSpPr txBox="1"/>
          <p:nvPr/>
        </p:nvSpPr>
        <p:spPr>
          <a:xfrm>
            <a:off x="8186434" y="3666112"/>
            <a:ext cx="4074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7030A0"/>
                </a:solidFill>
              </a:rPr>
              <a:t>Multiple nested</a:t>
            </a:r>
          </a:p>
          <a:p>
            <a:r>
              <a:rPr lang="en-GB" sz="3200" dirty="0">
                <a:solidFill>
                  <a:srgbClr val="FF0000"/>
                </a:solidFill>
              </a:rPr>
              <a:t>if</a:t>
            </a:r>
            <a:r>
              <a:rPr lang="en-GB" sz="3200" dirty="0">
                <a:solidFill>
                  <a:srgbClr val="7030A0"/>
                </a:solidFill>
              </a:rPr>
              <a:t>s allowed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7F5F95-C4BA-AD25-1A5A-ABED06908D88}"/>
              </a:ext>
            </a:extLst>
          </p:cNvPr>
          <p:cNvSpPr txBox="1"/>
          <p:nvPr/>
        </p:nvSpPr>
        <p:spPr>
          <a:xfrm>
            <a:off x="8186434" y="5273531"/>
            <a:ext cx="3440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else</a:t>
            </a:r>
            <a:r>
              <a:rPr lang="en-GB" sz="3200" dirty="0">
                <a:solidFill>
                  <a:srgbClr val="7030A0"/>
                </a:solidFill>
              </a:rPr>
              <a:t> not mandatory</a:t>
            </a:r>
          </a:p>
        </p:txBody>
      </p:sp>
    </p:spTree>
    <p:extLst>
      <p:ext uri="{BB962C8B-B14F-4D97-AF65-F5344CB8AC3E}">
        <p14:creationId xmlns:p14="http://schemas.microsoft.com/office/powerpoint/2010/main" val="3546177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7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76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76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26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27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1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  <p:bldP spid="10" grpId="0"/>
      <p:bldP spid="14" grpId="0"/>
      <p:bldP spid="15" grpId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78207EA-FE1E-ED8F-A50D-D59FB762D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367DB24-BDFC-5469-E678-B37F31413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Nested if – Multiple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044D0-902A-51CF-E9BD-5E2A175DA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0101"/>
            <a:ext cx="10515600" cy="4817332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 1</a:t>
            </a:r>
            <a:r>
              <a:rPr lang="en-GB" sz="280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 = </a:t>
            </a:r>
            <a:r>
              <a:rPr lang="en-GB" altLang="en-US" sz="28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28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28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"Enter a whole number: "</a:t>
            </a:r>
            <a:r>
              <a:rPr lang="en-GB" altLang="en-US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2</a:t>
            </a:r>
            <a:endParaRPr lang="en-GB" sz="2800" noProof="0" dirty="0">
              <a:solidFill>
                <a:srgbClr val="B2B2B2"/>
              </a:solidFill>
              <a:effectLst/>
              <a:latin typeface="Consolas" panose="020B0609020204030204" pitchFamily="49" charset="0"/>
            </a:endParaRPr>
          </a:p>
          <a:p>
            <a:pPr marL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 3</a:t>
            </a:r>
            <a:r>
              <a:rPr lang="en-GB" sz="2800" noProof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 if</a:t>
            </a:r>
            <a:r>
              <a:rPr lang="en-GB" sz="280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 &gt; </a:t>
            </a:r>
            <a:r>
              <a:rPr lang="en-GB" sz="28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GB" sz="280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 4</a:t>
            </a:r>
            <a:r>
              <a:rPr lang="en-GB" sz="2800" noProof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   </a:t>
            </a:r>
            <a:r>
              <a:rPr lang="en-GB" sz="2800" noProof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 True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 5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6</a:t>
            </a:r>
            <a:r>
              <a:rPr lang="en-GB" sz="28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800" kern="1200" noProof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GB" sz="2800" noProof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7</a:t>
            </a:r>
            <a:r>
              <a:rPr lang="en-GB" sz="28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     if</a:t>
            </a:r>
            <a:r>
              <a:rPr lang="en-GB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number &lt; </a:t>
            </a:r>
            <a:r>
              <a:rPr lang="en-GB" sz="28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GB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8</a:t>
            </a:r>
            <a:r>
              <a:rPr lang="en-GB" sz="2800" noProof="0" dirty="0">
                <a:latin typeface="Consolas" panose="020B0609020204030204" pitchFamily="49" charset="0"/>
              </a:rPr>
              <a:t>         </a:t>
            </a:r>
            <a:r>
              <a:rPr lang="en-GB" sz="2800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True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9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10     </a:t>
            </a:r>
            <a:r>
              <a:rPr lang="en-GB" sz="28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else</a:t>
            </a:r>
            <a:r>
              <a:rPr lang="en-GB" sz="2800" noProof="0" dirty="0">
                <a:latin typeface="Consolas" panose="020B0609020204030204" pitchFamily="49" charset="0"/>
              </a:rPr>
              <a:t>: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11</a:t>
            </a:r>
            <a:r>
              <a:rPr lang="en-GB" sz="2800" noProof="0" dirty="0">
                <a:latin typeface="Consolas" panose="020B0609020204030204" pitchFamily="49" charset="0"/>
              </a:rPr>
              <a:t>         </a:t>
            </a:r>
            <a:r>
              <a:rPr lang="en-GB" sz="2800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False</a:t>
            </a:r>
          </a:p>
        </p:txBody>
      </p:sp>
    </p:spTree>
    <p:extLst>
      <p:ext uri="{BB962C8B-B14F-4D97-AF65-F5344CB8AC3E}">
        <p14:creationId xmlns:p14="http://schemas.microsoft.com/office/powerpoint/2010/main" val="3070810508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B4F0AC83-F85A-985E-655F-E1F686FF1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080000"/>
          </a:xfrm>
        </p:spPr>
        <p:txBody>
          <a:bodyPr/>
          <a:lstStyle/>
          <a:p>
            <a:r>
              <a:rPr lang="en-GB" noProof="0" dirty="0"/>
              <a:t>Design – Nested if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5CD7F2C-AE64-2579-A80F-397C67AC5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445125"/>
            <a:ext cx="5157787" cy="540000"/>
          </a:xfrm>
        </p:spPr>
        <p:txBody>
          <a:bodyPr anchor="ctr" anchorCtr="0"/>
          <a:lstStyle/>
          <a:p>
            <a:r>
              <a:rPr lang="en-GB" noProof="0" dirty="0"/>
              <a:t>Structure diagram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74555B5-6022-E438-5DF2-5AB8DF7D3D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45125"/>
            <a:ext cx="5183188" cy="540000"/>
          </a:xfrm>
        </p:spPr>
        <p:txBody>
          <a:bodyPr anchor="ctr" anchorCtr="0"/>
          <a:lstStyle/>
          <a:p>
            <a:r>
              <a:rPr lang="en-GB" noProof="0" dirty="0"/>
              <a:t>Flowchart</a:t>
            </a:r>
          </a:p>
        </p:txBody>
      </p:sp>
      <p:pic>
        <p:nvPicPr>
          <p:cNvPr id="21" name="Content Placeholder 2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5D7955-9338-8A7E-8F1F-23C70EE6869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87" y="1982479"/>
            <a:ext cx="4876196" cy="4320504"/>
          </a:xfrm>
          <a:prstGeom prst="rect">
            <a:avLst/>
          </a:prstGeom>
        </p:spPr>
      </p:pic>
      <p:pic>
        <p:nvPicPr>
          <p:cNvPr id="22" name="Content Placeholder 2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4A82AD6-E7F3-2C63-B72A-CF59DE84963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616" y="1982479"/>
            <a:ext cx="3127232" cy="4626596"/>
          </a:xfrm>
          <a:prstGeom prst="rect">
            <a:avLst/>
          </a:prstGeom>
        </p:spPr>
      </p:pic>
      <p:sp>
        <p:nvSpPr>
          <p:cNvPr id="23" name="Callout: Bent Line with No Border 8">
            <a:extLst>
              <a:ext uri="{FF2B5EF4-FFF2-40B4-BE49-F238E27FC236}">
                <a16:creationId xmlns:a16="http://schemas.microsoft.com/office/drawing/2014/main" id="{77581982-8484-26E9-5C2D-270F22E9BA1E}"/>
              </a:ext>
            </a:extLst>
          </p:cNvPr>
          <p:cNvSpPr/>
          <p:nvPr/>
        </p:nvSpPr>
        <p:spPr>
          <a:xfrm>
            <a:off x="5043604" y="3461196"/>
            <a:ext cx="1620000" cy="360000"/>
          </a:xfrm>
          <a:prstGeom prst="callout2">
            <a:avLst>
              <a:gd name="adj1" fmla="val 50016"/>
              <a:gd name="adj2" fmla="val -314"/>
              <a:gd name="adj3" fmla="val 50727"/>
              <a:gd name="adj4" fmla="val -24869"/>
              <a:gd name="adj5" fmla="val 117021"/>
              <a:gd name="adj6" fmla="val -5208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Nested if</a:t>
            </a:r>
          </a:p>
        </p:txBody>
      </p:sp>
      <p:sp>
        <p:nvSpPr>
          <p:cNvPr id="24" name="Callout: Bent Line with No Border 8">
            <a:extLst>
              <a:ext uri="{FF2B5EF4-FFF2-40B4-BE49-F238E27FC236}">
                <a16:creationId xmlns:a16="http://schemas.microsoft.com/office/drawing/2014/main" id="{EBDBB409-71FC-F04B-4C31-BF83053B3CA5}"/>
              </a:ext>
            </a:extLst>
          </p:cNvPr>
          <p:cNvSpPr/>
          <p:nvPr/>
        </p:nvSpPr>
        <p:spPr>
          <a:xfrm>
            <a:off x="9986205" y="3461196"/>
            <a:ext cx="1620000" cy="360000"/>
          </a:xfrm>
          <a:prstGeom prst="callout2">
            <a:avLst>
              <a:gd name="adj1" fmla="val 50016"/>
              <a:gd name="adj2" fmla="val -314"/>
              <a:gd name="adj3" fmla="val 51609"/>
              <a:gd name="adj4" fmla="val -24183"/>
              <a:gd name="adj5" fmla="val 117021"/>
              <a:gd name="adj6" fmla="val -5208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Nested if</a:t>
            </a:r>
          </a:p>
        </p:txBody>
      </p:sp>
      <p:sp>
        <p:nvSpPr>
          <p:cNvPr id="25" name="Callout: Bent Line with No Border 24">
            <a:extLst>
              <a:ext uri="{FF2B5EF4-FFF2-40B4-BE49-F238E27FC236}">
                <a16:creationId xmlns:a16="http://schemas.microsoft.com/office/drawing/2014/main" id="{DE522466-D280-5937-7198-CBD2CF843320}"/>
              </a:ext>
            </a:extLst>
          </p:cNvPr>
          <p:cNvSpPr/>
          <p:nvPr/>
        </p:nvSpPr>
        <p:spPr>
          <a:xfrm>
            <a:off x="6865750" y="2776562"/>
            <a:ext cx="432000" cy="360000"/>
          </a:xfrm>
          <a:prstGeom prst="callout2">
            <a:avLst>
              <a:gd name="adj1" fmla="val 50983"/>
              <a:gd name="adj2" fmla="val 101585"/>
              <a:gd name="adj3" fmla="val 50822"/>
              <a:gd name="adj4" fmla="val 144665"/>
              <a:gd name="adj5" fmla="val 96248"/>
              <a:gd name="adj6" fmla="val 18961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if</a:t>
            </a:r>
          </a:p>
        </p:txBody>
      </p:sp>
      <p:sp>
        <p:nvSpPr>
          <p:cNvPr id="26" name="Callout: Bent Line with No Border 25">
            <a:extLst>
              <a:ext uri="{FF2B5EF4-FFF2-40B4-BE49-F238E27FC236}">
                <a16:creationId xmlns:a16="http://schemas.microsoft.com/office/drawing/2014/main" id="{032EBAFB-F98C-5FFD-E4C2-F0694E598DD1}"/>
              </a:ext>
            </a:extLst>
          </p:cNvPr>
          <p:cNvSpPr/>
          <p:nvPr/>
        </p:nvSpPr>
        <p:spPr>
          <a:xfrm>
            <a:off x="893124" y="2314616"/>
            <a:ext cx="432000" cy="324000"/>
          </a:xfrm>
          <a:prstGeom prst="callout2">
            <a:avLst>
              <a:gd name="adj1" fmla="val 50983"/>
              <a:gd name="adj2" fmla="val 101585"/>
              <a:gd name="adj3" fmla="val 49977"/>
              <a:gd name="adj4" fmla="val 144665"/>
              <a:gd name="adj5" fmla="val 49460"/>
              <a:gd name="adj6" fmla="val 20867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if</a:t>
            </a:r>
          </a:p>
        </p:txBody>
      </p:sp>
      <p:sp>
        <p:nvSpPr>
          <p:cNvPr id="27" name="Callout: Bent Line with No Border 8">
            <a:extLst>
              <a:ext uri="{FF2B5EF4-FFF2-40B4-BE49-F238E27FC236}">
                <a16:creationId xmlns:a16="http://schemas.microsoft.com/office/drawing/2014/main" id="{FA0C2D9B-40C5-0C56-0615-B56D90FCE714}"/>
              </a:ext>
            </a:extLst>
          </p:cNvPr>
          <p:cNvSpPr/>
          <p:nvPr/>
        </p:nvSpPr>
        <p:spPr>
          <a:xfrm>
            <a:off x="5377414" y="4882089"/>
            <a:ext cx="791610" cy="360000"/>
          </a:xfrm>
          <a:prstGeom prst="callout2">
            <a:avLst>
              <a:gd name="adj1" fmla="val 50071"/>
              <a:gd name="adj2" fmla="val 9"/>
              <a:gd name="adj3" fmla="val 50561"/>
              <a:gd name="adj4" fmla="val -27034"/>
              <a:gd name="adj5" fmla="val 137586"/>
              <a:gd name="adj6" fmla="val -4860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else</a:t>
            </a:r>
          </a:p>
        </p:txBody>
      </p:sp>
      <p:sp>
        <p:nvSpPr>
          <p:cNvPr id="28" name="Callout: Bent Line with No Border 8">
            <a:extLst>
              <a:ext uri="{FF2B5EF4-FFF2-40B4-BE49-F238E27FC236}">
                <a16:creationId xmlns:a16="http://schemas.microsoft.com/office/drawing/2014/main" id="{F6353200-0EE6-C2D6-05F9-7192010D4D54}"/>
              </a:ext>
            </a:extLst>
          </p:cNvPr>
          <p:cNvSpPr/>
          <p:nvPr/>
        </p:nvSpPr>
        <p:spPr>
          <a:xfrm>
            <a:off x="10778310" y="4522089"/>
            <a:ext cx="791610" cy="360000"/>
          </a:xfrm>
          <a:prstGeom prst="callout2">
            <a:avLst>
              <a:gd name="adj1" fmla="val 50071"/>
              <a:gd name="adj2" fmla="val 9"/>
              <a:gd name="adj3" fmla="val 50561"/>
              <a:gd name="adj4" fmla="val -27034"/>
              <a:gd name="adj5" fmla="val 137586"/>
              <a:gd name="adj6" fmla="val -4860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else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FF48C2-C543-1698-6390-8A6546D1C50C}"/>
              </a:ext>
            </a:extLst>
          </p:cNvPr>
          <p:cNvSpPr txBox="1"/>
          <p:nvPr/>
        </p:nvSpPr>
        <p:spPr>
          <a:xfrm>
            <a:off x="8906205" y="653688"/>
            <a:ext cx="2700000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GB" sz="3200" dirty="0">
                <a:solidFill>
                  <a:srgbClr val="FF0000"/>
                </a:solidFill>
              </a:rPr>
              <a:t>else</a:t>
            </a:r>
            <a:r>
              <a:rPr lang="en-GB" sz="3200" dirty="0">
                <a:solidFill>
                  <a:srgbClr val="7030A0"/>
                </a:solidFill>
              </a:rPr>
              <a:t> is optional</a:t>
            </a:r>
          </a:p>
        </p:txBody>
      </p:sp>
    </p:spTree>
    <p:extLst>
      <p:ext uri="{BB962C8B-B14F-4D97-AF65-F5344CB8AC3E}">
        <p14:creationId xmlns:p14="http://schemas.microsoft.com/office/powerpoint/2010/main" val="3588114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  <p:bldP spid="19" grpId="0" build="p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949A620-73E1-6152-C446-8B88DBFDF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EDF06FD7-5CE9-A583-47E6-C9E02FE2A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080000"/>
          </a:xfrm>
        </p:spPr>
        <p:txBody>
          <a:bodyPr/>
          <a:lstStyle/>
          <a:p>
            <a:r>
              <a:rPr lang="en-GB" noProof="0" dirty="0"/>
              <a:t>Design – Nested if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932DC2B-2B3A-9208-77F1-F5434CC37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445125"/>
            <a:ext cx="5157787" cy="540000"/>
          </a:xfrm>
        </p:spPr>
        <p:txBody>
          <a:bodyPr anchor="ctr" anchorCtr="0"/>
          <a:lstStyle/>
          <a:p>
            <a:r>
              <a:rPr lang="en-GB" noProof="0" dirty="0"/>
              <a:t>Structure diagram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A16602F-ABB8-49B6-0764-CA8BFF1958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45125"/>
            <a:ext cx="5183188" cy="540000"/>
          </a:xfrm>
        </p:spPr>
        <p:txBody>
          <a:bodyPr anchor="ctr" anchorCtr="0"/>
          <a:lstStyle/>
          <a:p>
            <a:r>
              <a:rPr lang="en-GB" noProof="0" dirty="0"/>
              <a:t>Flowchart</a:t>
            </a:r>
          </a:p>
        </p:txBody>
      </p:sp>
      <p:pic>
        <p:nvPicPr>
          <p:cNvPr id="21" name="Content Placeholder 2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3C4815C-73B6-4ADC-E134-D64AE75B2D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87" y="1982479"/>
            <a:ext cx="4876196" cy="4320504"/>
          </a:xfrm>
          <a:prstGeom prst="rect">
            <a:avLst/>
          </a:prstGeom>
        </p:spPr>
      </p:pic>
      <p:pic>
        <p:nvPicPr>
          <p:cNvPr id="22" name="Content Placeholder 2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FC23685-F7C7-C94E-54F1-B50BE2216A0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616" y="1982479"/>
            <a:ext cx="3127232" cy="462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176202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the predefined function: length</a:t>
            </a:r>
          </a:p>
        </p:txBody>
      </p:sp>
    </p:spTree>
    <p:extLst>
      <p:ext uri="{BB962C8B-B14F-4D97-AF65-F5344CB8AC3E}">
        <p14:creationId xmlns:p14="http://schemas.microsoft.com/office/powerpoint/2010/main" val="557617728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Length – String (Overview)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1517301" y="1950840"/>
            <a:ext cx="241510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"Hello"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AAB01A-94DD-4613-BD71-1720FEFEFA8E}"/>
              </a:ext>
            </a:extLst>
          </p:cNvPr>
          <p:cNvSpPr txBox="1"/>
          <p:nvPr/>
        </p:nvSpPr>
        <p:spPr>
          <a:xfrm>
            <a:off x="9341072" y="1950839"/>
            <a:ext cx="120791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963B08-C212-4718-A8AA-458D4C59CEBA}"/>
              </a:ext>
            </a:extLst>
          </p:cNvPr>
          <p:cNvSpPr txBox="1"/>
          <p:nvPr/>
        </p:nvSpPr>
        <p:spPr>
          <a:xfrm>
            <a:off x="2160397" y="3276403"/>
            <a:ext cx="17720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GB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C@t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4116738" y="3126779"/>
            <a:ext cx="5040000" cy="1080000"/>
            <a:chOff x="3001371" y="3310688"/>
            <a:chExt cx="5040000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len</a:t>
              </a:r>
              <a:r>
                <a:rPr kumimoji="0" lang="en-GB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()</a:t>
              </a:r>
              <a:endPara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0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22E98D8-233B-4694-9FD3-C4CE473126AC}"/>
              </a:ext>
            </a:extLst>
          </p:cNvPr>
          <p:cNvSpPr txBox="1"/>
          <p:nvPr/>
        </p:nvSpPr>
        <p:spPr>
          <a:xfrm>
            <a:off x="9341072" y="3276402"/>
            <a:ext cx="120791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11BBBB-743B-4F70-920B-92D86D92F2EF}"/>
              </a:ext>
            </a:extLst>
          </p:cNvPr>
          <p:cNvSpPr txBox="1"/>
          <p:nvPr/>
        </p:nvSpPr>
        <p:spPr>
          <a:xfrm>
            <a:off x="1779598" y="4601966"/>
            <a:ext cx="21528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"17"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4116738" y="4452342"/>
            <a:ext cx="5040000" cy="1080000"/>
            <a:chOff x="3001371" y="5080311"/>
            <a:chExt cx="5040000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len</a:t>
              </a:r>
              <a:r>
                <a:rPr kumimoji="0" lang="en-GB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()</a:t>
              </a:r>
              <a:endPara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0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044AEBC-420D-48FB-B565-42688EEC339C}"/>
              </a:ext>
            </a:extLst>
          </p:cNvPr>
          <p:cNvSpPr txBox="1"/>
          <p:nvPr/>
        </p:nvSpPr>
        <p:spPr>
          <a:xfrm>
            <a:off x="9341072" y="4601965"/>
            <a:ext cx="12079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64AFC2-DEB9-408B-9B33-41239EB6D45A}"/>
              </a:ext>
            </a:extLst>
          </p:cNvPr>
          <p:cNvSpPr txBox="1"/>
          <p:nvPr/>
        </p:nvSpPr>
        <p:spPr>
          <a:xfrm flipH="1">
            <a:off x="2731624" y="5911406"/>
            <a:ext cx="2825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Input: String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3AE61-A5F0-44B0-85E4-A2C24F50939C}"/>
              </a:ext>
            </a:extLst>
          </p:cNvPr>
          <p:cNvSpPr txBox="1"/>
          <p:nvPr/>
        </p:nvSpPr>
        <p:spPr>
          <a:xfrm flipH="1">
            <a:off x="7716738" y="5911406"/>
            <a:ext cx="2543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Output: Integer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DD65B88-6C76-4F80-9853-D5FF4D0B0487}"/>
              </a:ext>
            </a:extLst>
          </p:cNvPr>
          <p:cNvGrpSpPr/>
          <p:nvPr/>
        </p:nvGrpSpPr>
        <p:grpSpPr>
          <a:xfrm>
            <a:off x="2896884" y="1331802"/>
            <a:ext cx="7652101" cy="1549414"/>
            <a:chOff x="2896884" y="1331802"/>
            <a:chExt cx="7652101" cy="1549414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5DAD2C2-851F-4C0F-A70D-4FCD45DD6765}"/>
                </a:ext>
              </a:extLst>
            </p:cNvPr>
            <p:cNvGrpSpPr/>
            <p:nvPr/>
          </p:nvGrpSpPr>
          <p:grpSpPr>
            <a:xfrm>
              <a:off x="2896884" y="1546532"/>
              <a:ext cx="7652101" cy="1334684"/>
              <a:chOff x="2896884" y="1436004"/>
              <a:chExt cx="7652101" cy="1334684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B7A55C3-637A-47C7-A5CF-AC254EC9D976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Count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Characters</a:t>
                </a:r>
                <a:endParaRPr kumimoji="0" lang="en-GB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189ACEA3-6F18-4607-881B-F12B049A3D2E}"/>
                  </a:ext>
                </a:extLst>
              </p:cNvPr>
              <p:cNvCxnSpPr/>
              <p:nvPr/>
            </p:nvCxnSpPr>
            <p:spPr>
              <a:xfrm>
                <a:off x="41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E09A57C-89C4-4FAA-970E-9E980F126D2F}"/>
                  </a:ext>
                </a:extLst>
              </p:cNvPr>
              <p:cNvSpPr/>
              <p:nvPr/>
            </p:nvSpPr>
            <p:spPr>
              <a:xfrm>
                <a:off x="2896884" y="1436004"/>
                <a:ext cx="9829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Input</a:t>
                </a:r>
                <a:endParaRPr kumimoji="0" lang="en-GB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B2454F58-8CBA-4635-A34C-A131067CD4B4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1A2A068-4149-4A5A-BC6B-6EB22C81DDE5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Output</a:t>
                </a:r>
                <a:endParaRPr kumimoji="0" lang="en-GB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4327629-F8CB-4D2A-9BB4-09E1B414D2D0}"/>
                </a:ext>
              </a:extLst>
            </p:cNvPr>
            <p:cNvSpPr/>
            <p:nvPr/>
          </p:nvSpPr>
          <p:spPr>
            <a:xfrm>
              <a:off x="5895189" y="1331802"/>
              <a:ext cx="148309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Function</a:t>
              </a:r>
              <a:endPara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8102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9" grpId="0"/>
      <p:bldP spid="27" grpId="0"/>
      <p:bldP spid="28" grpId="0"/>
      <p:bldP spid="36" grpId="0"/>
      <p:bldP spid="40" grpId="0"/>
      <p:bldP spid="41" grpId="0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Length – String (Overview)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4116738" y="3126779"/>
            <a:ext cx="5040000" cy="1080000"/>
            <a:chOff x="3001371" y="3310688"/>
            <a:chExt cx="5040000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0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4116738" y="4452342"/>
            <a:ext cx="5040000" cy="1080000"/>
            <a:chOff x="3001371" y="5080311"/>
            <a:chExt cx="5040000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0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864AFC2-DEB9-408B-9B33-41239EB6D45A}"/>
              </a:ext>
            </a:extLst>
          </p:cNvPr>
          <p:cNvSpPr txBox="1"/>
          <p:nvPr/>
        </p:nvSpPr>
        <p:spPr>
          <a:xfrm flipH="1">
            <a:off x="2731624" y="5911406"/>
            <a:ext cx="2825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3AE61-A5F0-44B0-85E4-A2C24F50939C}"/>
              </a:ext>
            </a:extLst>
          </p:cNvPr>
          <p:cNvSpPr txBox="1"/>
          <p:nvPr/>
        </p:nvSpPr>
        <p:spPr>
          <a:xfrm flipH="1">
            <a:off x="7716738" y="5911406"/>
            <a:ext cx="2543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Output: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ED38382-3D24-4F32-A445-53F8FBC5118E}"/>
              </a:ext>
            </a:extLst>
          </p:cNvPr>
          <p:cNvGrpSpPr/>
          <p:nvPr/>
        </p:nvGrpSpPr>
        <p:grpSpPr>
          <a:xfrm>
            <a:off x="2896884" y="1331802"/>
            <a:ext cx="7652101" cy="1549414"/>
            <a:chOff x="2896884" y="1331802"/>
            <a:chExt cx="7652101" cy="154941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CA1ACF4-C655-4C78-B686-286341CEDE75}"/>
                </a:ext>
              </a:extLst>
            </p:cNvPr>
            <p:cNvGrpSpPr/>
            <p:nvPr/>
          </p:nvGrpSpPr>
          <p:grpSpPr>
            <a:xfrm>
              <a:off x="2896884" y="1546532"/>
              <a:ext cx="7652101" cy="1334684"/>
              <a:chOff x="2896884" y="1436004"/>
              <a:chExt cx="7652101" cy="1334684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6A809AC-BEE2-418A-AA6D-4CBBAD6CA4B9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7CCE423E-417E-40F6-86AE-174788571368}"/>
                  </a:ext>
                </a:extLst>
              </p:cNvPr>
              <p:cNvCxnSpPr/>
              <p:nvPr/>
            </p:nvCxnSpPr>
            <p:spPr>
              <a:xfrm>
                <a:off x="41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BCABF83-62CA-4C81-9C61-6F5AF81E3F2E}"/>
                  </a:ext>
                </a:extLst>
              </p:cNvPr>
              <p:cNvSpPr/>
              <p:nvPr/>
            </p:nvSpPr>
            <p:spPr>
              <a:xfrm>
                <a:off x="2896884" y="1436004"/>
                <a:ext cx="9829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Input</a:t>
                </a:r>
                <a:endParaRPr kumimoji="0" lang="en-GB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E2C84B21-C526-4327-B472-9B8D988B61FD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27D4A06-7107-4D1C-9E61-40789A6DCC29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Output</a:t>
                </a:r>
                <a:endParaRPr kumimoji="0" lang="en-GB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75B40BF-5F24-4173-9A9F-1DF97A64DDE4}"/>
                </a:ext>
              </a:extLst>
            </p:cNvPr>
            <p:cNvSpPr/>
            <p:nvPr/>
          </p:nvSpPr>
          <p:spPr>
            <a:xfrm>
              <a:off x="5895189" y="1331802"/>
              <a:ext cx="148309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Function</a:t>
              </a:r>
              <a:endPara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8195395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len</a:t>
            </a:r>
            <a:r>
              <a:rPr lang="en-GB" noProof="0" dirty="0"/>
              <a:t>() – String –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5543345" y="3044277"/>
            <a:ext cx="39525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0086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len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18369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"Hello"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5" name="Callout: Bent Line with No Border 8">
            <a:extLst>
              <a:ext uri="{FF2B5EF4-FFF2-40B4-BE49-F238E27FC236}">
                <a16:creationId xmlns:a16="http://schemas.microsoft.com/office/drawing/2014/main" id="{FE76DF5F-81B3-45AC-A628-BBE9287E827D}"/>
              </a:ext>
            </a:extLst>
          </p:cNvPr>
          <p:cNvSpPr/>
          <p:nvPr/>
        </p:nvSpPr>
        <p:spPr>
          <a:xfrm flipH="1">
            <a:off x="3214844" y="4132698"/>
            <a:ext cx="2426393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44891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18FD7-5699-4405-B11B-E8E902552F72}"/>
              </a:ext>
            </a:extLst>
          </p:cNvPr>
          <p:cNvSpPr txBox="1"/>
          <p:nvPr/>
        </p:nvSpPr>
        <p:spPr>
          <a:xfrm>
            <a:off x="2502039" y="3044278"/>
            <a:ext cx="296609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myValue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0EA2EDD-D55C-4A47-82C6-64769CAA93CE}"/>
              </a:ext>
            </a:extLst>
          </p:cNvPr>
          <p:cNvGrpSpPr/>
          <p:nvPr/>
        </p:nvGrpSpPr>
        <p:grpSpPr>
          <a:xfrm>
            <a:off x="4461414" y="1890270"/>
            <a:ext cx="1433512" cy="1154006"/>
            <a:chOff x="5456197" y="2058777"/>
            <a:chExt cx="1433512" cy="1154006"/>
          </a:xfrm>
        </p:grpSpPr>
        <p:sp>
          <p:nvSpPr>
            <p:cNvPr id="14" name="Arrow: Curved Down 13">
              <a:extLst>
                <a:ext uri="{FF2B5EF4-FFF2-40B4-BE49-F238E27FC236}">
                  <a16:creationId xmlns:a16="http://schemas.microsoft.com/office/drawing/2014/main" id="{62197FF0-B895-45D2-A531-96330FFB0E40}"/>
                </a:ext>
              </a:extLst>
            </p:cNvPr>
            <p:cNvSpPr/>
            <p:nvPr/>
          </p:nvSpPr>
          <p:spPr>
            <a:xfrm flipH="1">
              <a:off x="5456197" y="2581999"/>
              <a:ext cx="1433512" cy="630784"/>
            </a:xfrm>
            <a:prstGeom prst="curvedDownArrow">
              <a:avLst>
                <a:gd name="adj1" fmla="val 14746"/>
                <a:gd name="adj2" fmla="val 42781"/>
                <a:gd name="adj3" fmla="val 35417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06D1F41-C62C-4D11-89A7-FCE586210A4C}"/>
                </a:ext>
              </a:extLst>
            </p:cNvPr>
            <p:cNvSpPr txBox="1"/>
            <p:nvPr/>
          </p:nvSpPr>
          <p:spPr>
            <a:xfrm>
              <a:off x="5546019" y="2058777"/>
              <a:ext cx="12538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Output</a:t>
              </a:r>
              <a:endPara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B2E87098-E01A-4642-9F58-DC02F2CCC6CE}"/>
              </a:ext>
            </a:extLst>
          </p:cNvPr>
          <p:cNvSpPr/>
          <p:nvPr/>
        </p:nvSpPr>
        <p:spPr>
          <a:xfrm>
            <a:off x="2586389" y="5545153"/>
            <a:ext cx="701923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marR="0" lvl="0" indent="-4572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Counts the characters</a:t>
            </a:r>
          </a:p>
          <a:p>
            <a:pPr marL="457200" marR="0" lvl="0" indent="-4572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to the function can be a variable</a:t>
            </a:r>
          </a:p>
        </p:txBody>
      </p:sp>
      <p:sp>
        <p:nvSpPr>
          <p:cNvPr id="11" name="Callout: Bent Line with No Border 8">
            <a:extLst>
              <a:ext uri="{FF2B5EF4-FFF2-40B4-BE49-F238E27FC236}">
                <a16:creationId xmlns:a16="http://schemas.microsoft.com/office/drawing/2014/main" id="{0C70402D-F0E1-4195-99E3-3EC955CDA995}"/>
              </a:ext>
            </a:extLst>
          </p:cNvPr>
          <p:cNvSpPr/>
          <p:nvPr/>
        </p:nvSpPr>
        <p:spPr>
          <a:xfrm>
            <a:off x="8451713" y="4132698"/>
            <a:ext cx="2426393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44891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5BB990-B5E3-4B1F-A169-BAA74A8C19A6}"/>
              </a:ext>
            </a:extLst>
          </p:cNvPr>
          <p:cNvCxnSpPr>
            <a:cxnSpLocks/>
          </p:cNvCxnSpPr>
          <p:nvPr/>
        </p:nvCxnSpPr>
        <p:spPr>
          <a:xfrm>
            <a:off x="7026500" y="3697794"/>
            <a:ext cx="1836000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3648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12" grpId="0"/>
      <p:bldP spid="10" grpId="0" build="p"/>
      <p:bldP spid="11" grpId="0" animBg="1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len</a:t>
            </a:r>
            <a:r>
              <a:rPr lang="en-GB" noProof="0" dirty="0"/>
              <a:t>() – String –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5543345" y="3044277"/>
            <a:ext cx="39525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0086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len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18369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"Hello"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18FD7-5699-4405-B11B-E8E902552F72}"/>
              </a:ext>
            </a:extLst>
          </p:cNvPr>
          <p:cNvSpPr txBox="1"/>
          <p:nvPr/>
        </p:nvSpPr>
        <p:spPr>
          <a:xfrm>
            <a:off x="2502039" y="3044278"/>
            <a:ext cx="296609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myValue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E87098-E01A-4642-9F58-DC02F2CCC6CE}"/>
              </a:ext>
            </a:extLst>
          </p:cNvPr>
          <p:cNvSpPr/>
          <p:nvPr/>
        </p:nvSpPr>
        <p:spPr>
          <a:xfrm>
            <a:off x="2558527" y="5545153"/>
            <a:ext cx="707495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marR="0" lvl="0" indent="-4572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Counts the                    </a:t>
            </a:r>
          </a:p>
          <a:p>
            <a:pPr marL="457200" marR="0" lvl="0" indent="-4572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to the function can be a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236959173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selection with simple conditions</a:t>
            </a:r>
          </a:p>
        </p:txBody>
      </p:sp>
    </p:spTree>
    <p:extLst>
      <p:ext uri="{BB962C8B-B14F-4D97-AF65-F5344CB8AC3E}">
        <p14:creationId xmlns:p14="http://schemas.microsoft.com/office/powerpoint/2010/main" val="2903346890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EC60C7C-6284-98B7-FC7F-AAF84071A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if, else if, else – Multiple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A3A6C-9ED8-7CC6-BD2F-05CA48D85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 1</a:t>
            </a:r>
            <a:r>
              <a:rPr lang="en-GB" sz="280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number = </a:t>
            </a:r>
            <a:r>
              <a:rPr lang="en-GB" altLang="en-US" sz="28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28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28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"Enter a whole number: "</a:t>
            </a:r>
            <a:r>
              <a:rPr lang="en-GB" altLang="en-US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2</a:t>
            </a:r>
            <a:endParaRPr lang="en-GB" sz="2800" noProof="0" dirty="0">
              <a:solidFill>
                <a:srgbClr val="B2B2B2"/>
              </a:solidFill>
              <a:effectLst/>
              <a:latin typeface="Consolas" panose="020B0609020204030204" pitchFamily="49" charset="0"/>
            </a:endParaRPr>
          </a:p>
          <a:p>
            <a:pPr marL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 3</a:t>
            </a:r>
            <a:r>
              <a:rPr lang="en-GB" sz="2800" noProof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 if</a:t>
            </a:r>
            <a:r>
              <a:rPr lang="en-GB" sz="280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 &gt; </a:t>
            </a:r>
            <a:r>
              <a:rPr lang="en-GB" sz="28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GB" sz="280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 4</a:t>
            </a:r>
            <a:r>
              <a:rPr lang="en-GB" sz="2800" noProof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2800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True</a:t>
            </a:r>
          </a:p>
          <a:p>
            <a:pPr marL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5</a:t>
            </a:r>
            <a:endParaRPr lang="en-GB" sz="2800" noProof="0" dirty="0">
              <a:solidFill>
                <a:srgbClr val="B2B2B2"/>
              </a:solidFill>
              <a:effectLst/>
              <a:latin typeface="Consolas" panose="020B0609020204030204" pitchFamily="49" charset="0"/>
            </a:endParaRPr>
          </a:p>
          <a:p>
            <a:pPr marL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6</a:t>
            </a:r>
            <a:r>
              <a:rPr lang="en-GB" sz="28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800" kern="1200" noProof="0" dirty="0" err="1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GB" sz="2800" kern="1200" noProof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number &lt; </a:t>
            </a:r>
            <a:r>
              <a:rPr lang="en-GB" sz="28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GB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GB" sz="2800" noProof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7</a:t>
            </a:r>
            <a:r>
              <a:rPr lang="en-GB" sz="2800" noProof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2800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True</a:t>
            </a:r>
          </a:p>
          <a:p>
            <a:pPr marL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8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9 </a:t>
            </a:r>
            <a:r>
              <a:rPr lang="en-GB" sz="28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else</a:t>
            </a:r>
            <a:r>
              <a:rPr lang="en-GB" sz="2800" noProof="0" dirty="0">
                <a:latin typeface="Consolas" panose="020B0609020204030204" pitchFamily="49" charset="0"/>
              </a:rPr>
              <a:t>:</a:t>
            </a:r>
          </a:p>
          <a:p>
            <a:pPr marL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10</a:t>
            </a:r>
            <a:r>
              <a:rPr lang="en-GB" sz="2800" noProof="0" dirty="0">
                <a:latin typeface="Consolas" panose="020B0609020204030204" pitchFamily="49" charset="0"/>
              </a:rPr>
              <a:t>    </a:t>
            </a:r>
            <a:r>
              <a:rPr lang="en-GB" sz="2800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All False</a:t>
            </a:r>
          </a:p>
          <a:p>
            <a:pPr marL="0" indent="0" fontAlgn="t">
              <a:spcBef>
                <a:spcPts val="0"/>
              </a:spcBef>
              <a:spcAft>
                <a:spcPts val="0"/>
              </a:spcAft>
              <a:buNone/>
            </a:pPr>
            <a:endParaRPr lang="en-GB" sz="2800" noProof="0" dirty="0">
              <a:solidFill>
                <a:srgbClr val="B2B2B2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AF186F95-B963-4D77-88B0-51281413C0C7}"/>
              </a:ext>
            </a:extLst>
          </p:cNvPr>
          <p:cNvSpPr/>
          <p:nvPr/>
        </p:nvSpPr>
        <p:spPr>
          <a:xfrm>
            <a:off x="5800845" y="2699717"/>
            <a:ext cx="590309" cy="2890049"/>
          </a:xfrm>
          <a:prstGeom prst="downArrow">
            <a:avLst>
              <a:gd name="adj1" fmla="val 34314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C6DDBB-E463-4FAF-9931-BBAAFDA5C2C9}"/>
              </a:ext>
            </a:extLst>
          </p:cNvPr>
          <p:cNvSpPr txBox="1"/>
          <p:nvPr/>
        </p:nvSpPr>
        <p:spPr>
          <a:xfrm>
            <a:off x="6391154" y="2699717"/>
            <a:ext cx="4074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rgbClr val="7030A0"/>
                </a:solidFill>
              </a:rPr>
              <a:t>Tests done in order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6A7125-A5D5-4735-9CC4-EF88CD73A868}"/>
              </a:ext>
            </a:extLst>
          </p:cNvPr>
          <p:cNvSpPr txBox="1"/>
          <p:nvPr/>
        </p:nvSpPr>
        <p:spPr>
          <a:xfrm>
            <a:off x="7515160" y="3821575"/>
            <a:ext cx="4074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rgbClr val="7030A0"/>
                </a:solidFill>
              </a:rPr>
              <a:t>Multiple </a:t>
            </a:r>
            <a:r>
              <a:rPr lang="en-GB" sz="3600" dirty="0" err="1">
                <a:solidFill>
                  <a:srgbClr val="FF0000"/>
                </a:solidFill>
              </a:rPr>
              <a:t>elif</a:t>
            </a:r>
            <a:r>
              <a:rPr lang="en-GB" sz="3600" dirty="0">
                <a:solidFill>
                  <a:srgbClr val="7030A0"/>
                </a:solidFill>
              </a:rPr>
              <a:t> allowed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FD66EC-261C-46D1-A58C-23228AAAF84C}"/>
              </a:ext>
            </a:extLst>
          </p:cNvPr>
          <p:cNvSpPr txBox="1"/>
          <p:nvPr/>
        </p:nvSpPr>
        <p:spPr>
          <a:xfrm>
            <a:off x="7515160" y="5087352"/>
            <a:ext cx="4074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else</a:t>
            </a:r>
            <a:r>
              <a:rPr lang="en-GB" sz="3600" dirty="0">
                <a:solidFill>
                  <a:srgbClr val="7030A0"/>
                </a:solidFill>
              </a:rPr>
              <a:t> is optional</a:t>
            </a:r>
          </a:p>
        </p:txBody>
      </p:sp>
    </p:spTree>
    <p:extLst>
      <p:ext uri="{BB962C8B-B14F-4D97-AF65-F5344CB8AC3E}">
        <p14:creationId xmlns:p14="http://schemas.microsoft.com/office/powerpoint/2010/main" val="50459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9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1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3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 animBg="1"/>
      <p:bldP spid="11" grpId="0"/>
      <p:bldP spid="13" grpId="0"/>
      <p:bldP spid="14" grpId="0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4D6E854-519F-F18A-D5BF-A24469934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93E0141-6A29-14A3-8102-C92EECCB2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if, else if, else – Multiple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0AF7C-B48F-46C4-E0FA-ECD3BE53F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 1</a:t>
            </a:r>
            <a:r>
              <a:rPr lang="en-GB" sz="280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number = </a:t>
            </a:r>
            <a:r>
              <a:rPr lang="en-GB" altLang="en-US" sz="28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28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28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"Enter a whole number: "</a:t>
            </a:r>
            <a:r>
              <a:rPr lang="en-GB" altLang="en-US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2</a:t>
            </a:r>
            <a:endParaRPr lang="en-GB" sz="2800" noProof="0" dirty="0">
              <a:solidFill>
                <a:srgbClr val="B2B2B2"/>
              </a:solidFill>
              <a:effectLst/>
              <a:latin typeface="Consolas" panose="020B0609020204030204" pitchFamily="49" charset="0"/>
            </a:endParaRPr>
          </a:p>
          <a:p>
            <a:pPr marL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 3</a:t>
            </a:r>
            <a:r>
              <a:rPr lang="en-GB" sz="2800" noProof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 if</a:t>
            </a:r>
            <a:r>
              <a:rPr lang="en-GB" sz="280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 &gt; </a:t>
            </a:r>
            <a:r>
              <a:rPr lang="en-GB" sz="28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GB" sz="280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 4</a:t>
            </a:r>
            <a:r>
              <a:rPr lang="en-GB" sz="2800" noProof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2800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True</a:t>
            </a:r>
          </a:p>
          <a:p>
            <a:pPr marL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5</a:t>
            </a:r>
            <a:endParaRPr lang="en-GB" sz="2800" noProof="0" dirty="0">
              <a:solidFill>
                <a:srgbClr val="B2B2B2"/>
              </a:solidFill>
              <a:effectLst/>
              <a:latin typeface="Consolas" panose="020B0609020204030204" pitchFamily="49" charset="0"/>
            </a:endParaRPr>
          </a:p>
          <a:p>
            <a:pPr marL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6</a:t>
            </a:r>
            <a:r>
              <a:rPr lang="en-GB" sz="28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800" kern="1200" noProof="0" dirty="0" err="1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GB" sz="2800" kern="1200" noProof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number &lt; </a:t>
            </a:r>
            <a:r>
              <a:rPr lang="en-GB" sz="28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GB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GB" sz="2800" noProof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7</a:t>
            </a:r>
            <a:r>
              <a:rPr lang="en-GB" sz="2800" noProof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2800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True</a:t>
            </a:r>
          </a:p>
          <a:p>
            <a:pPr marL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8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9 </a:t>
            </a:r>
            <a:r>
              <a:rPr lang="en-GB" sz="28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else</a:t>
            </a:r>
            <a:r>
              <a:rPr lang="en-GB" sz="2800" noProof="0" dirty="0">
                <a:latin typeface="Consolas" panose="020B0609020204030204" pitchFamily="49" charset="0"/>
              </a:rPr>
              <a:t>:</a:t>
            </a:r>
          </a:p>
          <a:p>
            <a:pPr marL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10</a:t>
            </a:r>
            <a:r>
              <a:rPr lang="en-GB" sz="2800" noProof="0" dirty="0">
                <a:latin typeface="Consolas" panose="020B0609020204030204" pitchFamily="49" charset="0"/>
              </a:rPr>
              <a:t>    </a:t>
            </a:r>
            <a:r>
              <a:rPr lang="en-GB" sz="2800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All False</a:t>
            </a:r>
          </a:p>
          <a:p>
            <a:pPr marL="0" indent="0" fontAlgn="t">
              <a:spcBef>
                <a:spcPts val="0"/>
              </a:spcBef>
              <a:spcAft>
                <a:spcPts val="0"/>
              </a:spcAft>
              <a:buNone/>
            </a:pPr>
            <a:endParaRPr lang="en-GB" sz="2800" noProof="0" dirty="0">
              <a:solidFill>
                <a:srgbClr val="B2B2B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305076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5C3BC-1A88-B879-7875-7AEF46418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ECD71C94-05C0-F058-C04C-3D3FE3317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080000"/>
          </a:xfrm>
        </p:spPr>
        <p:txBody>
          <a:bodyPr/>
          <a:lstStyle/>
          <a:p>
            <a:r>
              <a:rPr lang="en-GB" noProof="0" dirty="0"/>
              <a:t>Design – if, </a:t>
            </a:r>
            <a:r>
              <a:rPr lang="en-GB" noProof="0" dirty="0" err="1"/>
              <a:t>elif</a:t>
            </a:r>
            <a:r>
              <a:rPr lang="en-GB" noProof="0" dirty="0"/>
              <a:t>, else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0E7C121-710F-92F8-8835-897985ACE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445125"/>
            <a:ext cx="5157787" cy="540000"/>
          </a:xfrm>
        </p:spPr>
        <p:txBody>
          <a:bodyPr anchor="ctr" anchorCtr="0"/>
          <a:lstStyle/>
          <a:p>
            <a:r>
              <a:rPr lang="en-GB" noProof="0" dirty="0"/>
              <a:t>Structure diagram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A95F36A-80AD-D786-2B3F-5977006EEC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45125"/>
            <a:ext cx="5183188" cy="540000"/>
          </a:xfrm>
        </p:spPr>
        <p:txBody>
          <a:bodyPr anchor="ctr" anchorCtr="0"/>
          <a:lstStyle/>
          <a:p>
            <a:r>
              <a:rPr lang="en-GB" noProof="0" dirty="0"/>
              <a:t>Flowchart</a:t>
            </a:r>
          </a:p>
        </p:txBody>
      </p:sp>
      <p:pic>
        <p:nvPicPr>
          <p:cNvPr id="21" name="Content Placeholder 2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B43816E-A101-4B00-4551-BACE7E4D2F9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87" y="1982479"/>
            <a:ext cx="4876196" cy="4320504"/>
          </a:xfrm>
          <a:prstGeom prst="rect">
            <a:avLst/>
          </a:prstGeom>
        </p:spPr>
      </p:pic>
      <p:pic>
        <p:nvPicPr>
          <p:cNvPr id="22" name="Content Placeholder 2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77D0DB2-5931-FF86-EB45-6B697DD37A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616" y="1982479"/>
            <a:ext cx="3127232" cy="4626596"/>
          </a:xfrm>
          <a:prstGeom prst="rect">
            <a:avLst/>
          </a:prstGeom>
        </p:spPr>
      </p:pic>
      <p:sp>
        <p:nvSpPr>
          <p:cNvPr id="23" name="Callout: Bent Line with No Border 8">
            <a:extLst>
              <a:ext uri="{FF2B5EF4-FFF2-40B4-BE49-F238E27FC236}">
                <a16:creationId xmlns:a16="http://schemas.microsoft.com/office/drawing/2014/main" id="{C28D95C6-49C5-8879-8465-063D387F99D4}"/>
              </a:ext>
            </a:extLst>
          </p:cNvPr>
          <p:cNvSpPr/>
          <p:nvPr/>
        </p:nvSpPr>
        <p:spPr>
          <a:xfrm>
            <a:off x="5043604" y="3461196"/>
            <a:ext cx="1620000" cy="360000"/>
          </a:xfrm>
          <a:prstGeom prst="callout2">
            <a:avLst>
              <a:gd name="adj1" fmla="val 50016"/>
              <a:gd name="adj2" fmla="val -314"/>
              <a:gd name="adj3" fmla="val 50727"/>
              <a:gd name="adj4" fmla="val -24869"/>
              <a:gd name="adj5" fmla="val 117021"/>
              <a:gd name="adj6" fmla="val -5208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else if</a:t>
            </a:r>
          </a:p>
        </p:txBody>
      </p:sp>
      <p:sp>
        <p:nvSpPr>
          <p:cNvPr id="24" name="Callout: Bent Line with No Border 8">
            <a:extLst>
              <a:ext uri="{FF2B5EF4-FFF2-40B4-BE49-F238E27FC236}">
                <a16:creationId xmlns:a16="http://schemas.microsoft.com/office/drawing/2014/main" id="{652C7F5A-2496-F793-FCF4-7C87BEE44189}"/>
              </a:ext>
            </a:extLst>
          </p:cNvPr>
          <p:cNvSpPr/>
          <p:nvPr/>
        </p:nvSpPr>
        <p:spPr>
          <a:xfrm>
            <a:off x="9986205" y="3461196"/>
            <a:ext cx="1620000" cy="360000"/>
          </a:xfrm>
          <a:prstGeom prst="callout2">
            <a:avLst>
              <a:gd name="adj1" fmla="val 50016"/>
              <a:gd name="adj2" fmla="val -314"/>
              <a:gd name="adj3" fmla="val 51609"/>
              <a:gd name="adj4" fmla="val -24183"/>
              <a:gd name="adj5" fmla="val 117021"/>
              <a:gd name="adj6" fmla="val -5208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else if</a:t>
            </a:r>
          </a:p>
        </p:txBody>
      </p:sp>
      <p:sp>
        <p:nvSpPr>
          <p:cNvPr id="25" name="Callout: Bent Line with No Border 24">
            <a:extLst>
              <a:ext uri="{FF2B5EF4-FFF2-40B4-BE49-F238E27FC236}">
                <a16:creationId xmlns:a16="http://schemas.microsoft.com/office/drawing/2014/main" id="{CFA16FD8-DB0C-EA35-53EF-20418E62A70D}"/>
              </a:ext>
            </a:extLst>
          </p:cNvPr>
          <p:cNvSpPr/>
          <p:nvPr/>
        </p:nvSpPr>
        <p:spPr>
          <a:xfrm>
            <a:off x="6865750" y="2776562"/>
            <a:ext cx="432000" cy="360000"/>
          </a:xfrm>
          <a:prstGeom prst="callout2">
            <a:avLst>
              <a:gd name="adj1" fmla="val 50983"/>
              <a:gd name="adj2" fmla="val 101585"/>
              <a:gd name="adj3" fmla="val 50822"/>
              <a:gd name="adj4" fmla="val 144665"/>
              <a:gd name="adj5" fmla="val 96248"/>
              <a:gd name="adj6" fmla="val 18961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if</a:t>
            </a:r>
          </a:p>
        </p:txBody>
      </p:sp>
      <p:sp>
        <p:nvSpPr>
          <p:cNvPr id="26" name="Callout: Bent Line with No Border 25">
            <a:extLst>
              <a:ext uri="{FF2B5EF4-FFF2-40B4-BE49-F238E27FC236}">
                <a16:creationId xmlns:a16="http://schemas.microsoft.com/office/drawing/2014/main" id="{250761A0-BD40-A1C8-0212-8CDAD3F33A75}"/>
              </a:ext>
            </a:extLst>
          </p:cNvPr>
          <p:cNvSpPr/>
          <p:nvPr/>
        </p:nvSpPr>
        <p:spPr>
          <a:xfrm>
            <a:off x="893124" y="2314616"/>
            <a:ext cx="432000" cy="324000"/>
          </a:xfrm>
          <a:prstGeom prst="callout2">
            <a:avLst>
              <a:gd name="adj1" fmla="val 50983"/>
              <a:gd name="adj2" fmla="val 101585"/>
              <a:gd name="adj3" fmla="val 49977"/>
              <a:gd name="adj4" fmla="val 144665"/>
              <a:gd name="adj5" fmla="val 49460"/>
              <a:gd name="adj6" fmla="val 20867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if</a:t>
            </a:r>
          </a:p>
        </p:txBody>
      </p:sp>
      <p:sp>
        <p:nvSpPr>
          <p:cNvPr id="27" name="Callout: Bent Line with No Border 8">
            <a:extLst>
              <a:ext uri="{FF2B5EF4-FFF2-40B4-BE49-F238E27FC236}">
                <a16:creationId xmlns:a16="http://schemas.microsoft.com/office/drawing/2014/main" id="{7F96A11F-1708-160D-CE28-31748E4AA818}"/>
              </a:ext>
            </a:extLst>
          </p:cNvPr>
          <p:cNvSpPr/>
          <p:nvPr/>
        </p:nvSpPr>
        <p:spPr>
          <a:xfrm>
            <a:off x="5377414" y="4882089"/>
            <a:ext cx="791610" cy="360000"/>
          </a:xfrm>
          <a:prstGeom prst="callout2">
            <a:avLst>
              <a:gd name="adj1" fmla="val 50071"/>
              <a:gd name="adj2" fmla="val 9"/>
              <a:gd name="adj3" fmla="val 50561"/>
              <a:gd name="adj4" fmla="val -27034"/>
              <a:gd name="adj5" fmla="val 137586"/>
              <a:gd name="adj6" fmla="val -4860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else</a:t>
            </a:r>
          </a:p>
        </p:txBody>
      </p:sp>
      <p:sp>
        <p:nvSpPr>
          <p:cNvPr id="28" name="Callout: Bent Line with No Border 8">
            <a:extLst>
              <a:ext uri="{FF2B5EF4-FFF2-40B4-BE49-F238E27FC236}">
                <a16:creationId xmlns:a16="http://schemas.microsoft.com/office/drawing/2014/main" id="{2C7A1478-9397-44C4-B217-4C81E4BF29F4}"/>
              </a:ext>
            </a:extLst>
          </p:cNvPr>
          <p:cNvSpPr/>
          <p:nvPr/>
        </p:nvSpPr>
        <p:spPr>
          <a:xfrm>
            <a:off x="10778310" y="4522089"/>
            <a:ext cx="791610" cy="360000"/>
          </a:xfrm>
          <a:prstGeom prst="callout2">
            <a:avLst>
              <a:gd name="adj1" fmla="val 50071"/>
              <a:gd name="adj2" fmla="val 9"/>
              <a:gd name="adj3" fmla="val 50561"/>
              <a:gd name="adj4" fmla="val -27034"/>
              <a:gd name="adj5" fmla="val 137586"/>
              <a:gd name="adj6" fmla="val -4860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else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F045D2-75FE-67FA-EA80-062461A589BE}"/>
              </a:ext>
            </a:extLst>
          </p:cNvPr>
          <p:cNvSpPr txBox="1"/>
          <p:nvPr/>
        </p:nvSpPr>
        <p:spPr>
          <a:xfrm>
            <a:off x="7442616" y="636584"/>
            <a:ext cx="4127304" cy="1077218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/>
            <a:r>
              <a:rPr lang="en-GB" sz="3200" dirty="0">
                <a:solidFill>
                  <a:srgbClr val="7030A0"/>
                </a:solidFill>
              </a:rPr>
              <a:t>Multiple </a:t>
            </a:r>
            <a:r>
              <a:rPr lang="en-GB" sz="3200" dirty="0">
                <a:solidFill>
                  <a:srgbClr val="FF0000"/>
                </a:solidFill>
              </a:rPr>
              <a:t>else if</a:t>
            </a:r>
            <a:r>
              <a:rPr lang="en-GB" sz="3200" dirty="0">
                <a:solidFill>
                  <a:srgbClr val="7030A0"/>
                </a:solidFill>
              </a:rPr>
              <a:t> allowed</a:t>
            </a:r>
          </a:p>
          <a:p>
            <a:pPr algn="r"/>
            <a:r>
              <a:rPr lang="en-GB" sz="3200" dirty="0">
                <a:solidFill>
                  <a:srgbClr val="FF0000"/>
                </a:solidFill>
              </a:rPr>
              <a:t>else</a:t>
            </a:r>
            <a:r>
              <a:rPr lang="en-GB" sz="3200" dirty="0">
                <a:solidFill>
                  <a:srgbClr val="7030A0"/>
                </a:solidFill>
              </a:rPr>
              <a:t> is optional</a:t>
            </a:r>
          </a:p>
        </p:txBody>
      </p:sp>
    </p:spTree>
    <p:extLst>
      <p:ext uri="{BB962C8B-B14F-4D97-AF65-F5344CB8AC3E}">
        <p14:creationId xmlns:p14="http://schemas.microsoft.com/office/powerpoint/2010/main" val="123886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  <p:bldP spid="19" grpId="0" build="p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uiExpand="1" build="p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FE88173-7226-5C54-0ACF-644EDA462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25121A-4934-5F5C-409C-4089852C8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080000"/>
          </a:xfrm>
        </p:spPr>
        <p:txBody>
          <a:bodyPr/>
          <a:lstStyle/>
          <a:p>
            <a:r>
              <a:rPr lang="en-GB" noProof="0" dirty="0"/>
              <a:t>Design – if, else if, else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958BEA-2E93-26DA-E44D-3908872FD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445125"/>
            <a:ext cx="5157787" cy="540000"/>
          </a:xfrm>
        </p:spPr>
        <p:txBody>
          <a:bodyPr anchor="ctr" anchorCtr="0"/>
          <a:lstStyle/>
          <a:p>
            <a:r>
              <a:rPr lang="en-GB" noProof="0" dirty="0"/>
              <a:t>Structure diagram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8043D60-D11A-3424-D48F-DCC72D7E52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45125"/>
            <a:ext cx="5183188" cy="540000"/>
          </a:xfrm>
        </p:spPr>
        <p:txBody>
          <a:bodyPr anchor="ctr" anchorCtr="0"/>
          <a:lstStyle/>
          <a:p>
            <a:r>
              <a:rPr lang="en-GB" noProof="0" dirty="0"/>
              <a:t>Flowchart</a:t>
            </a:r>
          </a:p>
        </p:txBody>
      </p:sp>
      <p:pic>
        <p:nvPicPr>
          <p:cNvPr id="21" name="Content Placeholder 2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9121C6E-3A96-E786-97AE-C3F331AD56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87" y="1982479"/>
            <a:ext cx="4876196" cy="4320504"/>
          </a:xfrm>
          <a:prstGeom prst="rect">
            <a:avLst/>
          </a:prstGeom>
        </p:spPr>
      </p:pic>
      <p:pic>
        <p:nvPicPr>
          <p:cNvPr id="22" name="Content Placeholder 2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FE9ED01-1264-6052-8F3A-DFDA658896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616" y="1982479"/>
            <a:ext cx="3127232" cy="462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864382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EC60C7C-6284-98B7-FC7F-AAF84071A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else if – Tip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A3A6C-9ED8-7CC6-BD2F-05CA48D85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 1</a:t>
            </a:r>
            <a:r>
              <a:rPr lang="en-GB" sz="280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number = </a:t>
            </a:r>
            <a:r>
              <a:rPr lang="en-GB" altLang="en-US" sz="28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28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28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"Enter a whole number: "</a:t>
            </a:r>
            <a:r>
              <a:rPr lang="en-GB" altLang="en-US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2</a:t>
            </a:r>
            <a:endParaRPr lang="en-GB" sz="2800" noProof="0" dirty="0">
              <a:solidFill>
                <a:srgbClr val="B2B2B2"/>
              </a:solidFill>
              <a:effectLst/>
              <a:latin typeface="Consolas" panose="020B0609020204030204" pitchFamily="49" charset="0"/>
            </a:endParaRPr>
          </a:p>
          <a:p>
            <a:pPr marL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 3</a:t>
            </a:r>
            <a:r>
              <a:rPr lang="en-GB" sz="2800" noProof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 if</a:t>
            </a:r>
            <a:r>
              <a:rPr lang="en-GB" sz="280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 &gt; </a:t>
            </a:r>
            <a:r>
              <a:rPr lang="en-GB" sz="28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GB" sz="2800" noProof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 4</a:t>
            </a:r>
            <a:r>
              <a:rPr lang="en-GB" sz="2800" noProof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2800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True</a:t>
            </a:r>
          </a:p>
          <a:p>
            <a:pPr marL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5</a:t>
            </a:r>
            <a:endParaRPr lang="en-GB" sz="2800" noProof="0" dirty="0">
              <a:solidFill>
                <a:srgbClr val="B2B2B2"/>
              </a:solidFill>
              <a:effectLst/>
              <a:latin typeface="Consolas" panose="020B0609020204030204" pitchFamily="49" charset="0"/>
            </a:endParaRPr>
          </a:p>
          <a:p>
            <a:pPr marL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6</a:t>
            </a:r>
            <a:r>
              <a:rPr lang="en-GB" sz="28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800" kern="1200" noProof="0" dirty="0" err="1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GB" sz="2800" kern="1200" noProof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number &lt; </a:t>
            </a:r>
            <a:r>
              <a:rPr lang="en-GB" sz="28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GB" sz="28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GB" sz="2800" noProof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7</a:t>
            </a:r>
            <a:r>
              <a:rPr lang="en-GB" sz="2800" noProof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2800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True</a:t>
            </a:r>
          </a:p>
          <a:p>
            <a:pPr marL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8</a:t>
            </a:r>
          </a:p>
          <a:p>
            <a:pPr marL="0" marR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 9 </a:t>
            </a:r>
            <a:r>
              <a:rPr lang="en-GB" sz="28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else</a:t>
            </a:r>
            <a:r>
              <a:rPr lang="en-GB" sz="2800" noProof="0" dirty="0">
                <a:latin typeface="Consolas" panose="020B0609020204030204" pitchFamily="49" charset="0"/>
              </a:rPr>
              <a:t>:</a:t>
            </a:r>
          </a:p>
          <a:p>
            <a:pPr marL="0" indent="0" fontAlgn="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10</a:t>
            </a:r>
            <a:r>
              <a:rPr lang="en-GB" sz="2800" noProof="0" dirty="0">
                <a:latin typeface="Consolas" panose="020B0609020204030204" pitchFamily="49" charset="0"/>
              </a:rPr>
              <a:t>    </a:t>
            </a:r>
            <a:r>
              <a:rPr lang="en-GB" sz="2800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All False</a:t>
            </a:r>
          </a:p>
          <a:p>
            <a:pPr marL="0" indent="0" fontAlgn="t">
              <a:spcBef>
                <a:spcPts val="0"/>
              </a:spcBef>
              <a:spcAft>
                <a:spcPts val="0"/>
              </a:spcAft>
              <a:buNone/>
            </a:pPr>
            <a:endParaRPr lang="en-GB" sz="2800" noProof="0" dirty="0">
              <a:solidFill>
                <a:srgbClr val="B2B2B2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AF186F95-B963-4D77-88B0-51281413C0C7}"/>
              </a:ext>
            </a:extLst>
          </p:cNvPr>
          <p:cNvSpPr/>
          <p:nvPr/>
        </p:nvSpPr>
        <p:spPr>
          <a:xfrm>
            <a:off x="5800845" y="2699717"/>
            <a:ext cx="590309" cy="2890049"/>
          </a:xfrm>
          <a:prstGeom prst="downArrow">
            <a:avLst>
              <a:gd name="adj1" fmla="val 34314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C6DDBB-E463-4FAF-9931-BBAAFDA5C2C9}"/>
              </a:ext>
            </a:extLst>
          </p:cNvPr>
          <p:cNvSpPr txBox="1"/>
          <p:nvPr/>
        </p:nvSpPr>
        <p:spPr>
          <a:xfrm>
            <a:off x="6391154" y="2699717"/>
            <a:ext cx="4074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rgbClr val="7030A0"/>
                </a:solidFill>
              </a:rPr>
              <a:t>Tests done in order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6A7125-A5D5-4735-9CC4-EF88CD73A868}"/>
              </a:ext>
            </a:extLst>
          </p:cNvPr>
          <p:cNvSpPr txBox="1"/>
          <p:nvPr/>
        </p:nvSpPr>
        <p:spPr>
          <a:xfrm>
            <a:off x="7515160" y="3821575"/>
            <a:ext cx="4074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rgbClr val="7030A0"/>
                </a:solidFill>
              </a:rPr>
              <a:t>Multiple </a:t>
            </a:r>
            <a:r>
              <a:rPr lang="en-GB" sz="3600" dirty="0" err="1">
                <a:solidFill>
                  <a:srgbClr val="FF0000"/>
                </a:solidFill>
              </a:rPr>
              <a:t>elif</a:t>
            </a:r>
            <a:r>
              <a:rPr lang="en-GB" sz="3600" dirty="0">
                <a:solidFill>
                  <a:srgbClr val="7030A0"/>
                </a:solidFill>
              </a:rPr>
              <a:t> allowed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FD66EC-261C-46D1-A58C-23228AAAF84C}"/>
              </a:ext>
            </a:extLst>
          </p:cNvPr>
          <p:cNvSpPr txBox="1"/>
          <p:nvPr/>
        </p:nvSpPr>
        <p:spPr>
          <a:xfrm>
            <a:off x="7515160" y="5087352"/>
            <a:ext cx="4074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else</a:t>
            </a:r>
            <a:r>
              <a:rPr lang="en-GB" sz="3600" dirty="0">
                <a:solidFill>
                  <a:srgbClr val="7030A0"/>
                </a:solidFill>
              </a:rPr>
              <a:t> is optional</a:t>
            </a:r>
          </a:p>
        </p:txBody>
      </p:sp>
    </p:spTree>
    <p:extLst>
      <p:ext uri="{BB962C8B-B14F-4D97-AF65-F5344CB8AC3E}">
        <p14:creationId xmlns:p14="http://schemas.microsoft.com/office/powerpoint/2010/main" val="2457721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9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1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3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 animBg="1"/>
      <p:bldP spid="11" grpId="0"/>
      <p:bldP spid="13" grpId="0"/>
      <p:bldP spid="14" grpId="0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logical operators (AND, OR, NOT)</a:t>
            </a:r>
          </a:p>
        </p:txBody>
      </p:sp>
    </p:spTree>
    <p:extLst>
      <p:ext uri="{BB962C8B-B14F-4D97-AF65-F5344CB8AC3E}">
        <p14:creationId xmlns:p14="http://schemas.microsoft.com/office/powerpoint/2010/main" val="3663391718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AND – Logical Operator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2112920"/>
              </p:ext>
            </p:extLst>
          </p:nvPr>
        </p:nvGraphicFramePr>
        <p:xfrm>
          <a:off x="1236000" y="1825625"/>
          <a:ext cx="972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0">
                  <a:extLst>
                    <a:ext uri="{9D8B030D-6E8A-4147-A177-3AD203B41FA5}">
                      <a16:colId xmlns:a16="http://schemas.microsoft.com/office/drawing/2014/main" val="3517099399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1057219509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41423215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Condition</a:t>
                      </a:r>
                      <a:r>
                        <a:rPr lang="en-GB" sz="4800" baseline="0"/>
                        <a:t> 1</a:t>
                      </a:r>
                      <a:endParaRPr lang="en-GB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Condition</a:t>
                      </a:r>
                      <a:r>
                        <a:rPr lang="en-GB" sz="4800" baseline="0"/>
                        <a:t> 2</a:t>
                      </a:r>
                      <a:endParaRPr lang="en-GB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Overall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821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313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7824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816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4800" dirty="0">
                          <a:solidFill>
                            <a:srgbClr val="FF0000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>
                          <a:solidFill>
                            <a:srgbClr val="FF0000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b="1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21857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519C1BE-4CA1-802A-9D2D-A40F83BF5302}"/>
              </a:ext>
            </a:extLst>
          </p:cNvPr>
          <p:cNvSpPr txBox="1"/>
          <p:nvPr/>
        </p:nvSpPr>
        <p:spPr>
          <a:xfrm>
            <a:off x="1236000" y="6075362"/>
            <a:ext cx="9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All conditions must be True – All or nothing!</a:t>
            </a:r>
          </a:p>
        </p:txBody>
      </p:sp>
    </p:spTree>
    <p:extLst>
      <p:ext uri="{BB962C8B-B14F-4D97-AF65-F5344CB8AC3E}">
        <p14:creationId xmlns:p14="http://schemas.microsoft.com/office/powerpoint/2010/main" val="41592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AND – Logical Operator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0079063"/>
              </p:ext>
            </p:extLst>
          </p:nvPr>
        </p:nvGraphicFramePr>
        <p:xfrm>
          <a:off x="1236000" y="1825625"/>
          <a:ext cx="972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0">
                  <a:extLst>
                    <a:ext uri="{9D8B030D-6E8A-4147-A177-3AD203B41FA5}">
                      <a16:colId xmlns:a16="http://schemas.microsoft.com/office/drawing/2014/main" val="3517099399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1057219509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41423215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Condition</a:t>
                      </a:r>
                      <a:r>
                        <a:rPr lang="en-GB" sz="4800" baseline="0"/>
                        <a:t> 1</a:t>
                      </a:r>
                      <a:endParaRPr lang="en-GB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Condition</a:t>
                      </a:r>
                      <a:r>
                        <a:rPr lang="en-GB" sz="4800" baseline="0"/>
                        <a:t> 2</a:t>
                      </a:r>
                      <a:endParaRPr lang="en-GB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Overall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821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4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313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4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7824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4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816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4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218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7578545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AND – True or False?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990864" cy="466725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GB" sz="3600" noProof="0" dirty="0"/>
              <a:t>5 &lt; 2   AND   9 &gt; 3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GB" sz="3600" noProof="0" dirty="0"/>
              <a:t>3 &gt; 1   AND   8 &gt; 4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GB" sz="3600" noProof="0" dirty="0"/>
              <a:t>8 &gt; 7   AND   6 &lt; 2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GB" sz="3600" noProof="0" dirty="0"/>
              <a:t>89 &gt;= 98   AND   8 == 9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GB" sz="3600" noProof="0" dirty="0"/>
              <a:t>17 != 17   AND   17 == 17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GB" sz="3600" noProof="0" dirty="0"/>
              <a:t>"A" != "a"   AND   "B" &gt; "A"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829064" y="1825625"/>
            <a:ext cx="4524736" cy="466725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GB" sz="3600" noProof="0" dirty="0"/>
              <a:t>False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GB" sz="3600" b="1" noProof="0" dirty="0"/>
              <a:t>True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GB" sz="3600" noProof="0" dirty="0"/>
              <a:t>False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GB" sz="3600" noProof="0" dirty="0"/>
              <a:t>False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GB" sz="3600" noProof="0" dirty="0"/>
              <a:t>False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GB" sz="3600" b="1" noProof="0" dirty="0"/>
              <a:t>True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5F9DF1-8FD6-4D61-BE9E-723302362045}"/>
              </a:ext>
            </a:extLst>
          </p:cNvPr>
          <p:cNvSpPr txBox="1"/>
          <p:nvPr/>
        </p:nvSpPr>
        <p:spPr>
          <a:xfrm>
            <a:off x="1215482" y="1690688"/>
            <a:ext cx="708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FC772E-5FF6-48A5-8AFC-2A7D89AAAB52}"/>
              </a:ext>
            </a:extLst>
          </p:cNvPr>
          <p:cNvSpPr txBox="1"/>
          <p:nvPr/>
        </p:nvSpPr>
        <p:spPr>
          <a:xfrm>
            <a:off x="1597855" y="4080014"/>
            <a:ext cx="708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747279-7AE9-4EC7-B7B9-D380C680D740}"/>
              </a:ext>
            </a:extLst>
          </p:cNvPr>
          <p:cNvSpPr txBox="1"/>
          <p:nvPr/>
        </p:nvSpPr>
        <p:spPr>
          <a:xfrm>
            <a:off x="1606958" y="4789980"/>
            <a:ext cx="708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2BCAA0-1CBD-4EA6-A423-512E935AAC87}"/>
              </a:ext>
            </a:extLst>
          </p:cNvPr>
          <p:cNvSpPr txBox="1"/>
          <p:nvPr/>
        </p:nvSpPr>
        <p:spPr>
          <a:xfrm>
            <a:off x="3613981" y="3293568"/>
            <a:ext cx="708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B8ECEE-D177-47E3-BF62-37B9805AC188}"/>
              </a:ext>
            </a:extLst>
          </p:cNvPr>
          <p:cNvSpPr txBox="1"/>
          <p:nvPr/>
        </p:nvSpPr>
        <p:spPr>
          <a:xfrm>
            <a:off x="1235300" y="2533669"/>
            <a:ext cx="646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1AD506-07DD-4316-9457-1BDED82248DF}"/>
              </a:ext>
            </a:extLst>
          </p:cNvPr>
          <p:cNvSpPr txBox="1"/>
          <p:nvPr/>
        </p:nvSpPr>
        <p:spPr>
          <a:xfrm>
            <a:off x="1250275" y="3293568"/>
            <a:ext cx="646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D879FF-F496-47D7-A55F-12A399991132}"/>
              </a:ext>
            </a:extLst>
          </p:cNvPr>
          <p:cNvSpPr txBox="1"/>
          <p:nvPr/>
        </p:nvSpPr>
        <p:spPr>
          <a:xfrm>
            <a:off x="3619127" y="2533669"/>
            <a:ext cx="646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3D63B3-432C-4B97-B47D-BA97CFB54691}"/>
              </a:ext>
            </a:extLst>
          </p:cNvPr>
          <p:cNvSpPr txBox="1"/>
          <p:nvPr/>
        </p:nvSpPr>
        <p:spPr>
          <a:xfrm>
            <a:off x="1708171" y="5591052"/>
            <a:ext cx="646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13DBC5-2DBF-4872-82CE-1FA91D93D526}"/>
              </a:ext>
            </a:extLst>
          </p:cNvPr>
          <p:cNvSpPr txBox="1"/>
          <p:nvPr/>
        </p:nvSpPr>
        <p:spPr>
          <a:xfrm>
            <a:off x="4927156" y="5591052"/>
            <a:ext cx="646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617525-5C58-4AC5-9F8E-12333636B175}"/>
              </a:ext>
            </a:extLst>
          </p:cNvPr>
          <p:cNvSpPr txBox="1"/>
          <p:nvPr/>
        </p:nvSpPr>
        <p:spPr>
          <a:xfrm>
            <a:off x="8498185" y="3227014"/>
            <a:ext cx="335220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If first condition is</a:t>
            </a:r>
          </a:p>
          <a:p>
            <a:pPr algn="ctr"/>
            <a:r>
              <a:rPr lang="en-GB" sz="3200" b="1" dirty="0">
                <a:solidFill>
                  <a:srgbClr val="FF0000"/>
                </a:solidFill>
              </a:rPr>
              <a:t>False</a:t>
            </a:r>
          </a:p>
          <a:p>
            <a:pPr algn="ctr"/>
            <a:r>
              <a:rPr lang="en-GB" sz="3200" b="1" dirty="0">
                <a:solidFill>
                  <a:srgbClr val="7030A0"/>
                </a:solidFill>
              </a:rPr>
              <a:t>all others ignored!</a:t>
            </a:r>
          </a:p>
        </p:txBody>
      </p:sp>
    </p:spTree>
    <p:extLst>
      <p:ext uri="{BB962C8B-B14F-4D97-AF65-F5344CB8AC3E}">
        <p14:creationId xmlns:p14="http://schemas.microsoft.com/office/powerpoint/2010/main" val="94376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uiExpand="1" build="p"/>
      <p:bldP spid="3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AND – True or False?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002439" cy="435133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3600" noProof="0" dirty="0"/>
              <a:t>5 &lt; 2   AND   9 &gt; 3</a:t>
            </a:r>
          </a:p>
          <a:p>
            <a:pPr>
              <a:spcBef>
                <a:spcPts val="0"/>
              </a:spcBef>
            </a:pPr>
            <a:r>
              <a:rPr lang="en-GB" sz="3600" noProof="0" dirty="0"/>
              <a:t>3 &gt; 1   AND   8 &gt; 4</a:t>
            </a:r>
          </a:p>
          <a:p>
            <a:pPr>
              <a:spcBef>
                <a:spcPts val="0"/>
              </a:spcBef>
            </a:pPr>
            <a:r>
              <a:rPr lang="en-GB" sz="3600" noProof="0" dirty="0"/>
              <a:t>8 &gt; 7   AND   6 &lt; 2</a:t>
            </a:r>
          </a:p>
          <a:p>
            <a:pPr>
              <a:spcBef>
                <a:spcPts val="0"/>
              </a:spcBef>
            </a:pPr>
            <a:r>
              <a:rPr lang="en-GB" sz="3600" noProof="0" dirty="0"/>
              <a:t>89 &gt;= 98   AND   8 == 9</a:t>
            </a:r>
          </a:p>
          <a:p>
            <a:pPr>
              <a:spcBef>
                <a:spcPts val="0"/>
              </a:spcBef>
            </a:pPr>
            <a:r>
              <a:rPr lang="en-GB" sz="3600" noProof="0" dirty="0"/>
              <a:t>17 != 17   AND   17 == 17</a:t>
            </a:r>
          </a:p>
          <a:p>
            <a:pPr>
              <a:spcBef>
                <a:spcPts val="0"/>
              </a:spcBef>
            </a:pPr>
            <a:r>
              <a:rPr lang="en-GB" sz="3600" noProof="0" dirty="0"/>
              <a:t>"A" != "a"   AND   "B" &gt; "A"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6EEAD3-4C8D-4D7E-98C8-903329DFE9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40638" y="1825625"/>
            <a:ext cx="4513162" cy="435133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GB" sz="3600" noProof="0" dirty="0"/>
              <a:t> </a:t>
            </a:r>
          </a:p>
          <a:p>
            <a:pPr>
              <a:spcBef>
                <a:spcPts val="0"/>
              </a:spcBef>
            </a:pPr>
            <a:r>
              <a:rPr lang="en-GB" sz="3600" noProof="0" dirty="0"/>
              <a:t> </a:t>
            </a:r>
          </a:p>
          <a:p>
            <a:pPr>
              <a:spcBef>
                <a:spcPts val="0"/>
              </a:spcBef>
            </a:pPr>
            <a:r>
              <a:rPr lang="en-GB" sz="3600" noProof="0" dirty="0"/>
              <a:t> </a:t>
            </a:r>
          </a:p>
          <a:p>
            <a:pPr>
              <a:spcBef>
                <a:spcPts val="0"/>
              </a:spcBef>
            </a:pPr>
            <a:r>
              <a:rPr lang="en-GB" sz="3600" noProof="0" dirty="0"/>
              <a:t> </a:t>
            </a:r>
          </a:p>
          <a:p>
            <a:pPr>
              <a:spcBef>
                <a:spcPts val="0"/>
              </a:spcBef>
            </a:pPr>
            <a:r>
              <a:rPr lang="en-GB" sz="3600" noProof="0" dirty="0"/>
              <a:t> </a:t>
            </a:r>
          </a:p>
          <a:p>
            <a:pPr>
              <a:spcBef>
                <a:spcPts val="0"/>
              </a:spcBef>
            </a:pPr>
            <a:r>
              <a:rPr lang="en-GB" sz="3600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6055749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OR – Logical Operator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4445917"/>
              </p:ext>
            </p:extLst>
          </p:nvPr>
        </p:nvGraphicFramePr>
        <p:xfrm>
          <a:off x="1236000" y="1825625"/>
          <a:ext cx="972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0">
                  <a:extLst>
                    <a:ext uri="{9D8B030D-6E8A-4147-A177-3AD203B41FA5}">
                      <a16:colId xmlns:a16="http://schemas.microsoft.com/office/drawing/2014/main" val="3517099399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1057219509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41423215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Condition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Condition</a:t>
                      </a:r>
                      <a:r>
                        <a:rPr lang="en-GB" sz="4800" baseline="0"/>
                        <a:t> 2</a:t>
                      </a:r>
                      <a:endParaRPr lang="en-GB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Overall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821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313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>
                          <a:solidFill>
                            <a:srgbClr val="FF0000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b="1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7824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4800" dirty="0">
                          <a:solidFill>
                            <a:srgbClr val="FF0000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b="1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816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4800" dirty="0">
                          <a:solidFill>
                            <a:srgbClr val="FF0000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>
                          <a:solidFill>
                            <a:srgbClr val="FF0000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b="1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21857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6FE1F3E-E510-1642-B4E5-33B6EE4A1846}"/>
              </a:ext>
            </a:extLst>
          </p:cNvPr>
          <p:cNvSpPr txBox="1"/>
          <p:nvPr/>
        </p:nvSpPr>
        <p:spPr>
          <a:xfrm>
            <a:off x="1236001" y="6075362"/>
            <a:ext cx="9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One or more conditions must be True – Any will do!</a:t>
            </a:r>
          </a:p>
        </p:txBody>
      </p:sp>
    </p:spTree>
    <p:extLst>
      <p:ext uri="{BB962C8B-B14F-4D97-AF65-F5344CB8AC3E}">
        <p14:creationId xmlns:p14="http://schemas.microsoft.com/office/powerpoint/2010/main" val="921369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OR – Logical Operator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4086876"/>
              </p:ext>
            </p:extLst>
          </p:nvPr>
        </p:nvGraphicFramePr>
        <p:xfrm>
          <a:off x="1236000" y="1825625"/>
          <a:ext cx="972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0">
                  <a:extLst>
                    <a:ext uri="{9D8B030D-6E8A-4147-A177-3AD203B41FA5}">
                      <a16:colId xmlns:a16="http://schemas.microsoft.com/office/drawing/2014/main" val="3517099399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1057219509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41423215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Condition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Condition</a:t>
                      </a:r>
                      <a:r>
                        <a:rPr lang="en-GB" sz="4800" baseline="0"/>
                        <a:t> 2</a:t>
                      </a:r>
                      <a:endParaRPr lang="en-GB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Overall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821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4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313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4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7824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4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816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4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218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429417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OR – True or False?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990863" cy="448596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GB" sz="3600" noProof="0" dirty="0"/>
              <a:t>3 &gt; 1   OR   8 &gt; 4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GB" sz="3600" noProof="0" dirty="0"/>
              <a:t>7 &gt; 8   OR   2 &lt; 6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GB" sz="3600" noProof="0" dirty="0"/>
              <a:t>89 &gt;= 98   OR   8 == 9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GB" sz="3600" noProof="0" dirty="0"/>
              <a:t>17 != 17   OR   17 == 17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GB" sz="3600" noProof="0" dirty="0"/>
              <a:t>"A" == "a"   OR   "B" &gt; "A"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9A5ACB-E7BB-4CC1-8948-E7DDC4562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9062" y="1825625"/>
            <a:ext cx="4524738" cy="4485965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GB" sz="3600" b="1" noProof="0" dirty="0"/>
              <a:t>True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GB" sz="3600" b="1" noProof="0" dirty="0"/>
              <a:t>True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GB" sz="3600" noProof="0" dirty="0"/>
              <a:t>False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GB" sz="3600" b="1" noProof="0" dirty="0"/>
              <a:t>True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GB" sz="3600" b="1" noProof="0" dirty="0"/>
              <a:t>True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813EB-40D7-43FB-A6FD-178A8BAC9286}"/>
              </a:ext>
            </a:extLst>
          </p:cNvPr>
          <p:cNvSpPr txBox="1"/>
          <p:nvPr/>
        </p:nvSpPr>
        <p:spPr>
          <a:xfrm>
            <a:off x="8559609" y="2939960"/>
            <a:ext cx="335220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If first condition is</a:t>
            </a:r>
          </a:p>
          <a:p>
            <a:pPr algn="ctr"/>
            <a:r>
              <a:rPr lang="en-GB" sz="3200" b="1" dirty="0">
                <a:solidFill>
                  <a:srgbClr val="FF0000"/>
                </a:solidFill>
              </a:rPr>
              <a:t>True</a:t>
            </a:r>
          </a:p>
          <a:p>
            <a:pPr algn="ctr"/>
            <a:r>
              <a:rPr lang="en-GB" sz="3200" b="1" dirty="0">
                <a:solidFill>
                  <a:srgbClr val="7030A0"/>
                </a:solidFill>
              </a:rPr>
              <a:t>all others ignored!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F80D15-F6D3-4ACA-AF6A-04A905481E4B}"/>
              </a:ext>
            </a:extLst>
          </p:cNvPr>
          <p:cNvSpPr txBox="1"/>
          <p:nvPr/>
        </p:nvSpPr>
        <p:spPr>
          <a:xfrm>
            <a:off x="1274791" y="2431833"/>
            <a:ext cx="708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A6E668-ACD0-4119-AF0B-A8C98B5D2875}"/>
              </a:ext>
            </a:extLst>
          </p:cNvPr>
          <p:cNvSpPr txBox="1"/>
          <p:nvPr/>
        </p:nvSpPr>
        <p:spPr>
          <a:xfrm>
            <a:off x="3327940" y="2431833"/>
            <a:ext cx="646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C23F8C-D4F7-4138-B6AF-CD667CD7DAA1}"/>
              </a:ext>
            </a:extLst>
          </p:cNvPr>
          <p:cNvSpPr txBox="1"/>
          <p:nvPr/>
        </p:nvSpPr>
        <p:spPr>
          <a:xfrm>
            <a:off x="1266760" y="1625570"/>
            <a:ext cx="646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E91A82-FF6F-4388-9B7C-FD688D0C9964}"/>
              </a:ext>
            </a:extLst>
          </p:cNvPr>
          <p:cNvSpPr txBox="1"/>
          <p:nvPr/>
        </p:nvSpPr>
        <p:spPr>
          <a:xfrm>
            <a:off x="1589989" y="3223130"/>
            <a:ext cx="708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F46D7F-48EA-449B-BA7B-D28B8A03D3C7}"/>
              </a:ext>
            </a:extLst>
          </p:cNvPr>
          <p:cNvSpPr txBox="1"/>
          <p:nvPr/>
        </p:nvSpPr>
        <p:spPr>
          <a:xfrm>
            <a:off x="4129454" y="3223130"/>
            <a:ext cx="708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E309BD-6CE1-4225-A9F9-073B78778CCE}"/>
              </a:ext>
            </a:extLst>
          </p:cNvPr>
          <p:cNvSpPr txBox="1"/>
          <p:nvPr/>
        </p:nvSpPr>
        <p:spPr>
          <a:xfrm>
            <a:off x="1589988" y="3968580"/>
            <a:ext cx="708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3B2981-6B5E-4880-BE17-B07068B4EE03}"/>
              </a:ext>
            </a:extLst>
          </p:cNvPr>
          <p:cNvSpPr txBox="1"/>
          <p:nvPr/>
        </p:nvSpPr>
        <p:spPr>
          <a:xfrm>
            <a:off x="1742388" y="4737488"/>
            <a:ext cx="708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FD61A5-A84F-4068-B66E-6F3F30DEC2DF}"/>
              </a:ext>
            </a:extLst>
          </p:cNvPr>
          <p:cNvSpPr txBox="1"/>
          <p:nvPr/>
        </p:nvSpPr>
        <p:spPr>
          <a:xfrm>
            <a:off x="4289596" y="3968580"/>
            <a:ext cx="646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630BA0-2B82-4EA1-914B-132EF91E6F1B}"/>
              </a:ext>
            </a:extLst>
          </p:cNvPr>
          <p:cNvSpPr txBox="1"/>
          <p:nvPr/>
        </p:nvSpPr>
        <p:spPr>
          <a:xfrm>
            <a:off x="4701878" y="4737488"/>
            <a:ext cx="646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4210709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uiExpand="1" build="p"/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OR – True or False?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956139" cy="435133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3600" noProof="0" dirty="0"/>
              <a:t>3 &gt; 1   OR   8 &gt; 4</a:t>
            </a:r>
          </a:p>
          <a:p>
            <a:pPr>
              <a:spcBef>
                <a:spcPts val="0"/>
              </a:spcBef>
            </a:pPr>
            <a:r>
              <a:rPr lang="en-GB" sz="3600" noProof="0" dirty="0"/>
              <a:t>7 &gt; 8   OR   2 &lt; 6</a:t>
            </a:r>
          </a:p>
          <a:p>
            <a:pPr>
              <a:spcBef>
                <a:spcPts val="0"/>
              </a:spcBef>
            </a:pPr>
            <a:r>
              <a:rPr lang="en-GB" sz="3600" noProof="0" dirty="0"/>
              <a:t>89 &gt;= 98   OR   8 == 9</a:t>
            </a:r>
          </a:p>
          <a:p>
            <a:pPr>
              <a:spcBef>
                <a:spcPts val="0"/>
              </a:spcBef>
            </a:pPr>
            <a:r>
              <a:rPr lang="en-GB" sz="3600" noProof="0" dirty="0"/>
              <a:t>17 != 17   OR   17 == 17</a:t>
            </a:r>
          </a:p>
          <a:p>
            <a:pPr>
              <a:spcBef>
                <a:spcPts val="0"/>
              </a:spcBef>
            </a:pPr>
            <a:r>
              <a:rPr lang="en-GB" sz="3600" noProof="0" dirty="0"/>
              <a:t>"A" == "a"   OR   "B" &gt; "A"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ABEB41-F38B-407F-8A3F-ACE79A74B3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94339" y="1825625"/>
            <a:ext cx="4559461" cy="435133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GB" sz="3600" noProof="0" dirty="0"/>
              <a:t> </a:t>
            </a:r>
          </a:p>
          <a:p>
            <a:pPr>
              <a:spcBef>
                <a:spcPts val="0"/>
              </a:spcBef>
            </a:pPr>
            <a:r>
              <a:rPr lang="en-GB" sz="3600" noProof="0" dirty="0"/>
              <a:t> </a:t>
            </a:r>
          </a:p>
          <a:p>
            <a:pPr>
              <a:spcBef>
                <a:spcPts val="0"/>
              </a:spcBef>
            </a:pPr>
            <a:r>
              <a:rPr lang="en-GB" sz="3600" noProof="0" dirty="0"/>
              <a:t> </a:t>
            </a:r>
          </a:p>
          <a:p>
            <a:pPr>
              <a:spcBef>
                <a:spcPts val="0"/>
              </a:spcBef>
            </a:pPr>
            <a:r>
              <a:rPr lang="en-GB" sz="3600" noProof="0" dirty="0"/>
              <a:t> </a:t>
            </a:r>
          </a:p>
          <a:p>
            <a:pPr>
              <a:spcBef>
                <a:spcPts val="0"/>
              </a:spcBef>
            </a:pPr>
            <a:r>
              <a:rPr lang="en-GB" sz="3600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7629908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NOT – Logical Operator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9636071"/>
              </p:ext>
            </p:extLst>
          </p:nvPr>
        </p:nvGraphicFramePr>
        <p:xfrm>
          <a:off x="2856000" y="1999796"/>
          <a:ext cx="6480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0">
                  <a:extLst>
                    <a:ext uri="{9D8B030D-6E8A-4147-A177-3AD203B41FA5}">
                      <a16:colId xmlns:a16="http://schemas.microsoft.com/office/drawing/2014/main" val="3517099399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41423215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Overall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821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313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782480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05A53AC-3D36-AD61-092E-0DBB0EFFB9C4}"/>
              </a:ext>
            </a:extLst>
          </p:cNvPr>
          <p:cNvSpPr txBox="1"/>
          <p:nvPr/>
        </p:nvSpPr>
        <p:spPr>
          <a:xfrm>
            <a:off x="5138217" y="6075362"/>
            <a:ext cx="1915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Opposites!</a:t>
            </a:r>
          </a:p>
        </p:txBody>
      </p:sp>
    </p:spTree>
    <p:extLst>
      <p:ext uri="{BB962C8B-B14F-4D97-AF65-F5344CB8AC3E}">
        <p14:creationId xmlns:p14="http://schemas.microsoft.com/office/powerpoint/2010/main" val="1326733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NOT – Logical Operator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8920699"/>
              </p:ext>
            </p:extLst>
          </p:nvPr>
        </p:nvGraphicFramePr>
        <p:xfrm>
          <a:off x="2856000" y="1999796"/>
          <a:ext cx="6480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0">
                  <a:extLst>
                    <a:ext uri="{9D8B030D-6E8A-4147-A177-3AD203B41FA5}">
                      <a16:colId xmlns:a16="http://schemas.microsoft.com/office/drawing/2014/main" val="3517099399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41423215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/>
                        <a:t>Overall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821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4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313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4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4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7824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8865831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NOT – True or False?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990862" cy="4351338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  <a:spcAft>
                <a:spcPts val="6000"/>
              </a:spcAft>
            </a:pPr>
            <a:r>
              <a:rPr lang="en-GB" sz="3600" noProof="0" dirty="0"/>
              <a:t>NOT ( 5 &lt; 2 )</a:t>
            </a:r>
          </a:p>
          <a:p>
            <a:pPr>
              <a:spcBef>
                <a:spcPts val="1800"/>
              </a:spcBef>
              <a:spcAft>
                <a:spcPts val="6000"/>
              </a:spcAft>
            </a:pPr>
            <a:r>
              <a:rPr lang="en-GB" sz="3600" noProof="0" dirty="0"/>
              <a:t>NOT ( 3 &gt; 1   AND   4 &gt; 8 )</a:t>
            </a:r>
          </a:p>
          <a:p>
            <a:pPr>
              <a:spcBef>
                <a:spcPts val="1800"/>
              </a:spcBef>
            </a:pPr>
            <a:r>
              <a:rPr lang="en-GB" sz="3600" noProof="0" dirty="0"/>
              <a:t>NOT ( 8 &gt; 9   OR   6 &lt;= 6 )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829062" y="1825625"/>
            <a:ext cx="4524737" cy="4351338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  <a:spcAft>
                <a:spcPts val="6000"/>
              </a:spcAft>
            </a:pPr>
            <a:r>
              <a:rPr lang="en-GB" sz="3600" noProof="0" dirty="0"/>
              <a:t>True</a:t>
            </a:r>
          </a:p>
          <a:p>
            <a:pPr>
              <a:spcBef>
                <a:spcPts val="1800"/>
              </a:spcBef>
              <a:spcAft>
                <a:spcPts val="6000"/>
              </a:spcAft>
            </a:pPr>
            <a:r>
              <a:rPr lang="en-GB" sz="3600" noProof="0" dirty="0"/>
              <a:t>True</a:t>
            </a:r>
          </a:p>
          <a:p>
            <a:pPr>
              <a:spcBef>
                <a:spcPts val="1800"/>
              </a:spcBef>
            </a:pPr>
            <a:r>
              <a:rPr lang="en-GB" sz="3600" noProof="0" dirty="0"/>
              <a:t>False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D22062-0B91-4260-AC01-05674FE98FC9}"/>
              </a:ext>
            </a:extLst>
          </p:cNvPr>
          <p:cNvSpPr txBox="1"/>
          <p:nvPr/>
        </p:nvSpPr>
        <p:spPr>
          <a:xfrm>
            <a:off x="2408477" y="1674094"/>
            <a:ext cx="708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B3C6D7-F63A-4304-80E0-2D08C6DC0A43}"/>
              </a:ext>
            </a:extLst>
          </p:cNvPr>
          <p:cNvSpPr txBox="1"/>
          <p:nvPr/>
        </p:nvSpPr>
        <p:spPr>
          <a:xfrm>
            <a:off x="2408477" y="3200828"/>
            <a:ext cx="646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8ABE0D-ACF4-4ADD-A69A-1AADC393A9A2}"/>
              </a:ext>
            </a:extLst>
          </p:cNvPr>
          <p:cNvSpPr txBox="1"/>
          <p:nvPr/>
        </p:nvSpPr>
        <p:spPr>
          <a:xfrm>
            <a:off x="4776783" y="3200828"/>
            <a:ext cx="708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04FEE-8162-4B12-BB5F-2FB62F6547EC}"/>
              </a:ext>
            </a:extLst>
          </p:cNvPr>
          <p:cNvSpPr txBox="1"/>
          <p:nvPr/>
        </p:nvSpPr>
        <p:spPr>
          <a:xfrm>
            <a:off x="2377508" y="4712151"/>
            <a:ext cx="708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AF2082-981E-456B-9AB5-1B9DCB4A84F0}"/>
              </a:ext>
            </a:extLst>
          </p:cNvPr>
          <p:cNvSpPr txBox="1"/>
          <p:nvPr/>
        </p:nvSpPr>
        <p:spPr>
          <a:xfrm>
            <a:off x="4625215" y="4712151"/>
            <a:ext cx="646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DF7641-B86B-45FB-8921-5E0CB6570856}"/>
              </a:ext>
            </a:extLst>
          </p:cNvPr>
          <p:cNvSpPr txBox="1"/>
          <p:nvPr/>
        </p:nvSpPr>
        <p:spPr>
          <a:xfrm>
            <a:off x="2108199" y="3933234"/>
            <a:ext cx="3695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(                        False                         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AD2699-48D3-4D40-8088-2BB4EA262617}"/>
              </a:ext>
            </a:extLst>
          </p:cNvPr>
          <p:cNvSpPr txBox="1"/>
          <p:nvPr/>
        </p:nvSpPr>
        <p:spPr>
          <a:xfrm>
            <a:off x="2108199" y="5444557"/>
            <a:ext cx="3695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(                       True                           )</a:t>
            </a:r>
          </a:p>
        </p:txBody>
      </p:sp>
    </p:spTree>
    <p:extLst>
      <p:ext uri="{BB962C8B-B14F-4D97-AF65-F5344CB8AC3E}">
        <p14:creationId xmlns:p14="http://schemas.microsoft.com/office/powerpoint/2010/main" val="1281146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uiExpand="1" build="p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NOT – True or False?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990862" cy="4351338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  <a:spcAft>
                <a:spcPts val="6000"/>
              </a:spcAft>
            </a:pPr>
            <a:r>
              <a:rPr lang="en-GB" sz="3600" noProof="0" dirty="0"/>
              <a:t>NOT ( 5 &lt; 2 )</a:t>
            </a:r>
          </a:p>
          <a:p>
            <a:pPr>
              <a:spcBef>
                <a:spcPts val="1800"/>
              </a:spcBef>
              <a:spcAft>
                <a:spcPts val="6000"/>
              </a:spcAft>
            </a:pPr>
            <a:r>
              <a:rPr lang="en-GB" sz="3600" noProof="0" dirty="0"/>
              <a:t>NOT ( 3 &gt; 1   AND   4 &gt; 8 )</a:t>
            </a:r>
          </a:p>
          <a:p>
            <a:pPr>
              <a:spcBef>
                <a:spcPts val="1800"/>
              </a:spcBef>
            </a:pPr>
            <a:r>
              <a:rPr lang="en-GB" sz="3600" noProof="0" dirty="0"/>
              <a:t>NOT ( 8 &gt; 9   OR   6 &lt;= 6 )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829062" y="1825625"/>
            <a:ext cx="4524737" cy="4351338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  <a:spcAft>
                <a:spcPts val="6000"/>
              </a:spcAft>
            </a:pPr>
            <a:r>
              <a:rPr lang="en-GB" sz="3600" noProof="0" dirty="0"/>
              <a:t> </a:t>
            </a:r>
          </a:p>
          <a:p>
            <a:pPr>
              <a:spcBef>
                <a:spcPts val="1800"/>
              </a:spcBef>
              <a:spcAft>
                <a:spcPts val="6000"/>
              </a:spcAft>
            </a:pPr>
            <a:r>
              <a:rPr lang="en-GB" sz="3600" noProof="0" dirty="0"/>
              <a:t> </a:t>
            </a:r>
          </a:p>
          <a:p>
            <a:pPr>
              <a:spcBef>
                <a:spcPts val="1800"/>
              </a:spcBef>
            </a:pPr>
            <a:r>
              <a:rPr lang="en-GB" sz="3600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47640439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selection with complex conditions</a:t>
            </a:r>
          </a:p>
        </p:txBody>
      </p:sp>
    </p:spTree>
    <p:extLst>
      <p:ext uri="{BB962C8B-B14F-4D97-AF65-F5344CB8AC3E}">
        <p14:creationId xmlns:p14="http://schemas.microsoft.com/office/powerpoint/2010/main" val="80193231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Example 1 – Body Temperature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temp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float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"Body temp (</a:t>
            </a:r>
            <a:r>
              <a:rPr lang="en-GB" altLang="en-US" noProof="0" dirty="0" err="1">
                <a:solidFill>
                  <a:srgbClr val="183691"/>
                </a:solidFill>
                <a:latin typeface="Consolas" panose="020B0609020204030204" pitchFamily="49" charset="0"/>
              </a:rPr>
              <a:t>deg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 C):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temp &gt;=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36.1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and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temp &lt;=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37.2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"Normal body temperature"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else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"Not normal body temperature"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altLang="en-US" sz="4400" noProof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920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Example 1 – Body Temperature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temp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float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"Body temp (</a:t>
            </a:r>
            <a:r>
              <a:rPr lang="en-GB" altLang="en-US" noProof="0" dirty="0" err="1">
                <a:solidFill>
                  <a:srgbClr val="183691"/>
                </a:solidFill>
                <a:latin typeface="Consolas" panose="020B0609020204030204" pitchFamily="49" charset="0"/>
              </a:rPr>
              <a:t>deg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 C):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temp &gt;=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36.1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and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temp &lt;=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37.2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"Normal body temperature"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else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"Not normal body temperature"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altLang="en-US" sz="4400" noProof="0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133F08-4305-064E-6DC8-D7B071ED4ECF}"/>
              </a:ext>
            </a:extLst>
          </p:cNvPr>
          <p:cNvSpPr txBox="1"/>
          <p:nvPr/>
        </p:nvSpPr>
        <p:spPr>
          <a:xfrm>
            <a:off x="2440130" y="6050290"/>
            <a:ext cx="73117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How many extreme values (1 dp) are needed?</a:t>
            </a:r>
          </a:p>
        </p:txBody>
      </p:sp>
    </p:spTree>
    <p:extLst>
      <p:ext uri="{BB962C8B-B14F-4D97-AF65-F5344CB8AC3E}">
        <p14:creationId xmlns:p14="http://schemas.microsoft.com/office/powerpoint/2010/main" val="398413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Example 2 – Theme Park Ride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age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"Age (years):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3 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height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float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"Height (metres):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endParaRPr lang="en-GB" altLang="en-US" noProof="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age &gt;=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10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and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height &gt;=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1.2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    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"All criteria met"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endParaRPr lang="en-GB" altLang="en-US" sz="4400" noProof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171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Example 2 – Theme Park Ride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age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"Age (years):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2 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height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float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"Height (metres):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endParaRPr lang="en-GB" altLang="en-US" noProof="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age &gt;=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10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and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height &gt;=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1.2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    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"All criteria met"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endParaRPr lang="en-GB" altLang="en-US" sz="4400" noProof="0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133F08-4305-064E-6DC8-D7B071ED4ECF}"/>
              </a:ext>
            </a:extLst>
          </p:cNvPr>
          <p:cNvSpPr txBox="1"/>
          <p:nvPr/>
        </p:nvSpPr>
        <p:spPr>
          <a:xfrm>
            <a:off x="2440130" y="6050290"/>
            <a:ext cx="73117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Create test.  Implement.  Test.</a:t>
            </a:r>
          </a:p>
        </p:txBody>
      </p:sp>
    </p:spTree>
    <p:extLst>
      <p:ext uri="{BB962C8B-B14F-4D97-AF65-F5344CB8AC3E}">
        <p14:creationId xmlns:p14="http://schemas.microsoft.com/office/powerpoint/2010/main" val="2126794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A4358-87EB-EC22-AB68-A4F71DBE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Task – Jockeys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F97E9-EBFF-4ADB-C69E-074774012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GB" noProof="0" dirty="0">
                <a:latin typeface="Consolas" panose="020B0609020204030204" pitchFamily="49" charset="0"/>
              </a:rPr>
              <a:t>Professional jockeys are small and light.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sz="3200" noProof="0" dirty="0">
                <a:latin typeface="Consolas" panose="020B0609020204030204" pitchFamily="49" charset="0"/>
              </a:rPr>
              <a:t>Determine if someone is a potential jockey</a:t>
            </a:r>
            <a:r>
              <a:rPr lang="en-GB" noProof="0" dirty="0">
                <a:latin typeface="Consolas" panose="020B0609020204030204" pitchFamily="49" charset="0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sz="3200" noProof="0" dirty="0">
                <a:latin typeface="Consolas" panose="020B0609020204030204" pitchFamily="49" charset="0"/>
              </a:rPr>
              <a:t>They must have: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noProof="0" dirty="0">
                <a:latin typeface="Consolas" panose="020B0609020204030204" pitchFamily="49" charset="0"/>
              </a:rPr>
              <a:t>	Maximum height of 1 metre, i.e. </a:t>
            </a:r>
            <a:r>
              <a:rPr lang="en-GB" noProof="0" dirty="0">
                <a:solidFill>
                  <a:srgbClr val="0086B3"/>
                </a:solidFill>
                <a:latin typeface="Consolas" panose="020B0609020204030204" pitchFamily="49" charset="0"/>
              </a:rPr>
              <a:t>1.00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sz="3200" noProof="0" dirty="0">
                <a:latin typeface="Consolas" panose="020B0609020204030204" pitchFamily="49" charset="0"/>
              </a:rPr>
              <a:t>	Maximum weight </a:t>
            </a:r>
            <a:r>
              <a:rPr lang="en-GB" noProof="0" dirty="0">
                <a:latin typeface="Consolas" panose="020B0609020204030204" pitchFamily="49" charset="0"/>
              </a:rPr>
              <a:t>of</a:t>
            </a:r>
            <a:r>
              <a:rPr lang="en-GB" sz="3200" noProof="0" dirty="0">
                <a:latin typeface="Consolas" panose="020B0609020204030204" pitchFamily="49" charset="0"/>
              </a:rPr>
              <a:t> 15 kg, i.e. </a:t>
            </a:r>
            <a:r>
              <a:rPr lang="en-GB" noProof="0" dirty="0">
                <a:solidFill>
                  <a:srgbClr val="0086B3"/>
                </a:solidFill>
                <a:latin typeface="Consolas" panose="020B0609020204030204" pitchFamily="49" charset="0"/>
              </a:rPr>
              <a:t>15.0</a:t>
            </a:r>
            <a:endParaRPr lang="en-GB" sz="3200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noProof="0" dirty="0">
                <a:latin typeface="Consolas" panose="020B0609020204030204" pitchFamily="49" charset="0"/>
              </a:rPr>
              <a:t>Display some kind words if there are / are not suitable.</a:t>
            </a:r>
            <a:endParaRPr lang="en-GB" sz="3200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noProof="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273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A4358-87EB-EC22-AB68-A4F71DBE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Task – Jockeys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F97E9-EBFF-4ADB-C69E-074774012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GB" noProof="0" dirty="0">
                <a:latin typeface="Consolas" panose="020B0609020204030204" pitchFamily="49" charset="0"/>
              </a:rPr>
              <a:t>Professional jockeys are small and light.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sz="3200" noProof="0" dirty="0">
                <a:latin typeface="Consolas" panose="020B0609020204030204" pitchFamily="49" charset="0"/>
              </a:rPr>
              <a:t>Determine if someone is a potential jockey</a:t>
            </a:r>
            <a:r>
              <a:rPr lang="en-GB" noProof="0" dirty="0">
                <a:latin typeface="Consolas" panose="020B0609020204030204" pitchFamily="49" charset="0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sz="3200" noProof="0" dirty="0">
                <a:latin typeface="Consolas" panose="020B0609020204030204" pitchFamily="49" charset="0"/>
              </a:rPr>
              <a:t>They must have: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noProof="0" dirty="0">
                <a:latin typeface="Consolas" panose="020B0609020204030204" pitchFamily="49" charset="0"/>
              </a:rPr>
              <a:t>	Maximum height of 1 metre, i.e. </a:t>
            </a:r>
            <a:r>
              <a:rPr lang="en-GB" noProof="0" dirty="0">
                <a:solidFill>
                  <a:srgbClr val="0086B3"/>
                </a:solidFill>
                <a:latin typeface="Consolas" panose="020B0609020204030204" pitchFamily="49" charset="0"/>
              </a:rPr>
              <a:t>1.00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sz="3200" noProof="0" dirty="0">
                <a:latin typeface="Consolas" panose="020B0609020204030204" pitchFamily="49" charset="0"/>
              </a:rPr>
              <a:t>	Maximum weight </a:t>
            </a:r>
            <a:r>
              <a:rPr lang="en-GB" noProof="0" dirty="0">
                <a:latin typeface="Consolas" panose="020B0609020204030204" pitchFamily="49" charset="0"/>
              </a:rPr>
              <a:t>of</a:t>
            </a:r>
            <a:r>
              <a:rPr lang="en-GB" sz="3200" noProof="0" dirty="0">
                <a:latin typeface="Consolas" panose="020B0609020204030204" pitchFamily="49" charset="0"/>
              </a:rPr>
              <a:t> 15 kg, i.e. </a:t>
            </a:r>
            <a:r>
              <a:rPr lang="en-GB" noProof="0" dirty="0">
                <a:solidFill>
                  <a:srgbClr val="0086B3"/>
                </a:solidFill>
                <a:latin typeface="Consolas" panose="020B0609020204030204" pitchFamily="49" charset="0"/>
              </a:rPr>
              <a:t>15.0</a:t>
            </a:r>
            <a:endParaRPr lang="en-GB" sz="3200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noProof="0" dirty="0">
                <a:latin typeface="Consolas" panose="020B0609020204030204" pitchFamily="49" charset="0"/>
              </a:rPr>
              <a:t>Display some kind words if they're not suitable.</a:t>
            </a:r>
            <a:endParaRPr lang="en-GB" sz="3200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noProof="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311F0-127B-E4E0-4319-0C2575076B29}"/>
              </a:ext>
            </a:extLst>
          </p:cNvPr>
          <p:cNvSpPr txBox="1"/>
          <p:nvPr/>
        </p:nvSpPr>
        <p:spPr>
          <a:xfrm>
            <a:off x="1382751" y="6050290"/>
            <a:ext cx="91663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Design user interface.  Create tests.  Implement.  Test.</a:t>
            </a:r>
          </a:p>
        </p:txBody>
      </p:sp>
    </p:spTree>
    <p:extLst>
      <p:ext uri="{BB962C8B-B14F-4D97-AF65-F5344CB8AC3E}">
        <p14:creationId xmlns:p14="http://schemas.microsoft.com/office/powerpoint/2010/main" val="3993130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efficient selection</a:t>
            </a:r>
          </a:p>
        </p:txBody>
      </p:sp>
    </p:spTree>
    <p:extLst>
      <p:ext uri="{BB962C8B-B14F-4D97-AF65-F5344CB8AC3E}">
        <p14:creationId xmlns:p14="http://schemas.microsoft.com/office/powerpoint/2010/main" val="2199854439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Efficient coding (1)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body" idx="1"/>
          </p:nvPr>
        </p:nvSpPr>
        <p:spPr>
          <a:xfrm>
            <a:off x="1473905" y="1681163"/>
            <a:ext cx="3640976" cy="8239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200" noProof="0" dirty="0"/>
              <a:t>Inefficient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score &gt;=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60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"Pass"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score &lt;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60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"Fail"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altLang="en-US" sz="4800" noProof="0" dirty="0">
              <a:latin typeface="Arial" panose="020B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6808835" y="1681163"/>
            <a:ext cx="3638458" cy="823912"/>
          </a:xfrm>
        </p:spPr>
        <p:txBody>
          <a:bodyPr>
            <a:normAutofit/>
          </a:bodyPr>
          <a:lstStyle/>
          <a:p>
            <a:pPr algn="ctr"/>
            <a:r>
              <a:rPr lang="en-GB" sz="3200" noProof="0" dirty="0"/>
              <a:t>Efficient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549900" cy="368458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score &gt;=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60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"Pass"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else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"Fail"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altLang="en-US" sz="4800" noProof="0" dirty="0">
              <a:latin typeface="Arial" panose="020B0604020202020204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9452978" y="1858783"/>
            <a:ext cx="2810150" cy="3170099"/>
            <a:chOff x="8947150" y="1880868"/>
            <a:chExt cx="2810150" cy="317009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6564B18-0785-4C04-B4D6-D0B610CFB32A}"/>
                </a:ext>
              </a:extLst>
            </p:cNvPr>
            <p:cNvSpPr txBox="1"/>
            <p:nvPr/>
          </p:nvSpPr>
          <p:spPr>
            <a:xfrm>
              <a:off x="9943983" y="1880868"/>
              <a:ext cx="1813317" cy="31700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000" b="1" dirty="0">
                  <a:solidFill>
                    <a:srgbClr val="FF0000"/>
                  </a:solidFill>
                </a:rPr>
                <a:t>One</a:t>
              </a:r>
            </a:p>
            <a:p>
              <a:r>
                <a:rPr lang="en-GB" sz="4000" b="1" dirty="0">
                  <a:solidFill>
                    <a:srgbClr val="FF0000"/>
                  </a:solidFill>
                </a:rPr>
                <a:t>test</a:t>
              </a:r>
            </a:p>
            <a:p>
              <a:endParaRPr lang="en-GB" sz="4000" b="1" dirty="0">
                <a:solidFill>
                  <a:srgbClr val="FF0000"/>
                </a:solidFill>
              </a:endParaRPr>
            </a:p>
            <a:p>
              <a:r>
                <a:rPr lang="en-GB" sz="4000" b="1" dirty="0">
                  <a:solidFill>
                    <a:srgbClr val="FF0000"/>
                  </a:solidFill>
                </a:rPr>
                <a:t>Faster,</a:t>
              </a:r>
            </a:p>
            <a:p>
              <a:r>
                <a:rPr lang="en-GB" sz="4000" b="1" dirty="0">
                  <a:solidFill>
                    <a:srgbClr val="FF0000"/>
                  </a:solidFill>
                </a:rPr>
                <a:t>Simpler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BB07252-8A61-49F6-8BDB-F40E125FD0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47150" y="2304219"/>
              <a:ext cx="1035303" cy="316218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09CC64A-6EC1-5049-D29D-5FCD005D13FF}"/>
              </a:ext>
            </a:extLst>
          </p:cNvPr>
          <p:cNvGrpSpPr/>
          <p:nvPr/>
        </p:nvGrpSpPr>
        <p:grpSpPr>
          <a:xfrm>
            <a:off x="4379772" y="1858783"/>
            <a:ext cx="2254439" cy="1217765"/>
            <a:chOff x="3939988" y="1858783"/>
            <a:chExt cx="2254439" cy="1217765"/>
          </a:xfrm>
        </p:grpSpPr>
        <p:sp>
          <p:nvSpPr>
            <p:cNvPr id="32" name="Callout: Bent Line with No Border 31">
              <a:extLst>
                <a:ext uri="{FF2B5EF4-FFF2-40B4-BE49-F238E27FC236}">
                  <a16:creationId xmlns:a16="http://schemas.microsoft.com/office/drawing/2014/main" id="{CC593151-D36A-CFF7-C3D4-66D4F7B43CB8}"/>
                </a:ext>
              </a:extLst>
            </p:cNvPr>
            <p:cNvSpPr/>
            <p:nvPr/>
          </p:nvSpPr>
          <p:spPr>
            <a:xfrm>
              <a:off x="4849721" y="1858783"/>
              <a:ext cx="1344706" cy="1217765"/>
            </a:xfrm>
            <a:prstGeom prst="callout2">
              <a:avLst>
                <a:gd name="adj1" fmla="val 102120"/>
                <a:gd name="adj2" fmla="val 49667"/>
                <a:gd name="adj3" fmla="val 161393"/>
                <a:gd name="adj4" fmla="val 33711"/>
                <a:gd name="adj5" fmla="val 224608"/>
                <a:gd name="adj6" fmla="val -84388"/>
              </a:avLst>
            </a:prstGeom>
            <a:noFill/>
            <a:ln w="38100">
              <a:solidFill>
                <a:srgbClr val="548235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4000" b="1" dirty="0">
                  <a:solidFill>
                    <a:srgbClr val="FF0000"/>
                  </a:solidFill>
                </a:rPr>
                <a:t>Two</a:t>
              </a:r>
            </a:p>
            <a:p>
              <a:r>
                <a:rPr lang="en-GB" sz="4000" b="1" dirty="0">
                  <a:solidFill>
                    <a:srgbClr val="FF0000"/>
                  </a:solidFill>
                </a:rPr>
                <a:t>tests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88832E9-ABF6-2AEB-9A49-FAF813C70A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9988" y="2259106"/>
              <a:ext cx="824023" cy="366669"/>
            </a:xfrm>
            <a:prstGeom prst="straightConnector1">
              <a:avLst/>
            </a:prstGeom>
            <a:ln w="38100">
              <a:solidFill>
                <a:srgbClr val="54823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3834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uiExpand="1" build="p"/>
      <p:bldP spid="6" grpId="0" build="p"/>
      <p:bldP spid="7" grpId="0" uiExpand="1" build="p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Efficient coding (1)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score &gt;=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60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"Pass"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score &lt;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60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"Fail"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altLang="en-US" sz="4800" noProof="0" dirty="0">
              <a:latin typeface="Arial" panose="020B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endParaRPr lang="en-GB" sz="3200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549900" cy="368458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score &gt;=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60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"Pass"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else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"Fail"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altLang="en-US" sz="4800" noProof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031242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Selection – if, else if, else (3 or more options)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noProof="0" dirty="0"/>
              <a:t>Generic</a:t>
            </a:r>
            <a:endParaRPr lang="en-GB" noProof="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noProof="0" dirty="0"/>
              <a:t>IF &lt;condition 1&gt; is true THEN</a:t>
            </a:r>
          </a:p>
          <a:p>
            <a:pPr marL="0" indent="0">
              <a:buNone/>
            </a:pPr>
            <a:r>
              <a:rPr lang="en-GB" noProof="0" dirty="0"/>
              <a:t> 	do something</a:t>
            </a:r>
          </a:p>
          <a:p>
            <a:pPr marL="0" indent="0">
              <a:buNone/>
            </a:pPr>
            <a:r>
              <a:rPr lang="en-GB" noProof="0" dirty="0"/>
              <a:t>ELSE IF &lt;condition 2&gt; is true THEN</a:t>
            </a:r>
          </a:p>
          <a:p>
            <a:pPr marL="0" indent="0">
              <a:buNone/>
            </a:pPr>
            <a:r>
              <a:rPr lang="en-GB" noProof="0" dirty="0"/>
              <a:t> 	do something else</a:t>
            </a:r>
          </a:p>
          <a:p>
            <a:pPr marL="0" indent="0">
              <a:buNone/>
            </a:pPr>
            <a:r>
              <a:rPr lang="en-GB" noProof="0" dirty="0"/>
              <a:t>ELSE</a:t>
            </a:r>
          </a:p>
          <a:p>
            <a:pPr marL="0" indent="0">
              <a:buNone/>
            </a:pPr>
            <a:r>
              <a:rPr lang="en-GB" noProof="0" dirty="0"/>
              <a:t> 	do this instead</a:t>
            </a:r>
          </a:p>
          <a:p>
            <a:pPr marL="0" indent="0">
              <a:buNone/>
            </a:pPr>
            <a:r>
              <a:rPr lang="en-GB" noProof="0" dirty="0"/>
              <a:t>END IF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GB" sz="3200" noProof="0" dirty="0"/>
              <a:t>Python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549900" cy="368458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noProof="0" dirty="0"/>
              <a:t>if 5 &lt; 2:</a:t>
            </a:r>
          </a:p>
          <a:p>
            <a:pPr marL="0" indent="361950">
              <a:buNone/>
            </a:pPr>
            <a:r>
              <a:rPr lang="en-GB" noProof="0" dirty="0"/>
              <a:t>print("True")</a:t>
            </a:r>
          </a:p>
          <a:p>
            <a:pPr marL="0" indent="0">
              <a:buNone/>
            </a:pPr>
            <a:r>
              <a:rPr lang="en-GB" noProof="0" dirty="0" err="1"/>
              <a:t>elif</a:t>
            </a:r>
            <a:r>
              <a:rPr lang="en-GB" noProof="0" dirty="0"/>
              <a:t> 5 == 2:</a:t>
            </a:r>
          </a:p>
          <a:p>
            <a:pPr marL="0" indent="361950">
              <a:buNone/>
            </a:pPr>
            <a:r>
              <a:rPr lang="en-GB" noProof="0" dirty="0"/>
              <a:t>print("Another option")</a:t>
            </a:r>
          </a:p>
          <a:p>
            <a:pPr marL="0" indent="0">
              <a:buNone/>
            </a:pPr>
            <a:r>
              <a:rPr lang="en-GB" noProof="0" dirty="0"/>
              <a:t>else:</a:t>
            </a:r>
          </a:p>
          <a:p>
            <a:pPr marL="0" indent="361950">
              <a:buNone/>
            </a:pPr>
            <a:r>
              <a:rPr lang="en-GB" noProof="0" dirty="0"/>
              <a:t>print("All False")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55E1D6-610B-4207-8925-2E4C64A3FECE}"/>
              </a:ext>
            </a:extLst>
          </p:cNvPr>
          <p:cNvSpPr txBox="1"/>
          <p:nvPr/>
        </p:nvSpPr>
        <p:spPr>
          <a:xfrm>
            <a:off x="4171868" y="5973177"/>
            <a:ext cx="3851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/>
              <a:t>Else can be omitted</a:t>
            </a:r>
          </a:p>
        </p:txBody>
      </p:sp>
    </p:spTree>
    <p:extLst>
      <p:ext uri="{BB962C8B-B14F-4D97-AF65-F5344CB8AC3E}">
        <p14:creationId xmlns:p14="http://schemas.microsoft.com/office/powerpoint/2010/main" val="903829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uiExpand="1" build="p"/>
      <p:bldP spid="6" grpId="0" build="p"/>
      <p:bldP spid="7" grpId="0" uiExpand="1" build="p"/>
      <p:bldP spid="8" grpId="0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Selection – if, else if, else (3 or more options)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noProof="0" dirty="0"/>
              <a:t>Generic</a:t>
            </a:r>
            <a:endParaRPr lang="en-GB" noProof="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noProof="0" dirty="0"/>
              <a:t>IF &lt;condition 1&gt; is true THEN</a:t>
            </a:r>
          </a:p>
          <a:p>
            <a:pPr marL="0" indent="0">
              <a:buNone/>
            </a:pPr>
            <a:r>
              <a:rPr lang="en-GB" noProof="0" dirty="0"/>
              <a:t> 	do something</a:t>
            </a:r>
          </a:p>
          <a:p>
            <a:pPr marL="0" indent="0">
              <a:buNone/>
            </a:pPr>
            <a:endParaRPr lang="en-GB" noProof="0" dirty="0"/>
          </a:p>
          <a:p>
            <a:pPr marL="0" indent="0">
              <a:buNone/>
            </a:pPr>
            <a:endParaRPr lang="en-GB" noProof="0" dirty="0"/>
          </a:p>
          <a:p>
            <a:pPr marL="0" indent="0">
              <a:buNone/>
            </a:pPr>
            <a:r>
              <a:rPr lang="en-GB" noProof="0" dirty="0"/>
              <a:t>ELSE</a:t>
            </a:r>
          </a:p>
          <a:p>
            <a:pPr marL="0" indent="0">
              <a:buNone/>
            </a:pPr>
            <a:r>
              <a:rPr lang="en-GB" noProof="0" dirty="0"/>
              <a:t> 	do this instead</a:t>
            </a:r>
          </a:p>
          <a:p>
            <a:pPr marL="0" indent="0">
              <a:buNone/>
            </a:pPr>
            <a:r>
              <a:rPr lang="en-GB" noProof="0" dirty="0"/>
              <a:t>END IF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GB" sz="3200" noProof="0" dirty="0"/>
              <a:t>Python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549900" cy="368458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noProof="0" dirty="0"/>
              <a:t>if 5 &lt; 2:</a:t>
            </a:r>
          </a:p>
          <a:p>
            <a:pPr marL="0" indent="361950">
              <a:buNone/>
            </a:pPr>
            <a:r>
              <a:rPr lang="en-GB" noProof="0" dirty="0"/>
              <a:t>print("True")</a:t>
            </a:r>
          </a:p>
          <a:p>
            <a:pPr marL="0" indent="0">
              <a:buNone/>
            </a:pPr>
            <a:endParaRPr lang="en-GB" noProof="0" dirty="0"/>
          </a:p>
          <a:p>
            <a:pPr marL="0" indent="0">
              <a:buNone/>
            </a:pPr>
            <a:endParaRPr lang="en-GB" noProof="0" dirty="0"/>
          </a:p>
          <a:p>
            <a:pPr marL="0" indent="0">
              <a:buNone/>
            </a:pPr>
            <a:r>
              <a:rPr lang="en-GB" noProof="0" dirty="0"/>
              <a:t>else:</a:t>
            </a:r>
          </a:p>
          <a:p>
            <a:pPr marL="0" indent="361950">
              <a:buNone/>
            </a:pPr>
            <a:r>
              <a:rPr lang="en-GB" noProof="0" dirty="0"/>
              <a:t>print("All False")</a:t>
            </a:r>
          </a:p>
        </p:txBody>
      </p:sp>
    </p:spTree>
    <p:extLst>
      <p:ext uri="{BB962C8B-B14F-4D97-AF65-F5344CB8AC3E}">
        <p14:creationId xmlns:p14="http://schemas.microsoft.com/office/powerpoint/2010/main" val="350616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uiExpand="1" build="p"/>
      <p:bldP spid="6" grpId="0" build="p"/>
      <p:bldP spid="7" grpId="0" uiExpand="1" build="p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Efficient coding (2)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body" idx="1"/>
          </p:nvPr>
        </p:nvSpPr>
        <p:spPr>
          <a:xfrm>
            <a:off x="878286" y="1681163"/>
            <a:ext cx="5119289" cy="823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noProof="0" dirty="0"/>
              <a:t>Inefficient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9900" y="2505075"/>
            <a:ext cx="5527675" cy="39878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</a:t>
            </a:r>
            <a:r>
              <a:rPr lang="en-GB" sz="2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 if</a:t>
            </a:r>
            <a:r>
              <a:rPr lang="en-GB" sz="2400" noProof="0" dirty="0">
                <a:latin typeface="Consolas" panose="020B0609020204030204" pitchFamily="49" charset="0"/>
              </a:rPr>
              <a:t> age &gt;= </a:t>
            </a:r>
            <a:r>
              <a:rPr lang="en-GB" sz="2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67</a:t>
            </a:r>
            <a:r>
              <a:rPr lang="en-GB" sz="24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r>
              <a:rPr lang="en-GB" sz="2400" noProof="0" dirty="0">
                <a:latin typeface="Consolas" panose="020B0609020204030204" pitchFamily="49" charset="0"/>
              </a:rPr>
              <a:t>   </a:t>
            </a:r>
            <a:r>
              <a:rPr lang="en-GB" sz="2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sz="2400" noProof="0" dirty="0">
                <a:latin typeface="Consolas" panose="020B0609020204030204" pitchFamily="49" charset="0"/>
              </a:rPr>
              <a:t>(</a:t>
            </a:r>
            <a:r>
              <a:rPr lang="en-GB" sz="24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"Retired"</a:t>
            </a:r>
            <a:r>
              <a:rPr lang="en-GB" sz="2400" noProof="0" dirty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r>
              <a:rPr lang="en-GB" sz="2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 if</a:t>
            </a:r>
            <a:r>
              <a:rPr lang="en-GB" sz="2400" noProof="0" dirty="0">
                <a:latin typeface="Consolas" panose="020B0609020204030204" pitchFamily="49" charset="0"/>
              </a:rPr>
              <a:t> age &gt;= </a:t>
            </a:r>
            <a:r>
              <a:rPr lang="en-GB" sz="2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18</a:t>
            </a:r>
            <a:r>
              <a:rPr lang="en-GB" sz="2400" noProof="0" dirty="0">
                <a:latin typeface="Consolas" panose="020B0609020204030204" pitchFamily="49" charset="0"/>
              </a:rPr>
              <a:t> </a:t>
            </a:r>
            <a:r>
              <a:rPr lang="en-GB" sz="2400" b="1" noProof="0" dirty="0">
                <a:solidFill>
                  <a:srgbClr val="A71D5D"/>
                </a:solidFill>
                <a:latin typeface="Consolas" panose="020B0609020204030204" pitchFamily="49" charset="0"/>
              </a:rPr>
              <a:t>and </a:t>
            </a:r>
            <a:r>
              <a:rPr lang="en-GB" sz="2400" noProof="0" dirty="0">
                <a:latin typeface="Consolas" panose="020B0609020204030204" pitchFamily="49" charset="0"/>
              </a:rPr>
              <a:t>age &lt; </a:t>
            </a:r>
            <a:r>
              <a:rPr lang="en-GB" sz="2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67</a:t>
            </a:r>
            <a:r>
              <a:rPr lang="en-GB" sz="24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  <a:r>
              <a:rPr lang="en-GB" sz="2400" noProof="0" dirty="0">
                <a:latin typeface="Consolas" panose="020B0609020204030204" pitchFamily="49" charset="0"/>
              </a:rPr>
              <a:t>   </a:t>
            </a:r>
            <a:r>
              <a:rPr lang="en-GB" sz="2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sz="2400" noProof="0" dirty="0">
                <a:latin typeface="Consolas" panose="020B0609020204030204" pitchFamily="49" charset="0"/>
              </a:rPr>
              <a:t>(</a:t>
            </a:r>
            <a:r>
              <a:rPr lang="en-GB" sz="24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"Working aged"</a:t>
            </a:r>
            <a:r>
              <a:rPr lang="en-GB" sz="2400" noProof="0" dirty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  <a:r>
              <a:rPr lang="en-GB" sz="2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 if</a:t>
            </a:r>
            <a:r>
              <a:rPr lang="en-GB" sz="2400" noProof="0" dirty="0">
                <a:latin typeface="Consolas" panose="020B0609020204030204" pitchFamily="49" charset="0"/>
              </a:rPr>
              <a:t> age &lt; </a:t>
            </a:r>
            <a:r>
              <a:rPr lang="en-GB" sz="2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18</a:t>
            </a:r>
            <a:r>
              <a:rPr lang="en-GB" sz="24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8</a:t>
            </a:r>
            <a:r>
              <a:rPr lang="en-GB" sz="2400" noProof="0" dirty="0">
                <a:latin typeface="Consolas" panose="020B0609020204030204" pitchFamily="49" charset="0"/>
              </a:rPr>
              <a:t>   </a:t>
            </a:r>
            <a:r>
              <a:rPr lang="en-GB" sz="2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sz="2400" noProof="0" dirty="0">
                <a:latin typeface="Consolas" panose="020B0609020204030204" pitchFamily="49" charset="0"/>
              </a:rPr>
              <a:t>(</a:t>
            </a:r>
            <a:r>
              <a:rPr lang="en-GB" sz="2400" noProof="0" dirty="0">
                <a:solidFill>
                  <a:srgbClr val="2F528F"/>
                </a:solidFill>
                <a:latin typeface="Consolas" panose="020B0609020204030204" pitchFamily="49" charset="0"/>
              </a:rPr>
              <a:t>"School aged"</a:t>
            </a:r>
            <a:r>
              <a:rPr lang="en-GB" sz="2400" noProof="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6579220" y="1681163"/>
            <a:ext cx="4776168" cy="823912"/>
          </a:xfrm>
        </p:spPr>
        <p:txBody>
          <a:bodyPr>
            <a:normAutofit/>
          </a:bodyPr>
          <a:lstStyle/>
          <a:p>
            <a:r>
              <a:rPr lang="en-GB" sz="3200" noProof="0" dirty="0"/>
              <a:t>Efficient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549900" cy="368458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</a:t>
            </a:r>
            <a:r>
              <a:rPr lang="en-GB" sz="2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 if</a:t>
            </a:r>
            <a:r>
              <a:rPr lang="en-GB" sz="2400" noProof="0" dirty="0">
                <a:latin typeface="Consolas" panose="020B0609020204030204" pitchFamily="49" charset="0"/>
              </a:rPr>
              <a:t> age &gt;= </a:t>
            </a:r>
            <a:r>
              <a:rPr lang="en-GB" sz="2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67</a:t>
            </a:r>
            <a:r>
              <a:rPr lang="en-GB" sz="24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r>
              <a:rPr lang="en-GB" sz="2400" noProof="0" dirty="0">
                <a:latin typeface="Consolas" panose="020B0609020204030204" pitchFamily="49" charset="0"/>
              </a:rPr>
              <a:t>   </a:t>
            </a:r>
            <a:r>
              <a:rPr lang="en-GB" sz="2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sz="2400" noProof="0" dirty="0">
                <a:latin typeface="Consolas" panose="020B0609020204030204" pitchFamily="49" charset="0"/>
              </a:rPr>
              <a:t>(</a:t>
            </a:r>
            <a:r>
              <a:rPr lang="en-GB" sz="2400" noProof="0" dirty="0">
                <a:solidFill>
                  <a:srgbClr val="2F528F"/>
                </a:solidFill>
                <a:latin typeface="Consolas" panose="020B0609020204030204" pitchFamily="49" charset="0"/>
              </a:rPr>
              <a:t>"</a:t>
            </a:r>
            <a:r>
              <a:rPr lang="en-GB" sz="24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 Retired</a:t>
            </a:r>
            <a:r>
              <a:rPr lang="en-GB" sz="2400" noProof="0" dirty="0">
                <a:solidFill>
                  <a:srgbClr val="2F528F"/>
                </a:solidFill>
                <a:latin typeface="Consolas" panose="020B0609020204030204" pitchFamily="49" charset="0"/>
              </a:rPr>
              <a:t>"</a:t>
            </a:r>
            <a:r>
              <a:rPr lang="en-GB" sz="2400" noProof="0" dirty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r>
              <a:rPr lang="en-GB" sz="2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 </a:t>
            </a:r>
            <a:r>
              <a:rPr lang="en-GB" sz="2400" noProof="0" dirty="0" err="1">
                <a:solidFill>
                  <a:srgbClr val="A71D5D"/>
                </a:solidFill>
                <a:latin typeface="Consolas" panose="020B0609020204030204" pitchFamily="49" charset="0"/>
              </a:rPr>
              <a:t>elif</a:t>
            </a:r>
            <a:r>
              <a:rPr lang="en-GB" sz="2400" noProof="0" dirty="0">
                <a:latin typeface="Consolas" panose="020B0609020204030204" pitchFamily="49" charset="0"/>
              </a:rPr>
              <a:t> age &gt;= </a:t>
            </a:r>
            <a:r>
              <a:rPr lang="en-GB" sz="2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18</a:t>
            </a:r>
            <a:r>
              <a:rPr lang="en-GB" sz="24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  <a:r>
              <a:rPr lang="en-GB" sz="2400" noProof="0" dirty="0">
                <a:latin typeface="Consolas" panose="020B0609020204030204" pitchFamily="49" charset="0"/>
              </a:rPr>
              <a:t>   </a:t>
            </a:r>
            <a:r>
              <a:rPr lang="en-GB" sz="2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sz="2400" noProof="0" dirty="0">
                <a:latin typeface="Consolas" panose="020B0609020204030204" pitchFamily="49" charset="0"/>
              </a:rPr>
              <a:t>(</a:t>
            </a:r>
            <a:r>
              <a:rPr lang="en-GB" sz="2400" noProof="0" dirty="0">
                <a:solidFill>
                  <a:srgbClr val="2F528F"/>
                </a:solidFill>
                <a:latin typeface="Consolas" panose="020B0609020204030204" pitchFamily="49" charset="0"/>
              </a:rPr>
              <a:t>"</a:t>
            </a:r>
            <a:r>
              <a:rPr lang="en-GB" sz="24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Working aged</a:t>
            </a:r>
            <a:r>
              <a:rPr lang="en-GB" sz="2400" noProof="0" dirty="0">
                <a:solidFill>
                  <a:srgbClr val="2F528F"/>
                </a:solidFill>
                <a:latin typeface="Consolas" panose="020B0609020204030204" pitchFamily="49" charset="0"/>
              </a:rPr>
              <a:t>"</a:t>
            </a:r>
            <a:r>
              <a:rPr lang="en-GB" sz="2400" noProof="0" dirty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  <a:r>
              <a:rPr lang="en-GB" sz="2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 else</a:t>
            </a:r>
            <a:r>
              <a:rPr lang="en-GB" sz="24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8</a:t>
            </a:r>
            <a:r>
              <a:rPr lang="en-GB" sz="2400" noProof="0" dirty="0">
                <a:latin typeface="Consolas" panose="020B0609020204030204" pitchFamily="49" charset="0"/>
              </a:rPr>
              <a:t>   </a:t>
            </a:r>
            <a:r>
              <a:rPr lang="en-GB" sz="2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sz="2400" noProof="0" dirty="0">
                <a:latin typeface="Consolas" panose="020B0609020204030204" pitchFamily="49" charset="0"/>
              </a:rPr>
              <a:t>(</a:t>
            </a:r>
            <a:r>
              <a:rPr lang="en-GB" sz="2400" noProof="0" dirty="0">
                <a:solidFill>
                  <a:srgbClr val="2F528F"/>
                </a:solidFill>
                <a:latin typeface="Consolas" panose="020B0609020204030204" pitchFamily="49" charset="0"/>
              </a:rPr>
              <a:t>"School aged"</a:t>
            </a:r>
            <a:r>
              <a:rPr lang="en-GB" sz="2400" noProof="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07C35B-5055-41D7-B87D-D4687B309006}"/>
              </a:ext>
            </a:extLst>
          </p:cNvPr>
          <p:cNvSpPr txBox="1"/>
          <p:nvPr/>
        </p:nvSpPr>
        <p:spPr>
          <a:xfrm>
            <a:off x="878286" y="6273225"/>
            <a:ext cx="47109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3 or 4 conditions tested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564B18-0785-4C04-B4D6-D0B610CFB32A}"/>
              </a:ext>
            </a:extLst>
          </p:cNvPr>
          <p:cNvSpPr txBox="1"/>
          <p:nvPr/>
        </p:nvSpPr>
        <p:spPr>
          <a:xfrm>
            <a:off x="6374471" y="6273225"/>
            <a:ext cx="47786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1 or 2 conditions tested</a:t>
            </a:r>
          </a:p>
        </p:txBody>
      </p:sp>
      <p:sp>
        <p:nvSpPr>
          <p:cNvPr id="10" name="Callout: Bent Line with No Border 9">
            <a:extLst>
              <a:ext uri="{FF2B5EF4-FFF2-40B4-BE49-F238E27FC236}">
                <a16:creationId xmlns:a16="http://schemas.microsoft.com/office/drawing/2014/main" id="{D22A54A3-1092-45EA-A1F5-BB22FABF230E}"/>
              </a:ext>
            </a:extLst>
          </p:cNvPr>
          <p:cNvSpPr/>
          <p:nvPr/>
        </p:nvSpPr>
        <p:spPr>
          <a:xfrm>
            <a:off x="6833672" y="1027906"/>
            <a:ext cx="3860243" cy="862642"/>
          </a:xfrm>
          <a:prstGeom prst="callout2">
            <a:avLst>
              <a:gd name="adj1" fmla="val 50533"/>
              <a:gd name="adj2" fmla="val 100113"/>
              <a:gd name="adj3" fmla="val 354949"/>
              <a:gd name="adj4" fmla="val 100313"/>
              <a:gd name="adj5" fmla="val 354141"/>
              <a:gd name="adj6" fmla="val 67282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Else if (multiple allowed)</a:t>
            </a:r>
          </a:p>
        </p:txBody>
      </p:sp>
    </p:spTree>
    <p:extLst>
      <p:ext uri="{BB962C8B-B14F-4D97-AF65-F5344CB8AC3E}">
        <p14:creationId xmlns:p14="http://schemas.microsoft.com/office/powerpoint/2010/main" val="513727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5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5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25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5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5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75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uiExpand="1" build="p"/>
      <p:bldP spid="6" grpId="0" build="p"/>
      <p:bldP spid="7" grpId="0" uiExpand="1" build="p"/>
      <p:bldP spid="3" grpId="0"/>
      <p:bldP spid="19" grpId="0"/>
      <p:bldP spid="10" grpId="0" animBg="1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Efficient coding (2)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9900" y="2505075"/>
            <a:ext cx="5527675" cy="39878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</a:t>
            </a:r>
            <a:r>
              <a:rPr lang="en-GB" sz="2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 if</a:t>
            </a:r>
            <a:r>
              <a:rPr lang="en-GB" sz="2400" noProof="0" dirty="0">
                <a:latin typeface="Consolas" panose="020B0609020204030204" pitchFamily="49" charset="0"/>
              </a:rPr>
              <a:t> age &gt;= </a:t>
            </a:r>
            <a:r>
              <a:rPr lang="en-GB" sz="2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67</a:t>
            </a:r>
            <a:r>
              <a:rPr lang="en-GB" sz="24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r>
              <a:rPr lang="en-GB" sz="2400" noProof="0" dirty="0">
                <a:latin typeface="Consolas" panose="020B0609020204030204" pitchFamily="49" charset="0"/>
              </a:rPr>
              <a:t>   </a:t>
            </a:r>
            <a:r>
              <a:rPr lang="en-GB" sz="2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sz="2400" noProof="0" dirty="0">
                <a:latin typeface="Consolas" panose="020B0609020204030204" pitchFamily="49" charset="0"/>
              </a:rPr>
              <a:t>(</a:t>
            </a:r>
            <a:r>
              <a:rPr lang="en-GB" sz="24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"Retired"</a:t>
            </a:r>
            <a:r>
              <a:rPr lang="en-GB" sz="2400" noProof="0" dirty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r>
              <a:rPr lang="en-GB" sz="2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 if</a:t>
            </a:r>
            <a:r>
              <a:rPr lang="en-GB" sz="2400" noProof="0" dirty="0">
                <a:latin typeface="Consolas" panose="020B0609020204030204" pitchFamily="49" charset="0"/>
              </a:rPr>
              <a:t> age &gt;= </a:t>
            </a:r>
            <a:r>
              <a:rPr lang="en-GB" sz="2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18</a:t>
            </a:r>
            <a:r>
              <a:rPr lang="en-GB" sz="2400" noProof="0" dirty="0">
                <a:latin typeface="Consolas" panose="020B0609020204030204" pitchFamily="49" charset="0"/>
              </a:rPr>
              <a:t> </a:t>
            </a:r>
            <a:r>
              <a:rPr lang="en-GB" sz="2400" b="1" noProof="0" dirty="0">
                <a:solidFill>
                  <a:srgbClr val="A71D5D"/>
                </a:solidFill>
                <a:latin typeface="Consolas" panose="020B0609020204030204" pitchFamily="49" charset="0"/>
              </a:rPr>
              <a:t>and </a:t>
            </a:r>
            <a:r>
              <a:rPr lang="en-GB" sz="2400" noProof="0" dirty="0">
                <a:latin typeface="Consolas" panose="020B0609020204030204" pitchFamily="49" charset="0"/>
              </a:rPr>
              <a:t>age &lt; </a:t>
            </a:r>
            <a:r>
              <a:rPr lang="en-GB" sz="2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67</a:t>
            </a:r>
            <a:r>
              <a:rPr lang="en-GB" sz="24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  <a:r>
              <a:rPr lang="en-GB" sz="2400" noProof="0" dirty="0">
                <a:latin typeface="Consolas" panose="020B0609020204030204" pitchFamily="49" charset="0"/>
              </a:rPr>
              <a:t>   </a:t>
            </a:r>
            <a:r>
              <a:rPr lang="en-GB" sz="2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sz="2400" noProof="0" dirty="0">
                <a:latin typeface="Consolas" panose="020B0609020204030204" pitchFamily="49" charset="0"/>
              </a:rPr>
              <a:t>(</a:t>
            </a:r>
            <a:r>
              <a:rPr lang="en-GB" sz="24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"Working aged"</a:t>
            </a:r>
            <a:r>
              <a:rPr lang="en-GB" sz="2400" noProof="0" dirty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  <a:r>
              <a:rPr lang="en-GB" sz="2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 if</a:t>
            </a:r>
            <a:r>
              <a:rPr lang="en-GB" sz="2400" noProof="0" dirty="0">
                <a:latin typeface="Consolas" panose="020B0609020204030204" pitchFamily="49" charset="0"/>
              </a:rPr>
              <a:t> age &lt; </a:t>
            </a:r>
            <a:r>
              <a:rPr lang="en-GB" sz="2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18</a:t>
            </a:r>
            <a:r>
              <a:rPr lang="en-GB" sz="24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8</a:t>
            </a:r>
            <a:r>
              <a:rPr lang="en-GB" sz="2400" noProof="0" dirty="0">
                <a:latin typeface="Consolas" panose="020B0609020204030204" pitchFamily="49" charset="0"/>
              </a:rPr>
              <a:t>   </a:t>
            </a:r>
            <a:r>
              <a:rPr lang="en-GB" sz="2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sz="2400" noProof="0" dirty="0">
                <a:latin typeface="Consolas" panose="020B0609020204030204" pitchFamily="49" charset="0"/>
              </a:rPr>
              <a:t>(</a:t>
            </a:r>
            <a:r>
              <a:rPr lang="en-GB" sz="2400" noProof="0" dirty="0">
                <a:solidFill>
                  <a:srgbClr val="2F528F"/>
                </a:solidFill>
                <a:latin typeface="Consolas" panose="020B0609020204030204" pitchFamily="49" charset="0"/>
              </a:rPr>
              <a:t>"School aged"</a:t>
            </a:r>
            <a:r>
              <a:rPr lang="en-GB" sz="2400" noProof="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endParaRPr lang="en-GB" sz="3200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549900" cy="368458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</a:t>
            </a:r>
            <a:r>
              <a:rPr lang="en-GB" sz="2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 if</a:t>
            </a:r>
            <a:r>
              <a:rPr lang="en-GB" sz="2400" noProof="0" dirty="0">
                <a:latin typeface="Consolas" panose="020B0609020204030204" pitchFamily="49" charset="0"/>
              </a:rPr>
              <a:t> age &gt;= </a:t>
            </a:r>
            <a:r>
              <a:rPr lang="en-GB" sz="2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67</a:t>
            </a:r>
            <a:r>
              <a:rPr lang="en-GB" sz="24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r>
              <a:rPr lang="en-GB" sz="2400" noProof="0" dirty="0">
                <a:latin typeface="Consolas" panose="020B0609020204030204" pitchFamily="49" charset="0"/>
              </a:rPr>
              <a:t>   </a:t>
            </a:r>
            <a:r>
              <a:rPr lang="en-GB" sz="2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sz="2400" noProof="0" dirty="0">
                <a:latin typeface="Consolas" panose="020B0609020204030204" pitchFamily="49" charset="0"/>
              </a:rPr>
              <a:t>(</a:t>
            </a:r>
            <a:r>
              <a:rPr lang="en-GB" sz="2400" noProof="0" dirty="0">
                <a:solidFill>
                  <a:srgbClr val="2F528F"/>
                </a:solidFill>
                <a:latin typeface="Consolas" panose="020B0609020204030204" pitchFamily="49" charset="0"/>
              </a:rPr>
              <a:t>"</a:t>
            </a:r>
            <a:r>
              <a:rPr lang="en-GB" sz="24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 Retired</a:t>
            </a:r>
            <a:r>
              <a:rPr lang="en-GB" sz="2400" noProof="0" dirty="0">
                <a:solidFill>
                  <a:srgbClr val="2F528F"/>
                </a:solidFill>
                <a:latin typeface="Consolas" panose="020B0609020204030204" pitchFamily="49" charset="0"/>
              </a:rPr>
              <a:t>"</a:t>
            </a:r>
            <a:r>
              <a:rPr lang="en-GB" sz="2400" noProof="0" dirty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r>
              <a:rPr lang="en-GB" sz="2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 </a:t>
            </a:r>
            <a:r>
              <a:rPr lang="en-GB" sz="2400" noProof="0" dirty="0" err="1">
                <a:solidFill>
                  <a:srgbClr val="A71D5D"/>
                </a:solidFill>
                <a:latin typeface="Consolas" panose="020B0609020204030204" pitchFamily="49" charset="0"/>
              </a:rPr>
              <a:t>elif</a:t>
            </a:r>
            <a:r>
              <a:rPr lang="en-GB" sz="2400" noProof="0" dirty="0">
                <a:latin typeface="Consolas" panose="020B0609020204030204" pitchFamily="49" charset="0"/>
              </a:rPr>
              <a:t> age &gt;= </a:t>
            </a:r>
            <a:r>
              <a:rPr lang="en-GB" sz="2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18</a:t>
            </a:r>
            <a:r>
              <a:rPr lang="en-GB" sz="24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  <a:r>
              <a:rPr lang="en-GB" sz="2400" noProof="0" dirty="0">
                <a:latin typeface="Consolas" panose="020B0609020204030204" pitchFamily="49" charset="0"/>
              </a:rPr>
              <a:t>   </a:t>
            </a:r>
            <a:r>
              <a:rPr lang="en-GB" sz="2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sz="2400" noProof="0" dirty="0">
                <a:latin typeface="Consolas" panose="020B0609020204030204" pitchFamily="49" charset="0"/>
              </a:rPr>
              <a:t>(</a:t>
            </a:r>
            <a:r>
              <a:rPr lang="en-GB" sz="2400" noProof="0" dirty="0">
                <a:solidFill>
                  <a:srgbClr val="2F528F"/>
                </a:solidFill>
                <a:latin typeface="Consolas" panose="020B0609020204030204" pitchFamily="49" charset="0"/>
              </a:rPr>
              <a:t>"</a:t>
            </a:r>
            <a:r>
              <a:rPr lang="en-GB" sz="24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Working aged</a:t>
            </a:r>
            <a:r>
              <a:rPr lang="en-GB" sz="2400" noProof="0" dirty="0">
                <a:solidFill>
                  <a:srgbClr val="2F528F"/>
                </a:solidFill>
                <a:latin typeface="Consolas" panose="020B0609020204030204" pitchFamily="49" charset="0"/>
              </a:rPr>
              <a:t>"</a:t>
            </a:r>
            <a:r>
              <a:rPr lang="en-GB" sz="2400" noProof="0" dirty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  <a:r>
              <a:rPr lang="en-GB" sz="2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 else</a:t>
            </a:r>
            <a:r>
              <a:rPr lang="en-GB" sz="2400" noProof="0" dirty="0"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8</a:t>
            </a:r>
            <a:r>
              <a:rPr lang="en-GB" sz="2400" noProof="0" dirty="0">
                <a:latin typeface="Consolas" panose="020B0609020204030204" pitchFamily="49" charset="0"/>
              </a:rPr>
              <a:t>   </a:t>
            </a:r>
            <a:r>
              <a:rPr lang="en-GB" sz="2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sz="2400" noProof="0" dirty="0">
                <a:latin typeface="Consolas" panose="020B0609020204030204" pitchFamily="49" charset="0"/>
              </a:rPr>
              <a:t>(</a:t>
            </a:r>
            <a:r>
              <a:rPr lang="en-GB" sz="2400" noProof="0" dirty="0">
                <a:solidFill>
                  <a:srgbClr val="2F528F"/>
                </a:solidFill>
                <a:latin typeface="Consolas" panose="020B0609020204030204" pitchFamily="49" charset="0"/>
              </a:rPr>
              <a:t>"School aged"</a:t>
            </a:r>
            <a:r>
              <a:rPr lang="en-GB" sz="2400" noProof="0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66922938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A4358-87EB-EC22-AB68-A4F71DBE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Task – </a:t>
            </a:r>
            <a:r>
              <a:rPr lang="en-GB" noProof="0" dirty="0" err="1"/>
              <a:t>SQA</a:t>
            </a:r>
            <a:r>
              <a:rPr lang="en-GB" noProof="0" dirty="0"/>
              <a:t> Grades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F97E9-EBFF-4ADB-C69E-074774012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GB" noProof="0" dirty="0" err="1">
                <a:latin typeface="Consolas" panose="020B0609020204030204" pitchFamily="49" charset="0"/>
              </a:rPr>
              <a:t>SQA</a:t>
            </a:r>
            <a:r>
              <a:rPr lang="en-GB" noProof="0" dirty="0">
                <a:latin typeface="Consolas" panose="020B0609020204030204" pitchFamily="49" charset="0"/>
              </a:rPr>
              <a:t> exam results are graded: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GB" sz="3200" noProof="0" dirty="0">
                <a:latin typeface="Consolas" panose="020B0609020204030204" pitchFamily="49" charset="0"/>
              </a:rPr>
              <a:t>		A	70-100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GB" sz="3200" noProof="0" dirty="0">
                <a:latin typeface="Consolas" panose="020B0609020204030204" pitchFamily="49" charset="0"/>
              </a:rPr>
              <a:t>		B	60-69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GB" sz="3200" noProof="0" dirty="0">
                <a:latin typeface="Consolas" panose="020B0609020204030204" pitchFamily="49" charset="0"/>
              </a:rPr>
              <a:t>		C	50-59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GB" sz="3200" noProof="0" dirty="0">
                <a:latin typeface="Consolas" panose="020B0609020204030204" pitchFamily="49" charset="0"/>
              </a:rPr>
              <a:t>		D	40-49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GB" sz="3200" noProof="0" dirty="0">
                <a:latin typeface="Consolas" panose="020B0609020204030204" pitchFamily="49" charset="0"/>
              </a:rPr>
              <a:t>No Award	0-39</a:t>
            </a:r>
          </a:p>
          <a:p>
            <a:pPr marL="0" indent="0">
              <a:spcAft>
                <a:spcPts val="600"/>
              </a:spcAft>
              <a:buNone/>
            </a:pPr>
            <a:endParaRPr lang="en-GB" sz="3600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noProof="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311F0-127B-E4E0-4319-0C2575076B29}"/>
              </a:ext>
            </a:extLst>
          </p:cNvPr>
          <p:cNvSpPr txBox="1"/>
          <p:nvPr/>
        </p:nvSpPr>
        <p:spPr>
          <a:xfrm>
            <a:off x="4227884" y="6050290"/>
            <a:ext cx="3736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Create a test table first!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E9D5E0-11AD-4270-AA96-4D1F1ADD7DBC}"/>
              </a:ext>
            </a:extLst>
          </p:cNvPr>
          <p:cNvSpPr txBox="1"/>
          <p:nvPr/>
        </p:nvSpPr>
        <p:spPr>
          <a:xfrm>
            <a:off x="8013206" y="3500438"/>
            <a:ext cx="350089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Assumptions</a:t>
            </a:r>
          </a:p>
          <a:p>
            <a:r>
              <a:rPr lang="en-GB" sz="3200" dirty="0"/>
              <a:t>All values integers</a:t>
            </a:r>
          </a:p>
          <a:p>
            <a:r>
              <a:rPr lang="en-GB" sz="3200" dirty="0"/>
              <a:t>Values will be 0-100</a:t>
            </a:r>
          </a:p>
        </p:txBody>
      </p:sp>
    </p:spTree>
    <p:extLst>
      <p:ext uri="{BB962C8B-B14F-4D97-AF65-F5344CB8AC3E}">
        <p14:creationId xmlns:p14="http://schemas.microsoft.com/office/powerpoint/2010/main" val="3459406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4" grpId="0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the predefined function: random</a:t>
            </a:r>
          </a:p>
          <a:p>
            <a:pPr marL="0" indent="0">
              <a:buNone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814279176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704FCCE-8A7B-DC96-E499-DBD456930BE0}"/>
              </a:ext>
            </a:extLst>
          </p:cNvPr>
          <p:cNvGrpSpPr/>
          <p:nvPr/>
        </p:nvGrpSpPr>
        <p:grpSpPr>
          <a:xfrm>
            <a:off x="2854189" y="1215282"/>
            <a:ext cx="7383002" cy="1549414"/>
            <a:chOff x="3165983" y="1331802"/>
            <a:chExt cx="7383002" cy="154941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522BBD0-8E6E-801B-D2DF-F8E6D66B0993}"/>
                </a:ext>
              </a:extLst>
            </p:cNvPr>
            <p:cNvGrpSpPr/>
            <p:nvPr/>
          </p:nvGrpSpPr>
          <p:grpSpPr>
            <a:xfrm>
              <a:off x="3165983" y="1546532"/>
              <a:ext cx="7383002" cy="1334684"/>
              <a:chOff x="3165983" y="1436004"/>
              <a:chExt cx="7383002" cy="1334684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D9A5E4F-3F96-C50A-EC32-813AC8C7CE32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3200" b="1" dirty="0"/>
                  <a:t>Pick random</a:t>
                </a:r>
              </a:p>
            </p:txBody>
          </p: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76D1FB07-19B1-BB26-0C2E-E0445D0C6DCE}"/>
                  </a:ext>
                </a:extLst>
              </p:cNvPr>
              <p:cNvCxnSpPr/>
              <p:nvPr/>
            </p:nvCxnSpPr>
            <p:spPr>
              <a:xfrm>
                <a:off x="41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C8CE975-ADA7-0AC6-9576-412045EB603C}"/>
                  </a:ext>
                </a:extLst>
              </p:cNvPr>
              <p:cNvSpPr/>
              <p:nvPr/>
            </p:nvSpPr>
            <p:spPr>
              <a:xfrm>
                <a:off x="3165983" y="1436004"/>
                <a:ext cx="9829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Input</a:t>
                </a:r>
                <a:endParaRPr lang="en-GB" sz="2800" dirty="0"/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75EA3583-9971-2ED8-8392-A56DD5B9F0F2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708F9-5D4B-A2AD-074F-DD3E0CCA6C20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Output</a:t>
                </a:r>
                <a:endParaRPr lang="en-GB" sz="2800" dirty="0"/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8FFA72-8727-069D-874A-E99DFB165435}"/>
                </a:ext>
              </a:extLst>
            </p:cNvPr>
            <p:cNvSpPr/>
            <p:nvPr/>
          </p:nvSpPr>
          <p:spPr>
            <a:xfrm>
              <a:off x="5895189" y="1331802"/>
              <a:ext cx="148309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b="1" dirty="0"/>
                <a:t>Function</a:t>
              </a:r>
              <a:endParaRPr lang="en-GB" sz="280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Random (Overview)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2358069" y="1871088"/>
            <a:ext cx="144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1, 6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AAB01A-94DD-4613-BD71-1720FEFEFA8E}"/>
              </a:ext>
            </a:extLst>
          </p:cNvPr>
          <p:cNvSpPr txBox="1"/>
          <p:nvPr/>
        </p:nvSpPr>
        <p:spPr>
          <a:xfrm>
            <a:off x="9022404" y="1840311"/>
            <a:ext cx="6527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4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963B08-C212-4718-A8AA-458D4C59CEBA}"/>
              </a:ext>
            </a:extLst>
          </p:cNvPr>
          <p:cNvSpPr txBox="1"/>
          <p:nvPr/>
        </p:nvSpPr>
        <p:spPr>
          <a:xfrm>
            <a:off x="1729597" y="3196651"/>
            <a:ext cx="20684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440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0, 100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3798069" y="3016251"/>
            <a:ext cx="5040000" cy="1080000"/>
            <a:chOff x="3001371" y="3310688"/>
            <a:chExt cx="5040000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100" b="1" dirty="0" err="1"/>
                <a:t>randint</a:t>
              </a:r>
              <a:r>
                <a:rPr lang="en-GB" sz="3100" b="1" dirty="0"/>
                <a:t>()</a:t>
              </a:r>
              <a:endParaRPr lang="en-GB" sz="31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0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22E98D8-233B-4694-9FD3-C4CE473126AC}"/>
              </a:ext>
            </a:extLst>
          </p:cNvPr>
          <p:cNvSpPr txBox="1"/>
          <p:nvPr/>
        </p:nvSpPr>
        <p:spPr>
          <a:xfrm>
            <a:off x="9022403" y="3165874"/>
            <a:ext cx="82578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72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64AFC2-DEB9-408B-9B33-41239EB6D45A}"/>
              </a:ext>
            </a:extLst>
          </p:cNvPr>
          <p:cNvSpPr txBox="1"/>
          <p:nvPr/>
        </p:nvSpPr>
        <p:spPr>
          <a:xfrm flipH="1">
            <a:off x="2941134" y="5800878"/>
            <a:ext cx="2379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Input: Integers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3AE61-A5F0-44B0-85E4-A2C24F50939C}"/>
              </a:ext>
            </a:extLst>
          </p:cNvPr>
          <p:cNvSpPr txBox="1"/>
          <p:nvPr/>
        </p:nvSpPr>
        <p:spPr>
          <a:xfrm flipH="1">
            <a:off x="7480305" y="5800878"/>
            <a:ext cx="2487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Output: Integer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62FA72-982A-4F65-9E7D-7766415D11B2}"/>
              </a:ext>
            </a:extLst>
          </p:cNvPr>
          <p:cNvSpPr txBox="1"/>
          <p:nvPr/>
        </p:nvSpPr>
        <p:spPr>
          <a:xfrm>
            <a:off x="1418897" y="4528327"/>
            <a:ext cx="23791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85, 115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0AF868A-EC2C-4833-8665-41DA3AFD3801}"/>
              </a:ext>
            </a:extLst>
          </p:cNvPr>
          <p:cNvGrpSpPr/>
          <p:nvPr/>
        </p:nvGrpSpPr>
        <p:grpSpPr>
          <a:xfrm>
            <a:off x="3798069" y="4347927"/>
            <a:ext cx="5040000" cy="1080000"/>
            <a:chOff x="3001371" y="3310688"/>
            <a:chExt cx="5040000" cy="1080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3C80639-28B8-48B7-B319-7E9F4B1A7855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100" b="1" dirty="0" err="1"/>
                <a:t>randint</a:t>
              </a:r>
              <a:r>
                <a:rPr lang="en-GB" sz="3100" b="1" dirty="0"/>
                <a:t>()</a:t>
              </a:r>
              <a:endParaRPr lang="en-GB" sz="3100" dirty="0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2A0F776-3EAA-4B18-AAE1-E43DCE91361A}"/>
                </a:ext>
              </a:extLst>
            </p:cNvPr>
            <p:cNvCxnSpPr/>
            <p:nvPr/>
          </p:nvCxnSpPr>
          <p:spPr>
            <a:xfrm>
              <a:off x="30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B4E2B3E-1353-4848-B5D4-E479F0020917}"/>
                </a:ext>
              </a:extLst>
            </p:cNvPr>
            <p:cNvCxnSpPr/>
            <p:nvPr/>
          </p:nvCxnSpPr>
          <p:spPr>
            <a:xfrm>
              <a:off x="66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0E2AB23E-530F-4D8C-9B78-3898090BE265}"/>
              </a:ext>
            </a:extLst>
          </p:cNvPr>
          <p:cNvSpPr txBox="1"/>
          <p:nvPr/>
        </p:nvSpPr>
        <p:spPr>
          <a:xfrm>
            <a:off x="9022403" y="4497550"/>
            <a:ext cx="82578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87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900A7BE-6369-4056-905A-7466FA1105E3}"/>
              </a:ext>
            </a:extLst>
          </p:cNvPr>
          <p:cNvGrpSpPr/>
          <p:nvPr/>
        </p:nvGrpSpPr>
        <p:grpSpPr>
          <a:xfrm>
            <a:off x="2293618" y="2503811"/>
            <a:ext cx="1600589" cy="403591"/>
            <a:chOff x="2293618" y="2434361"/>
            <a:chExt cx="1600589" cy="40359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0030311-795A-405A-8834-DD62D151D3A4}"/>
                </a:ext>
              </a:extLst>
            </p:cNvPr>
            <p:cNvSpPr txBox="1"/>
            <p:nvPr/>
          </p:nvSpPr>
          <p:spPr>
            <a:xfrm>
              <a:off x="2293618" y="2437842"/>
              <a:ext cx="66236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FF0000"/>
                  </a:solidFill>
                </a:rPr>
                <a:t>Min,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CA846B9-1F22-4447-BE10-82927557E73B}"/>
                </a:ext>
              </a:extLst>
            </p:cNvPr>
            <p:cNvSpPr txBox="1"/>
            <p:nvPr/>
          </p:nvSpPr>
          <p:spPr>
            <a:xfrm>
              <a:off x="3258264" y="2434361"/>
              <a:ext cx="6359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FF0000"/>
                  </a:solidFill>
                </a:rPr>
                <a:t>Max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9081893-E3C2-40F1-9682-75DB305A6AAF}"/>
              </a:ext>
            </a:extLst>
          </p:cNvPr>
          <p:cNvGrpSpPr/>
          <p:nvPr/>
        </p:nvGrpSpPr>
        <p:grpSpPr>
          <a:xfrm>
            <a:off x="1729597" y="3815306"/>
            <a:ext cx="1832089" cy="403591"/>
            <a:chOff x="2201018" y="2434361"/>
            <a:chExt cx="1832089" cy="403591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F4A68D3-4F84-4D59-BDAC-F627386EE8B3}"/>
                </a:ext>
              </a:extLst>
            </p:cNvPr>
            <p:cNvSpPr txBox="1"/>
            <p:nvPr/>
          </p:nvSpPr>
          <p:spPr>
            <a:xfrm>
              <a:off x="2201018" y="2437842"/>
              <a:ext cx="66236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FF0000"/>
                  </a:solidFill>
                </a:rPr>
                <a:t>Min,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5CE5968-4B74-40B1-8D86-AF171FD066B5}"/>
                </a:ext>
              </a:extLst>
            </p:cNvPr>
            <p:cNvSpPr txBox="1"/>
            <p:nvPr/>
          </p:nvSpPr>
          <p:spPr>
            <a:xfrm>
              <a:off x="3397164" y="2434361"/>
              <a:ext cx="6359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FF0000"/>
                  </a:solidFill>
                </a:rPr>
                <a:t>Max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81E82D1-CDB7-4C43-A24B-D76E0EFE51C5}"/>
              </a:ext>
            </a:extLst>
          </p:cNvPr>
          <p:cNvGrpSpPr/>
          <p:nvPr/>
        </p:nvGrpSpPr>
        <p:grpSpPr>
          <a:xfrm>
            <a:off x="1550525" y="5154183"/>
            <a:ext cx="2017279" cy="403591"/>
            <a:chOff x="2201018" y="2434361"/>
            <a:chExt cx="2017279" cy="403591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CB025A3-0F87-429F-9305-456125313D57}"/>
                </a:ext>
              </a:extLst>
            </p:cNvPr>
            <p:cNvSpPr txBox="1"/>
            <p:nvPr/>
          </p:nvSpPr>
          <p:spPr>
            <a:xfrm>
              <a:off x="2201018" y="2437842"/>
              <a:ext cx="66236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FF0000"/>
                  </a:solidFill>
                </a:rPr>
                <a:t>Min,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602FF9E-4F50-4152-8D5F-10C30A658988}"/>
                </a:ext>
              </a:extLst>
            </p:cNvPr>
            <p:cNvSpPr txBox="1"/>
            <p:nvPr/>
          </p:nvSpPr>
          <p:spPr>
            <a:xfrm>
              <a:off x="3582354" y="2434361"/>
              <a:ext cx="6359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FF0000"/>
                  </a:solidFill>
                </a:rPr>
                <a:t>Max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2298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9" grpId="0"/>
      <p:bldP spid="27" grpId="0"/>
      <p:bldP spid="40" grpId="0"/>
      <p:bldP spid="41" grpId="0"/>
      <p:bldP spid="26" grpId="0"/>
      <p:bldP spid="42" grpId="0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704FCCE-8A7B-DC96-E499-DBD456930BE0}"/>
              </a:ext>
            </a:extLst>
          </p:cNvPr>
          <p:cNvGrpSpPr/>
          <p:nvPr/>
        </p:nvGrpSpPr>
        <p:grpSpPr>
          <a:xfrm>
            <a:off x="2854189" y="1215282"/>
            <a:ext cx="7383002" cy="1549414"/>
            <a:chOff x="3165983" y="1331802"/>
            <a:chExt cx="7383002" cy="154941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522BBD0-8E6E-801B-D2DF-F8E6D66B0993}"/>
                </a:ext>
              </a:extLst>
            </p:cNvPr>
            <p:cNvGrpSpPr/>
            <p:nvPr/>
          </p:nvGrpSpPr>
          <p:grpSpPr>
            <a:xfrm>
              <a:off x="3165983" y="1546532"/>
              <a:ext cx="7383002" cy="1334684"/>
              <a:chOff x="3165983" y="1436004"/>
              <a:chExt cx="7383002" cy="1334684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D9A5E4F-3F96-C50A-EC32-813AC8C7CE32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3200" b="1" dirty="0"/>
                  <a:t>Pick random</a:t>
                </a:r>
              </a:p>
            </p:txBody>
          </p: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76D1FB07-19B1-BB26-0C2E-E0445D0C6DCE}"/>
                  </a:ext>
                </a:extLst>
              </p:cNvPr>
              <p:cNvCxnSpPr/>
              <p:nvPr/>
            </p:nvCxnSpPr>
            <p:spPr>
              <a:xfrm>
                <a:off x="41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C8CE975-ADA7-0AC6-9576-412045EB603C}"/>
                  </a:ext>
                </a:extLst>
              </p:cNvPr>
              <p:cNvSpPr/>
              <p:nvPr/>
            </p:nvSpPr>
            <p:spPr>
              <a:xfrm>
                <a:off x="3165983" y="1436004"/>
                <a:ext cx="9829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Input</a:t>
                </a:r>
                <a:endParaRPr lang="en-GB" sz="2800" dirty="0"/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75EA3583-9971-2ED8-8392-A56DD5B9F0F2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708F9-5D4B-A2AD-074F-DD3E0CCA6C20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Output</a:t>
                </a:r>
                <a:endParaRPr lang="en-GB" sz="2800" dirty="0"/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8FFA72-8727-069D-874A-E99DFB165435}"/>
                </a:ext>
              </a:extLst>
            </p:cNvPr>
            <p:cNvSpPr/>
            <p:nvPr/>
          </p:nvSpPr>
          <p:spPr>
            <a:xfrm>
              <a:off x="5895189" y="1331802"/>
              <a:ext cx="148309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b="1" dirty="0"/>
                <a:t>Function</a:t>
              </a:r>
              <a:endParaRPr lang="en-GB" sz="280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Random (Overview)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2358069" y="1871088"/>
            <a:ext cx="144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1, 6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963B08-C212-4718-A8AA-458D4C59CEBA}"/>
              </a:ext>
            </a:extLst>
          </p:cNvPr>
          <p:cNvSpPr txBox="1"/>
          <p:nvPr/>
        </p:nvSpPr>
        <p:spPr>
          <a:xfrm>
            <a:off x="1638067" y="3196651"/>
            <a:ext cx="216000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440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0, 100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3798069" y="3016251"/>
            <a:ext cx="5040000" cy="1080000"/>
            <a:chOff x="3001371" y="3310688"/>
            <a:chExt cx="5040000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100" b="1" dirty="0" err="1"/>
                <a:t>randint</a:t>
              </a:r>
              <a:r>
                <a:rPr lang="en-GB" sz="3100" b="1" dirty="0"/>
                <a:t>()</a:t>
              </a:r>
              <a:endParaRPr lang="en-GB" sz="31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0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864AFC2-DEB9-408B-9B33-41239EB6D45A}"/>
              </a:ext>
            </a:extLst>
          </p:cNvPr>
          <p:cNvSpPr txBox="1"/>
          <p:nvPr/>
        </p:nvSpPr>
        <p:spPr>
          <a:xfrm flipH="1">
            <a:off x="2941134" y="5800878"/>
            <a:ext cx="2379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Input: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3AE61-A5F0-44B0-85E4-A2C24F50939C}"/>
              </a:ext>
            </a:extLst>
          </p:cNvPr>
          <p:cNvSpPr txBox="1"/>
          <p:nvPr/>
        </p:nvSpPr>
        <p:spPr>
          <a:xfrm flipH="1">
            <a:off x="7480305" y="5800878"/>
            <a:ext cx="2487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Output: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62FA72-982A-4F65-9E7D-7766415D11B2}"/>
              </a:ext>
            </a:extLst>
          </p:cNvPr>
          <p:cNvSpPr txBox="1"/>
          <p:nvPr/>
        </p:nvSpPr>
        <p:spPr>
          <a:xfrm>
            <a:off x="1418897" y="4528327"/>
            <a:ext cx="23791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85, 115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0AF868A-EC2C-4833-8665-41DA3AFD3801}"/>
              </a:ext>
            </a:extLst>
          </p:cNvPr>
          <p:cNvGrpSpPr/>
          <p:nvPr/>
        </p:nvGrpSpPr>
        <p:grpSpPr>
          <a:xfrm>
            <a:off x="3798069" y="4347927"/>
            <a:ext cx="5040000" cy="1080000"/>
            <a:chOff x="3001371" y="3310688"/>
            <a:chExt cx="5040000" cy="1080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3C80639-28B8-48B7-B319-7E9F4B1A7855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100" b="1" dirty="0" err="1"/>
                <a:t>randint</a:t>
              </a:r>
              <a:r>
                <a:rPr lang="en-GB" sz="3100" b="1" dirty="0"/>
                <a:t>()</a:t>
              </a:r>
              <a:endParaRPr lang="en-GB" sz="3100" dirty="0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2A0F776-3EAA-4B18-AAE1-E43DCE91361A}"/>
                </a:ext>
              </a:extLst>
            </p:cNvPr>
            <p:cNvCxnSpPr/>
            <p:nvPr/>
          </p:nvCxnSpPr>
          <p:spPr>
            <a:xfrm>
              <a:off x="30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B4E2B3E-1353-4848-B5D4-E479F0020917}"/>
                </a:ext>
              </a:extLst>
            </p:cNvPr>
            <p:cNvCxnSpPr/>
            <p:nvPr/>
          </p:nvCxnSpPr>
          <p:spPr>
            <a:xfrm>
              <a:off x="66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48855649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random –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4420409" y="3906123"/>
            <a:ext cx="66681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dirty="0" err="1">
                <a:latin typeface="Consolas" panose="020B0609020204030204" pitchFamily="49" charset="0"/>
              </a:rPr>
              <a:t>random.</a:t>
            </a:r>
            <a:r>
              <a:rPr lang="en-GB" sz="4400" dirty="0" err="1">
                <a:solidFill>
                  <a:srgbClr val="0086B3"/>
                </a:solidFill>
                <a:latin typeface="Consolas" panose="020B0609020204030204" pitchFamily="49" charset="0"/>
              </a:rPr>
              <a:t>randint</a:t>
            </a:r>
            <a:r>
              <a:rPr lang="en-GB" sz="4400" dirty="0">
                <a:effectLst/>
                <a:latin typeface="Consolas" panose="020B0609020204030204" pitchFamily="49" charset="0"/>
              </a:rPr>
              <a:t>(</a:t>
            </a:r>
            <a:r>
              <a:rPr lang="en-GB" sz="440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4400" dirty="0">
                <a:effectLst/>
                <a:latin typeface="Consolas" panose="020B0609020204030204" pitchFamily="49" charset="0"/>
              </a:rPr>
              <a:t>, </a:t>
            </a:r>
            <a:r>
              <a:rPr lang="en-GB" sz="440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en-GB" sz="4400" dirty="0"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18FD7-5699-4405-B11B-E8E902552F72}"/>
              </a:ext>
            </a:extLst>
          </p:cNvPr>
          <p:cNvSpPr txBox="1"/>
          <p:nvPr/>
        </p:nvSpPr>
        <p:spPr>
          <a:xfrm>
            <a:off x="714705" y="3906124"/>
            <a:ext cx="36304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4400" dirty="0">
                <a:effectLst/>
                <a:latin typeface="Consolas" panose="020B0609020204030204" pitchFamily="49" charset="0"/>
              </a:rPr>
              <a:t> </a:t>
            </a:r>
            <a:r>
              <a:rPr lang="en-GB" sz="4400" dirty="0" err="1">
                <a:effectLst/>
                <a:latin typeface="Consolas" panose="020B0609020204030204" pitchFamily="49" charset="0"/>
              </a:rPr>
              <a:t>myValue</a:t>
            </a:r>
            <a:r>
              <a:rPr lang="en-GB" sz="4400" dirty="0">
                <a:effectLst/>
                <a:latin typeface="Consolas" panose="020B0609020204030204" pitchFamily="49" charset="0"/>
              </a:rPr>
              <a:t> =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0EA2EDD-D55C-4A47-82C6-64769CAA93CE}"/>
              </a:ext>
            </a:extLst>
          </p:cNvPr>
          <p:cNvGrpSpPr/>
          <p:nvPr/>
        </p:nvGrpSpPr>
        <p:grpSpPr>
          <a:xfrm>
            <a:off x="3338478" y="2752116"/>
            <a:ext cx="1433512" cy="1154006"/>
            <a:chOff x="5456197" y="2058777"/>
            <a:chExt cx="1433512" cy="1154006"/>
          </a:xfrm>
        </p:grpSpPr>
        <p:sp>
          <p:nvSpPr>
            <p:cNvPr id="14" name="Arrow: Curved Down 13">
              <a:extLst>
                <a:ext uri="{FF2B5EF4-FFF2-40B4-BE49-F238E27FC236}">
                  <a16:creationId xmlns:a16="http://schemas.microsoft.com/office/drawing/2014/main" id="{62197FF0-B895-45D2-A531-96330FFB0E40}"/>
                </a:ext>
              </a:extLst>
            </p:cNvPr>
            <p:cNvSpPr/>
            <p:nvPr/>
          </p:nvSpPr>
          <p:spPr>
            <a:xfrm flipH="1">
              <a:off x="5456197" y="2581999"/>
              <a:ext cx="1433512" cy="630784"/>
            </a:xfrm>
            <a:prstGeom prst="curvedDownArrow">
              <a:avLst>
                <a:gd name="adj1" fmla="val 14746"/>
                <a:gd name="adj2" fmla="val 42781"/>
                <a:gd name="adj3" fmla="val 35417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06D1F41-C62C-4D11-89A7-FCE586210A4C}"/>
                </a:ext>
              </a:extLst>
            </p:cNvPr>
            <p:cNvSpPr txBox="1"/>
            <p:nvPr/>
          </p:nvSpPr>
          <p:spPr>
            <a:xfrm>
              <a:off x="5546019" y="2058777"/>
              <a:ext cx="12538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>
                  <a:solidFill>
                    <a:srgbClr val="7030A0"/>
                  </a:solidFill>
                </a:rPr>
                <a:t>Output</a:t>
              </a:r>
              <a:endParaRPr lang="en-GB" sz="3200" b="1" dirty="0">
                <a:solidFill>
                  <a:srgbClr val="7030A0"/>
                </a:solidFill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0EA2B21D-A51A-4C68-6736-F307521409F4}"/>
              </a:ext>
            </a:extLst>
          </p:cNvPr>
          <p:cNvSpPr/>
          <p:nvPr/>
        </p:nvSpPr>
        <p:spPr>
          <a:xfrm>
            <a:off x="2068589" y="5702276"/>
            <a:ext cx="8058873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 err="1">
                <a:solidFill>
                  <a:srgbClr val="7030A0"/>
                </a:solidFill>
              </a:rPr>
              <a:t>randint</a:t>
            </a:r>
            <a:r>
              <a:rPr lang="en-GB" sz="3200" dirty="0">
                <a:solidFill>
                  <a:srgbClr val="7030A0"/>
                </a:solidFill>
              </a:rPr>
              <a:t>() is a function in the random module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Input to the function can be variables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025C9C-FD9D-CA08-3832-030C510BB996}"/>
              </a:ext>
            </a:extLst>
          </p:cNvPr>
          <p:cNvSpPr txBox="1"/>
          <p:nvPr/>
        </p:nvSpPr>
        <p:spPr>
          <a:xfrm>
            <a:off x="714704" y="1877306"/>
            <a:ext cx="48286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4400" dirty="0">
                <a:solidFill>
                  <a:srgbClr val="B2B2B2"/>
                </a:solidFill>
                <a:latin typeface="Consolas" panose="020B0609020204030204" pitchFamily="49" charset="0"/>
              </a:rPr>
              <a:t>1</a:t>
            </a:r>
            <a:r>
              <a:rPr lang="en-GB" sz="4400" dirty="0">
                <a:solidFill>
                  <a:srgbClr val="A71D5D"/>
                </a:solidFill>
                <a:latin typeface="Consolas" panose="020B0609020204030204" pitchFamily="49" charset="0"/>
              </a:rPr>
              <a:t> </a:t>
            </a:r>
            <a:r>
              <a:rPr lang="la-Latn" sz="4400" dirty="0">
                <a:solidFill>
                  <a:srgbClr val="A71D5D"/>
                </a:solidFill>
                <a:latin typeface="Consolas" panose="020B0609020204030204" pitchFamily="49" charset="0"/>
              </a:rPr>
              <a:t>import </a:t>
            </a:r>
            <a:r>
              <a:rPr lang="en-GB" sz="4400" dirty="0">
                <a:effectLst/>
                <a:latin typeface="Consolas" panose="020B0609020204030204" pitchFamily="49" charset="0"/>
              </a:rPr>
              <a:t>random</a:t>
            </a:r>
          </a:p>
        </p:txBody>
      </p:sp>
      <p:sp>
        <p:nvSpPr>
          <p:cNvPr id="19" name="Callout: Bent Line with No Border 8">
            <a:extLst>
              <a:ext uri="{FF2B5EF4-FFF2-40B4-BE49-F238E27FC236}">
                <a16:creationId xmlns:a16="http://schemas.microsoft.com/office/drawing/2014/main" id="{153A0115-5B62-4307-AE68-7D8C10704C5D}"/>
              </a:ext>
            </a:extLst>
          </p:cNvPr>
          <p:cNvSpPr/>
          <p:nvPr/>
        </p:nvSpPr>
        <p:spPr>
          <a:xfrm flipH="1">
            <a:off x="4852658" y="4777209"/>
            <a:ext cx="2426393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16935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Function</a:t>
            </a:r>
          </a:p>
        </p:txBody>
      </p:sp>
      <p:sp>
        <p:nvSpPr>
          <p:cNvPr id="20" name="Callout: Bent Line with No Border 8">
            <a:extLst>
              <a:ext uri="{FF2B5EF4-FFF2-40B4-BE49-F238E27FC236}">
                <a16:creationId xmlns:a16="http://schemas.microsoft.com/office/drawing/2014/main" id="{92F15653-3BE6-400A-9E78-5116485BE1EB}"/>
              </a:ext>
            </a:extLst>
          </p:cNvPr>
          <p:cNvSpPr/>
          <p:nvPr/>
        </p:nvSpPr>
        <p:spPr>
          <a:xfrm>
            <a:off x="10155856" y="4871892"/>
            <a:ext cx="1243341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14605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Input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3BF7A1A-D0CB-4E5A-8363-747FE5AE7B15}"/>
              </a:ext>
            </a:extLst>
          </p:cNvPr>
          <p:cNvCxnSpPr>
            <a:cxnSpLocks/>
          </p:cNvCxnSpPr>
          <p:nvPr/>
        </p:nvCxnSpPr>
        <p:spPr>
          <a:xfrm>
            <a:off x="9193386" y="4627635"/>
            <a:ext cx="1440000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llout: Bent Line with No Border 8">
            <a:extLst>
              <a:ext uri="{FF2B5EF4-FFF2-40B4-BE49-F238E27FC236}">
                <a16:creationId xmlns:a16="http://schemas.microsoft.com/office/drawing/2014/main" id="{908D34ED-1B2C-481D-A47E-DB3794CA03CC}"/>
              </a:ext>
            </a:extLst>
          </p:cNvPr>
          <p:cNvSpPr/>
          <p:nvPr/>
        </p:nvSpPr>
        <p:spPr>
          <a:xfrm>
            <a:off x="10512923" y="3042836"/>
            <a:ext cx="837627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111449"/>
              <a:gd name="adj6" fmla="val -1912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max</a:t>
            </a:r>
          </a:p>
        </p:txBody>
      </p:sp>
      <p:sp>
        <p:nvSpPr>
          <p:cNvPr id="18" name="Callout: Bent Line with No Border 8">
            <a:extLst>
              <a:ext uri="{FF2B5EF4-FFF2-40B4-BE49-F238E27FC236}">
                <a16:creationId xmlns:a16="http://schemas.microsoft.com/office/drawing/2014/main" id="{E0D8F125-BB24-4B26-B738-0AC9E729E997}"/>
              </a:ext>
            </a:extLst>
          </p:cNvPr>
          <p:cNvSpPr/>
          <p:nvPr/>
        </p:nvSpPr>
        <p:spPr>
          <a:xfrm flipH="1">
            <a:off x="8258467" y="3042836"/>
            <a:ext cx="837627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111449"/>
              <a:gd name="adj6" fmla="val -1912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min</a:t>
            </a:r>
          </a:p>
        </p:txBody>
      </p:sp>
      <p:sp>
        <p:nvSpPr>
          <p:cNvPr id="22" name="Callout: Bent Line with No Border 8">
            <a:extLst>
              <a:ext uri="{FF2B5EF4-FFF2-40B4-BE49-F238E27FC236}">
                <a16:creationId xmlns:a16="http://schemas.microsoft.com/office/drawing/2014/main" id="{1382C6EE-2E1A-47AB-B083-8BD0BBC7C9BC}"/>
              </a:ext>
            </a:extLst>
          </p:cNvPr>
          <p:cNvSpPr/>
          <p:nvPr/>
        </p:nvSpPr>
        <p:spPr>
          <a:xfrm>
            <a:off x="4055234" y="1264981"/>
            <a:ext cx="2576186" cy="52735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132538"/>
              <a:gd name="adj6" fmla="val -34469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Get extra code</a:t>
            </a:r>
          </a:p>
        </p:txBody>
      </p:sp>
      <p:sp>
        <p:nvSpPr>
          <p:cNvPr id="23" name="Callout: Bent Line with No Border 8">
            <a:extLst>
              <a:ext uri="{FF2B5EF4-FFF2-40B4-BE49-F238E27FC236}">
                <a16:creationId xmlns:a16="http://schemas.microsoft.com/office/drawing/2014/main" id="{E4F413C9-109B-4D18-85DD-798311F20459}"/>
              </a:ext>
            </a:extLst>
          </p:cNvPr>
          <p:cNvSpPr/>
          <p:nvPr/>
        </p:nvSpPr>
        <p:spPr>
          <a:xfrm>
            <a:off x="6544621" y="1996026"/>
            <a:ext cx="3192503" cy="52735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13585"/>
              <a:gd name="adj5" fmla="val 55213"/>
              <a:gd name="adj6" fmla="val -3174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Name of extra code</a:t>
            </a:r>
          </a:p>
        </p:txBody>
      </p:sp>
    </p:spTree>
    <p:extLst>
      <p:ext uri="{BB962C8B-B14F-4D97-AF65-F5344CB8AC3E}">
        <p14:creationId xmlns:p14="http://schemas.microsoft.com/office/powerpoint/2010/main" val="177015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3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3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3" grpId="0" uiExpand="1" build="p"/>
      <p:bldP spid="7" grpId="0"/>
      <p:bldP spid="19" grpId="0" animBg="1"/>
      <p:bldP spid="20" grpId="0" animBg="1"/>
      <p:bldP spid="17" grpId="0" animBg="1"/>
      <p:bldP spid="18" grpId="0" animBg="1"/>
      <p:bldP spid="22" grpId="0" animBg="1"/>
      <p:bldP spid="23" grpId="0" animBg="1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random –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4420408" y="3906123"/>
            <a:ext cx="665656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dirty="0" err="1">
                <a:latin typeface="Consolas" panose="020B0609020204030204" pitchFamily="49" charset="0"/>
              </a:rPr>
              <a:t>random.</a:t>
            </a:r>
            <a:r>
              <a:rPr lang="en-GB" sz="4400" dirty="0" err="1">
                <a:solidFill>
                  <a:srgbClr val="0086B3"/>
                </a:solidFill>
                <a:latin typeface="Consolas" panose="020B0609020204030204" pitchFamily="49" charset="0"/>
              </a:rPr>
              <a:t>randint</a:t>
            </a:r>
            <a:r>
              <a:rPr lang="en-GB" sz="4400" dirty="0">
                <a:effectLst/>
                <a:latin typeface="Consolas" panose="020B0609020204030204" pitchFamily="49" charset="0"/>
              </a:rPr>
              <a:t>(</a:t>
            </a:r>
            <a:r>
              <a:rPr lang="en-GB" sz="440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4400" dirty="0">
                <a:effectLst/>
                <a:latin typeface="Consolas" panose="020B0609020204030204" pitchFamily="49" charset="0"/>
              </a:rPr>
              <a:t>, </a:t>
            </a:r>
            <a:r>
              <a:rPr lang="en-GB" sz="440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en-GB" sz="4400" dirty="0"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18FD7-5699-4405-B11B-E8E902552F72}"/>
              </a:ext>
            </a:extLst>
          </p:cNvPr>
          <p:cNvSpPr txBox="1"/>
          <p:nvPr/>
        </p:nvSpPr>
        <p:spPr>
          <a:xfrm>
            <a:off x="714705" y="3906124"/>
            <a:ext cx="36304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4400" dirty="0">
                <a:effectLst/>
                <a:latin typeface="Consolas" panose="020B0609020204030204" pitchFamily="49" charset="0"/>
              </a:rPr>
              <a:t> </a:t>
            </a:r>
            <a:r>
              <a:rPr lang="en-GB" sz="4400" dirty="0" err="1">
                <a:effectLst/>
                <a:latin typeface="Consolas" panose="020B0609020204030204" pitchFamily="49" charset="0"/>
              </a:rPr>
              <a:t>myValue</a:t>
            </a:r>
            <a:r>
              <a:rPr lang="en-GB" sz="4400" dirty="0">
                <a:effectLst/>
                <a:latin typeface="Consolas" panose="020B0609020204030204" pitchFamily="49" charset="0"/>
              </a:rPr>
              <a:t> =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A2B21D-A51A-4C68-6736-F307521409F4}"/>
              </a:ext>
            </a:extLst>
          </p:cNvPr>
          <p:cNvSpPr/>
          <p:nvPr/>
        </p:nvSpPr>
        <p:spPr>
          <a:xfrm>
            <a:off x="2013097" y="5702276"/>
            <a:ext cx="8169864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 err="1">
                <a:solidFill>
                  <a:srgbClr val="7030A0"/>
                </a:solidFill>
              </a:rPr>
              <a:t>randint</a:t>
            </a:r>
            <a:r>
              <a:rPr lang="en-GB" sz="3200" dirty="0">
                <a:solidFill>
                  <a:srgbClr val="7030A0"/>
                </a:solidFill>
              </a:rPr>
              <a:t>() is a function in the                              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Input to the function can be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025C9C-FD9D-CA08-3832-030C510BB996}"/>
              </a:ext>
            </a:extLst>
          </p:cNvPr>
          <p:cNvSpPr txBox="1"/>
          <p:nvPr/>
        </p:nvSpPr>
        <p:spPr>
          <a:xfrm>
            <a:off x="714704" y="1877306"/>
            <a:ext cx="48286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4400" dirty="0">
                <a:solidFill>
                  <a:srgbClr val="B2B2B2"/>
                </a:solidFill>
                <a:latin typeface="Consolas" panose="020B0609020204030204" pitchFamily="49" charset="0"/>
              </a:rPr>
              <a:t>1</a:t>
            </a:r>
            <a:r>
              <a:rPr lang="en-GB" sz="4400" dirty="0">
                <a:solidFill>
                  <a:srgbClr val="A71D5D"/>
                </a:solidFill>
                <a:latin typeface="Consolas" panose="020B0609020204030204" pitchFamily="49" charset="0"/>
              </a:rPr>
              <a:t> </a:t>
            </a:r>
            <a:r>
              <a:rPr lang="la-Latn" sz="4400" dirty="0">
                <a:solidFill>
                  <a:srgbClr val="A71D5D"/>
                </a:solidFill>
                <a:latin typeface="Consolas" panose="020B0609020204030204" pitchFamily="49" charset="0"/>
              </a:rPr>
              <a:t>import </a:t>
            </a:r>
            <a:r>
              <a:rPr lang="en-GB" sz="4400" dirty="0">
                <a:effectLst/>
                <a:latin typeface="Consolas" panose="020B0609020204030204" pitchFamily="49" charset="0"/>
              </a:rPr>
              <a:t>random</a:t>
            </a:r>
          </a:p>
        </p:txBody>
      </p:sp>
    </p:spTree>
    <p:extLst>
      <p:ext uri="{BB962C8B-B14F-4D97-AF65-F5344CB8AC3E}">
        <p14:creationId xmlns:p14="http://schemas.microsoft.com/office/powerpoint/2010/main" val="3368003580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458F5-A0F0-4097-9B62-07D5FF84C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Task – Throwing a dice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81F4B-98D7-4C22-B0E5-953B42181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Get extra code for random</a:t>
            </a:r>
          </a:p>
          <a:p>
            <a:r>
              <a:rPr lang="en-GB" noProof="0" dirty="0"/>
              <a:t>Loop 5 times</a:t>
            </a:r>
          </a:p>
          <a:p>
            <a:pPr lvl="1"/>
            <a:r>
              <a:rPr lang="en-GB" sz="3200" noProof="0" dirty="0"/>
              <a:t>'Throw' a dice</a:t>
            </a:r>
          </a:p>
          <a:p>
            <a:pPr lvl="1"/>
            <a:r>
              <a:rPr lang="en-GB" sz="3200" noProof="0" dirty="0"/>
              <a:t>Show what the computer threw</a:t>
            </a:r>
          </a:p>
        </p:txBody>
      </p:sp>
    </p:spTree>
    <p:extLst>
      <p:ext uri="{BB962C8B-B14F-4D97-AF65-F5344CB8AC3E}">
        <p14:creationId xmlns:p14="http://schemas.microsoft.com/office/powerpoint/2010/main" val="513135770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normal test data in a test table</a:t>
            </a:r>
          </a:p>
          <a:p>
            <a:r>
              <a:rPr lang="en-GB" noProof="0" dirty="0"/>
              <a:t>Describe and identify syntax, execution, and logic errors</a:t>
            </a:r>
          </a:p>
        </p:txBody>
      </p:sp>
    </p:spTree>
    <p:extLst>
      <p:ext uri="{BB962C8B-B14F-4D97-AF65-F5344CB8AC3E}">
        <p14:creationId xmlns:p14="http://schemas.microsoft.com/office/powerpoint/2010/main" val="2978480992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54514-589E-4635-8179-C05D914A3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Error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D22D1-2758-467E-B7A7-36B7A8BC9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Syntax – program won't run / compile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Execution – program stops running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Logic – executes but wrong result – hardest to find</a:t>
            </a:r>
          </a:p>
        </p:txBody>
      </p:sp>
    </p:spTree>
    <p:extLst>
      <p:ext uri="{BB962C8B-B14F-4D97-AF65-F5344CB8AC3E}">
        <p14:creationId xmlns:p14="http://schemas.microsoft.com/office/powerpoint/2010/main" val="742959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54514-589E-4635-8179-C05D914A3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Error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D22D1-2758-467E-B7A7-36B7A8BC9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Syntax 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Execution 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Logic – </a:t>
            </a:r>
          </a:p>
        </p:txBody>
      </p:sp>
    </p:spTree>
    <p:extLst>
      <p:ext uri="{BB962C8B-B14F-4D97-AF65-F5344CB8AC3E}">
        <p14:creationId xmlns:p14="http://schemas.microsoft.com/office/powerpoint/2010/main" val="1970858162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49BCE-151E-AB9F-D346-BFE831DC6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Normal Test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C4DD9-3539-9D4D-8D28-4B53C85E6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Normal – values that are expected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GB" sz="1800" noProof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Test Data – selected before testing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Expected output – what should be produced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GB" sz="1800" noProof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Actual output – what is produced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7B895-791D-56B1-25E2-49D6D617BD6E}"/>
              </a:ext>
            </a:extLst>
          </p:cNvPr>
          <p:cNvSpPr txBox="1"/>
          <p:nvPr/>
        </p:nvSpPr>
        <p:spPr>
          <a:xfrm>
            <a:off x="627767" y="5719082"/>
            <a:ext cx="10936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  <a:latin typeface="Consolas" panose="020B0609020204030204" pitchFamily="49" charset="0"/>
              </a:rPr>
              <a:t>Simulate a die: -2, -1, 0, 1, 2, 3, 4, 5, 6, 7, 8 , 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686FEF-66C2-B332-5BF8-12FD07C8222C}"/>
              </a:ext>
            </a:extLst>
          </p:cNvPr>
          <p:cNvSpPr/>
          <p:nvPr/>
        </p:nvSpPr>
        <p:spPr>
          <a:xfrm>
            <a:off x="6037462" y="5732050"/>
            <a:ext cx="3530432" cy="5232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222B3-55FA-7EBB-2D1C-8931A7CC715C}"/>
              </a:ext>
            </a:extLst>
          </p:cNvPr>
          <p:cNvSpPr txBox="1"/>
          <p:nvPr/>
        </p:nvSpPr>
        <p:spPr>
          <a:xfrm>
            <a:off x="7032275" y="5232064"/>
            <a:ext cx="15408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Normal</a:t>
            </a:r>
          </a:p>
        </p:txBody>
      </p:sp>
    </p:spTree>
    <p:extLst>
      <p:ext uri="{BB962C8B-B14F-4D97-AF65-F5344CB8AC3E}">
        <p14:creationId xmlns:p14="http://schemas.microsoft.com/office/powerpoint/2010/main" val="1239451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 animBg="1"/>
      <p:bldP spid="6" grpId="0"/>
    </p:bld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49BCE-151E-AB9F-D346-BFE831DC6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Normal Test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C4DD9-3539-9D4D-8D28-4B53C85E6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Normal –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GB" sz="1800" noProof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Test Data –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Expected output –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GB" sz="1800" noProof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noProof="0" dirty="0"/>
              <a:t>Actual output –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62B47F-65B5-AE1E-468C-EE0F504933F8}"/>
              </a:ext>
            </a:extLst>
          </p:cNvPr>
          <p:cNvSpPr txBox="1"/>
          <p:nvPr/>
        </p:nvSpPr>
        <p:spPr>
          <a:xfrm>
            <a:off x="627767" y="5719082"/>
            <a:ext cx="10936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  <a:latin typeface="Consolas" panose="020B0609020204030204" pitchFamily="49" charset="0"/>
              </a:rPr>
              <a:t>Simulate a die: -2, -1, 0, 1, 2, 3, 4, 5, 6, 7, 8 , 9</a:t>
            </a:r>
          </a:p>
        </p:txBody>
      </p:sp>
    </p:spTree>
    <p:extLst>
      <p:ext uri="{BB962C8B-B14F-4D97-AF65-F5344CB8AC3E}">
        <p14:creationId xmlns:p14="http://schemas.microsoft.com/office/powerpoint/2010/main" val="318823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7DE297F-6564-4CBD-AD3B-BA92602148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6167054"/>
              </p:ext>
            </p:extLst>
          </p:nvPr>
        </p:nvGraphicFramePr>
        <p:xfrm>
          <a:off x="838200" y="2380517"/>
          <a:ext cx="10515600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791754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4430332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6420456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5538997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62629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3200"/>
                        <a:t>Test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Test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858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GB" sz="3200" dirty="0"/>
                        <a:t>2 and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62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GB" sz="3200" dirty="0"/>
                        <a:t>2 and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/>
                        <a:t>Fail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984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GB" sz="3200" dirty="0"/>
                        <a:t>2 and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 dirty="0"/>
                        <a:t>Fail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267428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1F542EC-58FE-4583-BCB4-D1E9B5D62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Test table – Normal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2DE6F2-F66D-472F-A42E-6DADBAD443D9}"/>
              </a:ext>
            </a:extLst>
          </p:cNvPr>
          <p:cNvSpPr/>
          <p:nvPr/>
        </p:nvSpPr>
        <p:spPr>
          <a:xfrm>
            <a:off x="838200" y="2993292"/>
            <a:ext cx="6305062" cy="57833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2EDFC2-7CF1-4467-A92E-C957F0C52783}"/>
              </a:ext>
            </a:extLst>
          </p:cNvPr>
          <p:cNvSpPr/>
          <p:nvPr/>
        </p:nvSpPr>
        <p:spPr>
          <a:xfrm>
            <a:off x="838200" y="3555975"/>
            <a:ext cx="6305062" cy="57833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5945FA-1EAC-4E76-ADD7-807F0AC65CF1}"/>
              </a:ext>
            </a:extLst>
          </p:cNvPr>
          <p:cNvSpPr/>
          <p:nvPr/>
        </p:nvSpPr>
        <p:spPr>
          <a:xfrm>
            <a:off x="838201" y="4164848"/>
            <a:ext cx="6305061" cy="57833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4983A9-E2E9-43A2-B86A-DEDF0F58A045}"/>
              </a:ext>
            </a:extLst>
          </p:cNvPr>
          <p:cNvSpPr/>
          <p:nvPr/>
        </p:nvSpPr>
        <p:spPr>
          <a:xfrm>
            <a:off x="7143262" y="2993292"/>
            <a:ext cx="4210538" cy="57833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7CC87C-B84A-48D0-8DF7-423D5229E530}"/>
              </a:ext>
            </a:extLst>
          </p:cNvPr>
          <p:cNvSpPr/>
          <p:nvPr/>
        </p:nvSpPr>
        <p:spPr>
          <a:xfrm>
            <a:off x="7143262" y="3555975"/>
            <a:ext cx="4210538" cy="57833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CF0441-740C-4101-A9A7-9DBC930A7037}"/>
              </a:ext>
            </a:extLst>
          </p:cNvPr>
          <p:cNvGrpSpPr/>
          <p:nvPr/>
        </p:nvGrpSpPr>
        <p:grpSpPr>
          <a:xfrm>
            <a:off x="862620" y="4789384"/>
            <a:ext cx="6192000" cy="1125363"/>
            <a:chOff x="839487" y="3687231"/>
            <a:chExt cx="6268617" cy="1125363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3D7DE4C2-546C-42B3-90DE-13FDC536A9C1}"/>
                </a:ext>
              </a:extLst>
            </p:cNvPr>
            <p:cNvSpPr/>
            <p:nvPr/>
          </p:nvSpPr>
          <p:spPr>
            <a:xfrm rot="5400000">
              <a:off x="3773778" y="752940"/>
              <a:ext cx="400036" cy="6268617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183CB5-68A9-49F6-BDA0-93D02E1DDFFF}"/>
                </a:ext>
              </a:extLst>
            </p:cNvPr>
            <p:cNvSpPr txBox="1"/>
            <p:nvPr/>
          </p:nvSpPr>
          <p:spPr>
            <a:xfrm>
              <a:off x="1093112" y="4289374"/>
              <a:ext cx="57952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/>
                <a:t>Do this before writing code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45FDA1C-C932-4450-B9F2-410E50319613}"/>
              </a:ext>
            </a:extLst>
          </p:cNvPr>
          <p:cNvSpPr/>
          <p:nvPr/>
        </p:nvSpPr>
        <p:spPr>
          <a:xfrm>
            <a:off x="7143262" y="4164848"/>
            <a:ext cx="4210538" cy="57833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E3FE3D-B840-41C3-9C22-8ADFD1ED70E9}"/>
              </a:ext>
            </a:extLst>
          </p:cNvPr>
          <p:cNvSpPr txBox="1"/>
          <p:nvPr/>
        </p:nvSpPr>
        <p:spPr>
          <a:xfrm>
            <a:off x="838199" y="1657915"/>
            <a:ext cx="48565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b="1" dirty="0"/>
              <a:t>Problem: add two values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834E412-4C2F-7DA2-4D81-E298D91989C7}"/>
              </a:ext>
            </a:extLst>
          </p:cNvPr>
          <p:cNvGrpSpPr/>
          <p:nvPr/>
        </p:nvGrpSpPr>
        <p:grpSpPr>
          <a:xfrm>
            <a:off x="7095520" y="4789380"/>
            <a:ext cx="4320819" cy="1141021"/>
            <a:chOff x="2966007" y="3687227"/>
            <a:chExt cx="4320819" cy="1141021"/>
          </a:xfrm>
        </p:grpSpPr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AA5203A3-8D74-3A47-B0C9-05B0C6A893E6}"/>
                </a:ext>
              </a:extLst>
            </p:cNvPr>
            <p:cNvSpPr/>
            <p:nvPr/>
          </p:nvSpPr>
          <p:spPr>
            <a:xfrm rot="5400000">
              <a:off x="4922416" y="1866417"/>
              <a:ext cx="400036" cy="4041655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738EB20-7F60-1C1D-89F0-0BCA3B351425}"/>
                </a:ext>
              </a:extLst>
            </p:cNvPr>
            <p:cNvSpPr txBox="1"/>
            <p:nvPr/>
          </p:nvSpPr>
          <p:spPr>
            <a:xfrm>
              <a:off x="2966007" y="4305028"/>
              <a:ext cx="43208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/>
                <a:t>Do this when running tests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5FEA44C-BB4B-3D6A-483D-12C66E7BA438}"/>
              </a:ext>
            </a:extLst>
          </p:cNvPr>
          <p:cNvSpPr txBox="1"/>
          <p:nvPr/>
        </p:nvSpPr>
        <p:spPr>
          <a:xfrm>
            <a:off x="3233797" y="6157783"/>
            <a:ext cx="5724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Iterate until it passes </a:t>
            </a:r>
            <a:r>
              <a:rPr lang="en-GB" sz="2800" b="1" i="1" dirty="0">
                <a:solidFill>
                  <a:srgbClr val="7030A0"/>
                </a:solidFill>
              </a:rPr>
              <a:t>all</a:t>
            </a:r>
            <a:r>
              <a:rPr lang="en-GB" sz="2800" b="1" dirty="0">
                <a:solidFill>
                  <a:srgbClr val="7030A0"/>
                </a:solidFill>
              </a:rPr>
              <a:t> the tests!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E21BE69-911D-4BD2-8B7E-BE19F348CFB3}"/>
              </a:ext>
            </a:extLst>
          </p:cNvPr>
          <p:cNvCxnSpPr/>
          <p:nvPr/>
        </p:nvCxnSpPr>
        <p:spPr>
          <a:xfrm>
            <a:off x="7144929" y="2002420"/>
            <a:ext cx="0" cy="3404761"/>
          </a:xfrm>
          <a:prstGeom prst="line">
            <a:avLst/>
          </a:prstGeom>
          <a:ln w="571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5905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xit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3" grpId="0" animBg="1"/>
      <p:bldP spid="15" grpId="0"/>
      <p:bldP spid="18" grpId="0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7DE297F-6564-4CBD-AD3B-BA92602148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3626221"/>
              </p:ext>
            </p:extLst>
          </p:nvPr>
        </p:nvGraphicFramePr>
        <p:xfrm>
          <a:off x="838200" y="2380517"/>
          <a:ext cx="10515600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791754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4430332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6420456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5538997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62629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3200"/>
                        <a:t>Test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Test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858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2"/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endParaRPr lang="en-GB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62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2"/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endParaRPr lang="en-GB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984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2"/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267428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1F542EC-58FE-4583-BCB4-D1E9B5D62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Test table – Normal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3D7DE4C2-546C-42B3-90DE-13FDC536A9C1}"/>
              </a:ext>
            </a:extLst>
          </p:cNvPr>
          <p:cNvSpPr/>
          <p:nvPr/>
        </p:nvSpPr>
        <p:spPr>
          <a:xfrm rot="5400000">
            <a:off x="3777793" y="1893398"/>
            <a:ext cx="400036" cy="6192000"/>
          </a:xfrm>
          <a:prstGeom prst="rightBrace">
            <a:avLst>
              <a:gd name="adj1" fmla="val 0"/>
              <a:gd name="adj2" fmla="val 50000"/>
            </a:avLst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E3FE3D-B840-41C3-9C22-8ADFD1ED70E9}"/>
              </a:ext>
            </a:extLst>
          </p:cNvPr>
          <p:cNvSpPr txBox="1"/>
          <p:nvPr/>
        </p:nvSpPr>
        <p:spPr>
          <a:xfrm>
            <a:off x="838199" y="1657915"/>
            <a:ext cx="49259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b="1" dirty="0"/>
              <a:t>Problem: add two values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DAEC2EA9-8983-4FEC-B5BA-43DDA4CC142F}"/>
              </a:ext>
            </a:extLst>
          </p:cNvPr>
          <p:cNvSpPr/>
          <p:nvPr/>
        </p:nvSpPr>
        <p:spPr>
          <a:xfrm rot="5400000">
            <a:off x="9048483" y="2941355"/>
            <a:ext cx="400036" cy="4104000"/>
          </a:xfrm>
          <a:prstGeom prst="rightBrace">
            <a:avLst>
              <a:gd name="adj1" fmla="val 0"/>
              <a:gd name="adj2" fmla="val 50000"/>
            </a:avLst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3596915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extreme test data in a test table</a:t>
            </a:r>
          </a:p>
          <a:p>
            <a:r>
              <a:rPr lang="en-GB" noProof="0" dirty="0"/>
              <a:t>Describe and identify syntax, execution, and </a:t>
            </a:r>
            <a:r>
              <a:rPr lang="en-GB" b="1" noProof="0" dirty="0"/>
              <a:t>logic errors</a:t>
            </a:r>
          </a:p>
          <a:p>
            <a:pPr marL="0" indent="0">
              <a:buNone/>
            </a:pPr>
            <a:endParaRPr lang="en-GB" noProof="0" dirty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090069494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C4DD9-3539-9D4D-8D28-4B53C85E6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Extreme – at limit of </a:t>
            </a:r>
            <a:r>
              <a:rPr lang="en-GB" sz="3200" noProof="0" dirty="0"/>
              <a:t>selection – both sides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549BCE-151E-AB9F-D346-BFE831DC6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Extreme Test Data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7DC2382C-434F-22E9-2991-2B7EBF9D1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22555"/>
            <a:ext cx="855083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1 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 =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183691"/>
                </a:solidFill>
                <a:effectLst/>
                <a:latin typeface="Consolas" panose="020B0609020204030204" pitchFamily="49" charset="0"/>
              </a:rPr>
              <a:t>"Number: 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3 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 &lt;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4 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183691"/>
                </a:solidFill>
                <a:effectLst/>
                <a:latin typeface="Consolas" panose="020B0609020204030204" pitchFamily="49" charset="0"/>
              </a:rPr>
              <a:t>"Negative"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1FB0E53-A26E-BC54-C613-06583AB77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764946"/>
              </p:ext>
            </p:extLst>
          </p:nvPr>
        </p:nvGraphicFramePr>
        <p:xfrm>
          <a:off x="917405" y="5303444"/>
          <a:ext cx="10357190" cy="12959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40413">
                  <a:extLst>
                    <a:ext uri="{9D8B030D-6E8A-4147-A177-3AD203B41FA5}">
                      <a16:colId xmlns:a16="http://schemas.microsoft.com/office/drawing/2014/main" val="1160557696"/>
                    </a:ext>
                  </a:extLst>
                </a:gridCol>
                <a:gridCol w="1548883">
                  <a:extLst>
                    <a:ext uri="{9D8B030D-6E8A-4147-A177-3AD203B41FA5}">
                      <a16:colId xmlns:a16="http://schemas.microsoft.com/office/drawing/2014/main" val="2265465377"/>
                    </a:ext>
                  </a:extLst>
                </a:gridCol>
                <a:gridCol w="1294649">
                  <a:extLst>
                    <a:ext uri="{9D8B030D-6E8A-4147-A177-3AD203B41FA5}">
                      <a16:colId xmlns:a16="http://schemas.microsoft.com/office/drawing/2014/main" val="2557592464"/>
                    </a:ext>
                  </a:extLst>
                </a:gridCol>
                <a:gridCol w="1294649">
                  <a:extLst>
                    <a:ext uri="{9D8B030D-6E8A-4147-A177-3AD203B41FA5}">
                      <a16:colId xmlns:a16="http://schemas.microsoft.com/office/drawing/2014/main" val="35081228"/>
                    </a:ext>
                  </a:extLst>
                </a:gridCol>
                <a:gridCol w="1294649">
                  <a:extLst>
                    <a:ext uri="{9D8B030D-6E8A-4147-A177-3AD203B41FA5}">
                      <a16:colId xmlns:a16="http://schemas.microsoft.com/office/drawing/2014/main" val="2378456429"/>
                    </a:ext>
                  </a:extLst>
                </a:gridCol>
                <a:gridCol w="1294649">
                  <a:extLst>
                    <a:ext uri="{9D8B030D-6E8A-4147-A177-3AD203B41FA5}">
                      <a16:colId xmlns:a16="http://schemas.microsoft.com/office/drawing/2014/main" val="3827189402"/>
                    </a:ext>
                  </a:extLst>
                </a:gridCol>
                <a:gridCol w="1294649">
                  <a:extLst>
                    <a:ext uri="{9D8B030D-6E8A-4147-A177-3AD203B41FA5}">
                      <a16:colId xmlns:a16="http://schemas.microsoft.com/office/drawing/2014/main" val="1599985595"/>
                    </a:ext>
                  </a:extLst>
                </a:gridCol>
                <a:gridCol w="1294649">
                  <a:extLst>
                    <a:ext uri="{9D8B030D-6E8A-4147-A177-3AD203B41FA5}">
                      <a16:colId xmlns:a16="http://schemas.microsoft.com/office/drawing/2014/main" val="3248446210"/>
                    </a:ext>
                  </a:extLst>
                </a:gridCol>
              </a:tblGrid>
              <a:tr h="647990">
                <a:tc>
                  <a:txBody>
                    <a:bodyPr/>
                    <a:lstStyle/>
                    <a:p>
                      <a:r>
                        <a:rPr lang="en-GB" sz="2800" dirty="0"/>
                        <a:t>Line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b="1" dirty="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8156889"/>
                  </a:ext>
                </a:extLst>
              </a:tr>
              <a:tr h="647990">
                <a:tc>
                  <a:txBody>
                    <a:bodyPr/>
                    <a:lstStyle/>
                    <a:p>
                      <a:r>
                        <a:rPr lang="en-GB" sz="2800" dirty="0"/>
                        <a:t>Line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b="1" dirty="0"/>
                        <a:t>Boolean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02702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695AAA3-A373-4FB3-9109-43A393CCD80B}"/>
              </a:ext>
            </a:extLst>
          </p:cNvPr>
          <p:cNvSpPr txBox="1"/>
          <p:nvPr/>
        </p:nvSpPr>
        <p:spPr>
          <a:xfrm>
            <a:off x="3836159" y="5305103"/>
            <a:ext cx="72218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-3         -2         -1          0          1          2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1901F56-8847-4ED1-22AF-E0FE259B466B}"/>
              </a:ext>
            </a:extLst>
          </p:cNvPr>
          <p:cNvGrpSpPr/>
          <p:nvPr/>
        </p:nvGrpSpPr>
        <p:grpSpPr>
          <a:xfrm>
            <a:off x="6096000" y="4817964"/>
            <a:ext cx="2584537" cy="1781460"/>
            <a:chOff x="6096000" y="4817964"/>
            <a:chExt cx="2584537" cy="178146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20CE1FB-F213-948B-6A89-D8410F65254F}"/>
                </a:ext>
              </a:extLst>
            </p:cNvPr>
            <p:cNvSpPr/>
            <p:nvPr/>
          </p:nvSpPr>
          <p:spPr>
            <a:xfrm>
              <a:off x="6096000" y="5303444"/>
              <a:ext cx="2584537" cy="1295980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AD9BC3-916B-DEB8-8933-17BA5040DD72}"/>
                </a:ext>
              </a:extLst>
            </p:cNvPr>
            <p:cNvSpPr txBox="1"/>
            <p:nvPr/>
          </p:nvSpPr>
          <p:spPr>
            <a:xfrm>
              <a:off x="6146485" y="4817964"/>
              <a:ext cx="248356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>
                  <a:solidFill>
                    <a:srgbClr val="7030A0"/>
                  </a:solidFill>
                </a:rPr>
                <a:t>Extreme Values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8CED7C0-A3E7-B61A-9579-912948FB8574}"/>
              </a:ext>
            </a:extLst>
          </p:cNvPr>
          <p:cNvSpPr txBox="1"/>
          <p:nvPr/>
        </p:nvSpPr>
        <p:spPr>
          <a:xfrm>
            <a:off x="3660794" y="5941479"/>
            <a:ext cx="1012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7030A0"/>
                </a:solidFill>
              </a:rPr>
              <a:t>True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7655B3-E95E-416C-186A-4F401899A90F}"/>
              </a:ext>
            </a:extLst>
          </p:cNvPr>
          <p:cNvSpPr txBox="1"/>
          <p:nvPr/>
        </p:nvSpPr>
        <p:spPr>
          <a:xfrm>
            <a:off x="4953060" y="5956093"/>
            <a:ext cx="1012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7030A0"/>
                </a:solidFill>
              </a:rPr>
              <a:t>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4123E-D472-5B5B-CFA3-7760833B324F}"/>
              </a:ext>
            </a:extLst>
          </p:cNvPr>
          <p:cNvSpPr txBox="1"/>
          <p:nvPr/>
        </p:nvSpPr>
        <p:spPr>
          <a:xfrm>
            <a:off x="6245326" y="5945655"/>
            <a:ext cx="1012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7030A0"/>
                </a:solidFill>
              </a:rPr>
              <a:t>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EAA3E2-7982-26BD-F3D8-DB6B382FD7DD}"/>
              </a:ext>
            </a:extLst>
          </p:cNvPr>
          <p:cNvSpPr txBox="1"/>
          <p:nvPr/>
        </p:nvSpPr>
        <p:spPr>
          <a:xfrm>
            <a:off x="7474962" y="5947743"/>
            <a:ext cx="1121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7030A0"/>
                </a:solidFill>
              </a:rPr>
              <a:t>False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F8EE4B-9E57-D976-2BB9-1913D7E05DD0}"/>
              </a:ext>
            </a:extLst>
          </p:cNvPr>
          <p:cNvSpPr txBox="1"/>
          <p:nvPr/>
        </p:nvSpPr>
        <p:spPr>
          <a:xfrm>
            <a:off x="8767228" y="5949831"/>
            <a:ext cx="1121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7030A0"/>
                </a:solidFill>
              </a:rPr>
              <a:t>False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1E57EF-E573-9D88-6E1C-89437FDDF413}"/>
              </a:ext>
            </a:extLst>
          </p:cNvPr>
          <p:cNvSpPr txBox="1"/>
          <p:nvPr/>
        </p:nvSpPr>
        <p:spPr>
          <a:xfrm>
            <a:off x="10059494" y="5951919"/>
            <a:ext cx="1121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7030A0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740556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 uiExpand="1" build="p"/>
      <p:bldP spid="15" grpId="0"/>
      <p:bldP spid="7" grpId="0"/>
      <p:bldP spid="8" grpId="0"/>
      <p:bldP spid="9" grpId="0"/>
      <p:bldP spid="10" grpId="0"/>
      <p:bldP spid="11" grpId="0"/>
      <p:bldP spid="14" grpId="0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C4DD9-3539-9D4D-8D28-4B53C85E6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Extreme – at limit of </a:t>
            </a:r>
            <a:r>
              <a:rPr lang="en-GB" sz="3200" noProof="0" dirty="0"/>
              <a:t>selection – both sides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549BCE-151E-AB9F-D346-BFE831DC6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Extreme Test Data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7DC2382C-434F-22E9-2991-2B7EBF9D1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22555"/>
            <a:ext cx="855083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1 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 =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183691"/>
                </a:solidFill>
                <a:effectLst/>
                <a:latin typeface="Consolas" panose="020B0609020204030204" pitchFamily="49" charset="0"/>
              </a:rPr>
              <a:t>"Number: 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3 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 &lt;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4 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183691"/>
                </a:solidFill>
                <a:effectLst/>
                <a:latin typeface="Consolas" panose="020B0609020204030204" pitchFamily="49" charset="0"/>
              </a:rPr>
              <a:t>"Negative"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1FB0E53-A26E-BC54-C613-06583AB77B85}"/>
              </a:ext>
            </a:extLst>
          </p:cNvPr>
          <p:cNvGraphicFramePr>
            <a:graphicFrameLocks noGrp="1"/>
          </p:cNvGraphicFramePr>
          <p:nvPr/>
        </p:nvGraphicFramePr>
        <p:xfrm>
          <a:off x="917405" y="5303444"/>
          <a:ext cx="10357190" cy="12959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40413">
                  <a:extLst>
                    <a:ext uri="{9D8B030D-6E8A-4147-A177-3AD203B41FA5}">
                      <a16:colId xmlns:a16="http://schemas.microsoft.com/office/drawing/2014/main" val="1160557696"/>
                    </a:ext>
                  </a:extLst>
                </a:gridCol>
                <a:gridCol w="1548883">
                  <a:extLst>
                    <a:ext uri="{9D8B030D-6E8A-4147-A177-3AD203B41FA5}">
                      <a16:colId xmlns:a16="http://schemas.microsoft.com/office/drawing/2014/main" val="2265465377"/>
                    </a:ext>
                  </a:extLst>
                </a:gridCol>
                <a:gridCol w="1294649">
                  <a:extLst>
                    <a:ext uri="{9D8B030D-6E8A-4147-A177-3AD203B41FA5}">
                      <a16:colId xmlns:a16="http://schemas.microsoft.com/office/drawing/2014/main" val="2557592464"/>
                    </a:ext>
                  </a:extLst>
                </a:gridCol>
                <a:gridCol w="1294649">
                  <a:extLst>
                    <a:ext uri="{9D8B030D-6E8A-4147-A177-3AD203B41FA5}">
                      <a16:colId xmlns:a16="http://schemas.microsoft.com/office/drawing/2014/main" val="35081228"/>
                    </a:ext>
                  </a:extLst>
                </a:gridCol>
                <a:gridCol w="1294649">
                  <a:extLst>
                    <a:ext uri="{9D8B030D-6E8A-4147-A177-3AD203B41FA5}">
                      <a16:colId xmlns:a16="http://schemas.microsoft.com/office/drawing/2014/main" val="2378456429"/>
                    </a:ext>
                  </a:extLst>
                </a:gridCol>
                <a:gridCol w="1294649">
                  <a:extLst>
                    <a:ext uri="{9D8B030D-6E8A-4147-A177-3AD203B41FA5}">
                      <a16:colId xmlns:a16="http://schemas.microsoft.com/office/drawing/2014/main" val="3827189402"/>
                    </a:ext>
                  </a:extLst>
                </a:gridCol>
                <a:gridCol w="1294649">
                  <a:extLst>
                    <a:ext uri="{9D8B030D-6E8A-4147-A177-3AD203B41FA5}">
                      <a16:colId xmlns:a16="http://schemas.microsoft.com/office/drawing/2014/main" val="1599985595"/>
                    </a:ext>
                  </a:extLst>
                </a:gridCol>
                <a:gridCol w="1294649">
                  <a:extLst>
                    <a:ext uri="{9D8B030D-6E8A-4147-A177-3AD203B41FA5}">
                      <a16:colId xmlns:a16="http://schemas.microsoft.com/office/drawing/2014/main" val="3248446210"/>
                    </a:ext>
                  </a:extLst>
                </a:gridCol>
              </a:tblGrid>
              <a:tr h="647990">
                <a:tc>
                  <a:txBody>
                    <a:bodyPr/>
                    <a:lstStyle/>
                    <a:p>
                      <a:r>
                        <a:rPr lang="en-GB" sz="2800" dirty="0"/>
                        <a:t>Line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b="1" dirty="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8156889"/>
                  </a:ext>
                </a:extLst>
              </a:tr>
              <a:tr h="647990">
                <a:tc>
                  <a:txBody>
                    <a:bodyPr/>
                    <a:lstStyle/>
                    <a:p>
                      <a:r>
                        <a:rPr lang="en-GB" sz="2800" dirty="0"/>
                        <a:t>Line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b="1" dirty="0"/>
                        <a:t>Boolean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02702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695AAA3-A373-4FB3-9109-43A393CCD80B}"/>
              </a:ext>
            </a:extLst>
          </p:cNvPr>
          <p:cNvSpPr txBox="1"/>
          <p:nvPr/>
        </p:nvSpPr>
        <p:spPr>
          <a:xfrm>
            <a:off x="3836159" y="5305103"/>
            <a:ext cx="72218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-3         -2         -1          0          1          2</a:t>
            </a:r>
          </a:p>
        </p:txBody>
      </p:sp>
    </p:spTree>
    <p:extLst>
      <p:ext uri="{BB962C8B-B14F-4D97-AF65-F5344CB8AC3E}">
        <p14:creationId xmlns:p14="http://schemas.microsoft.com/office/powerpoint/2010/main" val="2605745702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7DE297F-6564-4CBD-AD3B-BA92602148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902155"/>
              </p:ext>
            </p:extLst>
          </p:nvPr>
        </p:nvGraphicFramePr>
        <p:xfrm>
          <a:off x="838200" y="2380517"/>
          <a:ext cx="10515600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791754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4430332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6420456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5538997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62629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3200"/>
                        <a:t>Test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Test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858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GB" sz="3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62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GB" sz="3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/>
                        <a:t>Extreme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 dirty="0"/>
                        <a:t>Fail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267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GB" sz="32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/>
                        <a:t>Extreme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12357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14983A9-E2E9-43A2-B86A-DEDF0F58A045}"/>
              </a:ext>
            </a:extLst>
          </p:cNvPr>
          <p:cNvSpPr/>
          <p:nvPr/>
        </p:nvSpPr>
        <p:spPr>
          <a:xfrm>
            <a:off x="7147224" y="2979985"/>
            <a:ext cx="4210538" cy="57833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7CC87C-B84A-48D0-8DF7-423D5229E530}"/>
              </a:ext>
            </a:extLst>
          </p:cNvPr>
          <p:cNvSpPr/>
          <p:nvPr/>
        </p:nvSpPr>
        <p:spPr>
          <a:xfrm>
            <a:off x="7147224" y="3542668"/>
            <a:ext cx="4210538" cy="57833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5FDA1C-C932-4450-B9F2-410E50319613}"/>
              </a:ext>
            </a:extLst>
          </p:cNvPr>
          <p:cNvSpPr/>
          <p:nvPr/>
        </p:nvSpPr>
        <p:spPr>
          <a:xfrm>
            <a:off x="7147223" y="4121006"/>
            <a:ext cx="4210538" cy="57833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2DE6F2-F66D-472F-A42E-6DADBAD443D9}"/>
              </a:ext>
            </a:extLst>
          </p:cNvPr>
          <p:cNvSpPr/>
          <p:nvPr/>
        </p:nvSpPr>
        <p:spPr>
          <a:xfrm>
            <a:off x="834238" y="2979985"/>
            <a:ext cx="6312986" cy="57833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2EDFC2-7CF1-4467-A92E-C957F0C52783}"/>
              </a:ext>
            </a:extLst>
          </p:cNvPr>
          <p:cNvSpPr/>
          <p:nvPr/>
        </p:nvSpPr>
        <p:spPr>
          <a:xfrm>
            <a:off x="834238" y="3542668"/>
            <a:ext cx="6312986" cy="57833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5945FA-1EAC-4E76-ADD7-807F0AC65CF1}"/>
              </a:ext>
            </a:extLst>
          </p:cNvPr>
          <p:cNvSpPr/>
          <p:nvPr/>
        </p:nvSpPr>
        <p:spPr>
          <a:xfrm>
            <a:off x="834238" y="4121006"/>
            <a:ext cx="6312986" cy="57833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F542EC-58FE-4583-BCB4-D1E9B5D62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Test table – Extreme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E3FE3D-B840-41C3-9C22-8ADFD1ED70E9}"/>
              </a:ext>
            </a:extLst>
          </p:cNvPr>
          <p:cNvSpPr txBox="1"/>
          <p:nvPr/>
        </p:nvSpPr>
        <p:spPr>
          <a:xfrm>
            <a:off x="838198" y="1657915"/>
            <a:ext cx="91962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b="1" dirty="0"/>
              <a:t>Problem: Determine if an integer bigger than 10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32D23B8-95DD-4D8E-8EF1-0DEC0E440F4F}"/>
              </a:ext>
            </a:extLst>
          </p:cNvPr>
          <p:cNvGrpSpPr/>
          <p:nvPr/>
        </p:nvGrpSpPr>
        <p:grpSpPr>
          <a:xfrm>
            <a:off x="838199" y="4754657"/>
            <a:ext cx="6228000" cy="1125367"/>
            <a:chOff x="838199" y="3687227"/>
            <a:chExt cx="6305062" cy="1125367"/>
          </a:xfrm>
        </p:grpSpPr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78E8B41A-764A-4572-8841-22FCCC355E42}"/>
                </a:ext>
              </a:extLst>
            </p:cNvPr>
            <p:cNvSpPr/>
            <p:nvPr/>
          </p:nvSpPr>
          <p:spPr>
            <a:xfrm rot="5400000">
              <a:off x="3790712" y="734714"/>
              <a:ext cx="400036" cy="6305062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6EC5F4D-0D78-49EA-A9C1-5E451C4E03A0}"/>
                </a:ext>
              </a:extLst>
            </p:cNvPr>
            <p:cNvSpPr txBox="1"/>
            <p:nvPr/>
          </p:nvSpPr>
          <p:spPr>
            <a:xfrm>
              <a:off x="1093112" y="4289374"/>
              <a:ext cx="57952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/>
                <a:t>Do this before writing code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D0DAC-C3AD-4F8F-84C2-BBC5C95E6465}"/>
              </a:ext>
            </a:extLst>
          </p:cNvPr>
          <p:cNvGrpSpPr/>
          <p:nvPr/>
        </p:nvGrpSpPr>
        <p:grpSpPr>
          <a:xfrm>
            <a:off x="7095525" y="4754657"/>
            <a:ext cx="4320819" cy="1141021"/>
            <a:chOff x="2966007" y="3687227"/>
            <a:chExt cx="4320819" cy="1141021"/>
          </a:xfrm>
        </p:grpSpPr>
        <p:sp>
          <p:nvSpPr>
            <p:cNvPr id="21" name="Right Brace 20">
              <a:extLst>
                <a:ext uri="{FF2B5EF4-FFF2-40B4-BE49-F238E27FC236}">
                  <a16:creationId xmlns:a16="http://schemas.microsoft.com/office/drawing/2014/main" id="{5DED7B09-4F60-4C56-99BF-0766618395BC}"/>
                </a:ext>
              </a:extLst>
            </p:cNvPr>
            <p:cNvSpPr/>
            <p:nvPr/>
          </p:nvSpPr>
          <p:spPr>
            <a:xfrm rot="5400000">
              <a:off x="4922416" y="1866417"/>
              <a:ext cx="400036" cy="4041655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6AC275A-15BB-4410-B6AE-668BE67ED3BB}"/>
                </a:ext>
              </a:extLst>
            </p:cNvPr>
            <p:cNvSpPr txBox="1"/>
            <p:nvPr/>
          </p:nvSpPr>
          <p:spPr>
            <a:xfrm>
              <a:off x="2966007" y="4305028"/>
              <a:ext cx="43208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/>
                <a:t>Do this when running tests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7F63B39-CBA4-4362-9FBC-F02855E067F2}"/>
              </a:ext>
            </a:extLst>
          </p:cNvPr>
          <p:cNvSpPr txBox="1"/>
          <p:nvPr/>
        </p:nvSpPr>
        <p:spPr>
          <a:xfrm>
            <a:off x="3535700" y="6048412"/>
            <a:ext cx="5724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Iterate until it passes </a:t>
            </a:r>
            <a:r>
              <a:rPr lang="en-GB" sz="2800" b="1" i="1" dirty="0">
                <a:solidFill>
                  <a:srgbClr val="7030A0"/>
                </a:solidFill>
              </a:rPr>
              <a:t>all</a:t>
            </a:r>
            <a:r>
              <a:rPr lang="en-GB" sz="2800" b="1" dirty="0">
                <a:solidFill>
                  <a:srgbClr val="7030A0"/>
                </a:solidFill>
              </a:rPr>
              <a:t> the tests!</a:t>
            </a:r>
          </a:p>
        </p:txBody>
      </p:sp>
    </p:spTree>
    <p:extLst>
      <p:ext uri="{BB962C8B-B14F-4D97-AF65-F5344CB8AC3E}">
        <p14:creationId xmlns:p14="http://schemas.microsoft.com/office/powerpoint/2010/main" val="2641530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  <p:bldP spid="5" grpId="0" animBg="1"/>
      <p:bldP spid="6" grpId="0" animBg="1"/>
      <p:bldP spid="7" grpId="0" animBg="1"/>
      <p:bldP spid="15" grpId="0"/>
      <p:bldP spid="23" grpId="0"/>
    </p:bld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7DE297F-6564-4CBD-AD3B-BA92602148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34190"/>
              </p:ext>
            </p:extLst>
          </p:nvPr>
        </p:nvGraphicFramePr>
        <p:xfrm>
          <a:off x="838200" y="2380517"/>
          <a:ext cx="10515600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791754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4430332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6420456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5538997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62629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3200"/>
                        <a:t>Test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Test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858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endParaRPr lang="en-GB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62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/>
                        <a:t>Extreme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267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/>
                        <a:t>Extreme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8449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1F542EC-58FE-4583-BCB4-D1E9B5D62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Test table – Extreme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E3FE3D-B840-41C3-9C22-8ADFD1ED70E9}"/>
              </a:ext>
            </a:extLst>
          </p:cNvPr>
          <p:cNvSpPr txBox="1"/>
          <p:nvPr/>
        </p:nvSpPr>
        <p:spPr>
          <a:xfrm>
            <a:off x="838198" y="1657915"/>
            <a:ext cx="89192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b="1" dirty="0"/>
              <a:t>Problem: Determine if an integer bigger than 10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B95E0425-EBDF-46AE-BB76-85FFB091F368}"/>
              </a:ext>
            </a:extLst>
          </p:cNvPr>
          <p:cNvSpPr/>
          <p:nvPr/>
        </p:nvSpPr>
        <p:spPr>
          <a:xfrm rot="5400000">
            <a:off x="3752181" y="1910122"/>
            <a:ext cx="400036" cy="6228000"/>
          </a:xfrm>
          <a:prstGeom prst="rightBrace">
            <a:avLst>
              <a:gd name="adj1" fmla="val 0"/>
              <a:gd name="adj2" fmla="val 50000"/>
            </a:avLst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6C682ADD-8674-4E17-A2A0-5AED272F7BE1}"/>
              </a:ext>
            </a:extLst>
          </p:cNvPr>
          <p:cNvSpPr/>
          <p:nvPr/>
        </p:nvSpPr>
        <p:spPr>
          <a:xfrm rot="5400000">
            <a:off x="9063504" y="3003294"/>
            <a:ext cx="400036" cy="4041655"/>
          </a:xfrm>
          <a:prstGeom prst="rightBrace">
            <a:avLst>
              <a:gd name="adj1" fmla="val 0"/>
              <a:gd name="adj2" fmla="val 50000"/>
            </a:avLst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8488731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conditional loops</a:t>
            </a:r>
          </a:p>
        </p:txBody>
      </p:sp>
    </p:spTree>
    <p:extLst>
      <p:ext uri="{BB962C8B-B14F-4D97-AF65-F5344CB8AC3E}">
        <p14:creationId xmlns:p14="http://schemas.microsoft.com/office/powerpoint/2010/main" val="119494589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D4138A-7198-4970-B917-D68D685836BD}"/>
              </a:ext>
            </a:extLst>
          </p:cNvPr>
          <p:cNvSpPr txBox="1"/>
          <p:nvPr/>
        </p:nvSpPr>
        <p:spPr>
          <a:xfrm>
            <a:off x="1589450" y="2333396"/>
            <a:ext cx="8873706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2400"/>
              </a:spcAft>
            </a:pPr>
            <a:r>
              <a:rPr lang="en-GB" sz="4400">
                <a:effectLst/>
                <a:latin typeface="Consolas" panose="020B0609020204030204" pitchFamily="49" charset="0"/>
              </a:rPr>
              <a:t>WHILE condition is True DO</a:t>
            </a:r>
          </a:p>
          <a:p>
            <a:pPr marL="0" marR="0">
              <a:spcBef>
                <a:spcPts val="0"/>
              </a:spcBef>
              <a:spcAft>
                <a:spcPts val="2400"/>
              </a:spcAft>
            </a:pPr>
            <a:r>
              <a:rPr lang="en-GB" sz="4400">
                <a:latin typeface="Consolas" panose="020B0609020204030204" pitchFamily="49" charset="0"/>
              </a:rPr>
              <a:t>    </a:t>
            </a:r>
            <a:r>
              <a:rPr lang="en-GB" sz="4400">
                <a:effectLst/>
                <a:latin typeface="Consolas" panose="020B0609020204030204" pitchFamily="49" charset="0"/>
              </a:rPr>
              <a:t>something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>
                <a:latin typeface="Consolas" panose="020B0609020204030204" pitchFamily="49" charset="0"/>
              </a:rPr>
              <a:t>END WHILE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904787" y="3281504"/>
            <a:ext cx="3818630" cy="842994"/>
            <a:chOff x="7638411" y="4231473"/>
            <a:chExt cx="3818630" cy="842994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9D020B91-7067-4A9C-9D08-9C39E10155FC}"/>
                </a:ext>
              </a:extLst>
            </p:cNvPr>
            <p:cNvSpPr/>
            <p:nvPr/>
          </p:nvSpPr>
          <p:spPr>
            <a:xfrm>
              <a:off x="7638411" y="4231473"/>
              <a:ext cx="285556" cy="842994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8A8750E-48D9-426C-B2E1-2F205372B95F}"/>
                </a:ext>
              </a:extLst>
            </p:cNvPr>
            <p:cNvSpPr txBox="1"/>
            <p:nvPr/>
          </p:nvSpPr>
          <p:spPr>
            <a:xfrm>
              <a:off x="8142486" y="4391360"/>
              <a:ext cx="33145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b="1"/>
                <a:t>Code to be repeated</a:t>
              </a:r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Conditional Loop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EAF66A-6F9F-42BF-A7C6-EC5E620A0C62}"/>
              </a:ext>
            </a:extLst>
          </p:cNvPr>
          <p:cNvSpPr txBox="1"/>
          <p:nvPr/>
        </p:nvSpPr>
        <p:spPr>
          <a:xfrm>
            <a:off x="2688945" y="5937418"/>
            <a:ext cx="68141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Code is only run if the condition is True</a:t>
            </a:r>
          </a:p>
        </p:txBody>
      </p:sp>
    </p:spTree>
    <p:extLst>
      <p:ext uri="{BB962C8B-B14F-4D97-AF65-F5344CB8AC3E}">
        <p14:creationId xmlns:p14="http://schemas.microsoft.com/office/powerpoint/2010/main" val="2773121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4" grpId="0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D4138A-7198-4970-B917-D68D685836BD}"/>
              </a:ext>
            </a:extLst>
          </p:cNvPr>
          <p:cNvSpPr txBox="1"/>
          <p:nvPr/>
        </p:nvSpPr>
        <p:spPr>
          <a:xfrm>
            <a:off x="1589450" y="2333396"/>
            <a:ext cx="8873706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2400"/>
              </a:spcAft>
            </a:pPr>
            <a:r>
              <a:rPr lang="en-GB" sz="4400">
                <a:effectLst/>
                <a:latin typeface="Consolas" panose="020B0609020204030204" pitchFamily="49" charset="0"/>
              </a:rPr>
              <a:t>      condition is True DO</a:t>
            </a:r>
          </a:p>
          <a:p>
            <a:pPr marL="0" marR="0">
              <a:spcBef>
                <a:spcPts val="0"/>
              </a:spcBef>
              <a:spcAft>
                <a:spcPts val="2400"/>
              </a:spcAft>
            </a:pPr>
            <a:endParaRPr lang="en-GB" sz="4400"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Conditional Loop</a:t>
            </a:r>
          </a:p>
        </p:txBody>
      </p:sp>
    </p:spTree>
    <p:extLst>
      <p:ext uri="{BB962C8B-B14F-4D97-AF65-F5344CB8AC3E}">
        <p14:creationId xmlns:p14="http://schemas.microsoft.com/office/powerpoint/2010/main" val="375778711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Conditional Loop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D4138A-7198-4970-B917-D68D685836BD}"/>
              </a:ext>
            </a:extLst>
          </p:cNvPr>
          <p:cNvSpPr txBox="1"/>
          <p:nvPr/>
        </p:nvSpPr>
        <p:spPr>
          <a:xfrm>
            <a:off x="1100475" y="1539508"/>
            <a:ext cx="1037682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number = 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"Number: "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while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number &lt; 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10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    number = number + 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(number)</a:t>
            </a:r>
            <a:endParaRPr lang="en-US" altLang="en-US" sz="6000" dirty="0">
              <a:latin typeface="Arial" panose="020B0604020202020204" pitchFamily="34" charset="0"/>
            </a:endParaRPr>
          </a:p>
        </p:txBody>
      </p:sp>
      <p:grpSp>
        <p:nvGrpSpPr>
          <p:cNvPr id="7" name="Condition">
            <a:extLst>
              <a:ext uri="{FF2B5EF4-FFF2-40B4-BE49-F238E27FC236}">
                <a16:creationId xmlns:a16="http://schemas.microsoft.com/office/drawing/2014/main" id="{615AE7FF-1299-4FCF-AA38-D260E396347C}"/>
              </a:ext>
            </a:extLst>
          </p:cNvPr>
          <p:cNvGrpSpPr/>
          <p:nvPr/>
        </p:nvGrpSpPr>
        <p:grpSpPr>
          <a:xfrm>
            <a:off x="3595227" y="2712851"/>
            <a:ext cx="3515288" cy="950429"/>
            <a:chOff x="3522861" y="2214880"/>
            <a:chExt cx="2932650" cy="950429"/>
          </a:xfrm>
        </p:grpSpPr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33C90929-2D96-414B-A63A-EC0A40052831}"/>
                </a:ext>
              </a:extLst>
            </p:cNvPr>
            <p:cNvSpPr/>
            <p:nvPr/>
          </p:nvSpPr>
          <p:spPr>
            <a:xfrm rot="16200000">
              <a:off x="4793775" y="1503573"/>
              <a:ext cx="390822" cy="2932650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5FCABEC-3649-416B-A5C5-3CB102838FFF}"/>
                </a:ext>
              </a:extLst>
            </p:cNvPr>
            <p:cNvSpPr txBox="1"/>
            <p:nvPr/>
          </p:nvSpPr>
          <p:spPr>
            <a:xfrm>
              <a:off x="3793878" y="2214880"/>
              <a:ext cx="23906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/>
                <a:t>Condition</a:t>
              </a:r>
            </a:p>
          </p:txBody>
        </p:sp>
      </p:grpSp>
      <p:sp>
        <p:nvSpPr>
          <p:cNvPr id="14" name="Comment">
            <a:extLst>
              <a:ext uri="{FF2B5EF4-FFF2-40B4-BE49-F238E27FC236}">
                <a16:creationId xmlns:a16="http://schemas.microsoft.com/office/drawing/2014/main" id="{22B6715E-B827-4AAB-A07D-11FD59183E4D}"/>
              </a:ext>
            </a:extLst>
          </p:cNvPr>
          <p:cNvSpPr txBox="1"/>
          <p:nvPr/>
        </p:nvSpPr>
        <p:spPr>
          <a:xfrm>
            <a:off x="1699626" y="6080640"/>
            <a:ext cx="70253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Code repeats while the condition is True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78CDFA89-7062-4624-A533-A1F90C9DB30E}"/>
              </a:ext>
            </a:extLst>
          </p:cNvPr>
          <p:cNvSpPr/>
          <p:nvPr/>
        </p:nvSpPr>
        <p:spPr>
          <a:xfrm>
            <a:off x="1100475" y="3827695"/>
            <a:ext cx="2143031" cy="2208414"/>
          </a:xfrm>
          <a:prstGeom prst="arc">
            <a:avLst>
              <a:gd name="adj1" fmla="val 2425293"/>
              <a:gd name="adj2" fmla="val 14897367"/>
            </a:avLst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3" name="False">
            <a:extLst>
              <a:ext uri="{FF2B5EF4-FFF2-40B4-BE49-F238E27FC236}">
                <a16:creationId xmlns:a16="http://schemas.microsoft.com/office/drawing/2014/main" id="{95A2025C-0F90-DEB5-0F07-23FBE8054851}"/>
              </a:ext>
            </a:extLst>
          </p:cNvPr>
          <p:cNvGrpSpPr/>
          <p:nvPr/>
        </p:nvGrpSpPr>
        <p:grpSpPr>
          <a:xfrm>
            <a:off x="8255688" y="3460457"/>
            <a:ext cx="1130497" cy="2722684"/>
            <a:chOff x="8255688" y="2793707"/>
            <a:chExt cx="1130497" cy="2722684"/>
          </a:xfrm>
        </p:grpSpPr>
        <p:sp>
          <p:nvSpPr>
            <p:cNvPr id="16" name="Arrow: Bent 15">
              <a:extLst>
                <a:ext uri="{FF2B5EF4-FFF2-40B4-BE49-F238E27FC236}">
                  <a16:creationId xmlns:a16="http://schemas.microsoft.com/office/drawing/2014/main" id="{127810C9-7F76-4773-A4B8-55C72C602687}"/>
                </a:ext>
              </a:extLst>
            </p:cNvPr>
            <p:cNvSpPr/>
            <p:nvPr/>
          </p:nvSpPr>
          <p:spPr>
            <a:xfrm rot="5400000">
              <a:off x="7715453" y="3883682"/>
              <a:ext cx="2277548" cy="987869"/>
            </a:xfrm>
            <a:prstGeom prst="bentArrow">
              <a:avLst>
                <a:gd name="adj1" fmla="val 13349"/>
                <a:gd name="adj2" fmla="val 13886"/>
                <a:gd name="adj3" fmla="val 13552"/>
                <a:gd name="adj4" fmla="val 4375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64D0376-0026-E663-9A3D-7E7A2E1BFF9F}"/>
                </a:ext>
              </a:extLst>
            </p:cNvPr>
            <p:cNvSpPr txBox="1"/>
            <p:nvPr/>
          </p:nvSpPr>
          <p:spPr>
            <a:xfrm>
              <a:off x="8255688" y="2793707"/>
              <a:ext cx="113049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b="1" dirty="0">
                  <a:solidFill>
                    <a:srgbClr val="7030A0"/>
                  </a:solidFill>
                </a:rPr>
                <a:t>False</a:t>
              </a:r>
              <a:endParaRPr lang="en-GB" sz="3200" dirty="0"/>
            </a:p>
          </p:txBody>
        </p:sp>
      </p:grpSp>
      <p:grpSp>
        <p:nvGrpSpPr>
          <p:cNvPr id="22" name="True">
            <a:extLst>
              <a:ext uri="{FF2B5EF4-FFF2-40B4-BE49-F238E27FC236}">
                <a16:creationId xmlns:a16="http://schemas.microsoft.com/office/drawing/2014/main" id="{FD3F4644-29B6-F562-67FE-6121846F6FA0}"/>
              </a:ext>
            </a:extLst>
          </p:cNvPr>
          <p:cNvGrpSpPr/>
          <p:nvPr/>
        </p:nvGrpSpPr>
        <p:grpSpPr>
          <a:xfrm>
            <a:off x="7241652" y="3447616"/>
            <a:ext cx="1130497" cy="988263"/>
            <a:chOff x="7241652" y="2780866"/>
            <a:chExt cx="1130497" cy="988263"/>
          </a:xfrm>
        </p:grpSpPr>
        <p:sp>
          <p:nvSpPr>
            <p:cNvPr id="6" name="Arrow: Bent 5">
              <a:extLst>
                <a:ext uri="{FF2B5EF4-FFF2-40B4-BE49-F238E27FC236}">
                  <a16:creationId xmlns:a16="http://schemas.microsoft.com/office/drawing/2014/main" id="{1DEBE41E-516E-C2DF-B0C2-27A82EF2A3CB}"/>
                </a:ext>
              </a:extLst>
            </p:cNvPr>
            <p:cNvSpPr/>
            <p:nvPr/>
          </p:nvSpPr>
          <p:spPr>
            <a:xfrm rot="5400000">
              <a:off x="7577054" y="2998166"/>
              <a:ext cx="538578" cy="1003347"/>
            </a:xfrm>
            <a:prstGeom prst="bentArrow">
              <a:avLst>
                <a:gd name="adj1" fmla="val 24455"/>
                <a:gd name="adj2" fmla="val 26159"/>
                <a:gd name="adj3" fmla="val 24885"/>
                <a:gd name="adj4" fmla="val 4375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45D57EF-7EA7-0D6C-E46D-0700DC4BEE3C}"/>
                </a:ext>
              </a:extLst>
            </p:cNvPr>
            <p:cNvSpPr txBox="1"/>
            <p:nvPr/>
          </p:nvSpPr>
          <p:spPr>
            <a:xfrm>
              <a:off x="7241652" y="2780866"/>
              <a:ext cx="113049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b="1" dirty="0">
                  <a:solidFill>
                    <a:srgbClr val="7030A0"/>
                  </a:solidFill>
                </a:rPr>
                <a:t>True</a:t>
              </a:r>
              <a:endParaRPr lang="en-GB" sz="3200" dirty="0"/>
            </a:p>
          </p:txBody>
        </p:sp>
      </p:grpSp>
      <p:grpSp>
        <p:nvGrpSpPr>
          <p:cNvPr id="19" name="Keyword">
            <a:extLst>
              <a:ext uri="{FF2B5EF4-FFF2-40B4-BE49-F238E27FC236}">
                <a16:creationId xmlns:a16="http://schemas.microsoft.com/office/drawing/2014/main" id="{67A40B78-ECD8-A6C0-1916-D63D15639F38}"/>
              </a:ext>
            </a:extLst>
          </p:cNvPr>
          <p:cNvGrpSpPr/>
          <p:nvPr/>
        </p:nvGrpSpPr>
        <p:grpSpPr>
          <a:xfrm>
            <a:off x="1795613" y="2715744"/>
            <a:ext cx="1518042" cy="950429"/>
            <a:chOff x="3522861" y="2214880"/>
            <a:chExt cx="2932652" cy="950429"/>
          </a:xfrm>
        </p:grpSpPr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7CC42D71-E8BB-7286-C217-248836E8595C}"/>
                </a:ext>
              </a:extLst>
            </p:cNvPr>
            <p:cNvSpPr/>
            <p:nvPr/>
          </p:nvSpPr>
          <p:spPr>
            <a:xfrm rot="16200000">
              <a:off x="4793775" y="1503573"/>
              <a:ext cx="390822" cy="2932650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4FAF530-7836-0610-8CEB-22DDEB5D4FC0}"/>
                </a:ext>
              </a:extLst>
            </p:cNvPr>
            <p:cNvSpPr txBox="1"/>
            <p:nvPr/>
          </p:nvSpPr>
          <p:spPr>
            <a:xfrm>
              <a:off x="3522861" y="2214880"/>
              <a:ext cx="29326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/>
                <a:t>Keyword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0961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2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4" grpId="0" uiExpand="1"/>
      <p:bldP spid="4" grpId="0" animBg="1"/>
    </p:bld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Conditional Loop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D4138A-7198-4970-B917-D68D685836BD}"/>
              </a:ext>
            </a:extLst>
          </p:cNvPr>
          <p:cNvSpPr txBox="1"/>
          <p:nvPr/>
        </p:nvSpPr>
        <p:spPr>
          <a:xfrm>
            <a:off x="1100475" y="1539508"/>
            <a:ext cx="1037682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number = 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"Number: "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while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number &lt; 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10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    number = number + 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(number)</a:t>
            </a:r>
            <a:endParaRPr lang="en-US" altLang="en-US" sz="6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438059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F5D933-FA5C-5580-2909-A3F887B3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solidFill>
                  <a:srgbClr val="FF0000"/>
                </a:solidFill>
              </a:rPr>
              <a:t>While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8412BD-F006-0DF8-F446-FC525ADAB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388" y="1999073"/>
            <a:ext cx="10455254" cy="335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990236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a standard algorithm for input validation</a:t>
            </a:r>
          </a:p>
        </p:txBody>
      </p:sp>
    </p:spTree>
    <p:extLst>
      <p:ext uri="{BB962C8B-B14F-4D97-AF65-F5344CB8AC3E}">
        <p14:creationId xmlns:p14="http://schemas.microsoft.com/office/powerpoint/2010/main" val="2502536425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40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altLang="en-US" sz="40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40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40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"Passengers: "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40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40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"Taxi for "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GB" altLang="en-US" sz="40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40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endParaRPr lang="en-GB" sz="4000" noProof="0" dirty="0">
              <a:latin typeface="Consolas" panose="020B060902020403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User input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C3B351-CA70-DAE1-3985-CB9492668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399"/>
            <a:ext cx="524503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    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65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464800" cy="4460875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Get user input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GB" altLang="en-US" sz="3600" noProof="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Repeat until condition is FALSE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GB" altLang="en-US" sz="3600" noProof="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 Display error message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GB" altLang="en-US" sz="3600" noProof="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 Get user input</a:t>
            </a:r>
            <a:b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GB" altLang="en-US" sz="4800" noProof="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794357" cy="1325563"/>
          </a:xfrm>
        </p:spPr>
        <p:txBody>
          <a:bodyPr/>
          <a:lstStyle/>
          <a:p>
            <a:r>
              <a:rPr lang="en-GB" noProof="0" dirty="0"/>
              <a:t>Input validation – Input Before Loop - Overview</a:t>
            </a:r>
          </a:p>
        </p:txBody>
      </p:sp>
    </p:spTree>
    <p:extLst>
      <p:ext uri="{BB962C8B-B14F-4D97-AF65-F5344CB8AC3E}">
        <p14:creationId xmlns:p14="http://schemas.microsoft.com/office/powerpoint/2010/main" val="176111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464800" cy="4460875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Get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GB" altLang="en-US" sz="3600" noProof="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Repeat until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GB" altLang="en-US" sz="3600" noProof="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 Display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GB" altLang="en-US" sz="3600" noProof="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 Get </a:t>
            </a:r>
            <a:b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GB" altLang="en-US" sz="4800" noProof="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794357" cy="1325563"/>
          </a:xfrm>
        </p:spPr>
        <p:txBody>
          <a:bodyPr/>
          <a:lstStyle/>
          <a:p>
            <a:r>
              <a:rPr lang="en-GB" noProof="0" dirty="0"/>
              <a:t>Input validation – Input Before Loop - Overview</a:t>
            </a:r>
          </a:p>
        </p:txBody>
      </p:sp>
    </p:spTree>
    <p:extLst>
      <p:ext uri="{BB962C8B-B14F-4D97-AF65-F5344CB8AC3E}">
        <p14:creationId xmlns:p14="http://schemas.microsoft.com/office/powerpoint/2010/main" val="3383832553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64800" cy="435133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"Passengers: 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while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"Must be at least 1."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"Passengers: 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Input Validation – Integers – Simple</a:t>
            </a:r>
          </a:p>
        </p:txBody>
      </p:sp>
      <p:sp>
        <p:nvSpPr>
          <p:cNvPr id="2" name="Callout: Bent Line with No Border 8">
            <a:extLst>
              <a:ext uri="{FF2B5EF4-FFF2-40B4-BE49-F238E27FC236}">
                <a16:creationId xmlns:a16="http://schemas.microsoft.com/office/drawing/2014/main" id="{A2C1AD91-92D0-7A90-D920-E2850F61D25A}"/>
              </a:ext>
            </a:extLst>
          </p:cNvPr>
          <p:cNvSpPr/>
          <p:nvPr/>
        </p:nvSpPr>
        <p:spPr>
          <a:xfrm>
            <a:off x="5389451" y="2376098"/>
            <a:ext cx="3676997" cy="862642"/>
          </a:xfrm>
          <a:prstGeom prst="callout2">
            <a:avLst>
              <a:gd name="adj1" fmla="val 49740"/>
              <a:gd name="adj2" fmla="val -893"/>
              <a:gd name="adj3" fmla="val 50231"/>
              <a:gd name="adj4" fmla="val -19072"/>
              <a:gd name="adj5" fmla="val 81702"/>
              <a:gd name="adj6" fmla="val -3197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Must be True to begin</a:t>
            </a:r>
          </a:p>
        </p:txBody>
      </p:sp>
      <p:sp>
        <p:nvSpPr>
          <p:cNvPr id="5" name="Callout: Bent Line with No Border 8">
            <a:extLst>
              <a:ext uri="{FF2B5EF4-FFF2-40B4-BE49-F238E27FC236}">
                <a16:creationId xmlns:a16="http://schemas.microsoft.com/office/drawing/2014/main" id="{252C547F-2959-F203-E437-C1AAC3F5ACDE}"/>
              </a:ext>
            </a:extLst>
          </p:cNvPr>
          <p:cNvSpPr/>
          <p:nvPr/>
        </p:nvSpPr>
        <p:spPr>
          <a:xfrm>
            <a:off x="9603064" y="1050220"/>
            <a:ext cx="2047933" cy="862642"/>
          </a:xfrm>
          <a:prstGeom prst="callout2">
            <a:avLst>
              <a:gd name="adj1" fmla="val 49740"/>
              <a:gd name="adj2" fmla="val -893"/>
              <a:gd name="adj3" fmla="val 50231"/>
              <a:gd name="adj4" fmla="val -19072"/>
              <a:gd name="adj5" fmla="val 102659"/>
              <a:gd name="adj6" fmla="val -4585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User input</a:t>
            </a:r>
          </a:p>
        </p:txBody>
      </p:sp>
      <p:sp>
        <p:nvSpPr>
          <p:cNvPr id="6" name="Callout: Bent Line with No Border 8">
            <a:extLst>
              <a:ext uri="{FF2B5EF4-FFF2-40B4-BE49-F238E27FC236}">
                <a16:creationId xmlns:a16="http://schemas.microsoft.com/office/drawing/2014/main" id="{DEC49CDC-4319-1379-6C2E-CDC29605318A}"/>
              </a:ext>
            </a:extLst>
          </p:cNvPr>
          <p:cNvSpPr/>
          <p:nvPr/>
        </p:nvSpPr>
        <p:spPr>
          <a:xfrm>
            <a:off x="7466790" y="3234636"/>
            <a:ext cx="4184207" cy="862642"/>
          </a:xfrm>
          <a:prstGeom prst="callout2">
            <a:avLst>
              <a:gd name="adj1" fmla="val 49740"/>
              <a:gd name="adj2" fmla="val -893"/>
              <a:gd name="adj3" fmla="val 50231"/>
              <a:gd name="adj4" fmla="val -11876"/>
              <a:gd name="adj5" fmla="val 103815"/>
              <a:gd name="adj6" fmla="val -18932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Error message: meaningful</a:t>
            </a:r>
          </a:p>
        </p:txBody>
      </p:sp>
      <p:sp>
        <p:nvSpPr>
          <p:cNvPr id="8" name="Callout: Bent Line with No Border 8">
            <a:extLst>
              <a:ext uri="{FF2B5EF4-FFF2-40B4-BE49-F238E27FC236}">
                <a16:creationId xmlns:a16="http://schemas.microsoft.com/office/drawing/2014/main" id="{DD5712DF-DE26-4FD0-AF49-A43DAB24FDC4}"/>
              </a:ext>
            </a:extLst>
          </p:cNvPr>
          <p:cNvSpPr/>
          <p:nvPr/>
        </p:nvSpPr>
        <p:spPr>
          <a:xfrm>
            <a:off x="10144067" y="4414172"/>
            <a:ext cx="2047933" cy="862642"/>
          </a:xfrm>
          <a:prstGeom prst="callout2">
            <a:avLst>
              <a:gd name="adj1" fmla="val 49740"/>
              <a:gd name="adj2" fmla="val -893"/>
              <a:gd name="adj3" fmla="val 50231"/>
              <a:gd name="adj4" fmla="val -19072"/>
              <a:gd name="adj5" fmla="val 102659"/>
              <a:gd name="adj6" fmla="val -4585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User input</a:t>
            </a:r>
          </a:p>
        </p:txBody>
      </p:sp>
      <p:sp>
        <p:nvSpPr>
          <p:cNvPr id="7" name="An array is">
            <a:extLst>
              <a:ext uri="{FF2B5EF4-FFF2-40B4-BE49-F238E27FC236}">
                <a16:creationId xmlns:a16="http://schemas.microsoft.com/office/drawing/2014/main" id="{7BCEE1B0-60A8-0A0D-B265-7E236B06F0DF}"/>
              </a:ext>
            </a:extLst>
          </p:cNvPr>
          <p:cNvSpPr txBox="1"/>
          <p:nvPr/>
        </p:nvSpPr>
        <p:spPr>
          <a:xfrm>
            <a:off x="2206040" y="6176963"/>
            <a:ext cx="7779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Conditional loop not used if Line 3 is False</a:t>
            </a:r>
          </a:p>
        </p:txBody>
      </p:sp>
    </p:spTree>
    <p:extLst>
      <p:ext uri="{BB962C8B-B14F-4D97-AF65-F5344CB8AC3E}">
        <p14:creationId xmlns:p14="http://schemas.microsoft.com/office/powerpoint/2010/main" val="297975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" grpId="0" animBg="1"/>
      <p:bldP spid="5" grpId="0" animBg="1"/>
      <p:bldP spid="6" grpId="0" animBg="1"/>
      <p:bldP spid="8" grpId="0" animBg="1"/>
      <p:bldP spid="7" grpId="0"/>
    </p:bld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64800" cy="435133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"Passengers: 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while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"Must be at least 1."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"Passengers: 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b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GB" altLang="en-US" sz="4800" noProof="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Input Validation – Integers – Simple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87474254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64800" cy="435133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"Passengers: 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while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r>
              <a:rPr lang="en-GB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 and</a:t>
            </a:r>
            <a:r>
              <a:rPr lang="en-GB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GB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"Must be between 1 and 5."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"Passengers: 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Input Validation – Integers – Complex</a:t>
            </a:r>
          </a:p>
        </p:txBody>
      </p:sp>
      <p:sp>
        <p:nvSpPr>
          <p:cNvPr id="2" name="Callout: Bent Line with No Border 8">
            <a:extLst>
              <a:ext uri="{FF2B5EF4-FFF2-40B4-BE49-F238E27FC236}">
                <a16:creationId xmlns:a16="http://schemas.microsoft.com/office/drawing/2014/main" id="{A2C1AD91-92D0-7A90-D920-E2850F61D25A}"/>
              </a:ext>
            </a:extLst>
          </p:cNvPr>
          <p:cNvSpPr/>
          <p:nvPr/>
        </p:nvSpPr>
        <p:spPr>
          <a:xfrm>
            <a:off x="6950033" y="2375783"/>
            <a:ext cx="2653031" cy="862642"/>
          </a:xfrm>
          <a:prstGeom prst="callout2">
            <a:avLst>
              <a:gd name="adj1" fmla="val 50721"/>
              <a:gd name="adj2" fmla="val -95"/>
              <a:gd name="adj3" fmla="val 50361"/>
              <a:gd name="adj4" fmla="val -31724"/>
              <a:gd name="adj5" fmla="val 80360"/>
              <a:gd name="adj6" fmla="val -4637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Logical operator</a:t>
            </a:r>
          </a:p>
        </p:txBody>
      </p:sp>
      <p:sp>
        <p:nvSpPr>
          <p:cNvPr id="5" name="Callout: Bent Line with No Border 8">
            <a:extLst>
              <a:ext uri="{FF2B5EF4-FFF2-40B4-BE49-F238E27FC236}">
                <a16:creationId xmlns:a16="http://schemas.microsoft.com/office/drawing/2014/main" id="{252C547F-2959-F203-E437-C1AAC3F5ACDE}"/>
              </a:ext>
            </a:extLst>
          </p:cNvPr>
          <p:cNvSpPr/>
          <p:nvPr/>
        </p:nvSpPr>
        <p:spPr>
          <a:xfrm>
            <a:off x="9603064" y="1050220"/>
            <a:ext cx="2047933" cy="862642"/>
          </a:xfrm>
          <a:prstGeom prst="callout2">
            <a:avLst>
              <a:gd name="adj1" fmla="val 49740"/>
              <a:gd name="adj2" fmla="val -893"/>
              <a:gd name="adj3" fmla="val 50231"/>
              <a:gd name="adj4" fmla="val -19072"/>
              <a:gd name="adj5" fmla="val 102659"/>
              <a:gd name="adj6" fmla="val -4585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User input</a:t>
            </a:r>
          </a:p>
        </p:txBody>
      </p:sp>
      <p:sp>
        <p:nvSpPr>
          <p:cNvPr id="6" name="Callout: Bent Line with No Border 8">
            <a:extLst>
              <a:ext uri="{FF2B5EF4-FFF2-40B4-BE49-F238E27FC236}">
                <a16:creationId xmlns:a16="http://schemas.microsoft.com/office/drawing/2014/main" id="{DEC49CDC-4319-1379-6C2E-CDC29605318A}"/>
              </a:ext>
            </a:extLst>
          </p:cNvPr>
          <p:cNvSpPr/>
          <p:nvPr/>
        </p:nvSpPr>
        <p:spPr>
          <a:xfrm>
            <a:off x="7466790" y="3234636"/>
            <a:ext cx="4184207" cy="862642"/>
          </a:xfrm>
          <a:prstGeom prst="callout2">
            <a:avLst>
              <a:gd name="adj1" fmla="val 49740"/>
              <a:gd name="adj2" fmla="val -893"/>
              <a:gd name="adj3" fmla="val 50231"/>
              <a:gd name="adj4" fmla="val -11876"/>
              <a:gd name="adj5" fmla="val 103815"/>
              <a:gd name="adj6" fmla="val -18932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Error message: meaningful</a:t>
            </a:r>
          </a:p>
        </p:txBody>
      </p:sp>
      <p:sp>
        <p:nvSpPr>
          <p:cNvPr id="8" name="Callout: Bent Line with No Border 8">
            <a:extLst>
              <a:ext uri="{FF2B5EF4-FFF2-40B4-BE49-F238E27FC236}">
                <a16:creationId xmlns:a16="http://schemas.microsoft.com/office/drawing/2014/main" id="{DD5712DF-DE26-4FD0-AF49-A43DAB24FDC4}"/>
              </a:ext>
            </a:extLst>
          </p:cNvPr>
          <p:cNvSpPr/>
          <p:nvPr/>
        </p:nvSpPr>
        <p:spPr>
          <a:xfrm>
            <a:off x="10144067" y="4414172"/>
            <a:ext cx="2047933" cy="862642"/>
          </a:xfrm>
          <a:prstGeom prst="callout2">
            <a:avLst>
              <a:gd name="adj1" fmla="val 49740"/>
              <a:gd name="adj2" fmla="val -893"/>
              <a:gd name="adj3" fmla="val 50231"/>
              <a:gd name="adj4" fmla="val -19072"/>
              <a:gd name="adj5" fmla="val 102659"/>
              <a:gd name="adj6" fmla="val -4585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User input</a:t>
            </a:r>
          </a:p>
        </p:txBody>
      </p:sp>
      <p:sp>
        <p:nvSpPr>
          <p:cNvPr id="7" name="An array is">
            <a:extLst>
              <a:ext uri="{FF2B5EF4-FFF2-40B4-BE49-F238E27FC236}">
                <a16:creationId xmlns:a16="http://schemas.microsoft.com/office/drawing/2014/main" id="{7BCEE1B0-60A8-0A0D-B265-7E236B06F0DF}"/>
              </a:ext>
            </a:extLst>
          </p:cNvPr>
          <p:cNvSpPr txBox="1"/>
          <p:nvPr/>
        </p:nvSpPr>
        <p:spPr>
          <a:xfrm>
            <a:off x="2206040" y="6176963"/>
            <a:ext cx="7779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Conditional loop not used if Line 3 is False</a:t>
            </a:r>
          </a:p>
        </p:txBody>
      </p:sp>
    </p:spTree>
    <p:extLst>
      <p:ext uri="{BB962C8B-B14F-4D97-AF65-F5344CB8AC3E}">
        <p14:creationId xmlns:p14="http://schemas.microsoft.com/office/powerpoint/2010/main" val="239395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" grpId="0" animBg="1"/>
      <p:bldP spid="5" grpId="0" animBg="1"/>
      <p:bldP spid="6" grpId="0" animBg="1"/>
      <p:bldP spid="8" grpId="0" animBg="1"/>
      <p:bldP spid="7" grpId="0"/>
    </p:bld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64800" cy="435133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"Passengers: 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while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r>
              <a:rPr lang="en-GB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 and</a:t>
            </a:r>
            <a:r>
              <a:rPr lang="en-GB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GB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"Must be between 1 and 5."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"Passengers: 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Input Validation – Integers – Complex</a:t>
            </a:r>
          </a:p>
        </p:txBody>
      </p:sp>
      <p:sp>
        <p:nvSpPr>
          <p:cNvPr id="7" name="An array is">
            <a:extLst>
              <a:ext uri="{FF2B5EF4-FFF2-40B4-BE49-F238E27FC236}">
                <a16:creationId xmlns:a16="http://schemas.microsoft.com/office/drawing/2014/main" id="{7BCEE1B0-60A8-0A0D-B265-7E236B06F0DF}"/>
              </a:ext>
            </a:extLst>
          </p:cNvPr>
          <p:cNvSpPr txBox="1"/>
          <p:nvPr/>
        </p:nvSpPr>
        <p:spPr>
          <a:xfrm>
            <a:off x="2206040" y="6176963"/>
            <a:ext cx="7779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Conditional loop not used if Line 3 is False</a:t>
            </a:r>
          </a:p>
        </p:txBody>
      </p:sp>
    </p:spTree>
    <p:extLst>
      <p:ext uri="{BB962C8B-B14F-4D97-AF65-F5344CB8AC3E}">
        <p14:creationId xmlns:p14="http://schemas.microsoft.com/office/powerpoint/2010/main" val="2658155991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02701" cy="435133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answer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"Is computing best? 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while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answer </a:t>
            </a:r>
            <a:r>
              <a:rPr lang="en-GB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!=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"yes"</a:t>
            </a:r>
            <a:r>
              <a:rPr lang="en-GB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"Have another think!"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GB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answer = </a:t>
            </a:r>
            <a:r>
              <a:rPr lang="en-GB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"Is computing best? "</a:t>
            </a:r>
            <a:r>
              <a:rPr lang="en-GB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Input Validation – Strings – Simple</a:t>
            </a:r>
          </a:p>
        </p:txBody>
      </p:sp>
      <p:sp>
        <p:nvSpPr>
          <p:cNvPr id="5" name="Callout: Bent Line with No Border 8">
            <a:extLst>
              <a:ext uri="{FF2B5EF4-FFF2-40B4-BE49-F238E27FC236}">
                <a16:creationId xmlns:a16="http://schemas.microsoft.com/office/drawing/2014/main" id="{252C547F-2959-F203-E437-C1AAC3F5ACDE}"/>
              </a:ext>
            </a:extLst>
          </p:cNvPr>
          <p:cNvSpPr/>
          <p:nvPr/>
        </p:nvSpPr>
        <p:spPr>
          <a:xfrm>
            <a:off x="9603064" y="1050220"/>
            <a:ext cx="2047933" cy="862642"/>
          </a:xfrm>
          <a:prstGeom prst="callout2">
            <a:avLst>
              <a:gd name="adj1" fmla="val 49740"/>
              <a:gd name="adj2" fmla="val -893"/>
              <a:gd name="adj3" fmla="val 50231"/>
              <a:gd name="adj4" fmla="val -19072"/>
              <a:gd name="adj5" fmla="val 102659"/>
              <a:gd name="adj6" fmla="val -4585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User input</a:t>
            </a:r>
          </a:p>
        </p:txBody>
      </p:sp>
      <p:sp>
        <p:nvSpPr>
          <p:cNvPr id="6" name="Callout: Bent Line with No Border 8">
            <a:extLst>
              <a:ext uri="{FF2B5EF4-FFF2-40B4-BE49-F238E27FC236}">
                <a16:creationId xmlns:a16="http://schemas.microsoft.com/office/drawing/2014/main" id="{DEC49CDC-4319-1379-6C2E-CDC29605318A}"/>
              </a:ext>
            </a:extLst>
          </p:cNvPr>
          <p:cNvSpPr/>
          <p:nvPr/>
        </p:nvSpPr>
        <p:spPr>
          <a:xfrm>
            <a:off x="7466790" y="3234636"/>
            <a:ext cx="4184207" cy="862642"/>
          </a:xfrm>
          <a:prstGeom prst="callout2">
            <a:avLst>
              <a:gd name="adj1" fmla="val 49740"/>
              <a:gd name="adj2" fmla="val -893"/>
              <a:gd name="adj3" fmla="val 50231"/>
              <a:gd name="adj4" fmla="val -11876"/>
              <a:gd name="adj5" fmla="val 103815"/>
              <a:gd name="adj6" fmla="val -18932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Error message: meaningful</a:t>
            </a:r>
          </a:p>
        </p:txBody>
      </p:sp>
      <p:sp>
        <p:nvSpPr>
          <p:cNvPr id="8" name="Callout: Bent Line with No Border 8">
            <a:extLst>
              <a:ext uri="{FF2B5EF4-FFF2-40B4-BE49-F238E27FC236}">
                <a16:creationId xmlns:a16="http://schemas.microsoft.com/office/drawing/2014/main" id="{DD5712DF-DE26-4FD0-AF49-A43DAB24FDC4}"/>
              </a:ext>
            </a:extLst>
          </p:cNvPr>
          <p:cNvSpPr/>
          <p:nvPr/>
        </p:nvSpPr>
        <p:spPr>
          <a:xfrm>
            <a:off x="10144067" y="4414172"/>
            <a:ext cx="2047933" cy="862642"/>
          </a:xfrm>
          <a:prstGeom prst="callout2">
            <a:avLst>
              <a:gd name="adj1" fmla="val 49740"/>
              <a:gd name="adj2" fmla="val -893"/>
              <a:gd name="adj3" fmla="val 50231"/>
              <a:gd name="adj4" fmla="val -19072"/>
              <a:gd name="adj5" fmla="val 102659"/>
              <a:gd name="adj6" fmla="val -4585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User input</a:t>
            </a:r>
          </a:p>
        </p:txBody>
      </p:sp>
      <p:sp>
        <p:nvSpPr>
          <p:cNvPr id="7" name="An array is">
            <a:extLst>
              <a:ext uri="{FF2B5EF4-FFF2-40B4-BE49-F238E27FC236}">
                <a16:creationId xmlns:a16="http://schemas.microsoft.com/office/drawing/2014/main" id="{7BCEE1B0-60A8-0A0D-B265-7E236B06F0DF}"/>
              </a:ext>
            </a:extLst>
          </p:cNvPr>
          <p:cNvSpPr txBox="1"/>
          <p:nvPr/>
        </p:nvSpPr>
        <p:spPr>
          <a:xfrm>
            <a:off x="2206040" y="6176963"/>
            <a:ext cx="7779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Conditional loop not used if Line 3 is False</a:t>
            </a:r>
          </a:p>
        </p:txBody>
      </p:sp>
      <p:sp>
        <p:nvSpPr>
          <p:cNvPr id="9" name="Callout: Bent Line with No Border 8">
            <a:extLst>
              <a:ext uri="{FF2B5EF4-FFF2-40B4-BE49-F238E27FC236}">
                <a16:creationId xmlns:a16="http://schemas.microsoft.com/office/drawing/2014/main" id="{861DEF2F-5892-4BDF-BBEB-3F943E6A1A7B}"/>
              </a:ext>
            </a:extLst>
          </p:cNvPr>
          <p:cNvSpPr/>
          <p:nvPr/>
        </p:nvSpPr>
        <p:spPr>
          <a:xfrm>
            <a:off x="6339549" y="2256946"/>
            <a:ext cx="3676997" cy="862642"/>
          </a:xfrm>
          <a:prstGeom prst="callout2">
            <a:avLst>
              <a:gd name="adj1" fmla="val 49740"/>
              <a:gd name="adj2" fmla="val -893"/>
              <a:gd name="adj3" fmla="val 50231"/>
              <a:gd name="adj4" fmla="val -19072"/>
              <a:gd name="adj5" fmla="val 89753"/>
              <a:gd name="adj6" fmla="val -29769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Must be True to begin</a:t>
            </a:r>
          </a:p>
        </p:txBody>
      </p:sp>
    </p:spTree>
    <p:extLst>
      <p:ext uri="{BB962C8B-B14F-4D97-AF65-F5344CB8AC3E}">
        <p14:creationId xmlns:p14="http://schemas.microsoft.com/office/powerpoint/2010/main" val="638437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8" grpId="0" animBg="1"/>
      <p:bldP spid="7" grpId="0"/>
      <p:bldP spid="9" grpId="0" animBg="1"/>
    </p:bld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02701" cy="435133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answer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"Is computing best? 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while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answer </a:t>
            </a:r>
            <a:r>
              <a:rPr lang="en-GB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!=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"yes"</a:t>
            </a:r>
            <a:r>
              <a:rPr lang="en-GB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"Have another think!"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GB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answer = </a:t>
            </a:r>
            <a:r>
              <a:rPr lang="en-GB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"Is computing best? "</a:t>
            </a:r>
            <a:r>
              <a:rPr lang="en-GB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Input Validation – Strings – Simple</a:t>
            </a:r>
          </a:p>
        </p:txBody>
      </p:sp>
      <p:sp>
        <p:nvSpPr>
          <p:cNvPr id="7" name="An array is">
            <a:extLst>
              <a:ext uri="{FF2B5EF4-FFF2-40B4-BE49-F238E27FC236}">
                <a16:creationId xmlns:a16="http://schemas.microsoft.com/office/drawing/2014/main" id="{7BCEE1B0-60A8-0A0D-B265-7E236B06F0DF}"/>
              </a:ext>
            </a:extLst>
          </p:cNvPr>
          <p:cNvSpPr txBox="1"/>
          <p:nvPr/>
        </p:nvSpPr>
        <p:spPr>
          <a:xfrm>
            <a:off x="2206040" y="6176963"/>
            <a:ext cx="7779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Conditional loop not used if Line 3 is False</a:t>
            </a:r>
          </a:p>
        </p:txBody>
      </p:sp>
    </p:spTree>
    <p:extLst>
      <p:ext uri="{BB962C8B-B14F-4D97-AF65-F5344CB8AC3E}">
        <p14:creationId xmlns:p14="http://schemas.microsoft.com/office/powerpoint/2010/main" val="2575066772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extreme test data in a test table</a:t>
            </a:r>
          </a:p>
          <a:p>
            <a:r>
              <a:rPr lang="en-GB" noProof="0" dirty="0"/>
              <a:t>Describe and identify execution and logic errors</a:t>
            </a:r>
          </a:p>
          <a:p>
            <a:pPr marL="0" indent="0">
              <a:buNone/>
            </a:pPr>
            <a:endParaRPr lang="en-GB" noProof="0" dirty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5901384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49BCE-151E-AB9F-D346-BFE831DC6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Extreme Test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C4DD9-3539-9D4D-8D28-4B53C85E6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Extreme – normal test data but at limit of:</a:t>
            </a:r>
          </a:p>
          <a:p>
            <a:pPr lvl="1"/>
            <a:r>
              <a:rPr lang="en-GB" sz="3200" noProof="0" dirty="0"/>
              <a:t>acceptable values</a:t>
            </a:r>
          </a:p>
          <a:p>
            <a:pPr lvl="1"/>
            <a:r>
              <a:rPr lang="en-GB" sz="3200" noProof="0" dirty="0"/>
              <a:t>decisions (selection) – either side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E6B8B6-BA11-C6F4-1CE8-E8F11455130B}"/>
              </a:ext>
            </a:extLst>
          </p:cNvPr>
          <p:cNvSpPr txBox="1"/>
          <p:nvPr/>
        </p:nvSpPr>
        <p:spPr>
          <a:xfrm>
            <a:off x="627766" y="4828905"/>
            <a:ext cx="10936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  <a:latin typeface="Consolas" panose="020B0609020204030204" pitchFamily="49" charset="0"/>
              </a:rPr>
              <a:t>Simulate a die: -2, -1, 0, 1, 2, 3, 4, 5, 6, 7, 8 , 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C26289-1585-C6B2-10C0-12C23D1A44DC}"/>
              </a:ext>
            </a:extLst>
          </p:cNvPr>
          <p:cNvSpPr/>
          <p:nvPr/>
        </p:nvSpPr>
        <p:spPr>
          <a:xfrm>
            <a:off x="6019293" y="4841873"/>
            <a:ext cx="3530432" cy="5232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7EBF77-B363-3E2D-E94F-9C354752CDA6}"/>
              </a:ext>
            </a:extLst>
          </p:cNvPr>
          <p:cNvSpPr txBox="1"/>
          <p:nvPr/>
        </p:nvSpPr>
        <p:spPr>
          <a:xfrm>
            <a:off x="7082628" y="4401225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Normal</a:t>
            </a:r>
            <a:endParaRPr lang="en-GB" sz="320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4520F0-4126-3E48-DE02-313F037007F1}"/>
              </a:ext>
            </a:extLst>
          </p:cNvPr>
          <p:cNvSpPr/>
          <p:nvPr/>
        </p:nvSpPr>
        <p:spPr>
          <a:xfrm>
            <a:off x="6095999" y="4662835"/>
            <a:ext cx="389579" cy="854658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70EAA3-7117-634C-FA65-3333936DA35D}"/>
              </a:ext>
            </a:extLst>
          </p:cNvPr>
          <p:cNvSpPr/>
          <p:nvPr/>
        </p:nvSpPr>
        <p:spPr>
          <a:xfrm>
            <a:off x="9047361" y="4662835"/>
            <a:ext cx="389579" cy="854658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5F7D17-FF17-FD2B-E346-A4A5C444708F}"/>
              </a:ext>
            </a:extLst>
          </p:cNvPr>
          <p:cNvSpPr txBox="1"/>
          <p:nvPr/>
        </p:nvSpPr>
        <p:spPr>
          <a:xfrm>
            <a:off x="6984043" y="5336692"/>
            <a:ext cx="1564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Extreme</a:t>
            </a:r>
            <a:endParaRPr lang="en-GB" sz="32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736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 animBg="1"/>
      <p:bldP spid="6" grpId="0"/>
      <p:bldP spid="7" grpId="0" animBg="1"/>
      <p:bldP spid="8" grpId="0" animBg="1"/>
      <p:bldP spid="9" grpId="0"/>
    </p:bld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49BCE-151E-AB9F-D346-BFE831DC6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Extreme Test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C4DD9-3539-9D4D-8D28-4B53C85E6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Extreme – normal test data but at limit of:</a:t>
            </a:r>
          </a:p>
          <a:p>
            <a:pPr lvl="1"/>
            <a:r>
              <a:rPr lang="en-GB" sz="3200" noProof="0" dirty="0"/>
              <a:t>acceptable values</a:t>
            </a:r>
          </a:p>
          <a:p>
            <a:pPr lvl="1"/>
            <a:r>
              <a:rPr lang="en-GB" sz="3200" noProof="0" dirty="0"/>
              <a:t>decisions (selection) – either side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E6B8B6-BA11-C6F4-1CE8-E8F11455130B}"/>
              </a:ext>
            </a:extLst>
          </p:cNvPr>
          <p:cNvSpPr txBox="1"/>
          <p:nvPr/>
        </p:nvSpPr>
        <p:spPr>
          <a:xfrm>
            <a:off x="627766" y="4828905"/>
            <a:ext cx="10936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  <a:latin typeface="Consolas" panose="020B0609020204030204" pitchFamily="49" charset="0"/>
              </a:rPr>
              <a:t>Simulate a die: -2, -1, 0, 1, 2, 3, 4, 5, 6, 7, 8 , 9</a:t>
            </a:r>
          </a:p>
        </p:txBody>
      </p:sp>
    </p:spTree>
    <p:extLst>
      <p:ext uri="{BB962C8B-B14F-4D97-AF65-F5344CB8AC3E}">
        <p14:creationId xmlns:p14="http://schemas.microsoft.com/office/powerpoint/2010/main" val="1708104018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exceptional test data in a test table</a:t>
            </a:r>
          </a:p>
          <a:p>
            <a:r>
              <a:rPr lang="en-GB" noProof="0" dirty="0"/>
              <a:t>Describe and identify syntax, execution, and logic errors</a:t>
            </a:r>
          </a:p>
          <a:p>
            <a:pPr marL="0" indent="0">
              <a:buNone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67295990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49BCE-151E-AB9F-D346-BFE831DC6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Exceptional Test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C4DD9-3539-9D4D-8D28-4B53C85E6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Exceptional – values that are not acceptable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1CECA3-EE75-38B5-A79B-1B69320B4216}"/>
              </a:ext>
            </a:extLst>
          </p:cNvPr>
          <p:cNvSpPr txBox="1"/>
          <p:nvPr/>
        </p:nvSpPr>
        <p:spPr>
          <a:xfrm>
            <a:off x="627766" y="3951572"/>
            <a:ext cx="10936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  <a:latin typeface="Consolas" panose="020B0609020204030204" pitchFamily="49" charset="0"/>
              </a:rPr>
              <a:t>Simulate a die: -2, -1, 0, 1, 2, 3, 4, 5, 6, 7, 8 , 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E951C5-575A-8E0B-3B52-56DD7992825D}"/>
              </a:ext>
            </a:extLst>
          </p:cNvPr>
          <p:cNvSpPr/>
          <p:nvPr/>
        </p:nvSpPr>
        <p:spPr>
          <a:xfrm>
            <a:off x="6019293" y="3964540"/>
            <a:ext cx="3530432" cy="5232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F306C5-5991-B1DB-EA97-47036B98530C}"/>
              </a:ext>
            </a:extLst>
          </p:cNvPr>
          <p:cNvSpPr txBox="1"/>
          <p:nvPr/>
        </p:nvSpPr>
        <p:spPr>
          <a:xfrm>
            <a:off x="7082628" y="3523892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Normal</a:t>
            </a:r>
            <a:endParaRPr lang="en-GB" sz="320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1B77A6-55E9-3216-8D84-53136FC51A5F}"/>
              </a:ext>
            </a:extLst>
          </p:cNvPr>
          <p:cNvSpPr/>
          <p:nvPr/>
        </p:nvSpPr>
        <p:spPr>
          <a:xfrm>
            <a:off x="6095999" y="3785502"/>
            <a:ext cx="389579" cy="854658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7D8319-CF32-011D-7A6F-42FD0B669CBE}"/>
              </a:ext>
            </a:extLst>
          </p:cNvPr>
          <p:cNvSpPr/>
          <p:nvPr/>
        </p:nvSpPr>
        <p:spPr>
          <a:xfrm>
            <a:off x="9047361" y="3785502"/>
            <a:ext cx="389579" cy="854658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0261D5-DB8E-6A1B-F221-278FAF8C6F96}"/>
              </a:ext>
            </a:extLst>
          </p:cNvPr>
          <p:cNvSpPr txBox="1"/>
          <p:nvPr/>
        </p:nvSpPr>
        <p:spPr>
          <a:xfrm>
            <a:off x="6984043" y="4459359"/>
            <a:ext cx="1564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Extreme</a:t>
            </a:r>
            <a:endParaRPr lang="en-GB" sz="32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2C092EE-E111-A860-0385-ED579E77B637}"/>
              </a:ext>
            </a:extLst>
          </p:cNvPr>
          <p:cNvGrpSpPr/>
          <p:nvPr/>
        </p:nvGrpSpPr>
        <p:grpSpPr>
          <a:xfrm>
            <a:off x="5206649" y="3523892"/>
            <a:ext cx="722125" cy="1440000"/>
            <a:chOff x="5206649" y="4401225"/>
            <a:chExt cx="722125" cy="1440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75F13A4-373D-7082-4874-1A2918DEFE38}"/>
                </a:ext>
              </a:extLst>
            </p:cNvPr>
            <p:cNvCxnSpPr/>
            <p:nvPr/>
          </p:nvCxnSpPr>
          <p:spPr>
            <a:xfrm>
              <a:off x="5909982" y="4401225"/>
              <a:ext cx="0" cy="1440000"/>
            </a:xfrm>
            <a:prstGeom prst="lin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DFAB866-1597-28C0-0D89-FE4D5ED0A1B5}"/>
                </a:ext>
              </a:extLst>
            </p:cNvPr>
            <p:cNvCxnSpPr/>
            <p:nvPr/>
          </p:nvCxnSpPr>
          <p:spPr>
            <a:xfrm flipH="1">
              <a:off x="5206649" y="4401225"/>
              <a:ext cx="72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696CF68-1E95-7F79-054E-06251A10381F}"/>
                </a:ext>
              </a:extLst>
            </p:cNvPr>
            <p:cNvCxnSpPr/>
            <p:nvPr/>
          </p:nvCxnSpPr>
          <p:spPr>
            <a:xfrm flipH="1">
              <a:off x="5208774" y="5841225"/>
              <a:ext cx="72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9B910C9-D12C-0148-7AA0-44001E3A68FD}"/>
              </a:ext>
            </a:extLst>
          </p:cNvPr>
          <p:cNvGrpSpPr/>
          <p:nvPr/>
        </p:nvGrpSpPr>
        <p:grpSpPr>
          <a:xfrm flipH="1">
            <a:off x="9611714" y="3523894"/>
            <a:ext cx="722125" cy="1440000"/>
            <a:chOff x="5206649" y="4401225"/>
            <a:chExt cx="722125" cy="1440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559DF8F-7FB5-976A-F9E1-2F0834C61B7E}"/>
                </a:ext>
              </a:extLst>
            </p:cNvPr>
            <p:cNvCxnSpPr/>
            <p:nvPr/>
          </p:nvCxnSpPr>
          <p:spPr>
            <a:xfrm>
              <a:off x="5909982" y="4401225"/>
              <a:ext cx="0" cy="1440000"/>
            </a:xfrm>
            <a:prstGeom prst="lin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5EECF21-571C-B244-7210-62EBA56E433D}"/>
                </a:ext>
              </a:extLst>
            </p:cNvPr>
            <p:cNvCxnSpPr/>
            <p:nvPr/>
          </p:nvCxnSpPr>
          <p:spPr>
            <a:xfrm flipH="1">
              <a:off x="5206649" y="4401225"/>
              <a:ext cx="72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7A33658-9FA5-EF81-AE46-F4BC2305F4D8}"/>
                </a:ext>
              </a:extLst>
            </p:cNvPr>
            <p:cNvCxnSpPr/>
            <p:nvPr/>
          </p:nvCxnSpPr>
          <p:spPr>
            <a:xfrm flipH="1">
              <a:off x="5208774" y="5841225"/>
              <a:ext cx="72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4002307-9F0C-6A39-5A88-E37DCDA228DE}"/>
              </a:ext>
            </a:extLst>
          </p:cNvPr>
          <p:cNvSpPr txBox="1"/>
          <p:nvPr/>
        </p:nvSpPr>
        <p:spPr>
          <a:xfrm>
            <a:off x="3665764" y="5129959"/>
            <a:ext cx="23535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b="1" dirty="0">
                <a:solidFill>
                  <a:srgbClr val="4472C4"/>
                </a:solidFill>
                <a:latin typeface="Consolas" panose="020B0609020204030204" pitchFamily="49" charset="0"/>
              </a:rPr>
              <a:t>Exceptional</a:t>
            </a:r>
            <a:endParaRPr lang="en-GB" sz="3200" b="1" dirty="0">
              <a:solidFill>
                <a:srgbClr val="4472C4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857AF6-970C-7170-C662-F019AFFDED60}"/>
              </a:ext>
            </a:extLst>
          </p:cNvPr>
          <p:cNvSpPr txBox="1"/>
          <p:nvPr/>
        </p:nvSpPr>
        <p:spPr>
          <a:xfrm>
            <a:off x="9549725" y="5129964"/>
            <a:ext cx="23535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4472C4"/>
                </a:solidFill>
                <a:latin typeface="Consolas" panose="020B0609020204030204" pitchFamily="49" charset="0"/>
              </a:rPr>
              <a:t>Exceptional</a:t>
            </a:r>
            <a:endParaRPr lang="en-GB" sz="3200" b="1" dirty="0">
              <a:solidFill>
                <a:srgbClr val="4472C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779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 animBg="1"/>
      <p:bldP spid="6" grpId="0"/>
      <p:bldP spid="7" grpId="0" animBg="1"/>
      <p:bldP spid="8" grpId="0" animBg="1"/>
      <p:bldP spid="9" grpId="0"/>
      <p:bldP spid="21" grpId="0"/>
      <p:bldP spid="22" grpId="0"/>
    </p:bld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49BCE-151E-AB9F-D346-BFE831DC6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Exceptional Test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C4DD9-3539-9D4D-8D28-4B53C85E6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Exceptional – values that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1CECA3-EE75-38B5-A79B-1B69320B4216}"/>
              </a:ext>
            </a:extLst>
          </p:cNvPr>
          <p:cNvSpPr txBox="1"/>
          <p:nvPr/>
        </p:nvSpPr>
        <p:spPr>
          <a:xfrm>
            <a:off x="627766" y="3951572"/>
            <a:ext cx="10936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  <a:latin typeface="Consolas" panose="020B0609020204030204" pitchFamily="49" charset="0"/>
              </a:rPr>
              <a:t>Simulate a die: -2, -1, 0, 1, 2, 3, 4, 5, 6, 7, 8 , 9</a:t>
            </a:r>
          </a:p>
        </p:txBody>
      </p:sp>
    </p:spTree>
    <p:extLst>
      <p:ext uri="{BB962C8B-B14F-4D97-AF65-F5344CB8AC3E}">
        <p14:creationId xmlns:p14="http://schemas.microsoft.com/office/powerpoint/2010/main" val="2440815322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7DE297F-6564-4CBD-AD3B-BA92602148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4212367"/>
              </p:ext>
            </p:extLst>
          </p:nvPr>
        </p:nvGraphicFramePr>
        <p:xfrm>
          <a:off x="838200" y="2380517"/>
          <a:ext cx="10515600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791754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4430332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6420456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5538997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62629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3200"/>
                        <a:t>Test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Test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858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GB" sz="3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 dirty="0"/>
                        <a:t>Accept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 dirty="0"/>
                        <a:t>Accept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62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GB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 dirty="0"/>
                        <a:t>Extreme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 dirty="0"/>
                        <a:t>Accept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 dirty="0"/>
                        <a:t>Accept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984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GB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 dirty="0"/>
                        <a:t>Exceptional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 dirty="0"/>
                        <a:t>Reject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 dirty="0"/>
                        <a:t>Accept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 dirty="0"/>
                        <a:t>Fail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267428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1F542EC-58FE-4583-BCB4-D1E9B5D62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Test table – Exceptional</a:t>
            </a:r>
          </a:p>
        </p:txBody>
      </p:sp>
      <p:sp>
        <p:nvSpPr>
          <p:cNvPr id="5" name="Hide 1">
            <a:extLst>
              <a:ext uri="{FF2B5EF4-FFF2-40B4-BE49-F238E27FC236}">
                <a16:creationId xmlns:a16="http://schemas.microsoft.com/office/drawing/2014/main" id="{EC2DE6F2-F66D-472F-A42E-6DADBAD443D9}"/>
              </a:ext>
            </a:extLst>
          </p:cNvPr>
          <p:cNvSpPr/>
          <p:nvPr/>
        </p:nvSpPr>
        <p:spPr>
          <a:xfrm>
            <a:off x="822816" y="2956015"/>
            <a:ext cx="6305062" cy="57833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Hide 2">
            <a:extLst>
              <a:ext uri="{FF2B5EF4-FFF2-40B4-BE49-F238E27FC236}">
                <a16:creationId xmlns:a16="http://schemas.microsoft.com/office/drawing/2014/main" id="{B02EDFC2-7CF1-4467-A92E-C957F0C52783}"/>
              </a:ext>
            </a:extLst>
          </p:cNvPr>
          <p:cNvSpPr/>
          <p:nvPr/>
        </p:nvSpPr>
        <p:spPr>
          <a:xfrm>
            <a:off x="822816" y="3532656"/>
            <a:ext cx="6305062" cy="57833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Hide 3">
            <a:extLst>
              <a:ext uri="{FF2B5EF4-FFF2-40B4-BE49-F238E27FC236}">
                <a16:creationId xmlns:a16="http://schemas.microsoft.com/office/drawing/2014/main" id="{915945FA-1EAC-4E76-ADD7-807F0AC65CF1}"/>
              </a:ext>
            </a:extLst>
          </p:cNvPr>
          <p:cNvSpPr/>
          <p:nvPr/>
        </p:nvSpPr>
        <p:spPr>
          <a:xfrm>
            <a:off x="838201" y="4133927"/>
            <a:ext cx="6305061" cy="57833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Hide 4">
            <a:extLst>
              <a:ext uri="{FF2B5EF4-FFF2-40B4-BE49-F238E27FC236}">
                <a16:creationId xmlns:a16="http://schemas.microsoft.com/office/drawing/2014/main" id="{614983A9-E2E9-43A2-B86A-DEDF0F58A045}"/>
              </a:ext>
            </a:extLst>
          </p:cNvPr>
          <p:cNvSpPr/>
          <p:nvPr/>
        </p:nvSpPr>
        <p:spPr>
          <a:xfrm>
            <a:off x="7127878" y="2950076"/>
            <a:ext cx="4210538" cy="57833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Hide 5">
            <a:extLst>
              <a:ext uri="{FF2B5EF4-FFF2-40B4-BE49-F238E27FC236}">
                <a16:creationId xmlns:a16="http://schemas.microsoft.com/office/drawing/2014/main" id="{C37CC87C-B84A-48D0-8DF7-423D5229E530}"/>
              </a:ext>
            </a:extLst>
          </p:cNvPr>
          <p:cNvSpPr/>
          <p:nvPr/>
        </p:nvSpPr>
        <p:spPr>
          <a:xfrm>
            <a:off x="7127877" y="3522786"/>
            <a:ext cx="4210538" cy="57833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Hide 6">
            <a:extLst>
              <a:ext uri="{FF2B5EF4-FFF2-40B4-BE49-F238E27FC236}">
                <a16:creationId xmlns:a16="http://schemas.microsoft.com/office/drawing/2014/main" id="{A45FDA1C-C932-4450-B9F2-410E50319613}"/>
              </a:ext>
            </a:extLst>
          </p:cNvPr>
          <p:cNvSpPr/>
          <p:nvPr/>
        </p:nvSpPr>
        <p:spPr>
          <a:xfrm>
            <a:off x="7135570" y="4109891"/>
            <a:ext cx="4210538" cy="57833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CF0441-740C-4101-A9A7-9DBC930A7037}"/>
              </a:ext>
            </a:extLst>
          </p:cNvPr>
          <p:cNvGrpSpPr/>
          <p:nvPr/>
        </p:nvGrpSpPr>
        <p:grpSpPr>
          <a:xfrm>
            <a:off x="862620" y="4789384"/>
            <a:ext cx="6192000" cy="1125363"/>
            <a:chOff x="839487" y="3687231"/>
            <a:chExt cx="6268617" cy="1125363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3D7DE4C2-546C-42B3-90DE-13FDC536A9C1}"/>
                </a:ext>
              </a:extLst>
            </p:cNvPr>
            <p:cNvSpPr/>
            <p:nvPr/>
          </p:nvSpPr>
          <p:spPr>
            <a:xfrm rot="5400000">
              <a:off x="3773778" y="752940"/>
              <a:ext cx="400036" cy="6268617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183CB5-68A9-49F6-BDA0-93D02E1DDFFF}"/>
                </a:ext>
              </a:extLst>
            </p:cNvPr>
            <p:cNvSpPr txBox="1"/>
            <p:nvPr/>
          </p:nvSpPr>
          <p:spPr>
            <a:xfrm>
              <a:off x="1093112" y="4289374"/>
              <a:ext cx="57952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/>
                <a:t>Do this before writing code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4E3FE3D-B840-41C3-9C22-8ADFD1ED70E9}"/>
              </a:ext>
            </a:extLst>
          </p:cNvPr>
          <p:cNvSpPr txBox="1"/>
          <p:nvPr/>
        </p:nvSpPr>
        <p:spPr>
          <a:xfrm>
            <a:off x="838198" y="1657915"/>
            <a:ext cx="81200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Problem: Accept integers that are 1 or more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834E412-4C2F-7DA2-4D81-E298D91989C7}"/>
              </a:ext>
            </a:extLst>
          </p:cNvPr>
          <p:cNvGrpSpPr/>
          <p:nvPr/>
        </p:nvGrpSpPr>
        <p:grpSpPr>
          <a:xfrm>
            <a:off x="7095520" y="4789380"/>
            <a:ext cx="4320819" cy="1141021"/>
            <a:chOff x="2966007" y="3687227"/>
            <a:chExt cx="4320819" cy="1141021"/>
          </a:xfrm>
        </p:grpSpPr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AA5203A3-8D74-3A47-B0C9-05B0C6A893E6}"/>
                </a:ext>
              </a:extLst>
            </p:cNvPr>
            <p:cNvSpPr/>
            <p:nvPr/>
          </p:nvSpPr>
          <p:spPr>
            <a:xfrm rot="5400000">
              <a:off x="4922416" y="1866417"/>
              <a:ext cx="400036" cy="4041655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738EB20-7F60-1C1D-89F0-0BCA3B351425}"/>
                </a:ext>
              </a:extLst>
            </p:cNvPr>
            <p:cNvSpPr txBox="1"/>
            <p:nvPr/>
          </p:nvSpPr>
          <p:spPr>
            <a:xfrm>
              <a:off x="2966007" y="4305028"/>
              <a:ext cx="43208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/>
                <a:t>Do this when running tests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5FEA44C-BB4B-3D6A-483D-12C66E7BA438}"/>
              </a:ext>
            </a:extLst>
          </p:cNvPr>
          <p:cNvSpPr txBox="1"/>
          <p:nvPr/>
        </p:nvSpPr>
        <p:spPr>
          <a:xfrm>
            <a:off x="3233797" y="6157783"/>
            <a:ext cx="5724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Iterate until it passes </a:t>
            </a:r>
            <a:r>
              <a:rPr lang="en-GB" sz="2800" b="1" i="1" dirty="0">
                <a:solidFill>
                  <a:srgbClr val="7030A0"/>
                </a:solidFill>
              </a:rPr>
              <a:t>all</a:t>
            </a:r>
            <a:r>
              <a:rPr lang="en-GB" sz="2800" b="1" dirty="0">
                <a:solidFill>
                  <a:srgbClr val="7030A0"/>
                </a:solidFill>
              </a:rPr>
              <a:t> the tests!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E21BE69-911D-4BD2-8B7E-BE19F348CFB3}"/>
              </a:ext>
            </a:extLst>
          </p:cNvPr>
          <p:cNvCxnSpPr/>
          <p:nvPr/>
        </p:nvCxnSpPr>
        <p:spPr>
          <a:xfrm>
            <a:off x="7144929" y="2231030"/>
            <a:ext cx="0" cy="2988000"/>
          </a:xfrm>
          <a:prstGeom prst="line">
            <a:avLst/>
          </a:prstGeom>
          <a:ln w="571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689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xit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3" grpId="0" animBg="1"/>
      <p:bldP spid="15" grpId="0"/>
      <p:bldP spid="18" grpId="0"/>
    </p:bld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7DE297F-6564-4CBD-AD3B-BA92602148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3997460"/>
              </p:ext>
            </p:extLst>
          </p:nvPr>
        </p:nvGraphicFramePr>
        <p:xfrm>
          <a:off x="838200" y="2380517"/>
          <a:ext cx="10515600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791754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4430332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6420456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5538997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62629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3200"/>
                        <a:t>Test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Test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858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2"/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endParaRPr lang="en-GB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62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2"/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 dirty="0"/>
                        <a:t>Extreme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endParaRPr lang="en-GB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984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2"/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 dirty="0"/>
                        <a:t>Exceptional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267428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1F542EC-58FE-4583-BCB4-D1E9B5D62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Test table – Exceptional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3D7DE4C2-546C-42B3-90DE-13FDC536A9C1}"/>
              </a:ext>
            </a:extLst>
          </p:cNvPr>
          <p:cNvSpPr/>
          <p:nvPr/>
        </p:nvSpPr>
        <p:spPr>
          <a:xfrm rot="5400000">
            <a:off x="3777793" y="1893398"/>
            <a:ext cx="400036" cy="6192000"/>
          </a:xfrm>
          <a:prstGeom prst="rightBrace">
            <a:avLst>
              <a:gd name="adj1" fmla="val 0"/>
              <a:gd name="adj2" fmla="val 50000"/>
            </a:avLst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E3FE3D-B840-41C3-9C22-8ADFD1ED70E9}"/>
              </a:ext>
            </a:extLst>
          </p:cNvPr>
          <p:cNvSpPr txBox="1"/>
          <p:nvPr/>
        </p:nvSpPr>
        <p:spPr>
          <a:xfrm>
            <a:off x="838198" y="1657915"/>
            <a:ext cx="79489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Problem: Accept integers that are 1 or more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DAEC2EA9-8983-4FEC-B5BA-43DDA4CC142F}"/>
              </a:ext>
            </a:extLst>
          </p:cNvPr>
          <p:cNvSpPr/>
          <p:nvPr/>
        </p:nvSpPr>
        <p:spPr>
          <a:xfrm rot="5400000">
            <a:off x="9048483" y="2941355"/>
            <a:ext cx="400036" cy="4104000"/>
          </a:xfrm>
          <a:prstGeom prst="rightBrace">
            <a:avLst>
              <a:gd name="adj1" fmla="val 0"/>
              <a:gd name="adj2" fmla="val 50000"/>
            </a:avLst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2270202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Conditional Loop –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noProof="0" dirty="0"/>
              <a:t>Enter the loop – exceptional test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noProof="0" dirty="0"/>
              <a:t>Stay in the loop – exceptional test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noProof="0" dirty="0"/>
              <a:t>Exit the loop – extreme test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3A2B70D-6D7D-4210-93E4-C218F793AA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111222"/>
              </p:ext>
            </p:extLst>
          </p:nvPr>
        </p:nvGraphicFramePr>
        <p:xfrm>
          <a:off x="838200" y="3769703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8438">
                  <a:extLst>
                    <a:ext uri="{9D8B030D-6E8A-4147-A177-3AD203B41FA5}">
                      <a16:colId xmlns:a16="http://schemas.microsoft.com/office/drawing/2014/main" val="700657071"/>
                    </a:ext>
                  </a:extLst>
                </a:gridCol>
                <a:gridCol w="2038865">
                  <a:extLst>
                    <a:ext uri="{9D8B030D-6E8A-4147-A177-3AD203B41FA5}">
                      <a16:colId xmlns:a16="http://schemas.microsoft.com/office/drawing/2014/main" val="3013988417"/>
                    </a:ext>
                  </a:extLst>
                </a:gridCol>
                <a:gridCol w="2372497">
                  <a:extLst>
                    <a:ext uri="{9D8B030D-6E8A-4147-A177-3AD203B41FA5}">
                      <a16:colId xmlns:a16="http://schemas.microsoft.com/office/drawing/2014/main" val="1995372567"/>
                    </a:ext>
                  </a:extLst>
                </a:gridCol>
                <a:gridCol w="2409568">
                  <a:extLst>
                    <a:ext uri="{9D8B030D-6E8A-4147-A177-3AD203B41FA5}">
                      <a16:colId xmlns:a16="http://schemas.microsoft.com/office/drawing/2014/main" val="960255977"/>
                    </a:ext>
                  </a:extLst>
                </a:gridCol>
                <a:gridCol w="2086232">
                  <a:extLst>
                    <a:ext uri="{9D8B030D-6E8A-4147-A177-3AD203B41FA5}">
                      <a16:colId xmlns:a16="http://schemas.microsoft.com/office/drawing/2014/main" val="3802824247"/>
                    </a:ext>
                  </a:extLst>
                </a:gridCol>
              </a:tblGrid>
              <a:tr h="456000">
                <a:tc>
                  <a:txBody>
                    <a:bodyPr/>
                    <a:lstStyle/>
                    <a:p>
                      <a:r>
                        <a:rPr lang="en-GB" sz="2600" dirty="0"/>
                        <a:t>Test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Test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245759"/>
                  </a:ext>
                </a:extLst>
              </a:tr>
              <a:tr h="456000"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Accepted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6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50428"/>
                  </a:ext>
                </a:extLst>
              </a:tr>
              <a:tr h="456000"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Extreme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Accepted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6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261236"/>
                  </a:ext>
                </a:extLst>
              </a:tr>
              <a:tr h="456000"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Exceptional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Error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i="1" dirty="0">
                          <a:solidFill>
                            <a:srgbClr val="7030A0"/>
                          </a:solidFill>
                        </a:rPr>
                        <a:t>1. Enter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7228707"/>
                  </a:ext>
                </a:extLst>
              </a:tr>
              <a:tr h="456000"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Exceptional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600" dirty="0"/>
                        <a:t>Error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i="1" dirty="0">
                          <a:solidFill>
                            <a:srgbClr val="7030A0"/>
                          </a:solidFill>
                        </a:rPr>
                        <a:t>2. Stay 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518358"/>
                  </a:ext>
                </a:extLst>
              </a:tr>
              <a:tr h="456000"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Extreme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Accepted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i="1">
                          <a:solidFill>
                            <a:srgbClr val="7030A0"/>
                          </a:solidFill>
                        </a:rPr>
                        <a:t>3. Exit</a:t>
                      </a:r>
                      <a:endParaRPr lang="en-GB" sz="2600" i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05993"/>
                  </a:ext>
                </a:extLst>
              </a:tr>
            </a:tbl>
          </a:graphicData>
        </a:graphic>
      </p:graphicFrame>
      <p:pic>
        <p:nvPicPr>
          <p:cNvPr id="1026" name="Picture 2" descr="TYI 30: Expected number of Dice throws | Combinatorics and more">
            <a:extLst>
              <a:ext uri="{FF2B5EF4-FFF2-40B4-BE49-F238E27FC236}">
                <a16:creationId xmlns:a16="http://schemas.microsoft.com/office/drawing/2014/main" id="{1AD65096-329B-4C42-90BD-449E2F98B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146" y="1027906"/>
            <a:ext cx="1718654" cy="1657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9547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Conditional Loop –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noProof="0" dirty="0"/>
              <a:t> 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noProof="0" dirty="0"/>
              <a:t> 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noProof="0" dirty="0"/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3A2B70D-6D7D-4210-93E4-C218F793AA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783818"/>
              </p:ext>
            </p:extLst>
          </p:nvPr>
        </p:nvGraphicFramePr>
        <p:xfrm>
          <a:off x="838200" y="3769703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8438">
                  <a:extLst>
                    <a:ext uri="{9D8B030D-6E8A-4147-A177-3AD203B41FA5}">
                      <a16:colId xmlns:a16="http://schemas.microsoft.com/office/drawing/2014/main" val="700657071"/>
                    </a:ext>
                  </a:extLst>
                </a:gridCol>
                <a:gridCol w="2038865">
                  <a:extLst>
                    <a:ext uri="{9D8B030D-6E8A-4147-A177-3AD203B41FA5}">
                      <a16:colId xmlns:a16="http://schemas.microsoft.com/office/drawing/2014/main" val="3013988417"/>
                    </a:ext>
                  </a:extLst>
                </a:gridCol>
                <a:gridCol w="2372497">
                  <a:extLst>
                    <a:ext uri="{9D8B030D-6E8A-4147-A177-3AD203B41FA5}">
                      <a16:colId xmlns:a16="http://schemas.microsoft.com/office/drawing/2014/main" val="1995372567"/>
                    </a:ext>
                  </a:extLst>
                </a:gridCol>
                <a:gridCol w="2409568">
                  <a:extLst>
                    <a:ext uri="{9D8B030D-6E8A-4147-A177-3AD203B41FA5}">
                      <a16:colId xmlns:a16="http://schemas.microsoft.com/office/drawing/2014/main" val="960255977"/>
                    </a:ext>
                  </a:extLst>
                </a:gridCol>
                <a:gridCol w="2086232">
                  <a:extLst>
                    <a:ext uri="{9D8B030D-6E8A-4147-A177-3AD203B41FA5}">
                      <a16:colId xmlns:a16="http://schemas.microsoft.com/office/drawing/2014/main" val="3802824247"/>
                    </a:ext>
                  </a:extLst>
                </a:gridCol>
              </a:tblGrid>
              <a:tr h="456000">
                <a:tc>
                  <a:txBody>
                    <a:bodyPr/>
                    <a:lstStyle/>
                    <a:p>
                      <a:r>
                        <a:rPr lang="en-GB" sz="2600" dirty="0"/>
                        <a:t>Test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Test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245759"/>
                  </a:ext>
                </a:extLst>
              </a:tr>
              <a:tr h="456000"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Accepted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6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50428"/>
                  </a:ext>
                </a:extLst>
              </a:tr>
              <a:tr h="456000"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Extreme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Accepted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6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261236"/>
                  </a:ext>
                </a:extLst>
              </a:tr>
              <a:tr h="456000"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Exceptional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Error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6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7228707"/>
                  </a:ext>
                </a:extLst>
              </a:tr>
              <a:tr h="456000"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Exceptional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600" dirty="0"/>
                        <a:t>Error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6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518358"/>
                  </a:ext>
                </a:extLst>
              </a:tr>
              <a:tr h="456000">
                <a:tc>
                  <a:txBody>
                    <a:bodyPr/>
                    <a:lstStyle/>
                    <a:p>
                      <a:pPr algn="ctr"/>
                      <a:r>
                        <a:rPr lang="en-GB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Extreme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Accepted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6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05993"/>
                  </a:ext>
                </a:extLst>
              </a:tr>
            </a:tbl>
          </a:graphicData>
        </a:graphic>
      </p:graphicFrame>
      <p:pic>
        <p:nvPicPr>
          <p:cNvPr id="6" name="Picture 2" descr="TYI 30: Expected number of Dice throws | Combinatorics and more">
            <a:extLst>
              <a:ext uri="{FF2B5EF4-FFF2-40B4-BE49-F238E27FC236}">
                <a16:creationId xmlns:a16="http://schemas.microsoft.com/office/drawing/2014/main" id="{1A4CDB3C-C1E5-41DF-8F4F-4F628188D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146" y="1027906"/>
            <a:ext cx="1718654" cy="1657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3190445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</a:t>
            </a:r>
            <a:r>
              <a:rPr lang="en-GB" noProof="0" dirty="0" err="1"/>
              <a:t>andom</a:t>
            </a:r>
            <a:r>
              <a:rPr lang="en-GB" noProof="0" dirty="0"/>
              <a:t> – Testing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E3609E0-F7C7-4BE4-B8B8-4DD51CB94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47856"/>
            <a:ext cx="877355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71 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969896"/>
                </a:solidFill>
                <a:effectLst/>
                <a:latin typeface="Consolas" panose="020B0609020204030204" pitchFamily="49" charset="0"/>
              </a:rPr>
              <a:t># Pick a random number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72 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 =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random.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randint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73</a:t>
            </a:r>
            <a:endParaRPr lang="en-US" altLang="en-US" sz="32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74 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969896"/>
                </a:solidFill>
                <a:effectLst/>
                <a:latin typeface="Consolas" panose="020B0609020204030204" pitchFamily="49" charset="0"/>
              </a:rPr>
              <a:t># NOTE: only used for testing logic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75 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2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Callout: Bent Line with No Border 8">
            <a:extLst>
              <a:ext uri="{FF2B5EF4-FFF2-40B4-BE49-F238E27FC236}">
                <a16:creationId xmlns:a16="http://schemas.microsoft.com/office/drawing/2014/main" id="{92F15653-3BE6-400A-9E78-5116485BE1EB}"/>
              </a:ext>
            </a:extLst>
          </p:cNvPr>
          <p:cNvSpPr/>
          <p:nvPr/>
        </p:nvSpPr>
        <p:spPr>
          <a:xfrm>
            <a:off x="4914157" y="4682020"/>
            <a:ext cx="4043470" cy="515127"/>
          </a:xfrm>
          <a:prstGeom prst="callout2">
            <a:avLst>
              <a:gd name="adj1" fmla="val 49740"/>
              <a:gd name="adj2" fmla="val -432"/>
              <a:gd name="adj3" fmla="val 48737"/>
              <a:gd name="adj4" fmla="val -13283"/>
              <a:gd name="adj5" fmla="val -27194"/>
              <a:gd name="adj6" fmla="val -2675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Overwrites random value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430EA4-AE5E-4F7E-AC24-77643BEF6B2C}"/>
              </a:ext>
            </a:extLst>
          </p:cNvPr>
          <p:cNvSpPr/>
          <p:nvPr/>
        </p:nvSpPr>
        <p:spPr>
          <a:xfrm>
            <a:off x="2822422" y="5702276"/>
            <a:ext cx="6551216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Comment out when not being used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Delete when finished with</a:t>
            </a:r>
          </a:p>
        </p:txBody>
      </p:sp>
      <p:sp>
        <p:nvSpPr>
          <p:cNvPr id="25" name="Callout: Bent Line with No Border 8">
            <a:extLst>
              <a:ext uri="{FF2B5EF4-FFF2-40B4-BE49-F238E27FC236}">
                <a16:creationId xmlns:a16="http://schemas.microsoft.com/office/drawing/2014/main" id="{E9FC7320-B7AB-461E-BF12-78ED67DC5AED}"/>
              </a:ext>
            </a:extLst>
          </p:cNvPr>
          <p:cNvSpPr/>
          <p:nvPr/>
        </p:nvSpPr>
        <p:spPr>
          <a:xfrm>
            <a:off x="3528462" y="3316888"/>
            <a:ext cx="1594671" cy="379593"/>
          </a:xfrm>
          <a:prstGeom prst="callout2">
            <a:avLst>
              <a:gd name="adj1" fmla="val 49740"/>
              <a:gd name="adj2" fmla="val -432"/>
              <a:gd name="adj3" fmla="val 50065"/>
              <a:gd name="adj4" fmla="val -19589"/>
              <a:gd name="adj5" fmla="val 108658"/>
              <a:gd name="adj6" fmla="val -3612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 err="1">
                <a:solidFill>
                  <a:srgbClr val="7030A0"/>
                </a:solidFill>
              </a:rPr>
              <a:t>Codetag</a:t>
            </a:r>
            <a:endParaRPr lang="en-GB" sz="2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19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1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20" grpId="0" animBg="1"/>
      <p:bldP spid="24" grpId="0" uiExpand="1" build="p"/>
      <p:bldP spid="25" grpId="0" animBg="1"/>
    </p:bld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</a:t>
            </a:r>
            <a:r>
              <a:rPr lang="en-GB" noProof="0" dirty="0" err="1"/>
              <a:t>andom</a:t>
            </a:r>
            <a:r>
              <a:rPr lang="en-GB" noProof="0" dirty="0"/>
              <a:t> – Testing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E3609E0-F7C7-4BE4-B8B8-4DD51CB94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47856"/>
            <a:ext cx="877355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71 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969896"/>
                </a:solidFill>
                <a:effectLst/>
                <a:latin typeface="Consolas" panose="020B0609020204030204" pitchFamily="49" charset="0"/>
              </a:rPr>
              <a:t># Pick a random number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72 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 =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random.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randint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73</a:t>
            </a:r>
            <a:endParaRPr lang="en-US" altLang="en-US" sz="32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74 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969896"/>
                </a:solidFill>
                <a:effectLst/>
                <a:latin typeface="Consolas" panose="020B0609020204030204" pitchFamily="49" charset="0"/>
              </a:rPr>
              <a:t># NOTE: only used for testing logic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75 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2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430EA4-AE5E-4F7E-AC24-77643BEF6B2C}"/>
              </a:ext>
            </a:extLst>
          </p:cNvPr>
          <p:cNvSpPr/>
          <p:nvPr/>
        </p:nvSpPr>
        <p:spPr>
          <a:xfrm>
            <a:off x="2806393" y="5702276"/>
            <a:ext cx="6583277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Comment out when                            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Delete when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322486479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65725-A425-7A16-0EE6-7B9A44030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867DFA2-2AAC-0F37-3009-7FBBDC4366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4914368"/>
              </p:ext>
            </p:extLst>
          </p:nvPr>
        </p:nvGraphicFramePr>
        <p:xfrm>
          <a:off x="742950" y="2380517"/>
          <a:ext cx="107061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740">
                  <a:extLst>
                    <a:ext uri="{9D8B030D-6E8A-4147-A177-3AD203B41FA5}">
                      <a16:colId xmlns:a16="http://schemas.microsoft.com/office/drawing/2014/main" val="4791754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3780168869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1144303328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3164204567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15538997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462629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3200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Comp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Test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858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/>
                      <a:r>
                        <a:rPr lang="en-GB" sz="3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32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 dirty="0"/>
                        <a:t>Display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62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/>
                      <a:r>
                        <a:rPr lang="en-GB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32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 dirty="0"/>
                        <a:t>Extreme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dirty="0"/>
                        <a:t>Display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267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/>
                      <a:r>
                        <a:rPr lang="en-GB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32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 dirty="0"/>
                        <a:t>Exceptional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 dirty="0"/>
                        <a:t>Error / Re-enter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123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/>
                      <a:r>
                        <a:rPr lang="en-GB" sz="3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32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 dirty="0"/>
                        <a:t>"Correct"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023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/>
                      <a:r>
                        <a:rPr lang="en-GB" sz="3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32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 dirty="0"/>
                        <a:t>"Incorrect"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966020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D9526C75-87E7-C3E7-0C5E-159B24296560}"/>
              </a:ext>
            </a:extLst>
          </p:cNvPr>
          <p:cNvSpPr/>
          <p:nvPr/>
        </p:nvSpPr>
        <p:spPr>
          <a:xfrm>
            <a:off x="742950" y="5262027"/>
            <a:ext cx="7493000" cy="57833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F0EBB6-4134-4CF1-BD23-C3DD84FA7C51}"/>
              </a:ext>
            </a:extLst>
          </p:cNvPr>
          <p:cNvSpPr/>
          <p:nvPr/>
        </p:nvSpPr>
        <p:spPr>
          <a:xfrm>
            <a:off x="742950" y="4698952"/>
            <a:ext cx="7493000" cy="57833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B9B772-3E1A-3A14-67DF-5D049442848E}"/>
              </a:ext>
            </a:extLst>
          </p:cNvPr>
          <p:cNvSpPr/>
          <p:nvPr/>
        </p:nvSpPr>
        <p:spPr>
          <a:xfrm>
            <a:off x="742950" y="2979985"/>
            <a:ext cx="7493000" cy="57833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0016BE-A4B2-83B0-FD2E-EAB30674BB47}"/>
              </a:ext>
            </a:extLst>
          </p:cNvPr>
          <p:cNvSpPr/>
          <p:nvPr/>
        </p:nvSpPr>
        <p:spPr>
          <a:xfrm>
            <a:off x="742950" y="3542668"/>
            <a:ext cx="7493000" cy="57833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D791AD-2295-99F5-693A-08C1086B553D}"/>
              </a:ext>
            </a:extLst>
          </p:cNvPr>
          <p:cNvSpPr/>
          <p:nvPr/>
        </p:nvSpPr>
        <p:spPr>
          <a:xfrm>
            <a:off x="742950" y="4121006"/>
            <a:ext cx="7493000" cy="57833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CA952F-C83D-FB42-F274-238025EC0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Test Table – Random Values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ED5775-6CC0-A037-C385-9ABCF3F00385}"/>
              </a:ext>
            </a:extLst>
          </p:cNvPr>
          <p:cNvSpPr txBox="1"/>
          <p:nvPr/>
        </p:nvSpPr>
        <p:spPr>
          <a:xfrm>
            <a:off x="838198" y="1657915"/>
            <a:ext cx="91962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b="1" dirty="0"/>
              <a:t>Problem: Guess a number (1 – 10)</a:t>
            </a:r>
          </a:p>
        </p:txBody>
      </p:sp>
      <p:sp>
        <p:nvSpPr>
          <p:cNvPr id="3" name="Callout: Bent Line with No Border 8">
            <a:extLst>
              <a:ext uri="{FF2B5EF4-FFF2-40B4-BE49-F238E27FC236}">
                <a16:creationId xmlns:a16="http://schemas.microsoft.com/office/drawing/2014/main" id="{6E0A058C-DFC4-F91F-DB40-DB5369DF5125}"/>
              </a:ext>
            </a:extLst>
          </p:cNvPr>
          <p:cNvSpPr/>
          <p:nvPr/>
        </p:nvSpPr>
        <p:spPr>
          <a:xfrm>
            <a:off x="3236810" y="6145060"/>
            <a:ext cx="5176940" cy="515127"/>
          </a:xfrm>
          <a:prstGeom prst="callout2">
            <a:avLst>
              <a:gd name="adj1" fmla="val 50433"/>
              <a:gd name="adj2" fmla="val -30"/>
              <a:gd name="adj3" fmla="val 50124"/>
              <a:gd name="adj4" fmla="val -9150"/>
              <a:gd name="adj5" fmla="val -47626"/>
              <a:gd name="adj6" fmla="val -1273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Random value or picked by tester</a:t>
            </a:r>
          </a:p>
        </p:txBody>
      </p:sp>
    </p:spTree>
    <p:extLst>
      <p:ext uri="{BB962C8B-B14F-4D97-AF65-F5344CB8AC3E}">
        <p14:creationId xmlns:p14="http://schemas.microsoft.com/office/powerpoint/2010/main" val="176060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5" grpId="0" animBg="1"/>
      <p:bldP spid="6" grpId="0" animBg="1"/>
      <p:bldP spid="7" grpId="0" animBg="1"/>
      <p:bldP spid="15" grpId="0"/>
      <p:bldP spid="3" grpId="0" animBg="1"/>
    </p:bld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104334F-43A4-1866-1061-1164A2EF7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617849A-8D06-9704-D003-BA4F7F8697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049266"/>
              </p:ext>
            </p:extLst>
          </p:nvPr>
        </p:nvGraphicFramePr>
        <p:xfrm>
          <a:off x="742950" y="2380517"/>
          <a:ext cx="107061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740">
                  <a:extLst>
                    <a:ext uri="{9D8B030D-6E8A-4147-A177-3AD203B41FA5}">
                      <a16:colId xmlns:a16="http://schemas.microsoft.com/office/drawing/2014/main" val="4791754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3780168869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1144303328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3164204567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15538997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462629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3200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Comp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Test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858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/>
                      <a:r>
                        <a:rPr lang="en-GB" sz="3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 dirty="0"/>
                        <a:t>Display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62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/>
                      <a:r>
                        <a:rPr lang="en-GB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 dirty="0"/>
                        <a:t>Extreme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dirty="0"/>
                        <a:t>Display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267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/>
                      <a:r>
                        <a:rPr lang="en-GB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 dirty="0"/>
                        <a:t>Exceptional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3200" dirty="0"/>
                        <a:t>Error / Re-enter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123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/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GB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023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/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GB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96602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2C4E4BA-7134-4AEA-BB13-DC8C8135F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Test Table – Random Values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B4F58F-DCB5-0307-212E-980F007FE4B3}"/>
              </a:ext>
            </a:extLst>
          </p:cNvPr>
          <p:cNvSpPr txBox="1"/>
          <p:nvPr/>
        </p:nvSpPr>
        <p:spPr>
          <a:xfrm>
            <a:off x="838198" y="1657915"/>
            <a:ext cx="91962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b="1" dirty="0"/>
              <a:t>Problem: Guess a number (1 – 10)</a:t>
            </a:r>
          </a:p>
        </p:txBody>
      </p:sp>
    </p:spTree>
    <p:extLst>
      <p:ext uri="{BB962C8B-B14F-4D97-AF65-F5344CB8AC3E}">
        <p14:creationId xmlns:p14="http://schemas.microsoft.com/office/powerpoint/2010/main" val="2975950969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the 1-D array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584668572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DCDFA-A1ED-43DF-B457-B750F34D0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Variables – How many are needed?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61AC6-DB97-4136-A935-44E328825A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noProof="0" dirty="0"/>
              <a:t>A postcode</a:t>
            </a:r>
          </a:p>
          <a:p>
            <a:pPr>
              <a:spcAft>
                <a:spcPts val="0"/>
              </a:spcAft>
            </a:pPr>
            <a:r>
              <a:rPr lang="en-GB" noProof="0" dirty="0"/>
              <a:t>The ages of 5 pupils</a:t>
            </a:r>
          </a:p>
          <a:p>
            <a:pPr>
              <a:spcAft>
                <a:spcPts val="0"/>
              </a:spcAft>
            </a:pPr>
            <a:endParaRPr lang="en-GB" noProof="0" dirty="0"/>
          </a:p>
          <a:p>
            <a:pPr>
              <a:spcAft>
                <a:spcPts val="0"/>
              </a:spcAft>
            </a:pPr>
            <a:endParaRPr lang="en-GB" noProof="0" dirty="0"/>
          </a:p>
          <a:p>
            <a:pPr>
              <a:spcAft>
                <a:spcPts val="0"/>
              </a:spcAft>
            </a:pPr>
            <a:endParaRPr lang="en-GB" noProof="0" dirty="0"/>
          </a:p>
          <a:p>
            <a:pPr>
              <a:spcAft>
                <a:spcPts val="600"/>
              </a:spcAft>
            </a:pPr>
            <a:endParaRPr lang="en-GB" noProof="0" dirty="0"/>
          </a:p>
          <a:p>
            <a:pPr>
              <a:spcAft>
                <a:spcPts val="600"/>
              </a:spcAft>
            </a:pPr>
            <a:r>
              <a:rPr lang="en-GB" noProof="0" dirty="0"/>
              <a:t>Rainfall for every day of a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A78C3-98F4-4178-84FF-3EA7B4CE17D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noProof="0" dirty="0">
                <a:latin typeface="Consolas" panose="020B0609020204030204" pitchFamily="49" charset="0"/>
              </a:rPr>
              <a:t>postcode = "</a:t>
            </a:r>
            <a:r>
              <a:rPr lang="en-GB" noProof="0" dirty="0">
                <a:solidFill>
                  <a:srgbClr val="183691"/>
                </a:solidFill>
                <a:latin typeface="Consolas" panose="020B0609020204030204" pitchFamily="49" charset="0"/>
              </a:rPr>
              <a:t>HS9 5XD</a:t>
            </a:r>
            <a:r>
              <a:rPr lang="en-GB" noProof="0" dirty="0">
                <a:latin typeface="Consolas" panose="020B0609020204030204" pitchFamily="49" charset="0"/>
              </a:rPr>
              <a:t>"</a:t>
            </a:r>
          </a:p>
          <a:p>
            <a:pPr>
              <a:spcAft>
                <a:spcPts val="0"/>
              </a:spcAft>
            </a:pPr>
            <a:r>
              <a:rPr lang="en-GB" noProof="0" dirty="0">
                <a:latin typeface="Consolas" panose="020B0609020204030204" pitchFamily="49" charset="0"/>
              </a:rPr>
              <a:t>age1 = </a:t>
            </a:r>
            <a:r>
              <a:rPr lang="en-GB" noProof="0" dirty="0">
                <a:solidFill>
                  <a:srgbClr val="0086B3"/>
                </a:solidFill>
                <a:latin typeface="Consolas" panose="020B0609020204030204" pitchFamily="49" charset="0"/>
              </a:rPr>
              <a:t>11</a:t>
            </a:r>
          </a:p>
          <a:p>
            <a:pPr>
              <a:spcAft>
                <a:spcPts val="0"/>
              </a:spcAft>
            </a:pPr>
            <a:r>
              <a:rPr lang="en-GB" noProof="0" dirty="0">
                <a:latin typeface="Consolas" panose="020B0609020204030204" pitchFamily="49" charset="0"/>
              </a:rPr>
              <a:t>age2 = </a:t>
            </a:r>
            <a:r>
              <a:rPr lang="en-GB" noProof="0" dirty="0">
                <a:solidFill>
                  <a:srgbClr val="0086B3"/>
                </a:solidFill>
                <a:latin typeface="Consolas" panose="020B0609020204030204" pitchFamily="49" charset="0"/>
              </a:rPr>
              <a:t>14</a:t>
            </a:r>
          </a:p>
          <a:p>
            <a:pPr>
              <a:spcAft>
                <a:spcPts val="0"/>
              </a:spcAft>
            </a:pPr>
            <a:r>
              <a:rPr lang="en-GB" noProof="0" dirty="0">
                <a:latin typeface="Consolas" panose="020B0609020204030204" pitchFamily="49" charset="0"/>
              </a:rPr>
              <a:t>age3 = </a:t>
            </a:r>
            <a:r>
              <a:rPr lang="en-GB" noProof="0" dirty="0">
                <a:solidFill>
                  <a:srgbClr val="0086B3"/>
                </a:solidFill>
                <a:latin typeface="Consolas" panose="020B0609020204030204" pitchFamily="49" charset="0"/>
              </a:rPr>
              <a:t>13</a:t>
            </a:r>
          </a:p>
          <a:p>
            <a:pPr>
              <a:spcAft>
                <a:spcPts val="0"/>
              </a:spcAft>
            </a:pPr>
            <a:r>
              <a:rPr lang="en-GB" noProof="0" dirty="0">
                <a:latin typeface="Consolas" panose="020B0609020204030204" pitchFamily="49" charset="0"/>
              </a:rPr>
              <a:t>age4 = </a:t>
            </a:r>
            <a:r>
              <a:rPr lang="en-GB" noProof="0" dirty="0">
                <a:solidFill>
                  <a:srgbClr val="0086B3"/>
                </a:solidFill>
                <a:latin typeface="Consolas" panose="020B0609020204030204" pitchFamily="49" charset="0"/>
              </a:rPr>
              <a:t>14</a:t>
            </a:r>
          </a:p>
          <a:p>
            <a:r>
              <a:rPr lang="en-GB" noProof="0" dirty="0">
                <a:latin typeface="Consolas" panose="020B0609020204030204" pitchFamily="49" charset="0"/>
              </a:rPr>
              <a:t>age5 = </a:t>
            </a:r>
            <a:r>
              <a:rPr lang="en-GB" noProof="0" dirty="0">
                <a:solidFill>
                  <a:srgbClr val="0086B3"/>
                </a:solidFill>
                <a:latin typeface="Consolas" panose="020B0609020204030204" pitchFamily="49" charset="0"/>
              </a:rPr>
              <a:t>12</a:t>
            </a:r>
          </a:p>
          <a:p>
            <a:r>
              <a:rPr lang="en-GB" noProof="0" dirty="0">
                <a:latin typeface="Consolas" panose="020B0609020204030204" pitchFamily="49" charset="0"/>
              </a:rPr>
              <a:t>365 or 366 variables!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5958EF-1550-45C3-9B8A-8140DCBEAD7E}"/>
              </a:ext>
            </a:extLst>
          </p:cNvPr>
          <p:cNvSpPr txBox="1"/>
          <p:nvPr/>
        </p:nvSpPr>
        <p:spPr>
          <a:xfrm>
            <a:off x="3194538" y="6019512"/>
            <a:ext cx="5802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Multiple variables are inefficient</a:t>
            </a:r>
          </a:p>
        </p:txBody>
      </p:sp>
    </p:spTree>
    <p:extLst>
      <p:ext uri="{BB962C8B-B14F-4D97-AF65-F5344CB8AC3E}">
        <p14:creationId xmlns:p14="http://schemas.microsoft.com/office/powerpoint/2010/main" val="1899288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11">
            <a:extLst>
              <a:ext uri="{FF2B5EF4-FFF2-40B4-BE49-F238E27FC236}">
                <a16:creationId xmlns:a16="http://schemas.microsoft.com/office/drawing/2014/main" id="{64F2E292-FC1F-4F2D-9525-F125E4B58CB2}"/>
              </a:ext>
            </a:extLst>
          </p:cNvPr>
          <p:cNvSpPr txBox="1"/>
          <p:nvPr/>
        </p:nvSpPr>
        <p:spPr>
          <a:xfrm>
            <a:off x="2628251" y="1828198"/>
            <a:ext cx="6367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0086B3"/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9" name="14">
            <a:extLst>
              <a:ext uri="{FF2B5EF4-FFF2-40B4-BE49-F238E27FC236}">
                <a16:creationId xmlns:a16="http://schemas.microsoft.com/office/drawing/2014/main" id="{4334C1EB-E122-4BAC-B3EB-426D91944523}"/>
              </a:ext>
            </a:extLst>
          </p:cNvPr>
          <p:cNvSpPr txBox="1"/>
          <p:nvPr/>
        </p:nvSpPr>
        <p:spPr>
          <a:xfrm>
            <a:off x="2628251" y="2465288"/>
            <a:ext cx="6367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0086B3"/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10" name="13">
            <a:extLst>
              <a:ext uri="{FF2B5EF4-FFF2-40B4-BE49-F238E27FC236}">
                <a16:creationId xmlns:a16="http://schemas.microsoft.com/office/drawing/2014/main" id="{F39BB5EA-798D-421C-A2E9-A79A81C8326E}"/>
              </a:ext>
            </a:extLst>
          </p:cNvPr>
          <p:cNvSpPr txBox="1"/>
          <p:nvPr/>
        </p:nvSpPr>
        <p:spPr>
          <a:xfrm>
            <a:off x="2628251" y="3102411"/>
            <a:ext cx="6367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0086B3"/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11" name="14">
            <a:extLst>
              <a:ext uri="{FF2B5EF4-FFF2-40B4-BE49-F238E27FC236}">
                <a16:creationId xmlns:a16="http://schemas.microsoft.com/office/drawing/2014/main" id="{002D4D7E-6769-452F-A3E9-F5D4C18A24BD}"/>
              </a:ext>
            </a:extLst>
          </p:cNvPr>
          <p:cNvSpPr txBox="1"/>
          <p:nvPr/>
        </p:nvSpPr>
        <p:spPr>
          <a:xfrm>
            <a:off x="2628250" y="3736208"/>
            <a:ext cx="6367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0086B3"/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12" name="12">
            <a:extLst>
              <a:ext uri="{FF2B5EF4-FFF2-40B4-BE49-F238E27FC236}">
                <a16:creationId xmlns:a16="http://schemas.microsoft.com/office/drawing/2014/main" id="{80DBAAE0-DD02-4B84-8934-3606DC411CF7}"/>
              </a:ext>
            </a:extLst>
          </p:cNvPr>
          <p:cNvSpPr txBox="1"/>
          <p:nvPr/>
        </p:nvSpPr>
        <p:spPr>
          <a:xfrm>
            <a:off x="2628250" y="4391521"/>
            <a:ext cx="6367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0086B3"/>
                </a:solidFill>
                <a:latin typeface="Consolas" panose="020B0609020204030204" pitchFamily="49" charset="0"/>
              </a:rPr>
              <a:t>12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8DCDFA-A1ED-43DF-B457-B750F34D0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Multiple variables →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61AC6-DB97-4136-A935-44E328825A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GB" noProof="0" dirty="0">
                <a:latin typeface="Consolas" panose="020B0609020204030204" pitchFamily="49" charset="0"/>
              </a:rPr>
              <a:t>age1 = </a:t>
            </a:r>
            <a:r>
              <a:rPr lang="en-GB" noProof="0" dirty="0">
                <a:solidFill>
                  <a:srgbClr val="0086B3"/>
                </a:solidFill>
                <a:latin typeface="Consolas" panose="020B0609020204030204" pitchFamily="49" charset="0"/>
              </a:rPr>
              <a:t>11</a:t>
            </a:r>
          </a:p>
          <a:p>
            <a:pPr>
              <a:spcBef>
                <a:spcPts val="0"/>
              </a:spcBef>
            </a:pPr>
            <a:r>
              <a:rPr lang="en-GB" noProof="0" dirty="0">
                <a:latin typeface="Consolas" panose="020B0609020204030204" pitchFamily="49" charset="0"/>
              </a:rPr>
              <a:t>age2 = </a:t>
            </a:r>
            <a:r>
              <a:rPr lang="en-GB" noProof="0" dirty="0">
                <a:solidFill>
                  <a:srgbClr val="0086B3"/>
                </a:solidFill>
                <a:latin typeface="Consolas" panose="020B0609020204030204" pitchFamily="49" charset="0"/>
              </a:rPr>
              <a:t>14</a:t>
            </a:r>
          </a:p>
          <a:p>
            <a:pPr>
              <a:spcBef>
                <a:spcPts val="0"/>
              </a:spcBef>
            </a:pPr>
            <a:r>
              <a:rPr lang="en-GB" noProof="0" dirty="0">
                <a:latin typeface="Consolas" panose="020B0609020204030204" pitchFamily="49" charset="0"/>
              </a:rPr>
              <a:t>age3 = </a:t>
            </a:r>
            <a:r>
              <a:rPr lang="en-GB" noProof="0" dirty="0">
                <a:solidFill>
                  <a:srgbClr val="0086B3"/>
                </a:solidFill>
                <a:latin typeface="Consolas" panose="020B0609020204030204" pitchFamily="49" charset="0"/>
              </a:rPr>
              <a:t>13</a:t>
            </a:r>
          </a:p>
          <a:p>
            <a:pPr>
              <a:spcBef>
                <a:spcPts val="0"/>
              </a:spcBef>
            </a:pPr>
            <a:r>
              <a:rPr lang="en-GB" noProof="0" dirty="0">
                <a:latin typeface="Consolas" panose="020B0609020204030204" pitchFamily="49" charset="0"/>
              </a:rPr>
              <a:t>age4 = </a:t>
            </a:r>
            <a:r>
              <a:rPr lang="en-GB" noProof="0" dirty="0">
                <a:solidFill>
                  <a:srgbClr val="0086B3"/>
                </a:solidFill>
                <a:latin typeface="Consolas" panose="020B0609020204030204" pitchFamily="49" charset="0"/>
              </a:rPr>
              <a:t>14</a:t>
            </a:r>
          </a:p>
          <a:p>
            <a:pPr>
              <a:spcBef>
                <a:spcPts val="0"/>
              </a:spcBef>
            </a:pPr>
            <a:r>
              <a:rPr lang="en-GB" noProof="0" dirty="0">
                <a:latin typeface="Consolas" panose="020B0609020204030204" pitchFamily="49" charset="0"/>
              </a:rPr>
              <a:t>age5 = </a:t>
            </a:r>
            <a:r>
              <a:rPr lang="en-GB" noProof="0" dirty="0">
                <a:solidFill>
                  <a:srgbClr val="0086B3"/>
                </a:solidFill>
                <a:latin typeface="Consolas" panose="020B0609020204030204" pitchFamily="49" charset="0"/>
              </a:rPr>
              <a:t>12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A78C3-98F4-4178-84FF-3EA7B4CE1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70156" y="1735412"/>
            <a:ext cx="5181600" cy="4351338"/>
          </a:xfrm>
        </p:spPr>
        <p:txBody>
          <a:bodyPr/>
          <a:lstStyle/>
          <a:p>
            <a:pPr marL="0" indent="0">
              <a:buNone/>
            </a:pPr>
            <a:endParaRPr lang="en-GB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noProof="0" dirty="0">
                <a:latin typeface="Consolas" panose="020B0609020204030204" pitchFamily="49" charset="0"/>
              </a:rPr>
              <a:t>[   ,   ,   ,   ,   ]</a:t>
            </a:r>
          </a:p>
        </p:txBody>
      </p:sp>
      <p:sp>
        <p:nvSpPr>
          <p:cNvPr id="5" name="An array is">
            <a:extLst>
              <a:ext uri="{FF2B5EF4-FFF2-40B4-BE49-F238E27FC236}">
                <a16:creationId xmlns:a16="http://schemas.microsoft.com/office/drawing/2014/main" id="{A95958EF-1550-45C3-9B8A-8140DCBEAD7E}"/>
              </a:ext>
            </a:extLst>
          </p:cNvPr>
          <p:cNvSpPr txBox="1"/>
          <p:nvPr/>
        </p:nvSpPr>
        <p:spPr>
          <a:xfrm>
            <a:off x="1461477" y="5908100"/>
            <a:ext cx="92690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An array is a collection of values of the same datatype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0A9214A9-9460-47A0-AAD9-7ED23C78595D}"/>
              </a:ext>
            </a:extLst>
          </p:cNvPr>
          <p:cNvSpPr/>
          <p:nvPr/>
        </p:nvSpPr>
        <p:spPr>
          <a:xfrm>
            <a:off x="3923323" y="1825625"/>
            <a:ext cx="875323" cy="3133650"/>
          </a:xfrm>
          <a:prstGeom prst="rightBrace">
            <a:avLst>
              <a:gd name="adj1" fmla="val 0"/>
              <a:gd name="adj2" fmla="val 50000"/>
            </a:avLst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36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7.40741E-7 L 0.30104 0.21597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052" y="10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33333E-6 L 0.37239 0.12315 " pathEditMode="relative" rAng="0" ptsTypes="AA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0" y="6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8 0.00046 L 0.44922 0.03032 " pathEditMode="relative" rAng="0" ptsTypes="AA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578" y="1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0.00579 L 0.52161 -0.06227 " pathEditMode="relative" rAng="0" ptsTypes="AA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042" y="-34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7037E-7 L 0.59388 -0.15741 " pathEditMode="relative" rAng="0" ptsTypes="AA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688" y="-7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5" grpId="0"/>
      <p:bldP spid="6" grpId="0" animBg="1"/>
    </p:bld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11">
            <a:extLst>
              <a:ext uri="{FF2B5EF4-FFF2-40B4-BE49-F238E27FC236}">
                <a16:creationId xmlns:a16="http://schemas.microsoft.com/office/drawing/2014/main" id="{64F2E292-FC1F-4F2D-9525-F125E4B58CB2}"/>
              </a:ext>
            </a:extLst>
          </p:cNvPr>
          <p:cNvSpPr txBox="1"/>
          <p:nvPr/>
        </p:nvSpPr>
        <p:spPr>
          <a:xfrm>
            <a:off x="2628251" y="1828198"/>
            <a:ext cx="6367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0086B3"/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9" name="14">
            <a:extLst>
              <a:ext uri="{FF2B5EF4-FFF2-40B4-BE49-F238E27FC236}">
                <a16:creationId xmlns:a16="http://schemas.microsoft.com/office/drawing/2014/main" id="{4334C1EB-E122-4BAC-B3EB-426D91944523}"/>
              </a:ext>
            </a:extLst>
          </p:cNvPr>
          <p:cNvSpPr txBox="1"/>
          <p:nvPr/>
        </p:nvSpPr>
        <p:spPr>
          <a:xfrm>
            <a:off x="2628251" y="2465288"/>
            <a:ext cx="6367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0086B3"/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10" name="13">
            <a:extLst>
              <a:ext uri="{FF2B5EF4-FFF2-40B4-BE49-F238E27FC236}">
                <a16:creationId xmlns:a16="http://schemas.microsoft.com/office/drawing/2014/main" id="{F39BB5EA-798D-421C-A2E9-A79A81C8326E}"/>
              </a:ext>
            </a:extLst>
          </p:cNvPr>
          <p:cNvSpPr txBox="1"/>
          <p:nvPr/>
        </p:nvSpPr>
        <p:spPr>
          <a:xfrm>
            <a:off x="2628251" y="3102411"/>
            <a:ext cx="6367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0086B3"/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11" name="14">
            <a:extLst>
              <a:ext uri="{FF2B5EF4-FFF2-40B4-BE49-F238E27FC236}">
                <a16:creationId xmlns:a16="http://schemas.microsoft.com/office/drawing/2014/main" id="{002D4D7E-6769-452F-A3E9-F5D4C18A24BD}"/>
              </a:ext>
            </a:extLst>
          </p:cNvPr>
          <p:cNvSpPr txBox="1"/>
          <p:nvPr/>
        </p:nvSpPr>
        <p:spPr>
          <a:xfrm>
            <a:off x="2628250" y="3736208"/>
            <a:ext cx="6367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0086B3"/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12" name="12">
            <a:extLst>
              <a:ext uri="{FF2B5EF4-FFF2-40B4-BE49-F238E27FC236}">
                <a16:creationId xmlns:a16="http://schemas.microsoft.com/office/drawing/2014/main" id="{80DBAAE0-DD02-4B84-8934-3606DC411CF7}"/>
              </a:ext>
            </a:extLst>
          </p:cNvPr>
          <p:cNvSpPr txBox="1"/>
          <p:nvPr/>
        </p:nvSpPr>
        <p:spPr>
          <a:xfrm>
            <a:off x="2628250" y="4391521"/>
            <a:ext cx="6367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0086B3"/>
                </a:solidFill>
                <a:latin typeface="Consolas" panose="020B0609020204030204" pitchFamily="49" charset="0"/>
              </a:rPr>
              <a:t>12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8DCDFA-A1ED-43DF-B457-B750F34D0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Multiple variables →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61AC6-DB97-4136-A935-44E328825A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GB" noProof="0" dirty="0">
                <a:latin typeface="Consolas" panose="020B0609020204030204" pitchFamily="49" charset="0"/>
              </a:rPr>
              <a:t>age1 = </a:t>
            </a:r>
            <a:r>
              <a:rPr lang="en-GB" noProof="0" dirty="0">
                <a:solidFill>
                  <a:srgbClr val="0086B3"/>
                </a:solidFill>
                <a:latin typeface="Consolas" panose="020B0609020204030204" pitchFamily="49" charset="0"/>
              </a:rPr>
              <a:t>11</a:t>
            </a:r>
          </a:p>
          <a:p>
            <a:pPr>
              <a:spcBef>
                <a:spcPts val="0"/>
              </a:spcBef>
            </a:pPr>
            <a:r>
              <a:rPr lang="en-GB" noProof="0" dirty="0">
                <a:latin typeface="Consolas" panose="020B0609020204030204" pitchFamily="49" charset="0"/>
              </a:rPr>
              <a:t>age2 = </a:t>
            </a:r>
            <a:r>
              <a:rPr lang="en-GB" noProof="0" dirty="0">
                <a:solidFill>
                  <a:srgbClr val="0086B3"/>
                </a:solidFill>
                <a:latin typeface="Consolas" panose="020B0609020204030204" pitchFamily="49" charset="0"/>
              </a:rPr>
              <a:t>14</a:t>
            </a:r>
          </a:p>
          <a:p>
            <a:pPr>
              <a:spcBef>
                <a:spcPts val="0"/>
              </a:spcBef>
            </a:pPr>
            <a:r>
              <a:rPr lang="en-GB" noProof="0" dirty="0">
                <a:latin typeface="Consolas" panose="020B0609020204030204" pitchFamily="49" charset="0"/>
              </a:rPr>
              <a:t>age3 = </a:t>
            </a:r>
            <a:r>
              <a:rPr lang="en-GB" noProof="0" dirty="0">
                <a:solidFill>
                  <a:srgbClr val="0086B3"/>
                </a:solidFill>
                <a:latin typeface="Consolas" panose="020B0609020204030204" pitchFamily="49" charset="0"/>
              </a:rPr>
              <a:t>13</a:t>
            </a:r>
          </a:p>
          <a:p>
            <a:pPr>
              <a:spcBef>
                <a:spcPts val="0"/>
              </a:spcBef>
            </a:pPr>
            <a:r>
              <a:rPr lang="en-GB" noProof="0" dirty="0">
                <a:latin typeface="Consolas" panose="020B0609020204030204" pitchFamily="49" charset="0"/>
              </a:rPr>
              <a:t>age4 = </a:t>
            </a:r>
            <a:r>
              <a:rPr lang="en-GB" noProof="0" dirty="0">
                <a:solidFill>
                  <a:srgbClr val="0086B3"/>
                </a:solidFill>
                <a:latin typeface="Consolas" panose="020B0609020204030204" pitchFamily="49" charset="0"/>
              </a:rPr>
              <a:t>14</a:t>
            </a:r>
          </a:p>
          <a:p>
            <a:pPr>
              <a:spcBef>
                <a:spcPts val="0"/>
              </a:spcBef>
            </a:pPr>
            <a:r>
              <a:rPr lang="en-GB" noProof="0" dirty="0">
                <a:latin typeface="Consolas" panose="020B0609020204030204" pitchFamily="49" charset="0"/>
              </a:rPr>
              <a:t>age5 = </a:t>
            </a:r>
            <a:r>
              <a:rPr lang="en-GB" noProof="0" dirty="0">
                <a:solidFill>
                  <a:srgbClr val="0086B3"/>
                </a:solidFill>
                <a:latin typeface="Consolas" panose="020B0609020204030204" pitchFamily="49" charset="0"/>
              </a:rPr>
              <a:t>12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A78C3-98F4-4178-84FF-3EA7B4CE1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55015" y="3099084"/>
            <a:ext cx="6126131" cy="637124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>
                <a:latin typeface="Consolas" panose="020B0609020204030204" pitchFamily="49" charset="0"/>
              </a:rPr>
              <a:t>[    ,    ,    ,    ,    ]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0A9214A9-9460-47A0-AAD9-7ED23C78595D}"/>
              </a:ext>
            </a:extLst>
          </p:cNvPr>
          <p:cNvSpPr/>
          <p:nvPr/>
        </p:nvSpPr>
        <p:spPr>
          <a:xfrm>
            <a:off x="3923323" y="1825625"/>
            <a:ext cx="875323" cy="3133650"/>
          </a:xfrm>
          <a:prstGeom prst="rightBrace">
            <a:avLst>
              <a:gd name="adj1" fmla="val 0"/>
              <a:gd name="adj2" fmla="val 50000"/>
            </a:avLst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2431928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3057993" y="3367555"/>
            <a:ext cx="85165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effectLst/>
                <a:latin typeface="Consolas" panose="020B0609020204030204" pitchFamily="49" charset="0"/>
              </a:rPr>
              <a:t>ages = [</a:t>
            </a:r>
            <a:r>
              <a:rPr lang="en-GB" sz="440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GB" sz="4400" dirty="0">
                <a:effectLst/>
                <a:latin typeface="Consolas" panose="020B0609020204030204" pitchFamily="49" charset="0"/>
              </a:rPr>
              <a:t>, </a:t>
            </a:r>
            <a:r>
              <a:rPr lang="en-GB" sz="440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GB" sz="4400" dirty="0">
                <a:effectLst/>
                <a:latin typeface="Consolas" panose="020B0609020204030204" pitchFamily="49" charset="0"/>
              </a:rPr>
              <a:t>, </a:t>
            </a:r>
            <a:r>
              <a:rPr lang="en-GB" sz="440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GB" sz="4400" dirty="0">
                <a:effectLst/>
                <a:latin typeface="Consolas" panose="020B0609020204030204" pitchFamily="49" charset="0"/>
              </a:rPr>
              <a:t>, </a:t>
            </a:r>
            <a:r>
              <a:rPr lang="en-GB" sz="440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GB" sz="4400" dirty="0">
                <a:effectLst/>
                <a:latin typeface="Consolas" panose="020B0609020204030204" pitchFamily="49" charset="0"/>
              </a:rPr>
              <a:t>, </a:t>
            </a:r>
            <a:r>
              <a:rPr lang="en-GB" sz="440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GB" sz="4400" dirty="0">
                <a:effectLst/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4" name="Callout: Bent Line with No Border 3">
            <a:extLst>
              <a:ext uri="{FF2B5EF4-FFF2-40B4-BE49-F238E27FC236}">
                <a16:creationId xmlns:a16="http://schemas.microsoft.com/office/drawing/2014/main" id="{D6F14AE9-0634-49A1-9522-5FDA6FED3DEA}"/>
              </a:ext>
            </a:extLst>
          </p:cNvPr>
          <p:cNvSpPr/>
          <p:nvPr/>
        </p:nvSpPr>
        <p:spPr>
          <a:xfrm>
            <a:off x="662784" y="2198082"/>
            <a:ext cx="1907234" cy="862642"/>
          </a:xfrm>
          <a:prstGeom prst="callout2">
            <a:avLst>
              <a:gd name="adj1" fmla="val 50590"/>
              <a:gd name="adj2" fmla="val 100061"/>
              <a:gd name="adj3" fmla="val 50521"/>
              <a:gd name="adj4" fmla="val 122800"/>
              <a:gd name="adj5" fmla="val 147476"/>
              <a:gd name="adj6" fmla="val 13405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Array name</a:t>
            </a: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4C153303-D1C1-431D-B2E2-B4706419068D}"/>
              </a:ext>
            </a:extLst>
          </p:cNvPr>
          <p:cNvSpPr/>
          <p:nvPr/>
        </p:nvSpPr>
        <p:spPr>
          <a:xfrm>
            <a:off x="2211012" y="4599278"/>
            <a:ext cx="2188233" cy="862642"/>
          </a:xfrm>
          <a:prstGeom prst="callout2">
            <a:avLst>
              <a:gd name="adj1" fmla="val 50406"/>
              <a:gd name="adj2" fmla="val 100247"/>
              <a:gd name="adj3" fmla="val 50016"/>
              <a:gd name="adj4" fmla="val 120252"/>
              <a:gd name="adj5" fmla="val -58833"/>
              <a:gd name="adj6" fmla="val 12073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Assignment operator</a:t>
            </a: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79D90FB4-F237-4763-935F-72CAFA35FDFC}"/>
              </a:ext>
            </a:extLst>
          </p:cNvPr>
          <p:cNvSpPr/>
          <p:nvPr/>
        </p:nvSpPr>
        <p:spPr>
          <a:xfrm>
            <a:off x="7982325" y="2198082"/>
            <a:ext cx="3097935" cy="862642"/>
          </a:xfrm>
          <a:prstGeom prst="callout2">
            <a:avLst>
              <a:gd name="adj1" fmla="val 50082"/>
              <a:gd name="adj2" fmla="val -221"/>
              <a:gd name="adj3" fmla="val 50888"/>
              <a:gd name="adj4" fmla="val -15354"/>
              <a:gd name="adj5" fmla="val 147610"/>
              <a:gd name="adj6" fmla="val -2132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Values to be stored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38723" y="1997519"/>
            <a:ext cx="2361609" cy="1530634"/>
            <a:chOff x="3620547" y="1580485"/>
            <a:chExt cx="2361609" cy="1530634"/>
          </a:xfrm>
        </p:grpSpPr>
        <p:sp>
          <p:nvSpPr>
            <p:cNvPr id="7" name="Arrow: Curved Down 6">
              <a:extLst>
                <a:ext uri="{FF2B5EF4-FFF2-40B4-BE49-F238E27FC236}">
                  <a16:creationId xmlns:a16="http://schemas.microsoft.com/office/drawing/2014/main" id="{EE74F1A6-8BE6-456E-A480-9DB504632527}"/>
                </a:ext>
              </a:extLst>
            </p:cNvPr>
            <p:cNvSpPr/>
            <p:nvPr/>
          </p:nvSpPr>
          <p:spPr>
            <a:xfrm flipH="1">
              <a:off x="4084596" y="2480335"/>
              <a:ext cx="1433512" cy="630784"/>
            </a:xfrm>
            <a:prstGeom prst="curvedDownArrow">
              <a:avLst>
                <a:gd name="adj1" fmla="val 14746"/>
                <a:gd name="adj2" fmla="val 42781"/>
                <a:gd name="adj3" fmla="val 35417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DEE475-3339-4DC8-A405-51CF42921B5C}"/>
                </a:ext>
              </a:extLst>
            </p:cNvPr>
            <p:cNvSpPr txBox="1"/>
            <p:nvPr/>
          </p:nvSpPr>
          <p:spPr>
            <a:xfrm>
              <a:off x="3620547" y="1580485"/>
              <a:ext cx="236160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>
                  <a:solidFill>
                    <a:srgbClr val="7030A0"/>
                  </a:solidFill>
                </a:rPr>
                <a:t>Array assigned</a:t>
              </a:r>
            </a:p>
            <a:p>
              <a:pPr algn="ctr"/>
              <a:r>
                <a:rPr lang="en-GB" sz="2800" b="1" dirty="0">
                  <a:solidFill>
                    <a:srgbClr val="7030A0"/>
                  </a:solidFill>
                </a:rPr>
                <a:t>to variable</a:t>
              </a:r>
            </a:p>
          </p:txBody>
        </p:sp>
      </p:grp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Assignment –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896D04-BB43-4BA4-8072-F7743E84BEFD}"/>
              </a:ext>
            </a:extLst>
          </p:cNvPr>
          <p:cNvSpPr txBox="1"/>
          <p:nvPr/>
        </p:nvSpPr>
        <p:spPr>
          <a:xfrm>
            <a:off x="1246499" y="5969314"/>
            <a:ext cx="96990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7030A0"/>
                </a:solidFill>
              </a:rPr>
              <a:t>Values are same data type.  Plural used for array names.</a:t>
            </a:r>
          </a:p>
        </p:txBody>
      </p:sp>
    </p:spTree>
    <p:extLst>
      <p:ext uri="{BB962C8B-B14F-4D97-AF65-F5344CB8AC3E}">
        <p14:creationId xmlns:p14="http://schemas.microsoft.com/office/powerpoint/2010/main" val="227237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  <p:bldP spid="6" grpId="0" animBg="1"/>
      <p:bldP spid="10" grpId="0"/>
    </p:bld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3057993" y="3367555"/>
            <a:ext cx="85165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effectLst/>
                <a:latin typeface="Consolas" panose="020B0609020204030204" pitchFamily="49" charset="0"/>
              </a:rPr>
              <a:t>ages = [</a:t>
            </a:r>
            <a:r>
              <a:rPr lang="en-GB" sz="440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GB" sz="4400" dirty="0">
                <a:effectLst/>
                <a:latin typeface="Consolas" panose="020B0609020204030204" pitchFamily="49" charset="0"/>
              </a:rPr>
              <a:t>, </a:t>
            </a:r>
            <a:r>
              <a:rPr lang="en-GB" sz="440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GB" sz="4400" dirty="0">
                <a:effectLst/>
                <a:latin typeface="Consolas" panose="020B0609020204030204" pitchFamily="49" charset="0"/>
              </a:rPr>
              <a:t>, </a:t>
            </a:r>
            <a:r>
              <a:rPr lang="en-GB" sz="440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GB" sz="4400" dirty="0">
                <a:effectLst/>
                <a:latin typeface="Consolas" panose="020B0609020204030204" pitchFamily="49" charset="0"/>
              </a:rPr>
              <a:t>, </a:t>
            </a:r>
            <a:r>
              <a:rPr lang="en-GB" sz="440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GB" sz="4400" dirty="0">
                <a:effectLst/>
                <a:latin typeface="Consolas" panose="020B0609020204030204" pitchFamily="49" charset="0"/>
              </a:rPr>
              <a:t>, </a:t>
            </a:r>
            <a:r>
              <a:rPr lang="en-GB" sz="440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GB" sz="4400" dirty="0">
                <a:effectLst/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Assignment – array</a:t>
            </a:r>
          </a:p>
        </p:txBody>
      </p:sp>
    </p:spTree>
    <p:extLst>
      <p:ext uri="{BB962C8B-B14F-4D97-AF65-F5344CB8AC3E}">
        <p14:creationId xmlns:p14="http://schemas.microsoft.com/office/powerpoint/2010/main" val="2359119037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1831539" y="3367555"/>
            <a:ext cx="85165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effectLst/>
                <a:latin typeface="Consolas" panose="020B0609020204030204" pitchFamily="49" charset="0"/>
              </a:rPr>
              <a:t>ages = [</a:t>
            </a:r>
            <a:r>
              <a:rPr lang="en-GB" sz="440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GB" sz="4400" dirty="0">
                <a:effectLst/>
                <a:latin typeface="Consolas" panose="020B0609020204030204" pitchFamily="49" charset="0"/>
              </a:rPr>
              <a:t>, </a:t>
            </a:r>
            <a:r>
              <a:rPr lang="en-GB" sz="440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GB" sz="4400" dirty="0">
                <a:effectLst/>
                <a:latin typeface="Consolas" panose="020B0609020204030204" pitchFamily="49" charset="0"/>
              </a:rPr>
              <a:t>, </a:t>
            </a:r>
            <a:r>
              <a:rPr lang="en-GB" sz="440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GB" sz="4400" dirty="0">
                <a:effectLst/>
                <a:latin typeface="Consolas" panose="020B0609020204030204" pitchFamily="49" charset="0"/>
              </a:rPr>
              <a:t>, </a:t>
            </a:r>
            <a:r>
              <a:rPr lang="en-GB" sz="440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GB" sz="4400" dirty="0">
                <a:effectLst/>
                <a:latin typeface="Consolas" panose="020B0609020204030204" pitchFamily="49" charset="0"/>
              </a:rPr>
              <a:t>, </a:t>
            </a:r>
            <a:r>
              <a:rPr lang="en-GB" sz="440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GB" sz="4400" dirty="0">
                <a:effectLst/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Array elements / index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D2FAC96-ADE0-49FC-8BC7-2897523BFB17}"/>
              </a:ext>
            </a:extLst>
          </p:cNvPr>
          <p:cNvGrpSpPr/>
          <p:nvPr/>
        </p:nvGrpSpPr>
        <p:grpSpPr>
          <a:xfrm>
            <a:off x="4397835" y="2284519"/>
            <a:ext cx="5522683" cy="1264224"/>
            <a:chOff x="5624289" y="2066809"/>
            <a:chExt cx="5522683" cy="1264224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74E6CA34-AFCC-4A86-BBEC-2B2266223B3E}"/>
                </a:ext>
              </a:extLst>
            </p:cNvPr>
            <p:cNvSpPr/>
            <p:nvPr/>
          </p:nvSpPr>
          <p:spPr>
            <a:xfrm rot="16200000">
              <a:off x="8043891" y="227952"/>
              <a:ext cx="683479" cy="5522683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4618CFB-57D2-41B1-9F43-23A20D0F30F2}"/>
                </a:ext>
              </a:extLst>
            </p:cNvPr>
            <p:cNvSpPr txBox="1"/>
            <p:nvPr/>
          </p:nvSpPr>
          <p:spPr>
            <a:xfrm>
              <a:off x="7606474" y="2066809"/>
              <a:ext cx="155831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b="1" dirty="0">
                  <a:solidFill>
                    <a:srgbClr val="7030A0"/>
                  </a:solidFill>
                </a:rPr>
                <a:t>Elements</a:t>
              </a:r>
            </a:p>
          </p:txBody>
        </p:sp>
      </p:grpSp>
      <p:sp>
        <p:nvSpPr>
          <p:cNvPr id="17" name="Callout: Line with No Border 16">
            <a:extLst>
              <a:ext uri="{FF2B5EF4-FFF2-40B4-BE49-F238E27FC236}">
                <a16:creationId xmlns:a16="http://schemas.microsoft.com/office/drawing/2014/main" id="{85C18D86-6B28-449D-88D0-3DDD54B3E52A}"/>
              </a:ext>
            </a:extLst>
          </p:cNvPr>
          <p:cNvSpPr/>
          <p:nvPr/>
        </p:nvSpPr>
        <p:spPr>
          <a:xfrm>
            <a:off x="4220894" y="4556283"/>
            <a:ext cx="914400" cy="612648"/>
          </a:xfrm>
          <a:prstGeom prst="callout1">
            <a:avLst>
              <a:gd name="adj1" fmla="val -4882"/>
              <a:gd name="adj2" fmla="val 50834"/>
              <a:gd name="adj3" fmla="val -76828"/>
              <a:gd name="adj4" fmla="val 50886"/>
            </a:avLst>
          </a:prstGeom>
          <a:noFill/>
          <a:ln w="5715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20" name="Callout: Line with No Border 19">
            <a:extLst>
              <a:ext uri="{FF2B5EF4-FFF2-40B4-BE49-F238E27FC236}">
                <a16:creationId xmlns:a16="http://schemas.microsoft.com/office/drawing/2014/main" id="{D62E806F-6536-4E84-9316-B27A0A5C16A1}"/>
              </a:ext>
            </a:extLst>
          </p:cNvPr>
          <p:cNvSpPr/>
          <p:nvPr/>
        </p:nvSpPr>
        <p:spPr>
          <a:xfrm>
            <a:off x="5465620" y="4556283"/>
            <a:ext cx="914400" cy="612648"/>
          </a:xfrm>
          <a:prstGeom prst="callout1">
            <a:avLst>
              <a:gd name="adj1" fmla="val -4882"/>
              <a:gd name="adj2" fmla="val 50834"/>
              <a:gd name="adj3" fmla="val -76828"/>
              <a:gd name="adj4" fmla="val 50886"/>
            </a:avLst>
          </a:prstGeom>
          <a:noFill/>
          <a:ln w="5715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21" name="Callout: Line with No Border 20">
            <a:extLst>
              <a:ext uri="{FF2B5EF4-FFF2-40B4-BE49-F238E27FC236}">
                <a16:creationId xmlns:a16="http://schemas.microsoft.com/office/drawing/2014/main" id="{076C1E77-F7EC-49E4-92F2-43F1658DE5D2}"/>
              </a:ext>
            </a:extLst>
          </p:cNvPr>
          <p:cNvSpPr/>
          <p:nvPr/>
        </p:nvSpPr>
        <p:spPr>
          <a:xfrm>
            <a:off x="6710346" y="4556283"/>
            <a:ext cx="914400" cy="612648"/>
          </a:xfrm>
          <a:prstGeom prst="callout1">
            <a:avLst>
              <a:gd name="adj1" fmla="val -4882"/>
              <a:gd name="adj2" fmla="val 50834"/>
              <a:gd name="adj3" fmla="val -76828"/>
              <a:gd name="adj4" fmla="val 50886"/>
            </a:avLst>
          </a:prstGeom>
          <a:noFill/>
          <a:ln w="5715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22" name="Callout: Line with No Border 21">
            <a:extLst>
              <a:ext uri="{FF2B5EF4-FFF2-40B4-BE49-F238E27FC236}">
                <a16:creationId xmlns:a16="http://schemas.microsoft.com/office/drawing/2014/main" id="{60C6C13F-F9CC-42BC-9A21-1AC1D1E98B9F}"/>
              </a:ext>
            </a:extLst>
          </p:cNvPr>
          <p:cNvSpPr/>
          <p:nvPr/>
        </p:nvSpPr>
        <p:spPr>
          <a:xfrm>
            <a:off x="7955072" y="4556283"/>
            <a:ext cx="914400" cy="612648"/>
          </a:xfrm>
          <a:prstGeom prst="callout1">
            <a:avLst>
              <a:gd name="adj1" fmla="val -4882"/>
              <a:gd name="adj2" fmla="val 50834"/>
              <a:gd name="adj3" fmla="val -76828"/>
              <a:gd name="adj4" fmla="val 50886"/>
            </a:avLst>
          </a:prstGeom>
          <a:noFill/>
          <a:ln w="5715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23" name="Callout: Line with No Border 22">
            <a:extLst>
              <a:ext uri="{FF2B5EF4-FFF2-40B4-BE49-F238E27FC236}">
                <a16:creationId xmlns:a16="http://schemas.microsoft.com/office/drawing/2014/main" id="{8465EA88-7A8C-46BB-BFF1-6832DC19CF62}"/>
              </a:ext>
            </a:extLst>
          </p:cNvPr>
          <p:cNvSpPr/>
          <p:nvPr/>
        </p:nvSpPr>
        <p:spPr>
          <a:xfrm>
            <a:off x="9199798" y="4536968"/>
            <a:ext cx="914400" cy="612648"/>
          </a:xfrm>
          <a:prstGeom prst="callout1">
            <a:avLst>
              <a:gd name="adj1" fmla="val -4882"/>
              <a:gd name="adj2" fmla="val 50834"/>
              <a:gd name="adj3" fmla="val -76828"/>
              <a:gd name="adj4" fmla="val 50886"/>
            </a:avLst>
          </a:prstGeom>
          <a:noFill/>
          <a:ln w="5715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>
                <a:solidFill>
                  <a:srgbClr val="7030A0"/>
                </a:solidFill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28BE03-9EF5-457C-B37C-366FD4FA0984}"/>
              </a:ext>
            </a:extLst>
          </p:cNvPr>
          <p:cNvSpPr txBox="1"/>
          <p:nvPr/>
        </p:nvSpPr>
        <p:spPr>
          <a:xfrm>
            <a:off x="2406862" y="4581682"/>
            <a:ext cx="1990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Index value: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E675F0-A8C3-8AE6-4F58-8F56410BC255}"/>
              </a:ext>
            </a:extLst>
          </p:cNvPr>
          <p:cNvSpPr txBox="1"/>
          <p:nvPr/>
        </p:nvSpPr>
        <p:spPr>
          <a:xfrm>
            <a:off x="3653046" y="5908100"/>
            <a:ext cx="48735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7030A0"/>
                </a:solidFill>
              </a:rPr>
              <a:t>An array is a </a:t>
            </a:r>
            <a:r>
              <a:rPr lang="en-GB" sz="3200" b="1" i="1" dirty="0">
                <a:solidFill>
                  <a:srgbClr val="7030A0"/>
                </a:solidFill>
              </a:rPr>
              <a:t>data structure</a:t>
            </a:r>
          </a:p>
        </p:txBody>
      </p:sp>
    </p:spTree>
    <p:extLst>
      <p:ext uri="{BB962C8B-B14F-4D97-AF65-F5344CB8AC3E}">
        <p14:creationId xmlns:p14="http://schemas.microsoft.com/office/powerpoint/2010/main" val="374226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  <p:bldP spid="21" grpId="0" animBg="1"/>
      <p:bldP spid="22" grpId="0" animBg="1"/>
      <p:bldP spid="23" grpId="0" animBg="1"/>
      <p:bldP spid="24" grpId="0"/>
      <p:bldP spid="3" grpId="0"/>
    </p:bld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1831539" y="3367555"/>
            <a:ext cx="85165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effectLst/>
                <a:latin typeface="Consolas" panose="020B0609020204030204" pitchFamily="49" charset="0"/>
              </a:rPr>
              <a:t>ages = [</a:t>
            </a:r>
            <a:r>
              <a:rPr lang="en-GB" sz="440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GB" sz="4400" dirty="0">
                <a:effectLst/>
                <a:latin typeface="Consolas" panose="020B0609020204030204" pitchFamily="49" charset="0"/>
              </a:rPr>
              <a:t>, </a:t>
            </a:r>
            <a:r>
              <a:rPr lang="en-GB" sz="440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GB" sz="4400" dirty="0">
                <a:effectLst/>
                <a:latin typeface="Consolas" panose="020B0609020204030204" pitchFamily="49" charset="0"/>
              </a:rPr>
              <a:t>, </a:t>
            </a:r>
            <a:r>
              <a:rPr lang="en-GB" sz="440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GB" sz="4400" dirty="0">
                <a:effectLst/>
                <a:latin typeface="Consolas" panose="020B0609020204030204" pitchFamily="49" charset="0"/>
              </a:rPr>
              <a:t>, </a:t>
            </a:r>
            <a:r>
              <a:rPr lang="en-GB" sz="440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GB" sz="4400" dirty="0">
                <a:effectLst/>
                <a:latin typeface="Consolas" panose="020B0609020204030204" pitchFamily="49" charset="0"/>
              </a:rPr>
              <a:t>, </a:t>
            </a:r>
            <a:r>
              <a:rPr lang="en-GB" sz="440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GB" sz="4400" dirty="0">
                <a:effectLst/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Array elements / index</a:t>
            </a:r>
          </a:p>
        </p:txBody>
      </p:sp>
    </p:spTree>
    <p:extLst>
      <p:ext uri="{BB962C8B-B14F-4D97-AF65-F5344CB8AC3E}">
        <p14:creationId xmlns:p14="http://schemas.microsoft.com/office/powerpoint/2010/main" val="187972752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Python Example – Access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ages = [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11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14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15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14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13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(ages)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age = ages[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(age)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old = ages[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3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10</a:t>
            </a: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(old)</a:t>
            </a:r>
            <a:endParaRPr lang="en-GB" altLang="en-US" sz="4400" noProof="0" dirty="0">
              <a:latin typeface="Arial" panose="020B0604020202020204" pitchFamily="34" charset="0"/>
            </a:endParaRPr>
          </a:p>
        </p:txBody>
      </p:sp>
      <p:sp>
        <p:nvSpPr>
          <p:cNvPr id="4" name="Callout: Bent Line with No Border 3">
            <a:extLst>
              <a:ext uri="{FF2B5EF4-FFF2-40B4-BE49-F238E27FC236}">
                <a16:creationId xmlns:a16="http://schemas.microsoft.com/office/drawing/2014/main" id="{8268CD0B-7B96-44A0-90F1-27E31781DD8A}"/>
              </a:ext>
            </a:extLst>
          </p:cNvPr>
          <p:cNvSpPr/>
          <p:nvPr/>
        </p:nvSpPr>
        <p:spPr>
          <a:xfrm>
            <a:off x="4569807" y="4337162"/>
            <a:ext cx="1121482" cy="431321"/>
          </a:xfrm>
          <a:prstGeom prst="callout2">
            <a:avLst>
              <a:gd name="adj1" fmla="val 50910"/>
              <a:gd name="adj2" fmla="val 303"/>
              <a:gd name="adj3" fmla="val 51164"/>
              <a:gd name="adj4" fmla="val -55244"/>
              <a:gd name="adj5" fmla="val -69019"/>
              <a:gd name="adj6" fmla="val -5487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Index</a:t>
            </a: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8E81D353-2C10-8CA2-BAF1-3D553312FA1E}"/>
              </a:ext>
            </a:extLst>
          </p:cNvPr>
          <p:cNvSpPr/>
          <p:nvPr/>
        </p:nvSpPr>
        <p:spPr>
          <a:xfrm>
            <a:off x="4810473" y="2997679"/>
            <a:ext cx="3108487" cy="431321"/>
          </a:xfrm>
          <a:prstGeom prst="callout2">
            <a:avLst>
              <a:gd name="adj1" fmla="val 50910"/>
              <a:gd name="adj2" fmla="val 303"/>
              <a:gd name="adj3" fmla="val 51164"/>
              <a:gd name="adj4" fmla="val -34860"/>
              <a:gd name="adj5" fmla="val 143683"/>
              <a:gd name="adj6" fmla="val -3486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Subscript operator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A36950-1E92-4592-A3BB-8C692BBB4C8A}"/>
              </a:ext>
            </a:extLst>
          </p:cNvPr>
          <p:cNvSpPr/>
          <p:nvPr/>
        </p:nvSpPr>
        <p:spPr>
          <a:xfrm>
            <a:off x="3214341" y="1359939"/>
            <a:ext cx="40414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0          1        2         3         4</a:t>
            </a:r>
          </a:p>
        </p:txBody>
      </p:sp>
    </p:spTree>
    <p:extLst>
      <p:ext uri="{BB962C8B-B14F-4D97-AF65-F5344CB8AC3E}">
        <p14:creationId xmlns:p14="http://schemas.microsoft.com/office/powerpoint/2010/main" val="379067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7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25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7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6" grpId="0" animBg="1"/>
      <p:bldP spid="5" grpId="0"/>
    </p:bldLst>
  </p:timing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Python Example – Access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ages = [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11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14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15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14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13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(ages)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age = ages[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(age)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old = ages[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3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10</a:t>
            </a: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(old)</a:t>
            </a:r>
            <a:endParaRPr lang="en-GB" altLang="en-US" sz="4400" noProof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36431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Python Example – Replace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names = [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"" 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4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(names)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names[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2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"Tom"</a:t>
            </a: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names[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"Emma"</a:t>
            </a: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(names)</a:t>
            </a:r>
            <a:endParaRPr lang="en-GB" altLang="en-US" sz="4400" noProof="0" dirty="0">
              <a:latin typeface="Arial" panose="020B0604020202020204" pitchFamily="34" charset="0"/>
            </a:endParaRP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C8FAA953-E58F-B376-0EE5-6DBEB58E5F9F}"/>
              </a:ext>
            </a:extLst>
          </p:cNvPr>
          <p:cNvSpPr/>
          <p:nvPr/>
        </p:nvSpPr>
        <p:spPr>
          <a:xfrm>
            <a:off x="8216776" y="2772711"/>
            <a:ext cx="2949946" cy="862642"/>
          </a:xfrm>
          <a:prstGeom prst="callout2">
            <a:avLst>
              <a:gd name="adj1" fmla="val 50910"/>
              <a:gd name="adj2" fmla="val 303"/>
              <a:gd name="adj3" fmla="val 51943"/>
              <a:gd name="adj4" fmla="val -17994"/>
              <a:gd name="adj5" fmla="val -30339"/>
              <a:gd name="adj6" fmla="val -4354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Python shorthand</a:t>
            </a:r>
          </a:p>
          <a:p>
            <a:r>
              <a:rPr lang="en-GB" sz="2800" b="1" dirty="0">
                <a:solidFill>
                  <a:srgbClr val="7030A0"/>
                </a:solidFill>
              </a:rPr>
              <a:t>(Do use!)</a:t>
            </a:r>
          </a:p>
        </p:txBody>
      </p:sp>
      <p:sp>
        <p:nvSpPr>
          <p:cNvPr id="7" name="Callout: Bent Line with No Border 6">
            <a:extLst>
              <a:ext uri="{FF2B5EF4-FFF2-40B4-BE49-F238E27FC236}">
                <a16:creationId xmlns:a16="http://schemas.microsoft.com/office/drawing/2014/main" id="{CFFEFE53-A0CD-F6ED-CA2E-D1E58D901DBC}"/>
              </a:ext>
            </a:extLst>
          </p:cNvPr>
          <p:cNvSpPr/>
          <p:nvPr/>
        </p:nvSpPr>
        <p:spPr>
          <a:xfrm>
            <a:off x="3212674" y="2997679"/>
            <a:ext cx="1121482" cy="862642"/>
          </a:xfrm>
          <a:prstGeom prst="callout2">
            <a:avLst>
              <a:gd name="adj1" fmla="val 50910"/>
              <a:gd name="adj2" fmla="val 303"/>
              <a:gd name="adj3" fmla="val 51164"/>
              <a:gd name="adj4" fmla="val -34860"/>
              <a:gd name="adj5" fmla="val 90962"/>
              <a:gd name="adj6" fmla="val -3486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55167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</p:bld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Python Example – Replace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names = </a:t>
            </a:r>
            <a:r>
              <a:rPr lang="en-GB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GB" altLang="en-US" dirty="0">
                <a:solidFill>
                  <a:srgbClr val="183691"/>
                </a:solidFill>
                <a:latin typeface="Consolas" panose="020B0609020204030204" pitchFamily="49" charset="0"/>
              </a:rPr>
              <a:t>"" 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4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GB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(names)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names[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2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"Tom"</a:t>
            </a: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names[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"Emma"</a:t>
            </a: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(names)</a:t>
            </a:r>
            <a:endParaRPr lang="en-GB" altLang="en-US" sz="4400" noProof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677912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3774891" y="3044279"/>
            <a:ext cx="464221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dirty="0">
                <a:effectLst/>
                <a:latin typeface="Consolas" panose="020B0609020204030204" pitchFamily="49" charset="0"/>
              </a:rPr>
              <a:t>[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"Hip"</a:t>
            </a:r>
            <a:r>
              <a:rPr lang="en-GB" sz="440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"Hip"</a:t>
            </a:r>
            <a:r>
              <a:rPr lang="en-GB" sz="4400" dirty="0">
                <a:effectLst/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Say What You See!</a:t>
            </a:r>
          </a:p>
        </p:txBody>
      </p:sp>
    </p:spTree>
    <p:extLst>
      <p:ext uri="{BB962C8B-B14F-4D97-AF65-F5344CB8AC3E}">
        <p14:creationId xmlns:p14="http://schemas.microsoft.com/office/powerpoint/2010/main" val="322703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the predefined function: length</a:t>
            </a:r>
          </a:p>
        </p:txBody>
      </p:sp>
    </p:spTree>
    <p:extLst>
      <p:ext uri="{BB962C8B-B14F-4D97-AF65-F5344CB8AC3E}">
        <p14:creationId xmlns:p14="http://schemas.microsoft.com/office/powerpoint/2010/main" val="592835035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Length – Array (Overview)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1492624" y="1950840"/>
            <a:ext cx="388538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[1, 5, 9, 0]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AAB01A-94DD-4613-BD71-1720FEFEFA8E}"/>
              </a:ext>
            </a:extLst>
          </p:cNvPr>
          <p:cNvSpPr txBox="1"/>
          <p:nvPr/>
        </p:nvSpPr>
        <p:spPr>
          <a:xfrm>
            <a:off x="10786673" y="1950839"/>
            <a:ext cx="120791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963B08-C212-4718-A8AA-458D4C59CEBA}"/>
              </a:ext>
            </a:extLst>
          </p:cNvPr>
          <p:cNvSpPr txBox="1"/>
          <p:nvPr/>
        </p:nvSpPr>
        <p:spPr>
          <a:xfrm>
            <a:off x="197414" y="3276403"/>
            <a:ext cx="51805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["</a:t>
            </a:r>
            <a:r>
              <a:rPr kumimoji="0" lang="en-GB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In","At","Pi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"]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5562339" y="3126779"/>
            <a:ext cx="5040000" cy="1080000"/>
            <a:chOff x="3001371" y="3310688"/>
            <a:chExt cx="5040000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len</a:t>
              </a:r>
              <a:r>
                <a:rPr kumimoji="0" lang="en-GB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()</a:t>
              </a:r>
              <a:endPara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0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22E98D8-233B-4694-9FD3-C4CE473126AC}"/>
              </a:ext>
            </a:extLst>
          </p:cNvPr>
          <p:cNvSpPr txBox="1"/>
          <p:nvPr/>
        </p:nvSpPr>
        <p:spPr>
          <a:xfrm>
            <a:off x="10786673" y="3276402"/>
            <a:ext cx="120791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11BBBB-743B-4F70-920B-92D86D92F2EF}"/>
              </a:ext>
            </a:extLst>
          </p:cNvPr>
          <p:cNvSpPr txBox="1"/>
          <p:nvPr/>
        </p:nvSpPr>
        <p:spPr>
          <a:xfrm>
            <a:off x="1183341" y="4601966"/>
            <a:ext cx="419466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[True, False]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5562339" y="4452342"/>
            <a:ext cx="5040000" cy="1080000"/>
            <a:chOff x="3001371" y="5080311"/>
            <a:chExt cx="5040000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len</a:t>
              </a:r>
              <a:r>
                <a:rPr kumimoji="0" lang="en-GB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()</a:t>
              </a:r>
              <a:endPara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0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044AEBC-420D-48FB-B565-42688EEC339C}"/>
              </a:ext>
            </a:extLst>
          </p:cNvPr>
          <p:cNvSpPr txBox="1"/>
          <p:nvPr/>
        </p:nvSpPr>
        <p:spPr>
          <a:xfrm>
            <a:off x="10786673" y="4601965"/>
            <a:ext cx="12079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64AFC2-DEB9-408B-9B33-41239EB6D45A}"/>
              </a:ext>
            </a:extLst>
          </p:cNvPr>
          <p:cNvSpPr txBox="1"/>
          <p:nvPr/>
        </p:nvSpPr>
        <p:spPr>
          <a:xfrm flipH="1">
            <a:off x="4177225" y="5911406"/>
            <a:ext cx="2825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Input: Array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3AE61-A5F0-44B0-85E4-A2C24F50939C}"/>
              </a:ext>
            </a:extLst>
          </p:cNvPr>
          <p:cNvSpPr txBox="1"/>
          <p:nvPr/>
        </p:nvSpPr>
        <p:spPr>
          <a:xfrm flipH="1">
            <a:off x="9162339" y="5911406"/>
            <a:ext cx="2543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Output: Integer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DD65B88-6C76-4F80-9853-D5FF4D0B0487}"/>
              </a:ext>
            </a:extLst>
          </p:cNvPr>
          <p:cNvGrpSpPr/>
          <p:nvPr/>
        </p:nvGrpSpPr>
        <p:grpSpPr>
          <a:xfrm>
            <a:off x="4342485" y="1331802"/>
            <a:ext cx="7652101" cy="1549414"/>
            <a:chOff x="2896884" y="1331802"/>
            <a:chExt cx="7652101" cy="1549414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5DAD2C2-851F-4C0F-A70D-4FCD45DD6765}"/>
                </a:ext>
              </a:extLst>
            </p:cNvPr>
            <p:cNvGrpSpPr/>
            <p:nvPr/>
          </p:nvGrpSpPr>
          <p:grpSpPr>
            <a:xfrm>
              <a:off x="2896884" y="1546532"/>
              <a:ext cx="7652101" cy="1334684"/>
              <a:chOff x="2896884" y="1436004"/>
              <a:chExt cx="7652101" cy="1334684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B7A55C3-637A-47C7-A5CF-AC254EC9D976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Count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Elements</a:t>
                </a:r>
                <a:endParaRPr kumimoji="0" lang="en-GB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189ACEA3-6F18-4607-881B-F12B049A3D2E}"/>
                  </a:ext>
                </a:extLst>
              </p:cNvPr>
              <p:cNvCxnSpPr/>
              <p:nvPr/>
            </p:nvCxnSpPr>
            <p:spPr>
              <a:xfrm>
                <a:off x="41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E09A57C-89C4-4FAA-970E-9E980F126D2F}"/>
                  </a:ext>
                </a:extLst>
              </p:cNvPr>
              <p:cNvSpPr/>
              <p:nvPr/>
            </p:nvSpPr>
            <p:spPr>
              <a:xfrm>
                <a:off x="2896884" y="1436004"/>
                <a:ext cx="9829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Input</a:t>
                </a:r>
                <a:endParaRPr kumimoji="0" lang="en-GB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B2454F58-8CBA-4635-A34C-A131067CD4B4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1A2A068-4149-4A5A-BC6B-6EB22C81DDE5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Output</a:t>
                </a:r>
                <a:endParaRPr kumimoji="0" lang="en-GB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4327629-F8CB-4D2A-9BB4-09E1B414D2D0}"/>
                </a:ext>
              </a:extLst>
            </p:cNvPr>
            <p:cNvSpPr/>
            <p:nvPr/>
          </p:nvSpPr>
          <p:spPr>
            <a:xfrm>
              <a:off x="5895189" y="1331802"/>
              <a:ext cx="148309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Function</a:t>
              </a:r>
              <a:endPara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720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9" grpId="0"/>
      <p:bldP spid="27" grpId="0"/>
      <p:bldP spid="28" grpId="0"/>
      <p:bldP spid="36" grpId="0"/>
      <p:bldP spid="40" grpId="0"/>
      <p:bldP spid="41" grpId="0"/>
    </p:bldLst>
  </p:timing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Length – Array (Overview)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1492624" y="1950840"/>
            <a:ext cx="388538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[1, 5, 9, 0]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963B08-C212-4718-A8AA-458D4C59CEBA}"/>
              </a:ext>
            </a:extLst>
          </p:cNvPr>
          <p:cNvSpPr txBox="1"/>
          <p:nvPr/>
        </p:nvSpPr>
        <p:spPr>
          <a:xfrm>
            <a:off x="197414" y="3276403"/>
            <a:ext cx="51805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["</a:t>
            </a:r>
            <a:r>
              <a:rPr kumimoji="0" lang="en-GB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In","At","Pi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"]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5562339" y="3126779"/>
            <a:ext cx="5040000" cy="1080000"/>
            <a:chOff x="3001371" y="3310688"/>
            <a:chExt cx="5040000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0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011BBBB-743B-4F70-920B-92D86D92F2EF}"/>
              </a:ext>
            </a:extLst>
          </p:cNvPr>
          <p:cNvSpPr txBox="1"/>
          <p:nvPr/>
        </p:nvSpPr>
        <p:spPr>
          <a:xfrm>
            <a:off x="1183341" y="4601966"/>
            <a:ext cx="419466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[True, False]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5562339" y="4452342"/>
            <a:ext cx="5040000" cy="1080000"/>
            <a:chOff x="3001371" y="5080311"/>
            <a:chExt cx="5040000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0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864AFC2-DEB9-408B-9B33-41239EB6D45A}"/>
              </a:ext>
            </a:extLst>
          </p:cNvPr>
          <p:cNvSpPr txBox="1"/>
          <p:nvPr/>
        </p:nvSpPr>
        <p:spPr>
          <a:xfrm flipH="1">
            <a:off x="5015752" y="5911406"/>
            <a:ext cx="1986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3AE61-A5F0-44B0-85E4-A2C24F50939C}"/>
              </a:ext>
            </a:extLst>
          </p:cNvPr>
          <p:cNvSpPr txBox="1"/>
          <p:nvPr/>
        </p:nvSpPr>
        <p:spPr>
          <a:xfrm flipH="1">
            <a:off x="9162339" y="5911406"/>
            <a:ext cx="2543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Output: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DD65B88-6C76-4F80-9853-D5FF4D0B0487}"/>
              </a:ext>
            </a:extLst>
          </p:cNvPr>
          <p:cNvGrpSpPr/>
          <p:nvPr/>
        </p:nvGrpSpPr>
        <p:grpSpPr>
          <a:xfrm>
            <a:off x="4342485" y="1331802"/>
            <a:ext cx="7652101" cy="1549414"/>
            <a:chOff x="2896884" y="1331802"/>
            <a:chExt cx="7652101" cy="1549414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5DAD2C2-851F-4C0F-A70D-4FCD45DD6765}"/>
                </a:ext>
              </a:extLst>
            </p:cNvPr>
            <p:cNvGrpSpPr/>
            <p:nvPr/>
          </p:nvGrpSpPr>
          <p:grpSpPr>
            <a:xfrm>
              <a:off x="2896884" y="1546532"/>
              <a:ext cx="7652101" cy="1334684"/>
              <a:chOff x="2896884" y="1436004"/>
              <a:chExt cx="7652101" cy="1334684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B7A55C3-637A-47C7-A5CF-AC254EC9D976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189ACEA3-6F18-4607-881B-F12B049A3D2E}"/>
                  </a:ext>
                </a:extLst>
              </p:cNvPr>
              <p:cNvCxnSpPr/>
              <p:nvPr/>
            </p:nvCxnSpPr>
            <p:spPr>
              <a:xfrm>
                <a:off x="41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E09A57C-89C4-4FAA-970E-9E980F126D2F}"/>
                  </a:ext>
                </a:extLst>
              </p:cNvPr>
              <p:cNvSpPr/>
              <p:nvPr/>
            </p:nvSpPr>
            <p:spPr>
              <a:xfrm>
                <a:off x="2896884" y="1436004"/>
                <a:ext cx="9829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Input</a:t>
                </a:r>
                <a:endParaRPr kumimoji="0" lang="en-GB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B2454F58-8CBA-4635-A34C-A131067CD4B4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1A2A068-4149-4A5A-BC6B-6EB22C81DDE5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Output</a:t>
                </a:r>
                <a:endParaRPr kumimoji="0" lang="en-GB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4327629-F8CB-4D2A-9BB4-09E1B414D2D0}"/>
                </a:ext>
              </a:extLst>
            </p:cNvPr>
            <p:cNvSpPr/>
            <p:nvPr/>
          </p:nvSpPr>
          <p:spPr>
            <a:xfrm>
              <a:off x="5895189" y="1331802"/>
              <a:ext cx="148309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Function</a:t>
              </a:r>
              <a:endPara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7683160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3155A0-5160-2403-DBE4-C72ADD08DB9E}"/>
              </a:ext>
            </a:extLst>
          </p:cNvPr>
          <p:cNvSpPr/>
          <p:nvPr/>
        </p:nvSpPr>
        <p:spPr>
          <a:xfrm>
            <a:off x="2586389" y="5545153"/>
            <a:ext cx="701923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marR="0" lvl="0" indent="-4572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Counts the elements</a:t>
            </a:r>
          </a:p>
          <a:p>
            <a:pPr marL="457200" marR="0" lvl="0" indent="-4572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to the function can be a variable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len</a:t>
            </a:r>
            <a:r>
              <a:rPr lang="en-GB" noProof="0" dirty="0"/>
              <a:t>() – Array –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5543345" y="3044277"/>
            <a:ext cx="546964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a-Latn" sz="4400" b="0" i="0" u="none" strike="noStrike" kern="1200" cap="none" spc="0" normalizeH="0" baseline="0" noProof="0" dirty="0">
                <a:ln>
                  <a:noFill/>
                </a:ln>
                <a:solidFill>
                  <a:srgbClr val="0086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len</a:t>
            </a:r>
            <a:r>
              <a:rPr kumimoji="0" lang="la-Latn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([</a:t>
            </a:r>
            <a:r>
              <a:rPr kumimoji="0" lang="la-Latn" sz="4400" b="0" i="0" u="none" strike="noStrike" kern="1200" cap="none" spc="0" normalizeH="0" baseline="0" noProof="0" dirty="0">
                <a:ln>
                  <a:noFill/>
                </a:ln>
                <a:solidFill>
                  <a:srgbClr val="0086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la-Latn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la-Latn" sz="4400" b="0" i="0" u="none" strike="noStrike" kern="1200" cap="none" spc="0" normalizeH="0" baseline="0" noProof="0" dirty="0">
                <a:ln>
                  <a:noFill/>
                </a:ln>
                <a:solidFill>
                  <a:srgbClr val="0086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r>
              <a:rPr kumimoji="0" lang="la-Latn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la-Latn" sz="4400" b="0" i="0" u="none" strike="noStrike" kern="1200" cap="none" spc="0" normalizeH="0" baseline="0" noProof="0" dirty="0">
                <a:ln>
                  <a:noFill/>
                </a:ln>
                <a:solidFill>
                  <a:srgbClr val="0086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9</a:t>
            </a:r>
            <a:r>
              <a:rPr kumimoji="0" lang="la-Latn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])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18FD7-5699-4405-B11B-E8E902552F72}"/>
              </a:ext>
            </a:extLst>
          </p:cNvPr>
          <p:cNvSpPr txBox="1"/>
          <p:nvPr/>
        </p:nvSpPr>
        <p:spPr>
          <a:xfrm>
            <a:off x="2502039" y="3044278"/>
            <a:ext cx="296609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myValue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0EA2EDD-D55C-4A47-82C6-64769CAA93CE}"/>
              </a:ext>
            </a:extLst>
          </p:cNvPr>
          <p:cNvGrpSpPr/>
          <p:nvPr/>
        </p:nvGrpSpPr>
        <p:grpSpPr>
          <a:xfrm>
            <a:off x="4461414" y="1890270"/>
            <a:ext cx="1433512" cy="1154006"/>
            <a:chOff x="5456197" y="2058777"/>
            <a:chExt cx="1433512" cy="1154006"/>
          </a:xfrm>
        </p:grpSpPr>
        <p:sp>
          <p:nvSpPr>
            <p:cNvPr id="14" name="Arrow: Curved Down 13">
              <a:extLst>
                <a:ext uri="{FF2B5EF4-FFF2-40B4-BE49-F238E27FC236}">
                  <a16:creationId xmlns:a16="http://schemas.microsoft.com/office/drawing/2014/main" id="{62197FF0-B895-45D2-A531-96330FFB0E40}"/>
                </a:ext>
              </a:extLst>
            </p:cNvPr>
            <p:cNvSpPr/>
            <p:nvPr/>
          </p:nvSpPr>
          <p:spPr>
            <a:xfrm flipH="1">
              <a:off x="5456197" y="2581999"/>
              <a:ext cx="1433512" cy="630784"/>
            </a:xfrm>
            <a:prstGeom prst="curvedDownArrow">
              <a:avLst>
                <a:gd name="adj1" fmla="val 14746"/>
                <a:gd name="adj2" fmla="val 42781"/>
                <a:gd name="adj3" fmla="val 35417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06D1F41-C62C-4D11-89A7-FCE586210A4C}"/>
                </a:ext>
              </a:extLst>
            </p:cNvPr>
            <p:cNvSpPr txBox="1"/>
            <p:nvPr/>
          </p:nvSpPr>
          <p:spPr>
            <a:xfrm>
              <a:off x="5546019" y="2058777"/>
              <a:ext cx="12538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Output</a:t>
              </a:r>
              <a:endPara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Callout: Bent Line with No Border 8">
            <a:extLst>
              <a:ext uri="{FF2B5EF4-FFF2-40B4-BE49-F238E27FC236}">
                <a16:creationId xmlns:a16="http://schemas.microsoft.com/office/drawing/2014/main" id="{F3977A21-6ECB-4351-B02F-31195B657B3D}"/>
              </a:ext>
            </a:extLst>
          </p:cNvPr>
          <p:cNvSpPr/>
          <p:nvPr/>
        </p:nvSpPr>
        <p:spPr>
          <a:xfrm flipH="1">
            <a:off x="3214844" y="4132698"/>
            <a:ext cx="2426393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44891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</a:t>
            </a:r>
          </a:p>
        </p:txBody>
      </p:sp>
      <p:sp>
        <p:nvSpPr>
          <p:cNvPr id="16" name="Callout: Bent Line with No Border 8">
            <a:extLst>
              <a:ext uri="{FF2B5EF4-FFF2-40B4-BE49-F238E27FC236}">
                <a16:creationId xmlns:a16="http://schemas.microsoft.com/office/drawing/2014/main" id="{2BFF8066-BD52-43B2-BD49-D7B924325A8B}"/>
              </a:ext>
            </a:extLst>
          </p:cNvPr>
          <p:cNvSpPr/>
          <p:nvPr/>
        </p:nvSpPr>
        <p:spPr>
          <a:xfrm>
            <a:off x="8743115" y="4243229"/>
            <a:ext cx="2426393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44891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978009A-1B83-4A4C-98C8-4B3C1EDA1ADF}"/>
              </a:ext>
            </a:extLst>
          </p:cNvPr>
          <p:cNvCxnSpPr>
            <a:cxnSpLocks/>
          </p:cNvCxnSpPr>
          <p:nvPr/>
        </p:nvCxnSpPr>
        <p:spPr>
          <a:xfrm>
            <a:off x="7156174" y="3793622"/>
            <a:ext cx="2160000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1519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4" grpId="0"/>
      <p:bldP spid="12" grpId="0"/>
      <p:bldP spid="11" grpId="0" animBg="1"/>
      <p:bldP spid="16" grpId="0" animBg="1"/>
    </p:bldLst>
  </p:timing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len</a:t>
            </a:r>
            <a:r>
              <a:rPr lang="en-GB" noProof="0" dirty="0"/>
              <a:t>() – Array –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5543345" y="3044277"/>
            <a:ext cx="546964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a-Latn" sz="4400" b="0" i="0" u="none" strike="noStrike" kern="1200" cap="none" spc="0" normalizeH="0" baseline="0" noProof="0" dirty="0">
                <a:ln>
                  <a:noFill/>
                </a:ln>
                <a:solidFill>
                  <a:srgbClr val="0086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len</a:t>
            </a:r>
            <a:r>
              <a:rPr kumimoji="0" lang="la-Latn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([</a:t>
            </a:r>
            <a:r>
              <a:rPr kumimoji="0" lang="la-Latn" sz="4400" b="0" i="0" u="none" strike="noStrike" kern="1200" cap="none" spc="0" normalizeH="0" baseline="0" noProof="0" dirty="0">
                <a:ln>
                  <a:noFill/>
                </a:ln>
                <a:solidFill>
                  <a:srgbClr val="0086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la-Latn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la-Latn" sz="4400" b="0" i="0" u="none" strike="noStrike" kern="1200" cap="none" spc="0" normalizeH="0" baseline="0" noProof="0" dirty="0">
                <a:ln>
                  <a:noFill/>
                </a:ln>
                <a:solidFill>
                  <a:srgbClr val="0086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r>
              <a:rPr kumimoji="0" lang="la-Latn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la-Latn" sz="4400" b="0" i="0" u="none" strike="noStrike" kern="1200" cap="none" spc="0" normalizeH="0" baseline="0" noProof="0" dirty="0">
                <a:ln>
                  <a:noFill/>
                </a:ln>
                <a:solidFill>
                  <a:srgbClr val="0086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9</a:t>
            </a:r>
            <a:r>
              <a:rPr kumimoji="0" lang="la-Latn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])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18FD7-5699-4405-B11B-E8E902552F72}"/>
              </a:ext>
            </a:extLst>
          </p:cNvPr>
          <p:cNvSpPr txBox="1"/>
          <p:nvPr/>
        </p:nvSpPr>
        <p:spPr>
          <a:xfrm>
            <a:off x="2502039" y="3044278"/>
            <a:ext cx="296609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myValue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6C300D-1659-B9D9-1E6B-F402C12B838A}"/>
              </a:ext>
            </a:extLst>
          </p:cNvPr>
          <p:cNvSpPr/>
          <p:nvPr/>
        </p:nvSpPr>
        <p:spPr>
          <a:xfrm>
            <a:off x="2598603" y="5545153"/>
            <a:ext cx="699480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marR="0" lvl="0" indent="-4572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Counts the                 </a:t>
            </a:r>
          </a:p>
          <a:p>
            <a:pPr marL="457200" marR="0" lvl="0" indent="-4572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to the function can be a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6610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a standard algorithm for traversing a 1-D array</a:t>
            </a:r>
          </a:p>
        </p:txBody>
      </p:sp>
    </p:spTree>
    <p:extLst>
      <p:ext uri="{BB962C8B-B14F-4D97-AF65-F5344CB8AC3E}">
        <p14:creationId xmlns:p14="http://schemas.microsoft.com/office/powerpoint/2010/main" val="3516298165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4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ages = [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] * 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endParaRPr lang="en-GB" altLang="en-US" sz="440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4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4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4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GB" altLang="en-US" sz="4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4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age = 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44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"Age? "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4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     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ages[index] = age</a:t>
            </a:r>
            <a:endParaRPr lang="en-GB" altLang="en-US" sz="6000" noProof="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Traversing an array – Data in</a:t>
            </a:r>
          </a:p>
        </p:txBody>
      </p:sp>
      <p:sp>
        <p:nvSpPr>
          <p:cNvPr id="2" name="Callout: Bent Line with No Border 1">
            <a:extLst>
              <a:ext uri="{FF2B5EF4-FFF2-40B4-BE49-F238E27FC236}">
                <a16:creationId xmlns:a16="http://schemas.microsoft.com/office/drawing/2014/main" id="{30F97B8D-F869-D1A2-C733-7A1876514411}"/>
              </a:ext>
            </a:extLst>
          </p:cNvPr>
          <p:cNvSpPr/>
          <p:nvPr/>
        </p:nvSpPr>
        <p:spPr>
          <a:xfrm>
            <a:off x="3299252" y="5880579"/>
            <a:ext cx="2581793" cy="862642"/>
          </a:xfrm>
          <a:prstGeom prst="callout2">
            <a:avLst>
              <a:gd name="adj1" fmla="val 48750"/>
              <a:gd name="adj2" fmla="val 104056"/>
              <a:gd name="adj3" fmla="val 48636"/>
              <a:gd name="adj4" fmla="val 120470"/>
              <a:gd name="adj5" fmla="val -10584"/>
              <a:gd name="adj6" fmla="val 12736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Assign to array</a:t>
            </a: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9B8CB9EC-9F6A-AAC5-5A79-96AB7446D536}"/>
              </a:ext>
            </a:extLst>
          </p:cNvPr>
          <p:cNvSpPr/>
          <p:nvPr/>
        </p:nvSpPr>
        <p:spPr>
          <a:xfrm>
            <a:off x="9429414" y="3107526"/>
            <a:ext cx="1672478" cy="862642"/>
          </a:xfrm>
          <a:prstGeom prst="callout2">
            <a:avLst>
              <a:gd name="adj1" fmla="val 52750"/>
              <a:gd name="adj2" fmla="val -2245"/>
              <a:gd name="adj3" fmla="val 52268"/>
              <a:gd name="adj4" fmla="val -15431"/>
              <a:gd name="adj5" fmla="val 149803"/>
              <a:gd name="adj6" fmla="val -3980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Get value</a:t>
            </a: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24A68956-7E2A-3348-17D4-4BC45E17DCEC}"/>
              </a:ext>
            </a:extLst>
          </p:cNvPr>
          <p:cNvSpPr/>
          <p:nvPr/>
        </p:nvSpPr>
        <p:spPr>
          <a:xfrm>
            <a:off x="8446127" y="2244884"/>
            <a:ext cx="2773808" cy="862642"/>
          </a:xfrm>
          <a:prstGeom prst="callout2">
            <a:avLst>
              <a:gd name="adj1" fmla="val 52750"/>
              <a:gd name="adj2" fmla="val -2245"/>
              <a:gd name="adj3" fmla="val 52268"/>
              <a:gd name="adj4" fmla="val -15431"/>
              <a:gd name="adj5" fmla="val 148897"/>
              <a:gd name="adj6" fmla="val -3149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Loop for 5 values</a:t>
            </a:r>
          </a:p>
        </p:txBody>
      </p:sp>
      <p:sp>
        <p:nvSpPr>
          <p:cNvPr id="7" name="Callout: Bent Line with No Border 6">
            <a:extLst>
              <a:ext uri="{FF2B5EF4-FFF2-40B4-BE49-F238E27FC236}">
                <a16:creationId xmlns:a16="http://schemas.microsoft.com/office/drawing/2014/main" id="{F5E7D1E4-DEC6-4D33-9D32-66CD086D0E72}"/>
              </a:ext>
            </a:extLst>
          </p:cNvPr>
          <p:cNvSpPr/>
          <p:nvPr/>
        </p:nvSpPr>
        <p:spPr>
          <a:xfrm>
            <a:off x="4421943" y="2675164"/>
            <a:ext cx="2466506" cy="862642"/>
          </a:xfrm>
          <a:prstGeom prst="callout2">
            <a:avLst>
              <a:gd name="adj1" fmla="val 52750"/>
              <a:gd name="adj2" fmla="val -2245"/>
              <a:gd name="adj3" fmla="val 52268"/>
              <a:gd name="adj4" fmla="val -15431"/>
              <a:gd name="adj5" fmla="val 105924"/>
              <a:gd name="adj6" fmla="val -27819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Loop variable</a:t>
            </a:r>
          </a:p>
        </p:txBody>
      </p:sp>
    </p:spTree>
    <p:extLst>
      <p:ext uri="{BB962C8B-B14F-4D97-AF65-F5344CB8AC3E}">
        <p14:creationId xmlns:p14="http://schemas.microsoft.com/office/powerpoint/2010/main" val="3363430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" grpId="0" animBg="1"/>
      <p:bldP spid="5" grpId="0" animBg="1"/>
      <p:bldP spid="6" grpId="0" animBg="1"/>
      <p:bldP spid="7" grpId="0" animBg="1"/>
    </p:bldLst>
  </p:timing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4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ages = [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] * 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endParaRPr lang="en-GB" altLang="en-US" sz="440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4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4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4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GB" altLang="en-US" sz="4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4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age = 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44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"Age? "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4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     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ages[index] = age</a:t>
            </a:r>
            <a:endParaRPr lang="en-GB" altLang="en-US" sz="6000" noProof="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Traversing an array – Data in</a:t>
            </a:r>
          </a:p>
        </p:txBody>
      </p:sp>
    </p:spTree>
    <p:extLst>
      <p:ext uri="{BB962C8B-B14F-4D97-AF65-F5344CB8AC3E}">
        <p14:creationId xmlns:p14="http://schemas.microsoft.com/office/powerpoint/2010/main" val="1774096843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4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ages = [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11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14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13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14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12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4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4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4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GB" altLang="en-US" sz="4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4400" noProof="0" dirty="0" err="1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(ages)):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4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4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(ages[index])</a:t>
            </a:r>
            <a:endParaRPr lang="en-GB" altLang="en-US" sz="6000" noProof="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Traversing an array – Data out (1)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26B05B-3283-457C-8B75-0E9D2B04137C}"/>
              </a:ext>
            </a:extLst>
          </p:cNvPr>
          <p:cNvSpPr/>
          <p:nvPr/>
        </p:nvSpPr>
        <p:spPr>
          <a:xfrm>
            <a:off x="1353739" y="6066411"/>
            <a:ext cx="94845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3200" dirty="0">
                <a:solidFill>
                  <a:srgbClr val="7030A0"/>
                </a:solidFill>
              </a:rPr>
              <a:t>Loops for each element in array – Displays one at a time</a:t>
            </a:r>
          </a:p>
        </p:txBody>
      </p:sp>
    </p:spTree>
    <p:extLst>
      <p:ext uri="{BB962C8B-B14F-4D97-AF65-F5344CB8AC3E}">
        <p14:creationId xmlns:p14="http://schemas.microsoft.com/office/powerpoint/2010/main" val="2001493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/>
    </p:bldLst>
  </p:timing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4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ages = [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11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14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13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14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12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4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4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4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GB" altLang="en-US" sz="4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4400" noProof="0" dirty="0" err="1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(ages)):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4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4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(ages[index])</a:t>
            </a:r>
            <a:endParaRPr lang="en-GB" altLang="en-US" sz="6000" noProof="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Traversing an array – Data out (1)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95151F-5273-4918-80CB-8C12AC5D0639}"/>
              </a:ext>
            </a:extLst>
          </p:cNvPr>
          <p:cNvSpPr/>
          <p:nvPr/>
        </p:nvSpPr>
        <p:spPr>
          <a:xfrm>
            <a:off x="1353739" y="6066411"/>
            <a:ext cx="58321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>
                <a:solidFill>
                  <a:srgbClr val="7030A0"/>
                </a:solidFill>
              </a:rPr>
              <a:t>Loops for each element in array – </a:t>
            </a:r>
          </a:p>
        </p:txBody>
      </p:sp>
    </p:spTree>
    <p:extLst>
      <p:ext uri="{BB962C8B-B14F-4D97-AF65-F5344CB8AC3E}">
        <p14:creationId xmlns:p14="http://schemas.microsoft.com/office/powerpoint/2010/main" val="369632287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42EC-58FE-4583-BCB4-D1E9B5D62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Test data - Summary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7DE297F-6564-4CBD-AD3B-BA92602148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4893266"/>
              </p:ext>
            </p:extLst>
          </p:nvPr>
        </p:nvGraphicFramePr>
        <p:xfrm>
          <a:off x="1996440" y="4519691"/>
          <a:ext cx="6827520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60">
                  <a:extLst>
                    <a:ext uri="{9D8B030D-6E8A-4147-A177-3AD203B41FA5}">
                      <a16:colId xmlns:a16="http://schemas.microsoft.com/office/drawing/2014/main" val="479175402"/>
                    </a:ext>
                  </a:extLst>
                </a:gridCol>
                <a:gridCol w="4328160">
                  <a:extLst>
                    <a:ext uri="{9D8B030D-6E8A-4147-A177-3AD203B41FA5}">
                      <a16:colId xmlns:a16="http://schemas.microsoft.com/office/drawing/2014/main" val="11443033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GB" sz="2800"/>
                        <a:t>Test</a:t>
                      </a:r>
                      <a:r>
                        <a:rPr lang="en-GB" sz="2800" baseline="0"/>
                        <a:t> type</a:t>
                      </a:r>
                      <a:endParaRPr lang="en-GB" sz="2800"/>
                    </a:p>
                  </a:txBody>
                  <a:tcPr marL="93616" marR="93616"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2800"/>
                        <a:t>Values</a:t>
                      </a:r>
                    </a:p>
                  </a:txBody>
                  <a:tcPr marL="93616" marR="93616"/>
                </a:tc>
                <a:extLst>
                  <a:ext uri="{0D108BD9-81ED-4DB2-BD59-A6C34878D82A}">
                    <a16:rowId xmlns:a16="http://schemas.microsoft.com/office/drawing/2014/main" val="3890858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GB" sz="2800"/>
                        <a:t>Exceptional</a:t>
                      </a:r>
                    </a:p>
                  </a:txBody>
                  <a:tcPr marL="93616" marR="93616"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 11, -700</a:t>
                      </a:r>
                    </a:p>
                  </a:txBody>
                  <a:tcPr marL="93616" marR="93616"/>
                </a:tc>
                <a:extLst>
                  <a:ext uri="{0D108BD9-81ED-4DB2-BD59-A6C34878D82A}">
                    <a16:rowId xmlns:a16="http://schemas.microsoft.com/office/drawing/2014/main" val="301662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GB" sz="2800"/>
                        <a:t>Extreme</a:t>
                      </a:r>
                    </a:p>
                  </a:txBody>
                  <a:tcPr marL="93616" marR="93616"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2800"/>
                        <a:t>1, 10</a:t>
                      </a:r>
                    </a:p>
                  </a:txBody>
                  <a:tcPr marL="93616" marR="93616"/>
                </a:tc>
                <a:extLst>
                  <a:ext uri="{0D108BD9-81ED-4DB2-BD59-A6C34878D82A}">
                    <a16:rowId xmlns:a16="http://schemas.microsoft.com/office/drawing/2014/main" val="3962984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GB" sz="2800"/>
                        <a:t>Normal</a:t>
                      </a:r>
                    </a:p>
                  </a:txBody>
                  <a:tcPr marL="93616" marR="93616"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28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GB" sz="2800" dirty="0">
                          <a:solidFill>
                            <a:srgbClr val="7030A0"/>
                          </a:solidFill>
                        </a:rPr>
                        <a:t> </a:t>
                      </a:r>
                      <a:r>
                        <a:rPr lang="en-GB" sz="2800" dirty="0"/>
                        <a:t>2, 3, 4, 5, 6,</a:t>
                      </a:r>
                      <a:r>
                        <a:rPr lang="en-GB" sz="2800" baseline="0" dirty="0"/>
                        <a:t> 7, 8, 9</a:t>
                      </a:r>
                      <a:r>
                        <a:rPr lang="en-GB" sz="2800" baseline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GB" sz="2800" baseline="0" dirty="0">
                          <a:solidFill>
                            <a:srgbClr val="FF0000"/>
                          </a:solidFill>
                        </a:rPr>
                        <a:t> 10</a:t>
                      </a:r>
                      <a:endParaRPr lang="en-GB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3616" marR="93616"/>
                </a:tc>
                <a:extLst>
                  <a:ext uri="{0D108BD9-81ED-4DB2-BD59-A6C34878D82A}">
                    <a16:rowId xmlns:a16="http://schemas.microsoft.com/office/drawing/2014/main" val="254426742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4E3FE3D-B840-41C3-9C22-8ADFD1ED70E9}"/>
              </a:ext>
            </a:extLst>
          </p:cNvPr>
          <p:cNvSpPr txBox="1"/>
          <p:nvPr/>
        </p:nvSpPr>
        <p:spPr>
          <a:xfrm>
            <a:off x="838200" y="3934916"/>
            <a:ext cx="72999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Example: Accept integers from 1 to 10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140742"/>
              </p:ext>
            </p:extLst>
          </p:nvPr>
        </p:nvGraphicFramePr>
        <p:xfrm>
          <a:off x="838200" y="1414145"/>
          <a:ext cx="10516250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289">
                  <a:extLst>
                    <a:ext uri="{9D8B030D-6E8A-4147-A177-3AD203B41FA5}">
                      <a16:colId xmlns:a16="http://schemas.microsoft.com/office/drawing/2014/main" val="282974880"/>
                    </a:ext>
                  </a:extLst>
                </a:gridCol>
                <a:gridCol w="7640961">
                  <a:extLst>
                    <a:ext uri="{9D8B030D-6E8A-4147-A177-3AD203B41FA5}">
                      <a16:colId xmlns:a16="http://schemas.microsoft.com/office/drawing/2014/main" val="3271926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3200"/>
                        <a:t>Test</a:t>
                      </a:r>
                      <a:r>
                        <a:rPr lang="en-GB" sz="3200" baseline="0"/>
                        <a:t> type</a:t>
                      </a:r>
                      <a:endParaRPr lang="en-GB" sz="3200"/>
                    </a:p>
                  </a:txBody>
                  <a:tcPr marL="93616" marR="93616"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Description</a:t>
                      </a:r>
                    </a:p>
                  </a:txBody>
                  <a:tcPr marL="93616" marR="93616"/>
                </a:tc>
                <a:extLst>
                  <a:ext uri="{0D108BD9-81ED-4DB2-BD59-A6C34878D82A}">
                    <a16:rowId xmlns:a16="http://schemas.microsoft.com/office/drawing/2014/main" val="3246423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GB" sz="3200"/>
                        <a:t>Exceptional</a:t>
                      </a:r>
                    </a:p>
                  </a:txBody>
                  <a:tcPr marL="93616" marR="93616"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Values</a:t>
                      </a:r>
                      <a:r>
                        <a:rPr lang="en-GB" sz="3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to be rejected</a:t>
                      </a:r>
                      <a:endParaRPr lang="en-GB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3616" marR="93616"/>
                </a:tc>
                <a:extLst>
                  <a:ext uri="{0D108BD9-81ED-4DB2-BD59-A6C34878D82A}">
                    <a16:rowId xmlns:a16="http://schemas.microsoft.com/office/drawing/2014/main" val="3829822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GB" sz="3200"/>
                        <a:t>Extreme</a:t>
                      </a:r>
                    </a:p>
                  </a:txBody>
                  <a:tcPr marL="93616" marR="93616"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/>
                        <a:t>Values</a:t>
                      </a:r>
                      <a:r>
                        <a:rPr lang="en-GB" sz="3200" baseline="0"/>
                        <a:t> a</a:t>
                      </a:r>
                      <a:r>
                        <a:rPr lang="en-GB" sz="3200"/>
                        <a:t>t the limit of what is acceptable</a:t>
                      </a:r>
                    </a:p>
                  </a:txBody>
                  <a:tcPr marL="93616" marR="93616"/>
                </a:tc>
                <a:extLst>
                  <a:ext uri="{0D108BD9-81ED-4DB2-BD59-A6C34878D82A}">
                    <a16:rowId xmlns:a16="http://schemas.microsoft.com/office/drawing/2014/main" val="3444295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GB" sz="3200"/>
                        <a:t>Normal</a:t>
                      </a:r>
                    </a:p>
                  </a:txBody>
                  <a:tcPr marL="93616" marR="93616"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 dirty="0"/>
                        <a:t>All acceptable values</a:t>
                      </a:r>
                    </a:p>
                  </a:txBody>
                  <a:tcPr marL="93616" marR="93616"/>
                </a:tc>
                <a:extLst>
                  <a:ext uri="{0D108BD9-81ED-4DB2-BD59-A6C34878D82A}">
                    <a16:rowId xmlns:a16="http://schemas.microsoft.com/office/drawing/2014/main" val="2998014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4627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42EC-58FE-4583-BCB4-D1E9B5D62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Test data - Summary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7DE297F-6564-4CBD-AD3B-BA92602148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2377209"/>
              </p:ext>
            </p:extLst>
          </p:nvPr>
        </p:nvGraphicFramePr>
        <p:xfrm>
          <a:off x="1996439" y="4519691"/>
          <a:ext cx="7963107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1389">
                  <a:extLst>
                    <a:ext uri="{9D8B030D-6E8A-4147-A177-3AD203B41FA5}">
                      <a16:colId xmlns:a16="http://schemas.microsoft.com/office/drawing/2014/main" val="479175402"/>
                    </a:ext>
                  </a:extLst>
                </a:gridCol>
                <a:gridCol w="5491718">
                  <a:extLst>
                    <a:ext uri="{9D8B030D-6E8A-4147-A177-3AD203B41FA5}">
                      <a16:colId xmlns:a16="http://schemas.microsoft.com/office/drawing/2014/main" val="11443033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GB" sz="2800"/>
                        <a:t>Test</a:t>
                      </a:r>
                      <a:r>
                        <a:rPr lang="en-GB" sz="2800" baseline="0"/>
                        <a:t> type</a:t>
                      </a:r>
                      <a:endParaRPr lang="en-GB" sz="2800"/>
                    </a:p>
                  </a:txBody>
                  <a:tcPr marL="93616" marR="93616"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2800"/>
                        <a:t>Values</a:t>
                      </a:r>
                    </a:p>
                  </a:txBody>
                  <a:tcPr marL="93616" marR="93616"/>
                </a:tc>
                <a:extLst>
                  <a:ext uri="{0D108BD9-81ED-4DB2-BD59-A6C34878D82A}">
                    <a16:rowId xmlns:a16="http://schemas.microsoft.com/office/drawing/2014/main" val="3890858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GB" sz="2800"/>
                        <a:t>Exceptional</a:t>
                      </a:r>
                    </a:p>
                  </a:txBody>
                  <a:tcPr marL="93616" marR="93616"/>
                </a:tc>
                <a:tc>
                  <a:txBody>
                    <a:bodyPr/>
                    <a:lstStyle/>
                    <a:p>
                      <a:pPr lvl="1"/>
                      <a:endParaRPr lang="en-GB" sz="2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3616" marR="93616"/>
                </a:tc>
                <a:extLst>
                  <a:ext uri="{0D108BD9-81ED-4DB2-BD59-A6C34878D82A}">
                    <a16:rowId xmlns:a16="http://schemas.microsoft.com/office/drawing/2014/main" val="301662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GB" sz="2800"/>
                        <a:t>Extreme</a:t>
                      </a:r>
                    </a:p>
                  </a:txBody>
                  <a:tcPr marL="93616" marR="93616"/>
                </a:tc>
                <a:tc>
                  <a:txBody>
                    <a:bodyPr/>
                    <a:lstStyle/>
                    <a:p>
                      <a:pPr lvl="1"/>
                      <a:endParaRPr lang="en-GB" sz="2800" dirty="0"/>
                    </a:p>
                  </a:txBody>
                  <a:tcPr marL="93616" marR="93616"/>
                </a:tc>
                <a:extLst>
                  <a:ext uri="{0D108BD9-81ED-4DB2-BD59-A6C34878D82A}">
                    <a16:rowId xmlns:a16="http://schemas.microsoft.com/office/drawing/2014/main" val="3962984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GB" sz="2800"/>
                        <a:t>Normal</a:t>
                      </a:r>
                    </a:p>
                  </a:txBody>
                  <a:tcPr marL="93616" marR="93616"/>
                </a:tc>
                <a:tc>
                  <a:txBody>
                    <a:bodyPr/>
                    <a:lstStyle/>
                    <a:p>
                      <a:pPr lvl="1"/>
                      <a:endParaRPr lang="en-GB" sz="2800" dirty="0"/>
                    </a:p>
                  </a:txBody>
                  <a:tcPr marL="93616" marR="93616"/>
                </a:tc>
                <a:extLst>
                  <a:ext uri="{0D108BD9-81ED-4DB2-BD59-A6C34878D82A}">
                    <a16:rowId xmlns:a16="http://schemas.microsoft.com/office/drawing/2014/main" val="254426742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4E3FE3D-B840-41C3-9C22-8ADFD1ED70E9}"/>
              </a:ext>
            </a:extLst>
          </p:cNvPr>
          <p:cNvSpPr txBox="1"/>
          <p:nvPr/>
        </p:nvSpPr>
        <p:spPr>
          <a:xfrm>
            <a:off x="838200" y="3934916"/>
            <a:ext cx="72999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/>
              <a:t>Example: Accept integers from 1 to 10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049336"/>
              </p:ext>
            </p:extLst>
          </p:nvPr>
        </p:nvGraphicFramePr>
        <p:xfrm>
          <a:off x="838200" y="1414145"/>
          <a:ext cx="10516250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289">
                  <a:extLst>
                    <a:ext uri="{9D8B030D-6E8A-4147-A177-3AD203B41FA5}">
                      <a16:colId xmlns:a16="http://schemas.microsoft.com/office/drawing/2014/main" val="282974880"/>
                    </a:ext>
                  </a:extLst>
                </a:gridCol>
                <a:gridCol w="7640961">
                  <a:extLst>
                    <a:ext uri="{9D8B030D-6E8A-4147-A177-3AD203B41FA5}">
                      <a16:colId xmlns:a16="http://schemas.microsoft.com/office/drawing/2014/main" val="3271926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3200"/>
                        <a:t>Test</a:t>
                      </a:r>
                      <a:r>
                        <a:rPr lang="en-GB" sz="3200" baseline="0"/>
                        <a:t> type</a:t>
                      </a:r>
                      <a:endParaRPr lang="en-GB" sz="3200"/>
                    </a:p>
                  </a:txBody>
                  <a:tcPr marL="93616" marR="93616"/>
                </a:tc>
                <a:tc>
                  <a:txBody>
                    <a:bodyPr/>
                    <a:lstStyle/>
                    <a:p>
                      <a:r>
                        <a:rPr lang="en-GB" sz="3200"/>
                        <a:t>Description</a:t>
                      </a:r>
                    </a:p>
                  </a:txBody>
                  <a:tcPr marL="93616" marR="93616"/>
                </a:tc>
                <a:extLst>
                  <a:ext uri="{0D108BD9-81ED-4DB2-BD59-A6C34878D82A}">
                    <a16:rowId xmlns:a16="http://schemas.microsoft.com/office/drawing/2014/main" val="3246423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GB" sz="3200"/>
                        <a:t>Exceptional</a:t>
                      </a:r>
                    </a:p>
                  </a:txBody>
                  <a:tcPr marL="93616" marR="93616"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Values</a:t>
                      </a:r>
                      <a:r>
                        <a:rPr lang="en-GB" sz="3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to be</a:t>
                      </a:r>
                      <a:endParaRPr lang="en-GB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3616" marR="93616"/>
                </a:tc>
                <a:extLst>
                  <a:ext uri="{0D108BD9-81ED-4DB2-BD59-A6C34878D82A}">
                    <a16:rowId xmlns:a16="http://schemas.microsoft.com/office/drawing/2014/main" val="3829822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GB" sz="3200"/>
                        <a:t>Extreme</a:t>
                      </a:r>
                    </a:p>
                  </a:txBody>
                  <a:tcPr marL="93616" marR="93616"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/>
                        <a:t>Values</a:t>
                      </a:r>
                      <a:r>
                        <a:rPr lang="en-GB" sz="3200" baseline="0"/>
                        <a:t> a</a:t>
                      </a:r>
                      <a:r>
                        <a:rPr lang="en-GB" sz="3200"/>
                        <a:t>t the</a:t>
                      </a:r>
                    </a:p>
                  </a:txBody>
                  <a:tcPr marL="93616" marR="93616"/>
                </a:tc>
                <a:extLst>
                  <a:ext uri="{0D108BD9-81ED-4DB2-BD59-A6C34878D82A}">
                    <a16:rowId xmlns:a16="http://schemas.microsoft.com/office/drawing/2014/main" val="3444295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GB" sz="3200"/>
                        <a:t>Normal</a:t>
                      </a:r>
                    </a:p>
                  </a:txBody>
                  <a:tcPr marL="93616" marR="93616"/>
                </a:tc>
                <a:tc>
                  <a:txBody>
                    <a:bodyPr/>
                    <a:lstStyle/>
                    <a:p>
                      <a:pPr lvl="1"/>
                      <a:r>
                        <a:rPr lang="en-GB" sz="3200" dirty="0"/>
                        <a:t>All</a:t>
                      </a:r>
                    </a:p>
                  </a:txBody>
                  <a:tcPr marL="93616" marR="93616"/>
                </a:tc>
                <a:extLst>
                  <a:ext uri="{0D108BD9-81ED-4DB2-BD59-A6C34878D82A}">
                    <a16:rowId xmlns:a16="http://schemas.microsoft.com/office/drawing/2014/main" val="2998014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9939264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Plan – N5 Year 2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0612753"/>
              </p:ext>
            </p:extLst>
          </p:nvPr>
        </p:nvGraphicFramePr>
        <p:xfrm>
          <a:off x="2042160" y="1825625"/>
          <a:ext cx="810768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7378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FA48299-B840-4714-A5F6-769C74D741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DFA48299-B840-4714-A5F6-769C74D741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9C32B8D-512E-49A1-A0E6-109384C61E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">
                                            <p:graphicEl>
                                              <a:dgm id="{19C32B8D-512E-49A1-A0E6-109384C61E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AD30B60-88C6-4919-B6DD-9F480459E8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AAD30B60-88C6-4919-B6DD-9F480459E8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DFDFC6D-8604-4378-B6A3-6A6720006C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5">
                                            <p:graphicEl>
                                              <a:dgm id="{0DFDFC6D-8604-4378-B6A3-6A6720006C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7253025-0BE3-46B4-B2C8-BFD879D75B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graphicEl>
                                              <a:dgm id="{17253025-0BE3-46B4-B2C8-BFD879D75B2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2D4CD90-7709-4B59-AC85-D09667CFC1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5">
                                            <p:graphicEl>
                                              <a:dgm id="{B2D4CD90-7709-4B59-AC85-D09667CFC1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56CCBB6-5CE0-4348-89C6-99FB2D3AB6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graphicEl>
                                              <a:dgm id="{056CCBB6-5CE0-4348-89C6-99FB2D3AB6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0709722-0E94-45E4-BEDD-48CB660682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5">
                                            <p:graphicEl>
                                              <a:dgm id="{90709722-0E94-45E4-BEDD-48CB660682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B2E52AE-8FCF-47D0-B499-CFCFAF1883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graphicEl>
                                              <a:dgm id="{EB2E52AE-8FCF-47D0-B499-CFCFAF1883A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92F1771-01AA-4FF3-B7EC-0229DB7A59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5">
                                            <p:graphicEl>
                                              <a:dgm id="{C92F1771-01AA-4FF3-B7EC-0229DB7A59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Plan – N5 Year 2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943659"/>
              </p:ext>
            </p:extLst>
          </p:nvPr>
        </p:nvGraphicFramePr>
        <p:xfrm>
          <a:off x="2042160" y="1825625"/>
          <a:ext cx="810768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4736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FA48299-B840-4714-A5F6-769C74D741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DFA48299-B840-4714-A5F6-769C74D741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9C32B8D-512E-49A1-A0E6-109384C61E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">
                                            <p:graphicEl>
                                              <a:dgm id="{19C32B8D-512E-49A1-A0E6-109384C61E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AD30B60-88C6-4919-B6DD-9F480459E8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AAD30B60-88C6-4919-B6DD-9F480459E8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DFDFC6D-8604-4378-B6A3-6A6720006C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5">
                                            <p:graphicEl>
                                              <a:dgm id="{0DFDFC6D-8604-4378-B6A3-6A6720006C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7253025-0BE3-46B4-B2C8-BFD879D75B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graphicEl>
                                              <a:dgm id="{17253025-0BE3-46B4-B2C8-BFD879D75B2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2D4CD90-7709-4B59-AC85-D09667CFC1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5">
                                            <p:graphicEl>
                                              <a:dgm id="{B2D4CD90-7709-4B59-AC85-D09667CFC1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56CCBB6-5CE0-4348-89C6-99FB2D3AB6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graphicEl>
                                              <a:dgm id="{056CCBB6-5CE0-4348-89C6-99FB2D3AB6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0709722-0E94-45E4-BEDD-48CB660682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5">
                                            <p:graphicEl>
                                              <a:dgm id="{90709722-0E94-45E4-BEDD-48CB660682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B2E52AE-8FCF-47D0-B499-CFCFAF1883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graphicEl>
                                              <a:dgm id="{EB2E52AE-8FCF-47D0-B499-CFCFAF1883A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92F1771-01AA-4FF3-B7EC-0229DB7A59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5">
                                            <p:graphicEl>
                                              <a:dgm id="{C92F1771-01AA-4FF3-B7EC-0229DB7A59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00886-4568-405D-A477-82C7E4CA4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Assessment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ECB73-0608-4B44-882B-9BBB8EADD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Assignment – 33%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37FB6-A567-497F-93B1-2DEE87ED18D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noProof="0" dirty="0" err="1"/>
              <a:t>SDD</a:t>
            </a:r>
            <a:r>
              <a:rPr lang="en-GB" sz="2800" noProof="0" dirty="0"/>
              <a:t>		67%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noProof="0" dirty="0" err="1"/>
              <a:t>DDD</a:t>
            </a:r>
            <a:r>
              <a:rPr lang="en-GB" sz="2800" noProof="0" dirty="0"/>
              <a:t>		33%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GB" sz="2800" noProof="0" dirty="0"/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GB" sz="2800" noProof="0" dirty="0"/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noProof="0" dirty="0"/>
              <a:t>Marks		40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B492CD-F51E-4517-A552-72BB03A9DD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noProof="0" dirty="0"/>
              <a:t>Question Paper – 67%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A51F6-ECFD-4D1F-BF54-C5C44552D6D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noProof="0" dirty="0" err="1"/>
              <a:t>SDD</a:t>
            </a:r>
            <a:r>
              <a:rPr lang="en-GB" sz="2800" noProof="0" dirty="0"/>
              <a:t>		54%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noProof="0" dirty="0" err="1"/>
              <a:t>DDD</a:t>
            </a:r>
            <a:r>
              <a:rPr lang="en-GB" sz="2800" noProof="0" dirty="0"/>
              <a:t>		33%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noProof="0" dirty="0"/>
              <a:t>Comp Sys		13%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2800" noProof="0" dirty="0"/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b="1" noProof="0" dirty="0"/>
              <a:t>Marks		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51910" y="5897275"/>
            <a:ext cx="38881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Final grade out of 120</a:t>
            </a:r>
          </a:p>
        </p:txBody>
      </p:sp>
    </p:spTree>
    <p:extLst>
      <p:ext uri="{BB962C8B-B14F-4D97-AF65-F5344CB8AC3E}">
        <p14:creationId xmlns:p14="http://schemas.microsoft.com/office/powerpoint/2010/main" val="3244162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/>
      <p:bldP spid="5" grpId="0" build="p"/>
      <p:bldP spid="6" grpId="0" uiExpand="1" build="p"/>
      <p:bldP spid="7" grpId="0"/>
    </p:bldLst>
  </p:timing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547A0-88C7-29D0-1307-5BCED1457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F40F9-12DF-5CC1-6444-96F6A8C9E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Assessment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E83AB-2C48-8ADE-7508-2790A834F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Assignment – 40 Marks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21F32-B7C8-2B86-861F-529D12CF9E8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indent="0">
              <a:tabLst>
                <a:tab pos="3771900" algn="ctr"/>
              </a:tabLst>
            </a:pPr>
            <a:r>
              <a:rPr lang="en-GB" noProof="0" dirty="0"/>
              <a:t>Analysis	3 – 6</a:t>
            </a:r>
          </a:p>
          <a:p>
            <a:pPr indent="0">
              <a:tabLst>
                <a:tab pos="3771900" algn="ctr"/>
              </a:tabLst>
            </a:pPr>
            <a:r>
              <a:rPr lang="en-GB" noProof="0" dirty="0"/>
              <a:t>Design	4 – 8</a:t>
            </a:r>
          </a:p>
          <a:p>
            <a:pPr indent="0">
              <a:tabLst>
                <a:tab pos="3771900" algn="ctr"/>
              </a:tabLst>
            </a:pPr>
            <a:r>
              <a:rPr lang="en-GB" noProof="0" dirty="0"/>
              <a:t>Implementation	22 – 24</a:t>
            </a:r>
          </a:p>
          <a:p>
            <a:pPr indent="0">
              <a:tabLst>
                <a:tab pos="3771900" algn="ctr"/>
              </a:tabLst>
            </a:pPr>
            <a:r>
              <a:rPr lang="en-GB" noProof="0" dirty="0"/>
              <a:t>Testing	3 – 6</a:t>
            </a:r>
          </a:p>
          <a:p>
            <a:pPr indent="0">
              <a:tabLst>
                <a:tab pos="3771900" algn="ctr"/>
              </a:tabLst>
            </a:pPr>
            <a:r>
              <a:rPr lang="en-GB" noProof="0" dirty="0"/>
              <a:t>Evaluation	3 – 6</a:t>
            </a:r>
          </a:p>
          <a:p>
            <a:pPr indent="0">
              <a:tabLst>
                <a:tab pos="3771900" algn="ctr"/>
              </a:tabLst>
            </a:pPr>
            <a:r>
              <a:rPr lang="en-GB" noProof="0" dirty="0"/>
              <a:t>Computer Systems	0</a:t>
            </a:r>
            <a:endParaRPr lang="en-GB" b="1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D7EDA-AF5A-4C0C-1B99-BFA4129AB6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noProof="0" dirty="0"/>
              <a:t>Question Paper – 80 Marks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E44D69-802E-5AE9-8D1D-6F50E7C5F50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20000"/>
          </a:bodyPr>
          <a:lstStyle/>
          <a:p>
            <a:pPr indent="0">
              <a:tabLst>
                <a:tab pos="3771900" algn="ctr"/>
              </a:tabLst>
            </a:pPr>
            <a:r>
              <a:rPr lang="en-GB" noProof="0" dirty="0"/>
              <a:t>Analysis	0 – 5</a:t>
            </a:r>
          </a:p>
          <a:p>
            <a:pPr indent="0">
              <a:tabLst>
                <a:tab pos="3771900" algn="ctr"/>
              </a:tabLst>
            </a:pPr>
            <a:r>
              <a:rPr lang="en-GB" noProof="0" dirty="0"/>
              <a:t>Design	20 – 40</a:t>
            </a:r>
          </a:p>
          <a:p>
            <a:pPr indent="0">
              <a:tabLst>
                <a:tab pos="3771900" algn="ctr"/>
              </a:tabLst>
            </a:pPr>
            <a:r>
              <a:rPr lang="en-GB" noProof="0" dirty="0"/>
              <a:t>Implementation	16 – 34</a:t>
            </a:r>
          </a:p>
          <a:p>
            <a:pPr indent="0">
              <a:tabLst>
                <a:tab pos="3771900" algn="ctr"/>
              </a:tabLst>
            </a:pPr>
            <a:r>
              <a:rPr lang="en-GB" noProof="0" dirty="0"/>
              <a:t>Testing	5 – 10</a:t>
            </a:r>
          </a:p>
          <a:p>
            <a:pPr indent="0">
              <a:tabLst>
                <a:tab pos="3771900" algn="ctr"/>
              </a:tabLst>
            </a:pPr>
            <a:r>
              <a:rPr lang="en-GB" noProof="0" dirty="0"/>
              <a:t>Evaluation	0 – 5</a:t>
            </a:r>
          </a:p>
          <a:p>
            <a:pPr indent="0">
              <a:tabLst>
                <a:tab pos="3771900" algn="ctr"/>
              </a:tabLst>
            </a:pPr>
            <a:r>
              <a:rPr lang="en-GB" noProof="0" dirty="0"/>
              <a:t>Computer Systems	10 – 14</a:t>
            </a:r>
            <a:endParaRPr lang="en-GB" b="1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76D600-6369-CA43-BB03-20F2D3E7B2F0}"/>
              </a:ext>
            </a:extLst>
          </p:cNvPr>
          <p:cNvSpPr txBox="1"/>
          <p:nvPr/>
        </p:nvSpPr>
        <p:spPr>
          <a:xfrm>
            <a:off x="4151910" y="6126345"/>
            <a:ext cx="38881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Final grade out of 120</a:t>
            </a:r>
          </a:p>
        </p:txBody>
      </p:sp>
    </p:spTree>
    <p:extLst>
      <p:ext uri="{BB962C8B-B14F-4D97-AF65-F5344CB8AC3E}">
        <p14:creationId xmlns:p14="http://schemas.microsoft.com/office/powerpoint/2010/main" val="3850168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/>
      <p:bldP spid="5" grpId="0" build="p"/>
      <p:bldP spid="7" grpId="0"/>
    </p:bldLst>
  </p:timing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Development methodologies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7061350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implement the phases of an iterative development process</a:t>
            </a:r>
          </a:p>
        </p:txBody>
      </p:sp>
    </p:spTree>
    <p:extLst>
      <p:ext uri="{BB962C8B-B14F-4D97-AF65-F5344CB8AC3E}">
        <p14:creationId xmlns:p14="http://schemas.microsoft.com/office/powerpoint/2010/main" val="2360124209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B8266BB-188D-809B-7D04-C86800CEE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Development Phases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759F64-C023-3812-2AC2-E3AE92864A68}"/>
              </a:ext>
            </a:extLst>
          </p:cNvPr>
          <p:cNvSpPr/>
          <p:nvPr/>
        </p:nvSpPr>
        <p:spPr>
          <a:xfrm>
            <a:off x="684772" y="1962373"/>
            <a:ext cx="3096000" cy="7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dirty="0"/>
              <a:t>Analysis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EEB896-7FF6-3079-E98D-A8441F07038C}"/>
              </a:ext>
            </a:extLst>
          </p:cNvPr>
          <p:cNvSpPr/>
          <p:nvPr/>
        </p:nvSpPr>
        <p:spPr>
          <a:xfrm>
            <a:off x="2232772" y="2694976"/>
            <a:ext cx="3096000" cy="7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dirty="0"/>
              <a:t>Design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601FFA6-9546-585B-6D71-5C7E1E424A1F}"/>
              </a:ext>
            </a:extLst>
          </p:cNvPr>
          <p:cNvSpPr/>
          <p:nvPr/>
        </p:nvSpPr>
        <p:spPr>
          <a:xfrm>
            <a:off x="3780223" y="3427819"/>
            <a:ext cx="3096000" cy="7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dirty="0"/>
              <a:t>Implementation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D83C1A-5411-B82D-9BC2-6514AC75A7EC}"/>
              </a:ext>
            </a:extLst>
          </p:cNvPr>
          <p:cNvSpPr/>
          <p:nvPr/>
        </p:nvSpPr>
        <p:spPr>
          <a:xfrm>
            <a:off x="5328783" y="4160668"/>
            <a:ext cx="3096000" cy="7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dirty="0"/>
              <a:t>Testing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FCBB4CF-099A-13DB-0409-26F4FD1334EB}"/>
              </a:ext>
            </a:extLst>
          </p:cNvPr>
          <p:cNvSpPr/>
          <p:nvPr/>
        </p:nvSpPr>
        <p:spPr>
          <a:xfrm>
            <a:off x="6880903" y="4894461"/>
            <a:ext cx="3096000" cy="7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dirty="0"/>
              <a:t>Documentation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4A9A48B-53F0-70F7-16FC-A84268845B5D}"/>
              </a:ext>
            </a:extLst>
          </p:cNvPr>
          <p:cNvSpPr/>
          <p:nvPr/>
        </p:nvSpPr>
        <p:spPr>
          <a:xfrm>
            <a:off x="8429848" y="5627990"/>
            <a:ext cx="3096000" cy="7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dirty="0"/>
              <a:t>Evaluation</a:t>
            </a:r>
          </a:p>
        </p:txBody>
      </p:sp>
      <p:sp>
        <p:nvSpPr>
          <p:cNvPr id="14" name="Arrow: Bent 13">
            <a:extLst>
              <a:ext uri="{FF2B5EF4-FFF2-40B4-BE49-F238E27FC236}">
                <a16:creationId xmlns:a16="http://schemas.microsoft.com/office/drawing/2014/main" id="{BF45EB5F-8F88-5C31-433B-2D99CE9BDD5A}"/>
              </a:ext>
            </a:extLst>
          </p:cNvPr>
          <p:cNvSpPr/>
          <p:nvPr/>
        </p:nvSpPr>
        <p:spPr>
          <a:xfrm rot="5400000">
            <a:off x="3762223" y="2314875"/>
            <a:ext cx="396000" cy="360000"/>
          </a:xfrm>
          <a:prstGeom prst="ben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Arrow: Bent 14">
            <a:extLst>
              <a:ext uri="{FF2B5EF4-FFF2-40B4-BE49-F238E27FC236}">
                <a16:creationId xmlns:a16="http://schemas.microsoft.com/office/drawing/2014/main" id="{BF7E6A5F-3277-FB0A-026D-029CEF1A939A}"/>
              </a:ext>
            </a:extLst>
          </p:cNvPr>
          <p:cNvSpPr/>
          <p:nvPr/>
        </p:nvSpPr>
        <p:spPr>
          <a:xfrm rot="5400000">
            <a:off x="5310223" y="3047931"/>
            <a:ext cx="396000" cy="360000"/>
          </a:xfrm>
          <a:prstGeom prst="ben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Arrow: Bent 15">
            <a:extLst>
              <a:ext uri="{FF2B5EF4-FFF2-40B4-BE49-F238E27FC236}">
                <a16:creationId xmlns:a16="http://schemas.microsoft.com/office/drawing/2014/main" id="{26E38E77-B94E-6347-4242-86CB2217ABAA}"/>
              </a:ext>
            </a:extLst>
          </p:cNvPr>
          <p:cNvSpPr/>
          <p:nvPr/>
        </p:nvSpPr>
        <p:spPr>
          <a:xfrm rot="5400000">
            <a:off x="6858223" y="3778399"/>
            <a:ext cx="396000" cy="360000"/>
          </a:xfrm>
          <a:prstGeom prst="ben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Arrow: Bent 16">
            <a:extLst>
              <a:ext uri="{FF2B5EF4-FFF2-40B4-BE49-F238E27FC236}">
                <a16:creationId xmlns:a16="http://schemas.microsoft.com/office/drawing/2014/main" id="{E1E20F23-A6F1-C26F-CC7A-C0539341C5DF}"/>
              </a:ext>
            </a:extLst>
          </p:cNvPr>
          <p:cNvSpPr/>
          <p:nvPr/>
        </p:nvSpPr>
        <p:spPr>
          <a:xfrm rot="5400000">
            <a:off x="8406783" y="4515517"/>
            <a:ext cx="396000" cy="360000"/>
          </a:xfrm>
          <a:prstGeom prst="ben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Arrow: Bent 17">
            <a:extLst>
              <a:ext uri="{FF2B5EF4-FFF2-40B4-BE49-F238E27FC236}">
                <a16:creationId xmlns:a16="http://schemas.microsoft.com/office/drawing/2014/main" id="{9CE0E84C-0B35-5253-E02C-09826F702D4E}"/>
              </a:ext>
            </a:extLst>
          </p:cNvPr>
          <p:cNvSpPr/>
          <p:nvPr/>
        </p:nvSpPr>
        <p:spPr>
          <a:xfrm rot="5400000">
            <a:off x="9958903" y="5249990"/>
            <a:ext cx="396000" cy="360000"/>
          </a:xfrm>
          <a:prstGeom prst="ben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C0AFE5-85A2-FC16-06A5-C72718D0690D}"/>
              </a:ext>
            </a:extLst>
          </p:cNvPr>
          <p:cNvSpPr txBox="1"/>
          <p:nvPr/>
        </p:nvSpPr>
        <p:spPr>
          <a:xfrm>
            <a:off x="684772" y="5538768"/>
            <a:ext cx="42271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Note</a:t>
            </a:r>
            <a:r>
              <a:rPr lang="en-GB" sz="2800" dirty="0">
                <a:solidFill>
                  <a:srgbClr val="7030A0"/>
                </a:solidFill>
              </a:rPr>
              <a:t>:</a:t>
            </a:r>
          </a:p>
          <a:p>
            <a:r>
              <a:rPr lang="en-GB" sz="2800" dirty="0">
                <a:solidFill>
                  <a:srgbClr val="7030A0"/>
                </a:solidFill>
              </a:rPr>
              <a:t>Phases are different lengths</a:t>
            </a:r>
          </a:p>
        </p:txBody>
      </p:sp>
    </p:spTree>
    <p:extLst>
      <p:ext uri="{BB962C8B-B14F-4D97-AF65-F5344CB8AC3E}">
        <p14:creationId xmlns:p14="http://schemas.microsoft.com/office/powerpoint/2010/main" val="2769778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uiExpand="1" build="p"/>
    </p:bldLst>
  </p:timing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B8266BB-188D-809B-7D04-C86800CEE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Development Phases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759F64-C023-3812-2AC2-E3AE92864A68}"/>
              </a:ext>
            </a:extLst>
          </p:cNvPr>
          <p:cNvSpPr/>
          <p:nvPr/>
        </p:nvSpPr>
        <p:spPr>
          <a:xfrm>
            <a:off x="684772" y="1962373"/>
            <a:ext cx="3096000" cy="72000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32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EEB896-7FF6-3079-E98D-A8441F07038C}"/>
              </a:ext>
            </a:extLst>
          </p:cNvPr>
          <p:cNvSpPr/>
          <p:nvPr/>
        </p:nvSpPr>
        <p:spPr>
          <a:xfrm>
            <a:off x="2232772" y="2694976"/>
            <a:ext cx="3096000" cy="72000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32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601FFA6-9546-585B-6D71-5C7E1E424A1F}"/>
              </a:ext>
            </a:extLst>
          </p:cNvPr>
          <p:cNvSpPr/>
          <p:nvPr/>
        </p:nvSpPr>
        <p:spPr>
          <a:xfrm>
            <a:off x="3780223" y="3427819"/>
            <a:ext cx="3096000" cy="72000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32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D83C1A-5411-B82D-9BC2-6514AC75A7EC}"/>
              </a:ext>
            </a:extLst>
          </p:cNvPr>
          <p:cNvSpPr/>
          <p:nvPr/>
        </p:nvSpPr>
        <p:spPr>
          <a:xfrm>
            <a:off x="5328783" y="4160668"/>
            <a:ext cx="3096000" cy="72000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32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FCBB4CF-099A-13DB-0409-26F4FD1334EB}"/>
              </a:ext>
            </a:extLst>
          </p:cNvPr>
          <p:cNvSpPr/>
          <p:nvPr/>
        </p:nvSpPr>
        <p:spPr>
          <a:xfrm>
            <a:off x="6880903" y="4894461"/>
            <a:ext cx="3096000" cy="72000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32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4A9A48B-53F0-70F7-16FC-A84268845B5D}"/>
              </a:ext>
            </a:extLst>
          </p:cNvPr>
          <p:cNvSpPr/>
          <p:nvPr/>
        </p:nvSpPr>
        <p:spPr>
          <a:xfrm>
            <a:off x="8429848" y="5627990"/>
            <a:ext cx="3096000" cy="72000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4171510851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8AEE1-B57E-1F88-5E13-83074DD3D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Development Phases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4459E0-A74A-A672-3B40-4CFAA3D822CD}"/>
              </a:ext>
            </a:extLst>
          </p:cNvPr>
          <p:cNvSpPr/>
          <p:nvPr/>
        </p:nvSpPr>
        <p:spPr>
          <a:xfrm>
            <a:off x="1051165" y="1988593"/>
            <a:ext cx="288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/>
              <a:t>Analysis</a:t>
            </a:r>
            <a:endParaRPr lang="en-GB" sz="28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6794245-FFA1-41E2-2A1A-CE936418306D}"/>
              </a:ext>
            </a:extLst>
          </p:cNvPr>
          <p:cNvGrpSpPr/>
          <p:nvPr/>
        </p:nvGrpSpPr>
        <p:grpSpPr>
          <a:xfrm>
            <a:off x="3931165" y="1988593"/>
            <a:ext cx="3604835" cy="1440000"/>
            <a:chOff x="3931165" y="1988593"/>
            <a:chExt cx="3604835" cy="1440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5789ACF-21CF-7430-AB79-04E11C5EEA02}"/>
                </a:ext>
              </a:extLst>
            </p:cNvPr>
            <p:cNvSpPr/>
            <p:nvPr/>
          </p:nvSpPr>
          <p:spPr>
            <a:xfrm>
              <a:off x="4656000" y="1988593"/>
              <a:ext cx="2880000" cy="14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Design</a:t>
              </a:r>
              <a:endParaRPr lang="en-GB" sz="2800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775F7AD-EAF2-31FA-1D7B-38DE5B477FD7}"/>
                </a:ext>
              </a:extLst>
            </p:cNvPr>
            <p:cNvCxnSpPr>
              <a:cxnSpLocks/>
            </p:cNvCxnSpPr>
            <p:nvPr/>
          </p:nvCxnSpPr>
          <p:spPr>
            <a:xfrm>
              <a:off x="3931165" y="2708593"/>
              <a:ext cx="72483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740B943-9340-2245-930B-4AD6F2AA71FA}"/>
              </a:ext>
            </a:extLst>
          </p:cNvPr>
          <p:cNvGrpSpPr/>
          <p:nvPr/>
        </p:nvGrpSpPr>
        <p:grpSpPr>
          <a:xfrm>
            <a:off x="7536000" y="1988593"/>
            <a:ext cx="3604835" cy="1440000"/>
            <a:chOff x="7536000" y="1988593"/>
            <a:chExt cx="3604835" cy="14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539D98C-9490-D828-4B59-A62A655F0433}"/>
                </a:ext>
              </a:extLst>
            </p:cNvPr>
            <p:cNvSpPr/>
            <p:nvPr/>
          </p:nvSpPr>
          <p:spPr>
            <a:xfrm>
              <a:off x="8260835" y="1988593"/>
              <a:ext cx="2880000" cy="14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0" b="1" dirty="0"/>
                <a:t>Implementation</a:t>
              </a:r>
              <a:endParaRPr lang="en-GB" sz="3000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8F0E127-DF0A-7EC9-923B-053EFDEE2A25}"/>
                </a:ext>
              </a:extLst>
            </p:cNvPr>
            <p:cNvCxnSpPr>
              <a:cxnSpLocks/>
              <a:stCxn id="6" idx="3"/>
              <a:endCxn id="5" idx="1"/>
            </p:cNvCxnSpPr>
            <p:nvPr/>
          </p:nvCxnSpPr>
          <p:spPr>
            <a:xfrm>
              <a:off x="7536000" y="2708593"/>
              <a:ext cx="72483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7A621B7-0DBD-2AE3-9E08-F9694C42A3B0}"/>
              </a:ext>
            </a:extLst>
          </p:cNvPr>
          <p:cNvGrpSpPr/>
          <p:nvPr/>
        </p:nvGrpSpPr>
        <p:grpSpPr>
          <a:xfrm>
            <a:off x="1051165" y="4862905"/>
            <a:ext cx="3604835" cy="1440000"/>
            <a:chOff x="1051165" y="4862905"/>
            <a:chExt cx="3604835" cy="1440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AEA7DD9-A526-3F8B-F9EE-88AFCD472BB4}"/>
                </a:ext>
              </a:extLst>
            </p:cNvPr>
            <p:cNvSpPr/>
            <p:nvPr/>
          </p:nvSpPr>
          <p:spPr>
            <a:xfrm>
              <a:off x="1051165" y="4862905"/>
              <a:ext cx="2880000" cy="14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Evaluation</a:t>
              </a:r>
              <a:endParaRPr lang="en-GB" sz="2800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6373860-0D10-82CA-BA91-4B18CEE08443}"/>
                </a:ext>
              </a:extLst>
            </p:cNvPr>
            <p:cNvCxnSpPr>
              <a:cxnSpLocks/>
              <a:stCxn id="8" idx="1"/>
              <a:endCxn id="9" idx="3"/>
            </p:cNvCxnSpPr>
            <p:nvPr/>
          </p:nvCxnSpPr>
          <p:spPr>
            <a:xfrm flipH="1">
              <a:off x="3931165" y="5582905"/>
              <a:ext cx="72483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2E06E78-AF2E-F523-27D4-B5FECA3DA12C}"/>
              </a:ext>
            </a:extLst>
          </p:cNvPr>
          <p:cNvGrpSpPr/>
          <p:nvPr/>
        </p:nvGrpSpPr>
        <p:grpSpPr>
          <a:xfrm>
            <a:off x="4656000" y="4862905"/>
            <a:ext cx="3604835" cy="1440000"/>
            <a:chOff x="4656000" y="4862905"/>
            <a:chExt cx="3604835" cy="1440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7713AF8-4ABE-0DB0-CE10-D1DB990EFE5C}"/>
                </a:ext>
              </a:extLst>
            </p:cNvPr>
            <p:cNvSpPr/>
            <p:nvPr/>
          </p:nvSpPr>
          <p:spPr>
            <a:xfrm>
              <a:off x="4656000" y="4862905"/>
              <a:ext cx="2880000" cy="14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Documentation</a:t>
              </a:r>
              <a:endParaRPr lang="en-GB" sz="2800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FE49AB9-DA93-DBB5-14D6-061FEC879260}"/>
                </a:ext>
              </a:extLst>
            </p:cNvPr>
            <p:cNvCxnSpPr>
              <a:cxnSpLocks/>
              <a:stCxn id="7" idx="1"/>
              <a:endCxn id="8" idx="3"/>
            </p:cNvCxnSpPr>
            <p:nvPr/>
          </p:nvCxnSpPr>
          <p:spPr>
            <a:xfrm flipH="1">
              <a:off x="7536000" y="5582905"/>
              <a:ext cx="72483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E31A64F-14C6-EA3B-F8F1-D524F73E00B4}"/>
              </a:ext>
            </a:extLst>
          </p:cNvPr>
          <p:cNvGrpSpPr/>
          <p:nvPr/>
        </p:nvGrpSpPr>
        <p:grpSpPr>
          <a:xfrm>
            <a:off x="8260835" y="3428593"/>
            <a:ext cx="2880000" cy="2874312"/>
            <a:chOff x="8260835" y="3428593"/>
            <a:chExt cx="2880000" cy="287431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051A935-A13B-D31F-DC0F-15A27C10EAA5}"/>
                </a:ext>
              </a:extLst>
            </p:cNvPr>
            <p:cNvSpPr/>
            <p:nvPr/>
          </p:nvSpPr>
          <p:spPr>
            <a:xfrm>
              <a:off x="8260835" y="4862905"/>
              <a:ext cx="2880000" cy="14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Testing</a:t>
              </a:r>
              <a:endParaRPr lang="en-GB" sz="2800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6C664EC-AB6D-408B-F5F0-A71D1E103E27}"/>
                </a:ext>
              </a:extLst>
            </p:cNvPr>
            <p:cNvCxnSpPr>
              <a:cxnSpLocks/>
              <a:stCxn id="5" idx="2"/>
              <a:endCxn id="7" idx="0"/>
            </p:cNvCxnSpPr>
            <p:nvPr/>
          </p:nvCxnSpPr>
          <p:spPr>
            <a:xfrm>
              <a:off x="9700835" y="3428593"/>
              <a:ext cx="0" cy="14343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94864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8AEE1-B57E-1F88-5E13-83074DD3D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Development Phases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4459E0-A74A-A672-3B40-4CFAA3D822CD}"/>
              </a:ext>
            </a:extLst>
          </p:cNvPr>
          <p:cNvSpPr/>
          <p:nvPr/>
        </p:nvSpPr>
        <p:spPr>
          <a:xfrm>
            <a:off x="1051165" y="1988593"/>
            <a:ext cx="2880000" cy="144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6794245-FFA1-41E2-2A1A-CE936418306D}"/>
              </a:ext>
            </a:extLst>
          </p:cNvPr>
          <p:cNvGrpSpPr/>
          <p:nvPr/>
        </p:nvGrpSpPr>
        <p:grpSpPr>
          <a:xfrm>
            <a:off x="3931165" y="1988593"/>
            <a:ext cx="3604835" cy="1440000"/>
            <a:chOff x="3931165" y="1988593"/>
            <a:chExt cx="3604835" cy="1440000"/>
          </a:xfrm>
          <a:noFill/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5789ACF-21CF-7430-AB79-04E11C5EEA02}"/>
                </a:ext>
              </a:extLst>
            </p:cNvPr>
            <p:cNvSpPr/>
            <p:nvPr/>
          </p:nvSpPr>
          <p:spPr>
            <a:xfrm>
              <a:off x="4656000" y="1988593"/>
              <a:ext cx="2880000" cy="1440000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775F7AD-EAF2-31FA-1D7B-38DE5B477FD7}"/>
                </a:ext>
              </a:extLst>
            </p:cNvPr>
            <p:cNvCxnSpPr>
              <a:cxnSpLocks/>
            </p:cNvCxnSpPr>
            <p:nvPr/>
          </p:nvCxnSpPr>
          <p:spPr>
            <a:xfrm>
              <a:off x="3931165" y="2708593"/>
              <a:ext cx="724835" cy="0"/>
            </a:xfrm>
            <a:prstGeom prst="straightConnector1">
              <a:avLst/>
            </a:prstGeom>
            <a:grpFill/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740B943-9340-2245-930B-4AD6F2AA71FA}"/>
              </a:ext>
            </a:extLst>
          </p:cNvPr>
          <p:cNvGrpSpPr/>
          <p:nvPr/>
        </p:nvGrpSpPr>
        <p:grpSpPr>
          <a:xfrm>
            <a:off x="7536000" y="1988593"/>
            <a:ext cx="3604835" cy="1440000"/>
            <a:chOff x="7536000" y="1988593"/>
            <a:chExt cx="3604835" cy="1440000"/>
          </a:xfrm>
          <a:noFill/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539D98C-9490-D828-4B59-A62A655F0433}"/>
                </a:ext>
              </a:extLst>
            </p:cNvPr>
            <p:cNvSpPr/>
            <p:nvPr/>
          </p:nvSpPr>
          <p:spPr>
            <a:xfrm>
              <a:off x="8260835" y="1988593"/>
              <a:ext cx="2880000" cy="1440000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000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8F0E127-DF0A-7EC9-923B-053EFDEE2A25}"/>
                </a:ext>
              </a:extLst>
            </p:cNvPr>
            <p:cNvCxnSpPr>
              <a:cxnSpLocks/>
              <a:stCxn id="6" idx="3"/>
              <a:endCxn id="5" idx="1"/>
            </p:cNvCxnSpPr>
            <p:nvPr/>
          </p:nvCxnSpPr>
          <p:spPr>
            <a:xfrm>
              <a:off x="7536000" y="2708593"/>
              <a:ext cx="724835" cy="0"/>
            </a:xfrm>
            <a:prstGeom prst="straightConnector1">
              <a:avLst/>
            </a:prstGeom>
            <a:grpFill/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7A621B7-0DBD-2AE3-9E08-F9694C42A3B0}"/>
              </a:ext>
            </a:extLst>
          </p:cNvPr>
          <p:cNvGrpSpPr/>
          <p:nvPr/>
        </p:nvGrpSpPr>
        <p:grpSpPr>
          <a:xfrm>
            <a:off x="1051165" y="4862905"/>
            <a:ext cx="3604835" cy="1440000"/>
            <a:chOff x="1051165" y="4862905"/>
            <a:chExt cx="3604835" cy="1440000"/>
          </a:xfrm>
          <a:noFill/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AEA7DD9-A526-3F8B-F9EE-88AFCD472BB4}"/>
                </a:ext>
              </a:extLst>
            </p:cNvPr>
            <p:cNvSpPr/>
            <p:nvPr/>
          </p:nvSpPr>
          <p:spPr>
            <a:xfrm>
              <a:off x="1051165" y="4862905"/>
              <a:ext cx="2880000" cy="144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6373860-0D10-82CA-BA91-4B18CEE08443}"/>
                </a:ext>
              </a:extLst>
            </p:cNvPr>
            <p:cNvCxnSpPr>
              <a:cxnSpLocks/>
              <a:stCxn id="8" idx="1"/>
              <a:endCxn id="9" idx="3"/>
            </p:cNvCxnSpPr>
            <p:nvPr/>
          </p:nvCxnSpPr>
          <p:spPr>
            <a:xfrm flipH="1">
              <a:off x="3931165" y="5582905"/>
              <a:ext cx="724835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2E06E78-AF2E-F523-27D4-B5FECA3DA12C}"/>
              </a:ext>
            </a:extLst>
          </p:cNvPr>
          <p:cNvGrpSpPr/>
          <p:nvPr/>
        </p:nvGrpSpPr>
        <p:grpSpPr>
          <a:xfrm>
            <a:off x="4656000" y="4862905"/>
            <a:ext cx="3604835" cy="1440000"/>
            <a:chOff x="4656000" y="4862905"/>
            <a:chExt cx="3604835" cy="1440000"/>
          </a:xfrm>
          <a:noFill/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7713AF8-4ABE-0DB0-CE10-D1DB990EFE5C}"/>
                </a:ext>
              </a:extLst>
            </p:cNvPr>
            <p:cNvSpPr/>
            <p:nvPr/>
          </p:nvSpPr>
          <p:spPr>
            <a:xfrm>
              <a:off x="4656000" y="4862905"/>
              <a:ext cx="2880000" cy="144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FE49AB9-DA93-DBB5-14D6-061FEC879260}"/>
                </a:ext>
              </a:extLst>
            </p:cNvPr>
            <p:cNvCxnSpPr>
              <a:cxnSpLocks/>
              <a:stCxn id="7" idx="1"/>
              <a:endCxn id="8" idx="3"/>
            </p:cNvCxnSpPr>
            <p:nvPr/>
          </p:nvCxnSpPr>
          <p:spPr>
            <a:xfrm flipH="1">
              <a:off x="7536000" y="5582905"/>
              <a:ext cx="724835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E31A64F-14C6-EA3B-F8F1-D524F73E00B4}"/>
              </a:ext>
            </a:extLst>
          </p:cNvPr>
          <p:cNvGrpSpPr/>
          <p:nvPr/>
        </p:nvGrpSpPr>
        <p:grpSpPr>
          <a:xfrm>
            <a:off x="8260835" y="3428593"/>
            <a:ext cx="2880000" cy="2874312"/>
            <a:chOff x="8260835" y="3428593"/>
            <a:chExt cx="2880000" cy="2874312"/>
          </a:xfrm>
          <a:noFill/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051A935-A13B-D31F-DC0F-15A27C10EAA5}"/>
                </a:ext>
              </a:extLst>
            </p:cNvPr>
            <p:cNvSpPr/>
            <p:nvPr/>
          </p:nvSpPr>
          <p:spPr>
            <a:xfrm>
              <a:off x="8260835" y="4862905"/>
              <a:ext cx="2880000" cy="1440000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6C664EC-AB6D-408B-F5F0-A71D1E103E27}"/>
                </a:ext>
              </a:extLst>
            </p:cNvPr>
            <p:cNvCxnSpPr>
              <a:cxnSpLocks/>
              <a:stCxn id="5" idx="2"/>
              <a:endCxn id="7" idx="0"/>
            </p:cNvCxnSpPr>
            <p:nvPr/>
          </p:nvCxnSpPr>
          <p:spPr>
            <a:xfrm>
              <a:off x="9700835" y="3428593"/>
              <a:ext cx="0" cy="1434312"/>
            </a:xfrm>
            <a:prstGeom prst="straightConnector1">
              <a:avLst/>
            </a:prstGeom>
            <a:grpFill/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3192042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B8266BB-188D-809B-7D04-C86800CEE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Phases Overview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759F64-C023-3812-2AC2-E3AE92864A68}"/>
              </a:ext>
            </a:extLst>
          </p:cNvPr>
          <p:cNvSpPr/>
          <p:nvPr/>
        </p:nvSpPr>
        <p:spPr>
          <a:xfrm>
            <a:off x="757813" y="1690688"/>
            <a:ext cx="3096000" cy="7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dirty="0"/>
              <a:t>What's wanted?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EEB896-7FF6-3079-E98D-A8441F07038C}"/>
              </a:ext>
            </a:extLst>
          </p:cNvPr>
          <p:cNvSpPr/>
          <p:nvPr/>
        </p:nvSpPr>
        <p:spPr>
          <a:xfrm>
            <a:off x="2305813" y="2423291"/>
            <a:ext cx="3096000" cy="7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dirty="0"/>
              <a:t>How to do it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601FFA6-9546-585B-6D71-5C7E1E424A1F}"/>
              </a:ext>
            </a:extLst>
          </p:cNvPr>
          <p:cNvSpPr/>
          <p:nvPr/>
        </p:nvSpPr>
        <p:spPr>
          <a:xfrm>
            <a:off x="3853264" y="3156134"/>
            <a:ext cx="3096000" cy="7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dirty="0"/>
              <a:t>Make it happen!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D83C1A-5411-B82D-9BC2-6514AC75A7EC}"/>
              </a:ext>
            </a:extLst>
          </p:cNvPr>
          <p:cNvSpPr/>
          <p:nvPr/>
        </p:nvSpPr>
        <p:spPr>
          <a:xfrm>
            <a:off x="5401824" y="3888983"/>
            <a:ext cx="3096000" cy="7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dirty="0"/>
              <a:t>Does it work?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FCBB4CF-099A-13DB-0409-26F4FD1334EB}"/>
              </a:ext>
            </a:extLst>
          </p:cNvPr>
          <p:cNvSpPr/>
          <p:nvPr/>
        </p:nvSpPr>
        <p:spPr>
          <a:xfrm>
            <a:off x="6953944" y="4622776"/>
            <a:ext cx="3096000" cy="7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dirty="0"/>
              <a:t>Write manuals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4A9A48B-53F0-70F7-16FC-A84268845B5D}"/>
              </a:ext>
            </a:extLst>
          </p:cNvPr>
          <p:cNvSpPr/>
          <p:nvPr/>
        </p:nvSpPr>
        <p:spPr>
          <a:xfrm>
            <a:off x="8502888" y="5356304"/>
            <a:ext cx="2923953" cy="10441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dirty="0"/>
              <a:t>Does it do what was wanted?</a:t>
            </a:r>
          </a:p>
        </p:txBody>
      </p:sp>
      <p:sp>
        <p:nvSpPr>
          <p:cNvPr id="14" name="Arrow: Bent 13">
            <a:extLst>
              <a:ext uri="{FF2B5EF4-FFF2-40B4-BE49-F238E27FC236}">
                <a16:creationId xmlns:a16="http://schemas.microsoft.com/office/drawing/2014/main" id="{BF45EB5F-8F88-5C31-433B-2D99CE9BDD5A}"/>
              </a:ext>
            </a:extLst>
          </p:cNvPr>
          <p:cNvSpPr/>
          <p:nvPr/>
        </p:nvSpPr>
        <p:spPr>
          <a:xfrm rot="5400000">
            <a:off x="3835264" y="2043190"/>
            <a:ext cx="396000" cy="360000"/>
          </a:xfrm>
          <a:prstGeom prst="ben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Arrow: Bent 14">
            <a:extLst>
              <a:ext uri="{FF2B5EF4-FFF2-40B4-BE49-F238E27FC236}">
                <a16:creationId xmlns:a16="http://schemas.microsoft.com/office/drawing/2014/main" id="{BF7E6A5F-3277-FB0A-026D-029CEF1A939A}"/>
              </a:ext>
            </a:extLst>
          </p:cNvPr>
          <p:cNvSpPr/>
          <p:nvPr/>
        </p:nvSpPr>
        <p:spPr>
          <a:xfrm rot="5400000">
            <a:off x="5383264" y="2776246"/>
            <a:ext cx="396000" cy="360000"/>
          </a:xfrm>
          <a:prstGeom prst="ben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Arrow: Bent 15">
            <a:extLst>
              <a:ext uri="{FF2B5EF4-FFF2-40B4-BE49-F238E27FC236}">
                <a16:creationId xmlns:a16="http://schemas.microsoft.com/office/drawing/2014/main" id="{26E38E77-B94E-6347-4242-86CB2217ABAA}"/>
              </a:ext>
            </a:extLst>
          </p:cNvPr>
          <p:cNvSpPr/>
          <p:nvPr/>
        </p:nvSpPr>
        <p:spPr>
          <a:xfrm rot="5400000">
            <a:off x="6931264" y="3506714"/>
            <a:ext cx="396000" cy="360000"/>
          </a:xfrm>
          <a:prstGeom prst="ben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Arrow: Bent 16">
            <a:extLst>
              <a:ext uri="{FF2B5EF4-FFF2-40B4-BE49-F238E27FC236}">
                <a16:creationId xmlns:a16="http://schemas.microsoft.com/office/drawing/2014/main" id="{E1E20F23-A6F1-C26F-CC7A-C0539341C5DF}"/>
              </a:ext>
            </a:extLst>
          </p:cNvPr>
          <p:cNvSpPr/>
          <p:nvPr/>
        </p:nvSpPr>
        <p:spPr>
          <a:xfrm rot="5400000">
            <a:off x="8479824" y="4243832"/>
            <a:ext cx="396000" cy="360000"/>
          </a:xfrm>
          <a:prstGeom prst="ben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Arrow: Bent 17">
            <a:extLst>
              <a:ext uri="{FF2B5EF4-FFF2-40B4-BE49-F238E27FC236}">
                <a16:creationId xmlns:a16="http://schemas.microsoft.com/office/drawing/2014/main" id="{9CE0E84C-0B35-5253-E02C-09826F702D4E}"/>
              </a:ext>
            </a:extLst>
          </p:cNvPr>
          <p:cNvSpPr/>
          <p:nvPr/>
        </p:nvSpPr>
        <p:spPr>
          <a:xfrm rot="5400000">
            <a:off x="10031944" y="4978305"/>
            <a:ext cx="396000" cy="360000"/>
          </a:xfrm>
          <a:prstGeom prst="ben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Callout: Line with No Border 18">
            <a:extLst>
              <a:ext uri="{FF2B5EF4-FFF2-40B4-BE49-F238E27FC236}">
                <a16:creationId xmlns:a16="http://schemas.microsoft.com/office/drawing/2014/main" id="{08453856-E93E-4A56-9945-99A67F86BBC4}"/>
              </a:ext>
            </a:extLst>
          </p:cNvPr>
          <p:cNvSpPr/>
          <p:nvPr/>
        </p:nvSpPr>
        <p:spPr>
          <a:xfrm>
            <a:off x="5761264" y="1515224"/>
            <a:ext cx="2736560" cy="314074"/>
          </a:xfrm>
          <a:prstGeom prst="callout1">
            <a:avLst>
              <a:gd name="adj1" fmla="val 51692"/>
              <a:gd name="adj2" fmla="val 149"/>
              <a:gd name="adj3" fmla="val 264699"/>
              <a:gd name="adj4" fmla="val -18179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How will it look?</a:t>
            </a:r>
          </a:p>
        </p:txBody>
      </p:sp>
      <p:sp>
        <p:nvSpPr>
          <p:cNvPr id="20" name="Callout: Line with No Border 19">
            <a:extLst>
              <a:ext uri="{FF2B5EF4-FFF2-40B4-BE49-F238E27FC236}">
                <a16:creationId xmlns:a16="http://schemas.microsoft.com/office/drawing/2014/main" id="{04DCB41F-F18D-4F67-982A-E05709CCCB0A}"/>
              </a:ext>
            </a:extLst>
          </p:cNvPr>
          <p:cNvSpPr/>
          <p:nvPr/>
        </p:nvSpPr>
        <p:spPr>
          <a:xfrm flipH="1">
            <a:off x="749094" y="5553321"/>
            <a:ext cx="6200170" cy="1044115"/>
          </a:xfrm>
          <a:prstGeom prst="callout1">
            <a:avLst>
              <a:gd name="adj1" fmla="val 51692"/>
              <a:gd name="adj2" fmla="val 149"/>
              <a:gd name="adj3" fmla="val 29683"/>
              <a:gd name="adj4" fmla="val -24712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Fit for purpose?</a:t>
            </a:r>
          </a:p>
          <a:p>
            <a:pPr algn="r"/>
            <a:r>
              <a:rPr lang="en-GB" sz="2800" b="1" dirty="0">
                <a:solidFill>
                  <a:srgbClr val="7030A0"/>
                </a:solidFill>
              </a:rPr>
              <a:t>Code: readable, efficient, maintainable?</a:t>
            </a:r>
          </a:p>
        </p:txBody>
      </p:sp>
    </p:spTree>
    <p:extLst>
      <p:ext uri="{BB962C8B-B14F-4D97-AF65-F5344CB8AC3E}">
        <p14:creationId xmlns:p14="http://schemas.microsoft.com/office/powerpoint/2010/main" val="1065844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B8266BB-188D-809B-7D04-C86800CEE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Phases Overview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759F64-C023-3812-2AC2-E3AE92864A68}"/>
              </a:ext>
            </a:extLst>
          </p:cNvPr>
          <p:cNvSpPr/>
          <p:nvPr/>
        </p:nvSpPr>
        <p:spPr>
          <a:xfrm>
            <a:off x="757813" y="1690688"/>
            <a:ext cx="3096000" cy="7200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32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EEB896-7FF6-3079-E98D-A8441F07038C}"/>
              </a:ext>
            </a:extLst>
          </p:cNvPr>
          <p:cNvSpPr/>
          <p:nvPr/>
        </p:nvSpPr>
        <p:spPr>
          <a:xfrm>
            <a:off x="2305813" y="2423291"/>
            <a:ext cx="3096000" cy="7200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32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601FFA6-9546-585B-6D71-5C7E1E424A1F}"/>
              </a:ext>
            </a:extLst>
          </p:cNvPr>
          <p:cNvSpPr/>
          <p:nvPr/>
        </p:nvSpPr>
        <p:spPr>
          <a:xfrm>
            <a:off x="3853264" y="3156134"/>
            <a:ext cx="3096000" cy="7200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32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D83C1A-5411-B82D-9BC2-6514AC75A7EC}"/>
              </a:ext>
            </a:extLst>
          </p:cNvPr>
          <p:cNvSpPr/>
          <p:nvPr/>
        </p:nvSpPr>
        <p:spPr>
          <a:xfrm>
            <a:off x="5401824" y="3888983"/>
            <a:ext cx="3096000" cy="7200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32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FCBB4CF-099A-13DB-0409-26F4FD1334EB}"/>
              </a:ext>
            </a:extLst>
          </p:cNvPr>
          <p:cNvSpPr/>
          <p:nvPr/>
        </p:nvSpPr>
        <p:spPr>
          <a:xfrm>
            <a:off x="6953944" y="4622776"/>
            <a:ext cx="3096000" cy="7200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32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4A9A48B-53F0-70F7-16FC-A84268845B5D}"/>
              </a:ext>
            </a:extLst>
          </p:cNvPr>
          <p:cNvSpPr/>
          <p:nvPr/>
        </p:nvSpPr>
        <p:spPr>
          <a:xfrm>
            <a:off x="8502888" y="5356304"/>
            <a:ext cx="2923953" cy="1044115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3200" dirty="0"/>
          </a:p>
        </p:txBody>
      </p:sp>
      <p:sp>
        <p:nvSpPr>
          <p:cNvPr id="14" name="Arrow: Bent 13">
            <a:extLst>
              <a:ext uri="{FF2B5EF4-FFF2-40B4-BE49-F238E27FC236}">
                <a16:creationId xmlns:a16="http://schemas.microsoft.com/office/drawing/2014/main" id="{BF45EB5F-8F88-5C31-433B-2D99CE9BDD5A}"/>
              </a:ext>
            </a:extLst>
          </p:cNvPr>
          <p:cNvSpPr/>
          <p:nvPr/>
        </p:nvSpPr>
        <p:spPr>
          <a:xfrm rot="5400000">
            <a:off x="3835264" y="2043190"/>
            <a:ext cx="396000" cy="360000"/>
          </a:xfrm>
          <a:prstGeom prst="ben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Arrow: Bent 14">
            <a:extLst>
              <a:ext uri="{FF2B5EF4-FFF2-40B4-BE49-F238E27FC236}">
                <a16:creationId xmlns:a16="http://schemas.microsoft.com/office/drawing/2014/main" id="{BF7E6A5F-3277-FB0A-026D-029CEF1A939A}"/>
              </a:ext>
            </a:extLst>
          </p:cNvPr>
          <p:cNvSpPr/>
          <p:nvPr/>
        </p:nvSpPr>
        <p:spPr>
          <a:xfrm rot="5400000">
            <a:off x="5383264" y="2776246"/>
            <a:ext cx="396000" cy="360000"/>
          </a:xfrm>
          <a:prstGeom prst="ben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Arrow: Bent 15">
            <a:extLst>
              <a:ext uri="{FF2B5EF4-FFF2-40B4-BE49-F238E27FC236}">
                <a16:creationId xmlns:a16="http://schemas.microsoft.com/office/drawing/2014/main" id="{26E38E77-B94E-6347-4242-86CB2217ABAA}"/>
              </a:ext>
            </a:extLst>
          </p:cNvPr>
          <p:cNvSpPr/>
          <p:nvPr/>
        </p:nvSpPr>
        <p:spPr>
          <a:xfrm rot="5400000">
            <a:off x="6931264" y="3506714"/>
            <a:ext cx="396000" cy="360000"/>
          </a:xfrm>
          <a:prstGeom prst="ben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Arrow: Bent 16">
            <a:extLst>
              <a:ext uri="{FF2B5EF4-FFF2-40B4-BE49-F238E27FC236}">
                <a16:creationId xmlns:a16="http://schemas.microsoft.com/office/drawing/2014/main" id="{E1E20F23-A6F1-C26F-CC7A-C0539341C5DF}"/>
              </a:ext>
            </a:extLst>
          </p:cNvPr>
          <p:cNvSpPr/>
          <p:nvPr/>
        </p:nvSpPr>
        <p:spPr>
          <a:xfrm rot="5400000">
            <a:off x="8479824" y="4243832"/>
            <a:ext cx="396000" cy="360000"/>
          </a:xfrm>
          <a:prstGeom prst="ben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Arrow: Bent 17">
            <a:extLst>
              <a:ext uri="{FF2B5EF4-FFF2-40B4-BE49-F238E27FC236}">
                <a16:creationId xmlns:a16="http://schemas.microsoft.com/office/drawing/2014/main" id="{9CE0E84C-0B35-5253-E02C-09826F702D4E}"/>
              </a:ext>
            </a:extLst>
          </p:cNvPr>
          <p:cNvSpPr/>
          <p:nvPr/>
        </p:nvSpPr>
        <p:spPr>
          <a:xfrm rot="5400000">
            <a:off x="10031944" y="4978305"/>
            <a:ext cx="396000" cy="360000"/>
          </a:xfrm>
          <a:prstGeom prst="ben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548900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8AEE1-B57E-1F88-5E13-83074DD3D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Phases Overview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F4CC568-FD88-C17A-9A78-DE47EDA65F0D}"/>
              </a:ext>
            </a:extLst>
          </p:cNvPr>
          <p:cNvGrpSpPr/>
          <p:nvPr/>
        </p:nvGrpSpPr>
        <p:grpSpPr>
          <a:xfrm>
            <a:off x="4656000" y="4459466"/>
            <a:ext cx="3604835" cy="1993123"/>
            <a:chOff x="4656000" y="4459466"/>
            <a:chExt cx="3604835" cy="199312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2E06E78-AF2E-F523-27D4-B5FECA3DA12C}"/>
                </a:ext>
              </a:extLst>
            </p:cNvPr>
            <p:cNvGrpSpPr/>
            <p:nvPr/>
          </p:nvGrpSpPr>
          <p:grpSpPr>
            <a:xfrm>
              <a:off x="4656000" y="4459466"/>
              <a:ext cx="3604835" cy="1440000"/>
              <a:chOff x="4656000" y="4862905"/>
              <a:chExt cx="3604835" cy="144000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7713AF8-4ABE-0DB0-CE10-D1DB990EFE5C}"/>
                  </a:ext>
                </a:extLst>
              </p:cNvPr>
              <p:cNvSpPr/>
              <p:nvPr/>
            </p:nvSpPr>
            <p:spPr>
              <a:xfrm>
                <a:off x="4656000" y="4862905"/>
                <a:ext cx="2880000" cy="144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3200" b="1" dirty="0"/>
                  <a:t>Create user and technical guides</a:t>
                </a:r>
                <a:endParaRPr lang="en-GB" sz="2800" dirty="0"/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EFE49AB9-DA93-DBB5-14D6-061FEC879260}"/>
                  </a:ext>
                </a:extLst>
              </p:cNvPr>
              <p:cNvCxnSpPr>
                <a:cxnSpLocks/>
                <a:stCxn id="7" idx="1"/>
                <a:endCxn id="8" idx="3"/>
              </p:cNvCxnSpPr>
              <p:nvPr/>
            </p:nvCxnSpPr>
            <p:spPr>
              <a:xfrm flipH="1">
                <a:off x="7536000" y="5574580"/>
                <a:ext cx="724835" cy="832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6876AD6-6DC8-C5E8-EC03-D616B8F57129}"/>
                </a:ext>
              </a:extLst>
            </p:cNvPr>
            <p:cNvSpPr txBox="1"/>
            <p:nvPr/>
          </p:nvSpPr>
          <p:spPr>
            <a:xfrm>
              <a:off x="4846696" y="5929369"/>
              <a:ext cx="250203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/>
                <a:t>Documentation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946FE3A-566E-99C0-2476-B185E6753AE2}"/>
              </a:ext>
            </a:extLst>
          </p:cNvPr>
          <p:cNvGrpSpPr/>
          <p:nvPr/>
        </p:nvGrpSpPr>
        <p:grpSpPr>
          <a:xfrm>
            <a:off x="7536000" y="1774645"/>
            <a:ext cx="3604835" cy="1963220"/>
            <a:chOff x="7536000" y="1774645"/>
            <a:chExt cx="3604835" cy="196322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740B943-9340-2245-930B-4AD6F2AA71FA}"/>
                </a:ext>
              </a:extLst>
            </p:cNvPr>
            <p:cNvGrpSpPr/>
            <p:nvPr/>
          </p:nvGrpSpPr>
          <p:grpSpPr>
            <a:xfrm>
              <a:off x="7536000" y="2297865"/>
              <a:ext cx="3604835" cy="1440000"/>
              <a:chOff x="7536000" y="1988593"/>
              <a:chExt cx="3604835" cy="144000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539D98C-9490-D828-4B59-A62A655F0433}"/>
                  </a:ext>
                </a:extLst>
              </p:cNvPr>
              <p:cNvSpPr/>
              <p:nvPr/>
            </p:nvSpPr>
            <p:spPr>
              <a:xfrm>
                <a:off x="8260835" y="1988593"/>
                <a:ext cx="2880000" cy="144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3000" b="1" dirty="0"/>
                  <a:t>Write the code and make it happen!</a:t>
                </a:r>
                <a:endParaRPr lang="en-GB" sz="3000" dirty="0"/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68F0E127-DF0A-7EC9-923B-053EFDEE2A25}"/>
                  </a:ext>
                </a:extLst>
              </p:cNvPr>
              <p:cNvCxnSpPr>
                <a:cxnSpLocks/>
                <a:stCxn id="6" idx="3"/>
                <a:endCxn id="5" idx="1"/>
              </p:cNvCxnSpPr>
              <p:nvPr/>
            </p:nvCxnSpPr>
            <p:spPr>
              <a:xfrm>
                <a:off x="7536000" y="2701869"/>
                <a:ext cx="724835" cy="672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F410F14-06E2-3E6B-C717-2CA7E17BAA74}"/>
                </a:ext>
              </a:extLst>
            </p:cNvPr>
            <p:cNvSpPr txBox="1"/>
            <p:nvPr/>
          </p:nvSpPr>
          <p:spPr>
            <a:xfrm>
              <a:off x="8405737" y="1774645"/>
              <a:ext cx="25901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/>
                <a:t>Implementation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1AED20E-4745-4D2D-D136-47BC4BB50F4B}"/>
              </a:ext>
            </a:extLst>
          </p:cNvPr>
          <p:cNvGrpSpPr/>
          <p:nvPr/>
        </p:nvGrpSpPr>
        <p:grpSpPr>
          <a:xfrm>
            <a:off x="3931165" y="1774645"/>
            <a:ext cx="3604835" cy="1963220"/>
            <a:chOff x="3931165" y="1774645"/>
            <a:chExt cx="3604835" cy="196322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6794245-FFA1-41E2-2A1A-CE936418306D}"/>
                </a:ext>
              </a:extLst>
            </p:cNvPr>
            <p:cNvGrpSpPr/>
            <p:nvPr/>
          </p:nvGrpSpPr>
          <p:grpSpPr>
            <a:xfrm>
              <a:off x="3931165" y="2297865"/>
              <a:ext cx="3604835" cy="1440000"/>
              <a:chOff x="3931165" y="1988593"/>
              <a:chExt cx="3604835" cy="144000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5789ACF-21CF-7430-AB79-04E11C5EEA02}"/>
                  </a:ext>
                </a:extLst>
              </p:cNvPr>
              <p:cNvSpPr/>
              <p:nvPr/>
            </p:nvSpPr>
            <p:spPr>
              <a:xfrm>
                <a:off x="4656000" y="1988593"/>
                <a:ext cx="2880000" cy="144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3200" b="1" dirty="0"/>
                  <a:t>How will it be done / look like?</a:t>
                </a:r>
                <a:endParaRPr lang="en-GB" sz="2800" dirty="0"/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D775F7AD-EAF2-31FA-1D7B-38DE5B477F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1165" y="2708593"/>
                <a:ext cx="724835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0D1984F-1DAC-5B82-161A-F26BE5FFD62A}"/>
                </a:ext>
              </a:extLst>
            </p:cNvPr>
            <p:cNvSpPr txBox="1"/>
            <p:nvPr/>
          </p:nvSpPr>
          <p:spPr>
            <a:xfrm>
              <a:off x="5503530" y="1774645"/>
              <a:ext cx="118494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/>
                <a:t>Design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8D85A97-8BAD-0580-C6DF-A41E4CB5E1D9}"/>
              </a:ext>
            </a:extLst>
          </p:cNvPr>
          <p:cNvGrpSpPr/>
          <p:nvPr/>
        </p:nvGrpSpPr>
        <p:grpSpPr>
          <a:xfrm>
            <a:off x="1051165" y="1769350"/>
            <a:ext cx="2880000" cy="1968515"/>
            <a:chOff x="1051165" y="1769350"/>
            <a:chExt cx="2880000" cy="19685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24459E0-A74A-A672-3B40-4CFAA3D822CD}"/>
                </a:ext>
              </a:extLst>
            </p:cNvPr>
            <p:cNvSpPr/>
            <p:nvPr/>
          </p:nvSpPr>
          <p:spPr>
            <a:xfrm>
              <a:off x="1051165" y="2297865"/>
              <a:ext cx="2880000" cy="14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What is wanted?</a:t>
              </a:r>
              <a:endParaRPr lang="en-GB" sz="28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BA46197-20D5-6E49-18C0-26677EEA3EE6}"/>
                </a:ext>
              </a:extLst>
            </p:cNvPr>
            <p:cNvSpPr txBox="1"/>
            <p:nvPr/>
          </p:nvSpPr>
          <p:spPr>
            <a:xfrm>
              <a:off x="1790044" y="1769350"/>
              <a:ext cx="14022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/>
                <a:t>Analysis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00596EC-3DD0-3A60-892D-01C085E99C97}"/>
              </a:ext>
            </a:extLst>
          </p:cNvPr>
          <p:cNvGrpSpPr/>
          <p:nvPr/>
        </p:nvGrpSpPr>
        <p:grpSpPr>
          <a:xfrm>
            <a:off x="1051165" y="4459466"/>
            <a:ext cx="3604835" cy="1993123"/>
            <a:chOff x="1051165" y="4459466"/>
            <a:chExt cx="3604835" cy="1993123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7A621B7-0DBD-2AE3-9E08-F9694C42A3B0}"/>
                </a:ext>
              </a:extLst>
            </p:cNvPr>
            <p:cNvGrpSpPr/>
            <p:nvPr/>
          </p:nvGrpSpPr>
          <p:grpSpPr>
            <a:xfrm>
              <a:off x="1051165" y="4459466"/>
              <a:ext cx="3604835" cy="1440000"/>
              <a:chOff x="1051165" y="4862905"/>
              <a:chExt cx="3604835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AEA7DD9-A526-3F8B-F9EE-88AFCD472BB4}"/>
                  </a:ext>
                </a:extLst>
              </p:cNvPr>
              <p:cNvSpPr/>
              <p:nvPr/>
            </p:nvSpPr>
            <p:spPr>
              <a:xfrm>
                <a:off x="1051165" y="4862905"/>
                <a:ext cx="2880000" cy="144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3200" b="1" dirty="0"/>
                  <a:t>Does it do what was wanted?</a:t>
                </a:r>
                <a:endParaRPr lang="en-GB" sz="2800" dirty="0"/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56373860-0D10-82CA-BA91-4B18CEE08443}"/>
                  </a:ext>
                </a:extLst>
              </p:cNvPr>
              <p:cNvCxnSpPr>
                <a:cxnSpLocks/>
                <a:stCxn id="8" idx="1"/>
                <a:endCxn id="9" idx="3"/>
              </p:cNvCxnSpPr>
              <p:nvPr/>
            </p:nvCxnSpPr>
            <p:spPr>
              <a:xfrm flipH="1">
                <a:off x="3931165" y="5582905"/>
                <a:ext cx="724835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B771298-EBA3-5E3E-B180-389DCF345224}"/>
                </a:ext>
              </a:extLst>
            </p:cNvPr>
            <p:cNvSpPr txBox="1"/>
            <p:nvPr/>
          </p:nvSpPr>
          <p:spPr>
            <a:xfrm>
              <a:off x="1549530" y="5929369"/>
              <a:ext cx="17457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/>
                <a:t>Evaluation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E624AA9-B9A3-7D91-90E1-E4ADC956B3F3}"/>
              </a:ext>
            </a:extLst>
          </p:cNvPr>
          <p:cNvGrpSpPr/>
          <p:nvPr/>
        </p:nvGrpSpPr>
        <p:grpSpPr>
          <a:xfrm>
            <a:off x="8260835" y="3737865"/>
            <a:ext cx="2880000" cy="2676496"/>
            <a:chOff x="8260835" y="3737865"/>
            <a:chExt cx="2880000" cy="267649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E31A64F-14C6-EA3B-F8F1-D524F73E00B4}"/>
                </a:ext>
              </a:extLst>
            </p:cNvPr>
            <p:cNvGrpSpPr/>
            <p:nvPr/>
          </p:nvGrpSpPr>
          <p:grpSpPr>
            <a:xfrm>
              <a:off x="8260835" y="3737865"/>
              <a:ext cx="2880000" cy="2153276"/>
              <a:chOff x="8260835" y="4141304"/>
              <a:chExt cx="2880000" cy="2153276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051A935-A13B-D31F-DC0F-15A27C10EAA5}"/>
                  </a:ext>
                </a:extLst>
              </p:cNvPr>
              <p:cNvSpPr/>
              <p:nvPr/>
            </p:nvSpPr>
            <p:spPr>
              <a:xfrm>
                <a:off x="8260835" y="4854580"/>
                <a:ext cx="2880000" cy="144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3200" b="1" dirty="0"/>
                  <a:t>Does it work?</a:t>
                </a:r>
                <a:endParaRPr lang="en-GB" sz="2800" dirty="0"/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46C664EC-AB6D-408B-F5F0-A71D1E103E27}"/>
                  </a:ext>
                </a:extLst>
              </p:cNvPr>
              <p:cNvCxnSpPr>
                <a:cxnSpLocks/>
                <a:stCxn id="5" idx="2"/>
                <a:endCxn id="7" idx="0"/>
              </p:cNvCxnSpPr>
              <p:nvPr/>
            </p:nvCxnSpPr>
            <p:spPr>
              <a:xfrm>
                <a:off x="9700835" y="4141304"/>
                <a:ext cx="0" cy="71327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CEDBE7F-1A93-1767-52A4-A8D12D3E6E01}"/>
                </a:ext>
              </a:extLst>
            </p:cNvPr>
            <p:cNvSpPr txBox="1"/>
            <p:nvPr/>
          </p:nvSpPr>
          <p:spPr>
            <a:xfrm>
              <a:off x="9087429" y="5891141"/>
              <a:ext cx="1226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/>
                <a:t>Testing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976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1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8AEE1-B57E-1F88-5E13-83074DD3D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Phases Overview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F4CC568-FD88-C17A-9A78-DE47EDA65F0D}"/>
              </a:ext>
            </a:extLst>
          </p:cNvPr>
          <p:cNvGrpSpPr/>
          <p:nvPr/>
        </p:nvGrpSpPr>
        <p:grpSpPr>
          <a:xfrm>
            <a:off x="4656000" y="4459466"/>
            <a:ext cx="3604835" cy="1993123"/>
            <a:chOff x="4656000" y="4459466"/>
            <a:chExt cx="3604835" cy="199312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2E06E78-AF2E-F523-27D4-B5FECA3DA12C}"/>
                </a:ext>
              </a:extLst>
            </p:cNvPr>
            <p:cNvGrpSpPr/>
            <p:nvPr/>
          </p:nvGrpSpPr>
          <p:grpSpPr>
            <a:xfrm>
              <a:off x="4656000" y="4459466"/>
              <a:ext cx="3604835" cy="1440000"/>
              <a:chOff x="4656000" y="4862905"/>
              <a:chExt cx="3604835" cy="144000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7713AF8-4ABE-0DB0-CE10-D1DB990EFE5C}"/>
                  </a:ext>
                </a:extLst>
              </p:cNvPr>
              <p:cNvSpPr/>
              <p:nvPr/>
            </p:nvSpPr>
            <p:spPr>
              <a:xfrm>
                <a:off x="4656000" y="4862905"/>
                <a:ext cx="2880000" cy="14400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800" dirty="0"/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EFE49AB9-DA93-DBB5-14D6-061FEC879260}"/>
                  </a:ext>
                </a:extLst>
              </p:cNvPr>
              <p:cNvCxnSpPr>
                <a:cxnSpLocks/>
                <a:stCxn id="7" idx="1"/>
                <a:endCxn id="8" idx="3"/>
              </p:cNvCxnSpPr>
              <p:nvPr/>
            </p:nvCxnSpPr>
            <p:spPr>
              <a:xfrm flipH="1">
                <a:off x="7536000" y="5574580"/>
                <a:ext cx="724835" cy="832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6876AD6-6DC8-C5E8-EC03-D616B8F57129}"/>
                </a:ext>
              </a:extLst>
            </p:cNvPr>
            <p:cNvSpPr txBox="1"/>
            <p:nvPr/>
          </p:nvSpPr>
          <p:spPr>
            <a:xfrm>
              <a:off x="4846696" y="5929369"/>
              <a:ext cx="250203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/>
                <a:t>Documentation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946FE3A-566E-99C0-2476-B185E6753AE2}"/>
              </a:ext>
            </a:extLst>
          </p:cNvPr>
          <p:cNvGrpSpPr/>
          <p:nvPr/>
        </p:nvGrpSpPr>
        <p:grpSpPr>
          <a:xfrm>
            <a:off x="7536000" y="1774645"/>
            <a:ext cx="3604835" cy="1963220"/>
            <a:chOff x="7536000" y="1774645"/>
            <a:chExt cx="3604835" cy="196322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740B943-9340-2245-930B-4AD6F2AA71FA}"/>
                </a:ext>
              </a:extLst>
            </p:cNvPr>
            <p:cNvGrpSpPr/>
            <p:nvPr/>
          </p:nvGrpSpPr>
          <p:grpSpPr>
            <a:xfrm>
              <a:off x="7536000" y="2297865"/>
              <a:ext cx="3604835" cy="1440000"/>
              <a:chOff x="7536000" y="1988593"/>
              <a:chExt cx="3604835" cy="144000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539D98C-9490-D828-4B59-A62A655F0433}"/>
                  </a:ext>
                </a:extLst>
              </p:cNvPr>
              <p:cNvSpPr/>
              <p:nvPr/>
            </p:nvSpPr>
            <p:spPr>
              <a:xfrm>
                <a:off x="8260835" y="1988593"/>
                <a:ext cx="2880000" cy="14400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000" dirty="0"/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68F0E127-DF0A-7EC9-923B-053EFDEE2A25}"/>
                  </a:ext>
                </a:extLst>
              </p:cNvPr>
              <p:cNvCxnSpPr>
                <a:cxnSpLocks/>
                <a:stCxn id="6" idx="3"/>
                <a:endCxn id="5" idx="1"/>
              </p:cNvCxnSpPr>
              <p:nvPr/>
            </p:nvCxnSpPr>
            <p:spPr>
              <a:xfrm>
                <a:off x="7536000" y="2701869"/>
                <a:ext cx="724835" cy="672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F410F14-06E2-3E6B-C717-2CA7E17BAA74}"/>
                </a:ext>
              </a:extLst>
            </p:cNvPr>
            <p:cNvSpPr txBox="1"/>
            <p:nvPr/>
          </p:nvSpPr>
          <p:spPr>
            <a:xfrm>
              <a:off x="8405737" y="1774645"/>
              <a:ext cx="25901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/>
                <a:t>Implementation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1AED20E-4745-4D2D-D136-47BC4BB50F4B}"/>
              </a:ext>
            </a:extLst>
          </p:cNvPr>
          <p:cNvGrpSpPr/>
          <p:nvPr/>
        </p:nvGrpSpPr>
        <p:grpSpPr>
          <a:xfrm>
            <a:off x="3931165" y="1774645"/>
            <a:ext cx="3604835" cy="1963220"/>
            <a:chOff x="3931165" y="1774645"/>
            <a:chExt cx="3604835" cy="196322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6794245-FFA1-41E2-2A1A-CE936418306D}"/>
                </a:ext>
              </a:extLst>
            </p:cNvPr>
            <p:cNvGrpSpPr/>
            <p:nvPr/>
          </p:nvGrpSpPr>
          <p:grpSpPr>
            <a:xfrm>
              <a:off x="3931165" y="2297865"/>
              <a:ext cx="3604835" cy="1440000"/>
              <a:chOff x="3931165" y="1988593"/>
              <a:chExt cx="3604835" cy="144000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5789ACF-21CF-7430-AB79-04E11C5EEA02}"/>
                  </a:ext>
                </a:extLst>
              </p:cNvPr>
              <p:cNvSpPr/>
              <p:nvPr/>
            </p:nvSpPr>
            <p:spPr>
              <a:xfrm>
                <a:off x="4656000" y="1988593"/>
                <a:ext cx="2880000" cy="14400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800" dirty="0"/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D775F7AD-EAF2-31FA-1D7B-38DE5B477F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1165" y="2708593"/>
                <a:ext cx="724835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0D1984F-1DAC-5B82-161A-F26BE5FFD62A}"/>
                </a:ext>
              </a:extLst>
            </p:cNvPr>
            <p:cNvSpPr txBox="1"/>
            <p:nvPr/>
          </p:nvSpPr>
          <p:spPr>
            <a:xfrm>
              <a:off x="5503530" y="1774645"/>
              <a:ext cx="118494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/>
                <a:t>Design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8D85A97-8BAD-0580-C6DF-A41E4CB5E1D9}"/>
              </a:ext>
            </a:extLst>
          </p:cNvPr>
          <p:cNvGrpSpPr/>
          <p:nvPr/>
        </p:nvGrpSpPr>
        <p:grpSpPr>
          <a:xfrm>
            <a:off x="1051165" y="1769350"/>
            <a:ext cx="2880000" cy="1968515"/>
            <a:chOff x="1051165" y="1769350"/>
            <a:chExt cx="2880000" cy="19685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24459E0-A74A-A672-3B40-4CFAA3D822CD}"/>
                </a:ext>
              </a:extLst>
            </p:cNvPr>
            <p:cNvSpPr/>
            <p:nvPr/>
          </p:nvSpPr>
          <p:spPr>
            <a:xfrm>
              <a:off x="1051165" y="2297865"/>
              <a:ext cx="2880000" cy="144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BA46197-20D5-6E49-18C0-26677EEA3EE6}"/>
                </a:ext>
              </a:extLst>
            </p:cNvPr>
            <p:cNvSpPr txBox="1"/>
            <p:nvPr/>
          </p:nvSpPr>
          <p:spPr>
            <a:xfrm>
              <a:off x="1790044" y="1769350"/>
              <a:ext cx="14022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/>
                <a:t>Analysis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00596EC-3DD0-3A60-892D-01C085E99C97}"/>
              </a:ext>
            </a:extLst>
          </p:cNvPr>
          <p:cNvGrpSpPr/>
          <p:nvPr/>
        </p:nvGrpSpPr>
        <p:grpSpPr>
          <a:xfrm>
            <a:off x="1051165" y="4459466"/>
            <a:ext cx="3604835" cy="1993123"/>
            <a:chOff x="1051165" y="4459466"/>
            <a:chExt cx="3604835" cy="1993123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7A621B7-0DBD-2AE3-9E08-F9694C42A3B0}"/>
                </a:ext>
              </a:extLst>
            </p:cNvPr>
            <p:cNvGrpSpPr/>
            <p:nvPr/>
          </p:nvGrpSpPr>
          <p:grpSpPr>
            <a:xfrm>
              <a:off x="1051165" y="4459466"/>
              <a:ext cx="3604835" cy="1440000"/>
              <a:chOff x="1051165" y="4862905"/>
              <a:chExt cx="3604835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AEA7DD9-A526-3F8B-F9EE-88AFCD472BB4}"/>
                  </a:ext>
                </a:extLst>
              </p:cNvPr>
              <p:cNvSpPr/>
              <p:nvPr/>
            </p:nvSpPr>
            <p:spPr>
              <a:xfrm>
                <a:off x="1051165" y="4862905"/>
                <a:ext cx="2880000" cy="14400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800" dirty="0"/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56373860-0D10-82CA-BA91-4B18CEE08443}"/>
                  </a:ext>
                </a:extLst>
              </p:cNvPr>
              <p:cNvCxnSpPr>
                <a:cxnSpLocks/>
                <a:stCxn id="8" idx="1"/>
                <a:endCxn id="9" idx="3"/>
              </p:cNvCxnSpPr>
              <p:nvPr/>
            </p:nvCxnSpPr>
            <p:spPr>
              <a:xfrm flipH="1">
                <a:off x="3931165" y="5582905"/>
                <a:ext cx="724835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B771298-EBA3-5E3E-B180-389DCF345224}"/>
                </a:ext>
              </a:extLst>
            </p:cNvPr>
            <p:cNvSpPr txBox="1"/>
            <p:nvPr/>
          </p:nvSpPr>
          <p:spPr>
            <a:xfrm>
              <a:off x="1549530" y="5929369"/>
              <a:ext cx="17457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/>
                <a:t>Evaluation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E624AA9-B9A3-7D91-90E1-E4ADC956B3F3}"/>
              </a:ext>
            </a:extLst>
          </p:cNvPr>
          <p:cNvGrpSpPr/>
          <p:nvPr/>
        </p:nvGrpSpPr>
        <p:grpSpPr>
          <a:xfrm>
            <a:off x="8260835" y="3737865"/>
            <a:ext cx="2880000" cy="2676496"/>
            <a:chOff x="8260835" y="3737865"/>
            <a:chExt cx="2880000" cy="267649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E31A64F-14C6-EA3B-F8F1-D524F73E00B4}"/>
                </a:ext>
              </a:extLst>
            </p:cNvPr>
            <p:cNvGrpSpPr/>
            <p:nvPr/>
          </p:nvGrpSpPr>
          <p:grpSpPr>
            <a:xfrm>
              <a:off x="8260835" y="3737865"/>
              <a:ext cx="2880000" cy="2153276"/>
              <a:chOff x="8260835" y="4141304"/>
              <a:chExt cx="2880000" cy="2153276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051A935-A13B-D31F-DC0F-15A27C10EAA5}"/>
                  </a:ext>
                </a:extLst>
              </p:cNvPr>
              <p:cNvSpPr/>
              <p:nvPr/>
            </p:nvSpPr>
            <p:spPr>
              <a:xfrm>
                <a:off x="8260835" y="4854580"/>
                <a:ext cx="2880000" cy="14400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800" dirty="0"/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46C664EC-AB6D-408B-F5F0-A71D1E103E27}"/>
                  </a:ext>
                </a:extLst>
              </p:cNvPr>
              <p:cNvCxnSpPr>
                <a:cxnSpLocks/>
                <a:stCxn id="5" idx="2"/>
                <a:endCxn id="7" idx="0"/>
              </p:cNvCxnSpPr>
              <p:nvPr/>
            </p:nvCxnSpPr>
            <p:spPr>
              <a:xfrm>
                <a:off x="9700835" y="4141304"/>
                <a:ext cx="0" cy="71327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CEDBE7F-1A93-1767-52A4-A8D12D3E6E01}"/>
                </a:ext>
              </a:extLst>
            </p:cNvPr>
            <p:cNvSpPr txBox="1"/>
            <p:nvPr/>
          </p:nvSpPr>
          <p:spPr>
            <a:xfrm>
              <a:off x="9087429" y="5891141"/>
              <a:ext cx="1226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/>
                <a:t>Testing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1530201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B8266BB-188D-809B-7D04-C86800CEE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Iterative Process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759F64-C023-3812-2AC2-E3AE92864A68}"/>
              </a:ext>
            </a:extLst>
          </p:cNvPr>
          <p:cNvSpPr/>
          <p:nvPr/>
        </p:nvSpPr>
        <p:spPr>
          <a:xfrm>
            <a:off x="684772" y="1962373"/>
            <a:ext cx="3096000" cy="7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dirty="0"/>
              <a:t>Analysis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EEB896-7FF6-3079-E98D-A8441F07038C}"/>
              </a:ext>
            </a:extLst>
          </p:cNvPr>
          <p:cNvSpPr/>
          <p:nvPr/>
        </p:nvSpPr>
        <p:spPr>
          <a:xfrm>
            <a:off x="2232772" y="2694976"/>
            <a:ext cx="3096000" cy="7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dirty="0"/>
              <a:t>Design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601FFA6-9546-585B-6D71-5C7E1E424A1F}"/>
              </a:ext>
            </a:extLst>
          </p:cNvPr>
          <p:cNvSpPr/>
          <p:nvPr/>
        </p:nvSpPr>
        <p:spPr>
          <a:xfrm>
            <a:off x="3780223" y="3427819"/>
            <a:ext cx="3096000" cy="7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dirty="0"/>
              <a:t>Implementation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D83C1A-5411-B82D-9BC2-6514AC75A7EC}"/>
              </a:ext>
            </a:extLst>
          </p:cNvPr>
          <p:cNvSpPr/>
          <p:nvPr/>
        </p:nvSpPr>
        <p:spPr>
          <a:xfrm>
            <a:off x="5328783" y="4160668"/>
            <a:ext cx="3096000" cy="7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dirty="0"/>
              <a:t>Testing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FCBB4CF-099A-13DB-0409-26F4FD1334EB}"/>
              </a:ext>
            </a:extLst>
          </p:cNvPr>
          <p:cNvSpPr/>
          <p:nvPr/>
        </p:nvSpPr>
        <p:spPr>
          <a:xfrm>
            <a:off x="6880903" y="4894461"/>
            <a:ext cx="3096000" cy="7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dirty="0"/>
              <a:t>Documentation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4A9A48B-53F0-70F7-16FC-A84268845B5D}"/>
              </a:ext>
            </a:extLst>
          </p:cNvPr>
          <p:cNvSpPr/>
          <p:nvPr/>
        </p:nvSpPr>
        <p:spPr>
          <a:xfrm>
            <a:off x="8429848" y="5627990"/>
            <a:ext cx="3096000" cy="7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dirty="0"/>
              <a:t>Evaluation</a:t>
            </a:r>
          </a:p>
        </p:txBody>
      </p:sp>
      <p:sp>
        <p:nvSpPr>
          <p:cNvPr id="14" name="Arrow: Bent 13">
            <a:extLst>
              <a:ext uri="{FF2B5EF4-FFF2-40B4-BE49-F238E27FC236}">
                <a16:creationId xmlns:a16="http://schemas.microsoft.com/office/drawing/2014/main" id="{BF45EB5F-8F88-5C31-433B-2D99CE9BDD5A}"/>
              </a:ext>
            </a:extLst>
          </p:cNvPr>
          <p:cNvSpPr/>
          <p:nvPr/>
        </p:nvSpPr>
        <p:spPr>
          <a:xfrm rot="5400000">
            <a:off x="3762223" y="2314875"/>
            <a:ext cx="396000" cy="360000"/>
          </a:xfrm>
          <a:prstGeom prst="ben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Arrow: Bent 14">
            <a:extLst>
              <a:ext uri="{FF2B5EF4-FFF2-40B4-BE49-F238E27FC236}">
                <a16:creationId xmlns:a16="http://schemas.microsoft.com/office/drawing/2014/main" id="{BF7E6A5F-3277-FB0A-026D-029CEF1A939A}"/>
              </a:ext>
            </a:extLst>
          </p:cNvPr>
          <p:cNvSpPr/>
          <p:nvPr/>
        </p:nvSpPr>
        <p:spPr>
          <a:xfrm rot="5400000">
            <a:off x="5310223" y="3047931"/>
            <a:ext cx="396000" cy="360000"/>
          </a:xfrm>
          <a:prstGeom prst="ben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Arrow: Bent 15">
            <a:extLst>
              <a:ext uri="{FF2B5EF4-FFF2-40B4-BE49-F238E27FC236}">
                <a16:creationId xmlns:a16="http://schemas.microsoft.com/office/drawing/2014/main" id="{26E38E77-B94E-6347-4242-86CB2217ABAA}"/>
              </a:ext>
            </a:extLst>
          </p:cNvPr>
          <p:cNvSpPr/>
          <p:nvPr/>
        </p:nvSpPr>
        <p:spPr>
          <a:xfrm rot="5400000">
            <a:off x="6858223" y="3778399"/>
            <a:ext cx="396000" cy="360000"/>
          </a:xfrm>
          <a:prstGeom prst="ben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Arrow: Bent 16">
            <a:extLst>
              <a:ext uri="{FF2B5EF4-FFF2-40B4-BE49-F238E27FC236}">
                <a16:creationId xmlns:a16="http://schemas.microsoft.com/office/drawing/2014/main" id="{E1E20F23-A6F1-C26F-CC7A-C0539341C5DF}"/>
              </a:ext>
            </a:extLst>
          </p:cNvPr>
          <p:cNvSpPr/>
          <p:nvPr/>
        </p:nvSpPr>
        <p:spPr>
          <a:xfrm rot="5400000">
            <a:off x="8406783" y="4515517"/>
            <a:ext cx="396000" cy="360000"/>
          </a:xfrm>
          <a:prstGeom prst="ben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Arrow: Bent 17">
            <a:extLst>
              <a:ext uri="{FF2B5EF4-FFF2-40B4-BE49-F238E27FC236}">
                <a16:creationId xmlns:a16="http://schemas.microsoft.com/office/drawing/2014/main" id="{9CE0E84C-0B35-5253-E02C-09826F702D4E}"/>
              </a:ext>
            </a:extLst>
          </p:cNvPr>
          <p:cNvSpPr/>
          <p:nvPr/>
        </p:nvSpPr>
        <p:spPr>
          <a:xfrm rot="5400000">
            <a:off x="9958903" y="5249990"/>
            <a:ext cx="396000" cy="360000"/>
          </a:xfrm>
          <a:prstGeom prst="ben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Arrow: Bent 1">
            <a:extLst>
              <a:ext uri="{FF2B5EF4-FFF2-40B4-BE49-F238E27FC236}">
                <a16:creationId xmlns:a16="http://schemas.microsoft.com/office/drawing/2014/main" id="{7C25703A-BFB2-8460-9352-DAE1D8A970A9}"/>
              </a:ext>
            </a:extLst>
          </p:cNvPr>
          <p:cNvSpPr/>
          <p:nvPr/>
        </p:nvSpPr>
        <p:spPr>
          <a:xfrm rot="16200000">
            <a:off x="1849736" y="2706580"/>
            <a:ext cx="396000" cy="360000"/>
          </a:xfrm>
          <a:prstGeom prst="ben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Arrow: Bent 3">
            <a:extLst>
              <a:ext uri="{FF2B5EF4-FFF2-40B4-BE49-F238E27FC236}">
                <a16:creationId xmlns:a16="http://schemas.microsoft.com/office/drawing/2014/main" id="{64063C47-0F6A-8AAD-ED8B-ACE391A6A4BF}"/>
              </a:ext>
            </a:extLst>
          </p:cNvPr>
          <p:cNvSpPr/>
          <p:nvPr/>
        </p:nvSpPr>
        <p:spPr>
          <a:xfrm rot="16200000">
            <a:off x="3394523" y="3438676"/>
            <a:ext cx="396000" cy="360000"/>
          </a:xfrm>
          <a:prstGeom prst="ben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Arrow: Bent 4">
            <a:extLst>
              <a:ext uri="{FF2B5EF4-FFF2-40B4-BE49-F238E27FC236}">
                <a16:creationId xmlns:a16="http://schemas.microsoft.com/office/drawing/2014/main" id="{91CEB591-734E-7998-1DAA-70003A8F3BE2}"/>
              </a:ext>
            </a:extLst>
          </p:cNvPr>
          <p:cNvSpPr/>
          <p:nvPr/>
        </p:nvSpPr>
        <p:spPr>
          <a:xfrm rot="16200000">
            <a:off x="4946021" y="4171302"/>
            <a:ext cx="396000" cy="360000"/>
          </a:xfrm>
          <a:prstGeom prst="ben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Arrow: Bent 5">
            <a:extLst>
              <a:ext uri="{FF2B5EF4-FFF2-40B4-BE49-F238E27FC236}">
                <a16:creationId xmlns:a16="http://schemas.microsoft.com/office/drawing/2014/main" id="{D61F004A-D666-F6E6-53CE-98554F2885D9}"/>
              </a:ext>
            </a:extLst>
          </p:cNvPr>
          <p:cNvSpPr/>
          <p:nvPr/>
        </p:nvSpPr>
        <p:spPr>
          <a:xfrm rot="16200000">
            <a:off x="6498223" y="4907638"/>
            <a:ext cx="396000" cy="360000"/>
          </a:xfrm>
          <a:prstGeom prst="ben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Bent 18">
            <a:extLst>
              <a:ext uri="{FF2B5EF4-FFF2-40B4-BE49-F238E27FC236}">
                <a16:creationId xmlns:a16="http://schemas.microsoft.com/office/drawing/2014/main" id="{91618D2B-26C2-BE4D-276C-EB766B83E5D6}"/>
              </a:ext>
            </a:extLst>
          </p:cNvPr>
          <p:cNvSpPr/>
          <p:nvPr/>
        </p:nvSpPr>
        <p:spPr>
          <a:xfrm rot="16200000">
            <a:off x="8051427" y="5639666"/>
            <a:ext cx="396000" cy="360000"/>
          </a:xfrm>
          <a:prstGeom prst="ben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0" name="Arrow: Bent 19">
            <a:extLst>
              <a:ext uri="{FF2B5EF4-FFF2-40B4-BE49-F238E27FC236}">
                <a16:creationId xmlns:a16="http://schemas.microsoft.com/office/drawing/2014/main" id="{D651EF9C-05BC-D2BC-5129-FF85D96C789C}"/>
              </a:ext>
            </a:extLst>
          </p:cNvPr>
          <p:cNvSpPr/>
          <p:nvPr/>
        </p:nvSpPr>
        <p:spPr>
          <a:xfrm rot="16200000">
            <a:off x="3481392" y="2890266"/>
            <a:ext cx="1311169" cy="2372975"/>
          </a:xfrm>
          <a:prstGeom prst="bentArrow">
            <a:avLst>
              <a:gd name="adj1" fmla="val 7546"/>
              <a:gd name="adj2" fmla="val 7275"/>
              <a:gd name="adj3" fmla="val 7133"/>
              <a:gd name="adj4" fmla="val 4375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Bent 20">
            <a:extLst>
              <a:ext uri="{FF2B5EF4-FFF2-40B4-BE49-F238E27FC236}">
                <a16:creationId xmlns:a16="http://schemas.microsoft.com/office/drawing/2014/main" id="{5655101A-C758-C7A4-1EAE-9F1DAB73918A}"/>
              </a:ext>
            </a:extLst>
          </p:cNvPr>
          <p:cNvSpPr/>
          <p:nvPr/>
        </p:nvSpPr>
        <p:spPr>
          <a:xfrm rot="16200000">
            <a:off x="2991219" y="746684"/>
            <a:ext cx="3494401" cy="7386781"/>
          </a:xfrm>
          <a:prstGeom prst="bentArrow">
            <a:avLst>
              <a:gd name="adj1" fmla="val 3048"/>
              <a:gd name="adj2" fmla="val 2642"/>
              <a:gd name="adj3" fmla="val 2294"/>
              <a:gd name="adj4" fmla="val 4375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E8397E-A7E8-67E0-F203-9E38B614B89F}"/>
              </a:ext>
            </a:extLst>
          </p:cNvPr>
          <p:cNvSpPr txBox="1"/>
          <p:nvPr/>
        </p:nvSpPr>
        <p:spPr>
          <a:xfrm>
            <a:off x="8375182" y="998190"/>
            <a:ext cx="320344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Iterative</a:t>
            </a:r>
            <a:r>
              <a:rPr lang="en-GB" sz="2800" dirty="0">
                <a:solidFill>
                  <a:srgbClr val="7030A0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7030A0"/>
                </a:solidFill>
              </a:rPr>
              <a:t>Do it again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7030A0"/>
                </a:solidFill>
              </a:rPr>
              <a:t>Improve each time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4DB392-22B1-BBDA-CF18-5AB8A022B844}"/>
              </a:ext>
            </a:extLst>
          </p:cNvPr>
          <p:cNvSpPr txBox="1"/>
          <p:nvPr/>
        </p:nvSpPr>
        <p:spPr>
          <a:xfrm>
            <a:off x="1945379" y="5144625"/>
            <a:ext cx="4215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7030A0"/>
                </a:solidFill>
              </a:rPr>
              <a:t>Go back to </a:t>
            </a:r>
            <a:r>
              <a:rPr lang="en-GB" sz="2800" b="1" i="1" dirty="0">
                <a:solidFill>
                  <a:srgbClr val="7030A0"/>
                </a:solidFill>
              </a:rPr>
              <a:t>any</a:t>
            </a:r>
            <a:r>
              <a:rPr lang="en-GB" sz="2800" dirty="0">
                <a:solidFill>
                  <a:srgbClr val="7030A0"/>
                </a:solidFill>
              </a:rPr>
              <a:t> earlier stage</a:t>
            </a:r>
          </a:p>
        </p:txBody>
      </p:sp>
    </p:spTree>
    <p:extLst>
      <p:ext uri="{BB962C8B-B14F-4D97-AF65-F5344CB8AC3E}">
        <p14:creationId xmlns:p14="http://schemas.microsoft.com/office/powerpoint/2010/main" val="2137337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3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" grpId="0" animBg="1"/>
      <p:bldP spid="4" grpId="0" animBg="1"/>
      <p:bldP spid="5" grpId="0" animBg="1"/>
      <p:bldP spid="6" grpId="0" animBg="1"/>
      <p:bldP spid="19" grpId="0" animBg="1"/>
      <p:bldP spid="20" grpId="0" animBg="1"/>
      <p:bldP spid="21" grpId="0" animBg="1"/>
      <p:bldP spid="22" grpId="0" uiExpand="1" build="p"/>
      <p:bldP spid="23" grpId="0"/>
    </p:bldLst>
  </p:timing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B8266BB-188D-809B-7D04-C86800CEE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Iterative Process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759F64-C023-3812-2AC2-E3AE92864A68}"/>
              </a:ext>
            </a:extLst>
          </p:cNvPr>
          <p:cNvSpPr/>
          <p:nvPr/>
        </p:nvSpPr>
        <p:spPr>
          <a:xfrm>
            <a:off x="684772" y="1962373"/>
            <a:ext cx="3096000" cy="7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dirty="0"/>
              <a:t>Analysis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EEB896-7FF6-3079-E98D-A8441F07038C}"/>
              </a:ext>
            </a:extLst>
          </p:cNvPr>
          <p:cNvSpPr/>
          <p:nvPr/>
        </p:nvSpPr>
        <p:spPr>
          <a:xfrm>
            <a:off x="2232772" y="2694976"/>
            <a:ext cx="3096000" cy="7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dirty="0"/>
              <a:t>Design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601FFA6-9546-585B-6D71-5C7E1E424A1F}"/>
              </a:ext>
            </a:extLst>
          </p:cNvPr>
          <p:cNvSpPr/>
          <p:nvPr/>
        </p:nvSpPr>
        <p:spPr>
          <a:xfrm>
            <a:off x="3780223" y="3427819"/>
            <a:ext cx="3096000" cy="7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dirty="0"/>
              <a:t>Implementation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D83C1A-5411-B82D-9BC2-6514AC75A7EC}"/>
              </a:ext>
            </a:extLst>
          </p:cNvPr>
          <p:cNvSpPr/>
          <p:nvPr/>
        </p:nvSpPr>
        <p:spPr>
          <a:xfrm>
            <a:off x="5328783" y="4160668"/>
            <a:ext cx="3096000" cy="7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dirty="0"/>
              <a:t>Testing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FCBB4CF-099A-13DB-0409-26F4FD1334EB}"/>
              </a:ext>
            </a:extLst>
          </p:cNvPr>
          <p:cNvSpPr/>
          <p:nvPr/>
        </p:nvSpPr>
        <p:spPr>
          <a:xfrm>
            <a:off x="6880903" y="4894461"/>
            <a:ext cx="3096000" cy="7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dirty="0"/>
              <a:t>Documentation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4A9A48B-53F0-70F7-16FC-A84268845B5D}"/>
              </a:ext>
            </a:extLst>
          </p:cNvPr>
          <p:cNvSpPr/>
          <p:nvPr/>
        </p:nvSpPr>
        <p:spPr>
          <a:xfrm>
            <a:off x="8429848" y="5627990"/>
            <a:ext cx="3096000" cy="7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dirty="0"/>
              <a:t>Evaluation</a:t>
            </a:r>
          </a:p>
        </p:txBody>
      </p:sp>
      <p:sp>
        <p:nvSpPr>
          <p:cNvPr id="14" name="Arrow: Bent 13">
            <a:extLst>
              <a:ext uri="{FF2B5EF4-FFF2-40B4-BE49-F238E27FC236}">
                <a16:creationId xmlns:a16="http://schemas.microsoft.com/office/drawing/2014/main" id="{BF45EB5F-8F88-5C31-433B-2D99CE9BDD5A}"/>
              </a:ext>
            </a:extLst>
          </p:cNvPr>
          <p:cNvSpPr/>
          <p:nvPr/>
        </p:nvSpPr>
        <p:spPr>
          <a:xfrm rot="5400000">
            <a:off x="3762223" y="2314875"/>
            <a:ext cx="396000" cy="360000"/>
          </a:xfrm>
          <a:prstGeom prst="ben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Arrow: Bent 14">
            <a:extLst>
              <a:ext uri="{FF2B5EF4-FFF2-40B4-BE49-F238E27FC236}">
                <a16:creationId xmlns:a16="http://schemas.microsoft.com/office/drawing/2014/main" id="{BF7E6A5F-3277-FB0A-026D-029CEF1A939A}"/>
              </a:ext>
            </a:extLst>
          </p:cNvPr>
          <p:cNvSpPr/>
          <p:nvPr/>
        </p:nvSpPr>
        <p:spPr>
          <a:xfrm rot="5400000">
            <a:off x="5310223" y="3047931"/>
            <a:ext cx="396000" cy="360000"/>
          </a:xfrm>
          <a:prstGeom prst="ben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Arrow: Bent 15">
            <a:extLst>
              <a:ext uri="{FF2B5EF4-FFF2-40B4-BE49-F238E27FC236}">
                <a16:creationId xmlns:a16="http://schemas.microsoft.com/office/drawing/2014/main" id="{26E38E77-B94E-6347-4242-86CB2217ABAA}"/>
              </a:ext>
            </a:extLst>
          </p:cNvPr>
          <p:cNvSpPr/>
          <p:nvPr/>
        </p:nvSpPr>
        <p:spPr>
          <a:xfrm rot="5400000">
            <a:off x="6858223" y="3778399"/>
            <a:ext cx="396000" cy="360000"/>
          </a:xfrm>
          <a:prstGeom prst="ben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Arrow: Bent 16">
            <a:extLst>
              <a:ext uri="{FF2B5EF4-FFF2-40B4-BE49-F238E27FC236}">
                <a16:creationId xmlns:a16="http://schemas.microsoft.com/office/drawing/2014/main" id="{E1E20F23-A6F1-C26F-CC7A-C0539341C5DF}"/>
              </a:ext>
            </a:extLst>
          </p:cNvPr>
          <p:cNvSpPr/>
          <p:nvPr/>
        </p:nvSpPr>
        <p:spPr>
          <a:xfrm rot="5400000">
            <a:off x="8406783" y="4515517"/>
            <a:ext cx="396000" cy="360000"/>
          </a:xfrm>
          <a:prstGeom prst="ben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Arrow: Bent 17">
            <a:extLst>
              <a:ext uri="{FF2B5EF4-FFF2-40B4-BE49-F238E27FC236}">
                <a16:creationId xmlns:a16="http://schemas.microsoft.com/office/drawing/2014/main" id="{9CE0E84C-0B35-5253-E02C-09826F702D4E}"/>
              </a:ext>
            </a:extLst>
          </p:cNvPr>
          <p:cNvSpPr/>
          <p:nvPr/>
        </p:nvSpPr>
        <p:spPr>
          <a:xfrm rot="5400000">
            <a:off x="9958903" y="5249990"/>
            <a:ext cx="396000" cy="360000"/>
          </a:xfrm>
          <a:prstGeom prst="ben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E8397E-A7E8-67E0-F203-9E38B614B89F}"/>
              </a:ext>
            </a:extLst>
          </p:cNvPr>
          <p:cNvSpPr txBox="1"/>
          <p:nvPr/>
        </p:nvSpPr>
        <p:spPr>
          <a:xfrm>
            <a:off x="8375182" y="998190"/>
            <a:ext cx="153471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Iterative</a:t>
            </a:r>
            <a:r>
              <a:rPr lang="en-GB" sz="2800" dirty="0">
                <a:solidFill>
                  <a:srgbClr val="7030A0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7030A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7030A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67241627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3212908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noProof="0" dirty="0"/>
              <a:t>Identify the purpose and functional requirements of a problem that relates to the design and implementation, in terms of:</a:t>
            </a:r>
          </a:p>
          <a:p>
            <a:pPr lvl="1"/>
            <a:r>
              <a:rPr lang="en-GB" sz="3200" noProof="0" dirty="0"/>
              <a:t>inputs</a:t>
            </a:r>
          </a:p>
          <a:p>
            <a:pPr lvl="1"/>
            <a:r>
              <a:rPr lang="en-GB" sz="3200" noProof="0" dirty="0"/>
              <a:t>processes</a:t>
            </a:r>
          </a:p>
          <a:p>
            <a:pPr lvl="1"/>
            <a:r>
              <a:rPr lang="en-GB" sz="3200" noProof="0" dirty="0"/>
              <a:t>outputs</a:t>
            </a:r>
          </a:p>
        </p:txBody>
      </p:sp>
    </p:spTree>
    <p:extLst>
      <p:ext uri="{BB962C8B-B14F-4D97-AF65-F5344CB8AC3E}">
        <p14:creationId xmlns:p14="http://schemas.microsoft.com/office/powerpoint/2010/main" val="878298329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980F4-E602-0452-04FC-375345F5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E1E65-0F04-CA40-CE03-69E0A7FDF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A statement of what the program is supposed to do: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F1186B-F0C1-BB3A-3FAA-023C4723DB5E}"/>
              </a:ext>
            </a:extLst>
          </p:cNvPr>
          <p:cNvSpPr/>
          <p:nvPr/>
        </p:nvSpPr>
        <p:spPr>
          <a:xfrm>
            <a:off x="2438960" y="3429000"/>
            <a:ext cx="7314079" cy="1364876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The program is to ask the user for 2 values and display the sum of the values</a:t>
            </a:r>
          </a:p>
        </p:txBody>
      </p:sp>
    </p:spTree>
    <p:extLst>
      <p:ext uri="{BB962C8B-B14F-4D97-AF65-F5344CB8AC3E}">
        <p14:creationId xmlns:p14="http://schemas.microsoft.com/office/powerpoint/2010/main" val="3162641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980F4-E602-0452-04FC-375345F5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E1E65-0F04-CA40-CE03-69E0A7FDF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F1186B-F0C1-BB3A-3FAA-023C4723DB5E}"/>
              </a:ext>
            </a:extLst>
          </p:cNvPr>
          <p:cNvSpPr/>
          <p:nvPr/>
        </p:nvSpPr>
        <p:spPr>
          <a:xfrm>
            <a:off x="2438960" y="3429000"/>
            <a:ext cx="7314079" cy="1364876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The program is to ask the user for 2 values and display the sum of the values</a:t>
            </a:r>
          </a:p>
        </p:txBody>
      </p:sp>
    </p:spTree>
    <p:extLst>
      <p:ext uri="{BB962C8B-B14F-4D97-AF65-F5344CB8AC3E}">
        <p14:creationId xmlns:p14="http://schemas.microsoft.com/office/powerpoint/2010/main" val="562494661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A50F1-68DB-3F55-B095-AF1A713C6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B7945-DCE5-C12C-B6C6-16E3D4964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The inputs, processes, and outputs that are required to achieve the purpose of the program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888226C-B40C-1ED3-846A-70AB2ABAED12}"/>
              </a:ext>
            </a:extLst>
          </p:cNvPr>
          <p:cNvGrpSpPr/>
          <p:nvPr/>
        </p:nvGrpSpPr>
        <p:grpSpPr>
          <a:xfrm>
            <a:off x="1713742" y="3107547"/>
            <a:ext cx="8659550" cy="3227650"/>
            <a:chOff x="1713742" y="3107547"/>
            <a:chExt cx="8659550" cy="322765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26A8479-9964-A798-DD6C-52CBA5F96CE0}"/>
                </a:ext>
              </a:extLst>
            </p:cNvPr>
            <p:cNvCxnSpPr/>
            <p:nvPr/>
          </p:nvCxnSpPr>
          <p:spPr>
            <a:xfrm>
              <a:off x="1713742" y="3707559"/>
              <a:ext cx="865955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9F39622-DD7F-BFED-DE74-D68545FF409C}"/>
                </a:ext>
              </a:extLst>
            </p:cNvPr>
            <p:cNvCxnSpPr/>
            <p:nvPr/>
          </p:nvCxnSpPr>
          <p:spPr>
            <a:xfrm>
              <a:off x="4656779" y="3107547"/>
              <a:ext cx="0" cy="322765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AA9854A-7FC6-1C2F-14AA-BE029A2C9BF7}"/>
                </a:ext>
              </a:extLst>
            </p:cNvPr>
            <p:cNvCxnSpPr/>
            <p:nvPr/>
          </p:nvCxnSpPr>
          <p:spPr>
            <a:xfrm>
              <a:off x="7540268" y="3107547"/>
              <a:ext cx="0" cy="322765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EEC75E4-2163-B8E5-5B4B-EDF79B856393}"/>
              </a:ext>
            </a:extLst>
          </p:cNvPr>
          <p:cNvSpPr txBox="1"/>
          <p:nvPr/>
        </p:nvSpPr>
        <p:spPr>
          <a:xfrm>
            <a:off x="2461292" y="3029123"/>
            <a:ext cx="1515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dirty="0"/>
              <a:t>Input(s)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838991-1619-C4D7-222B-87602C0437B4}"/>
              </a:ext>
            </a:extLst>
          </p:cNvPr>
          <p:cNvSpPr txBox="1"/>
          <p:nvPr/>
        </p:nvSpPr>
        <p:spPr>
          <a:xfrm>
            <a:off x="5058132" y="3029122"/>
            <a:ext cx="20968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dirty="0"/>
              <a:t>Process(es)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ADC199-6521-5D73-CB29-3232A8A79040}"/>
              </a:ext>
            </a:extLst>
          </p:cNvPr>
          <p:cNvSpPr txBox="1"/>
          <p:nvPr/>
        </p:nvSpPr>
        <p:spPr>
          <a:xfrm>
            <a:off x="8055450" y="3029121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dirty="0"/>
              <a:t>Output(s)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C7F79A-ABA2-38B2-7BA2-098B5812CED3}"/>
              </a:ext>
            </a:extLst>
          </p:cNvPr>
          <p:cNvSpPr txBox="1"/>
          <p:nvPr/>
        </p:nvSpPr>
        <p:spPr>
          <a:xfrm>
            <a:off x="1424761" y="3969016"/>
            <a:ext cx="273805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What must </a:t>
            </a:r>
          </a:p>
          <a:p>
            <a:r>
              <a:rPr lang="en-GB" sz="3200" dirty="0"/>
              <a:t>the user enter?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0AF935-9085-B1BD-F9A3-E97ECD77714F}"/>
              </a:ext>
            </a:extLst>
          </p:cNvPr>
          <p:cNvSpPr txBox="1"/>
          <p:nvPr/>
        </p:nvSpPr>
        <p:spPr>
          <a:xfrm>
            <a:off x="1424761" y="5266176"/>
            <a:ext cx="2842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Second value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192B47-14D1-EB46-397D-7F3117C2778B}"/>
              </a:ext>
            </a:extLst>
          </p:cNvPr>
          <p:cNvSpPr txBox="1"/>
          <p:nvPr/>
        </p:nvSpPr>
        <p:spPr>
          <a:xfrm>
            <a:off x="4654257" y="4015183"/>
            <a:ext cx="288348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What does the program do with the data?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4627E2-7165-8765-4FFB-9B56B5C247FC}"/>
              </a:ext>
            </a:extLst>
          </p:cNvPr>
          <p:cNvSpPr txBox="1"/>
          <p:nvPr/>
        </p:nvSpPr>
        <p:spPr>
          <a:xfrm>
            <a:off x="7599817" y="4015183"/>
            <a:ext cx="27734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Result of the calculation</a:t>
            </a:r>
          </a:p>
        </p:txBody>
      </p:sp>
    </p:spTree>
    <p:extLst>
      <p:ext uri="{BB962C8B-B14F-4D97-AF65-F5344CB8AC3E}">
        <p14:creationId xmlns:p14="http://schemas.microsoft.com/office/powerpoint/2010/main" val="4217588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83C53-9313-4F21-A434-DFE318D88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5E3AA-1E23-4D7C-AB76-6AF53F9183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2379562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Input(s)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Process(es)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Output(s)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56FF52-EC91-47CE-AB5F-9CAEEE96E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17762" y="1825625"/>
            <a:ext cx="8136038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What data must the user enter?</a:t>
            </a:r>
          </a:p>
          <a:p>
            <a:r>
              <a:rPr lang="en-GB" dirty="0"/>
              <a:t>What sensor data is provided?</a:t>
            </a:r>
          </a:p>
          <a:p>
            <a:r>
              <a:rPr lang="en-GB" dirty="0"/>
              <a:t>What does the program do with the data?</a:t>
            </a:r>
          </a:p>
          <a:p>
            <a:r>
              <a:rPr lang="en-GB" dirty="0"/>
              <a:t>How does the program create the outputs?</a:t>
            </a:r>
          </a:p>
          <a:p>
            <a:r>
              <a:rPr lang="en-GB" dirty="0"/>
              <a:t>What messages does the user see?</a:t>
            </a:r>
          </a:p>
          <a:p>
            <a:r>
              <a:rPr lang="en-GB" dirty="0"/>
              <a:t>What data is sent to another program?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48BFF9C-2457-4488-BFEA-E1745BE48FC0}"/>
              </a:ext>
            </a:extLst>
          </p:cNvPr>
          <p:cNvCxnSpPr/>
          <p:nvPr/>
        </p:nvCxnSpPr>
        <p:spPr>
          <a:xfrm>
            <a:off x="671332" y="3136739"/>
            <a:ext cx="10579260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E7C454-56C2-447E-8313-986B6C8A9FD6}"/>
              </a:ext>
            </a:extLst>
          </p:cNvPr>
          <p:cNvCxnSpPr/>
          <p:nvPr/>
        </p:nvCxnSpPr>
        <p:spPr>
          <a:xfrm>
            <a:off x="671332" y="4643377"/>
            <a:ext cx="10579260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983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7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83C53-9313-4F21-A434-DFE318D88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5E3AA-1E23-4D7C-AB76-6AF53F9183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2379562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Input(s)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Process(es)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Output(s)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56FF52-EC91-47CE-AB5F-9CAEEE96E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17762" y="1825625"/>
            <a:ext cx="8136038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What data</a:t>
            </a:r>
          </a:p>
          <a:p>
            <a:r>
              <a:rPr lang="en-GB" dirty="0"/>
              <a:t>What sensor </a:t>
            </a:r>
          </a:p>
          <a:p>
            <a:r>
              <a:rPr lang="en-GB" dirty="0"/>
              <a:t>What does the</a:t>
            </a:r>
          </a:p>
          <a:p>
            <a:r>
              <a:rPr lang="en-GB" dirty="0"/>
              <a:t>How does the</a:t>
            </a:r>
          </a:p>
          <a:p>
            <a:r>
              <a:rPr lang="en-GB" dirty="0"/>
              <a:t>What messages</a:t>
            </a:r>
          </a:p>
          <a:p>
            <a:r>
              <a:rPr lang="en-GB" dirty="0"/>
              <a:t>What data is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7E81A7-448D-4F0C-8B45-D707C7250260}"/>
              </a:ext>
            </a:extLst>
          </p:cNvPr>
          <p:cNvCxnSpPr/>
          <p:nvPr/>
        </p:nvCxnSpPr>
        <p:spPr>
          <a:xfrm>
            <a:off x="671332" y="3136739"/>
            <a:ext cx="10579260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892A66-088D-4484-83B8-121C052787D7}"/>
              </a:ext>
            </a:extLst>
          </p:cNvPr>
          <p:cNvCxnSpPr/>
          <p:nvPr/>
        </p:nvCxnSpPr>
        <p:spPr>
          <a:xfrm>
            <a:off x="671332" y="4643377"/>
            <a:ext cx="10579260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998953"/>
      </p:ext>
    </p:extLst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A50F1-68DB-3F55-B095-AF1A713C6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B7945-DCE5-C12C-B6C6-16E3D4964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The inputs, processes, and outputs that are required to achieve the purpose of the program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888226C-B40C-1ED3-846A-70AB2ABAED12}"/>
              </a:ext>
            </a:extLst>
          </p:cNvPr>
          <p:cNvGrpSpPr/>
          <p:nvPr/>
        </p:nvGrpSpPr>
        <p:grpSpPr>
          <a:xfrm>
            <a:off x="1713742" y="3107547"/>
            <a:ext cx="8659550" cy="3227650"/>
            <a:chOff x="1713742" y="3107547"/>
            <a:chExt cx="8659550" cy="322765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26A8479-9964-A798-DD6C-52CBA5F96CE0}"/>
                </a:ext>
              </a:extLst>
            </p:cNvPr>
            <p:cNvCxnSpPr/>
            <p:nvPr/>
          </p:nvCxnSpPr>
          <p:spPr>
            <a:xfrm>
              <a:off x="1713742" y="3707559"/>
              <a:ext cx="865955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9F39622-DD7F-BFED-DE74-D68545FF409C}"/>
                </a:ext>
              </a:extLst>
            </p:cNvPr>
            <p:cNvCxnSpPr/>
            <p:nvPr/>
          </p:nvCxnSpPr>
          <p:spPr>
            <a:xfrm>
              <a:off x="4656779" y="3107547"/>
              <a:ext cx="0" cy="322765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AA9854A-7FC6-1C2F-14AA-BE029A2C9BF7}"/>
                </a:ext>
              </a:extLst>
            </p:cNvPr>
            <p:cNvCxnSpPr/>
            <p:nvPr/>
          </p:nvCxnSpPr>
          <p:spPr>
            <a:xfrm>
              <a:off x="7540268" y="3107547"/>
              <a:ext cx="0" cy="322765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EEC75E4-2163-B8E5-5B4B-EDF79B856393}"/>
              </a:ext>
            </a:extLst>
          </p:cNvPr>
          <p:cNvSpPr txBox="1"/>
          <p:nvPr/>
        </p:nvSpPr>
        <p:spPr>
          <a:xfrm>
            <a:off x="2461292" y="3029123"/>
            <a:ext cx="1515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dirty="0"/>
              <a:t>Input(s)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838991-1619-C4D7-222B-87602C0437B4}"/>
              </a:ext>
            </a:extLst>
          </p:cNvPr>
          <p:cNvSpPr txBox="1"/>
          <p:nvPr/>
        </p:nvSpPr>
        <p:spPr>
          <a:xfrm>
            <a:off x="5058132" y="3029122"/>
            <a:ext cx="20968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dirty="0"/>
              <a:t>Process(es)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ADC199-6521-5D73-CB29-3232A8A79040}"/>
              </a:ext>
            </a:extLst>
          </p:cNvPr>
          <p:cNvSpPr txBox="1"/>
          <p:nvPr/>
        </p:nvSpPr>
        <p:spPr>
          <a:xfrm>
            <a:off x="8055450" y="3029121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dirty="0"/>
              <a:t>Output(s)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C7F79A-ABA2-38B2-7BA2-098B5812CED3}"/>
              </a:ext>
            </a:extLst>
          </p:cNvPr>
          <p:cNvSpPr txBox="1"/>
          <p:nvPr/>
        </p:nvSpPr>
        <p:spPr>
          <a:xfrm>
            <a:off x="1800686" y="4015184"/>
            <a:ext cx="23439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First value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0AF935-9085-B1BD-F9A3-E97ECD77714F}"/>
              </a:ext>
            </a:extLst>
          </p:cNvPr>
          <p:cNvSpPr txBox="1"/>
          <p:nvPr/>
        </p:nvSpPr>
        <p:spPr>
          <a:xfrm>
            <a:off x="1800686" y="5004719"/>
            <a:ext cx="2842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Second value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192B47-14D1-EB46-397D-7F3117C2778B}"/>
              </a:ext>
            </a:extLst>
          </p:cNvPr>
          <p:cNvSpPr txBox="1"/>
          <p:nvPr/>
        </p:nvSpPr>
        <p:spPr>
          <a:xfrm>
            <a:off x="4654257" y="4015183"/>
            <a:ext cx="288348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Add first value and second value together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4627E2-7165-8765-4FFB-9B56B5C247FC}"/>
              </a:ext>
            </a:extLst>
          </p:cNvPr>
          <p:cNvSpPr txBox="1"/>
          <p:nvPr/>
        </p:nvSpPr>
        <p:spPr>
          <a:xfrm>
            <a:off x="7599817" y="4015183"/>
            <a:ext cx="27734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Result of the calculation</a:t>
            </a:r>
          </a:p>
        </p:txBody>
      </p:sp>
    </p:spTree>
    <p:extLst>
      <p:ext uri="{BB962C8B-B14F-4D97-AF65-F5344CB8AC3E}">
        <p14:creationId xmlns:p14="http://schemas.microsoft.com/office/powerpoint/2010/main" val="3364156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A50F1-68DB-3F55-B095-AF1A713C6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B7945-DCE5-C12C-B6C6-16E3D4964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The inputs, processes, and outputs </a:t>
            </a:r>
          </a:p>
          <a:p>
            <a:pPr marL="0" indent="0">
              <a:buNone/>
            </a:pPr>
            <a:endParaRPr lang="en-GB" noProof="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888226C-B40C-1ED3-846A-70AB2ABAED12}"/>
              </a:ext>
            </a:extLst>
          </p:cNvPr>
          <p:cNvGrpSpPr/>
          <p:nvPr/>
        </p:nvGrpSpPr>
        <p:grpSpPr>
          <a:xfrm>
            <a:off x="1713742" y="3107547"/>
            <a:ext cx="8659550" cy="3227650"/>
            <a:chOff x="1713742" y="3107547"/>
            <a:chExt cx="8659550" cy="322765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26A8479-9964-A798-DD6C-52CBA5F96CE0}"/>
                </a:ext>
              </a:extLst>
            </p:cNvPr>
            <p:cNvCxnSpPr/>
            <p:nvPr/>
          </p:nvCxnSpPr>
          <p:spPr>
            <a:xfrm>
              <a:off x="1713742" y="3707559"/>
              <a:ext cx="865955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9F39622-DD7F-BFED-DE74-D68545FF409C}"/>
                </a:ext>
              </a:extLst>
            </p:cNvPr>
            <p:cNvCxnSpPr/>
            <p:nvPr/>
          </p:nvCxnSpPr>
          <p:spPr>
            <a:xfrm>
              <a:off x="4656779" y="3107547"/>
              <a:ext cx="0" cy="322765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AA9854A-7FC6-1C2F-14AA-BE029A2C9BF7}"/>
                </a:ext>
              </a:extLst>
            </p:cNvPr>
            <p:cNvCxnSpPr/>
            <p:nvPr/>
          </p:nvCxnSpPr>
          <p:spPr>
            <a:xfrm>
              <a:off x="7540268" y="3107547"/>
              <a:ext cx="0" cy="322765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EEC75E4-2163-B8E5-5B4B-EDF79B856393}"/>
              </a:ext>
            </a:extLst>
          </p:cNvPr>
          <p:cNvSpPr txBox="1"/>
          <p:nvPr/>
        </p:nvSpPr>
        <p:spPr>
          <a:xfrm>
            <a:off x="2461292" y="3029123"/>
            <a:ext cx="1515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dirty="0"/>
              <a:t>Input(s)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838991-1619-C4D7-222B-87602C0437B4}"/>
              </a:ext>
            </a:extLst>
          </p:cNvPr>
          <p:cNvSpPr txBox="1"/>
          <p:nvPr/>
        </p:nvSpPr>
        <p:spPr>
          <a:xfrm>
            <a:off x="5058132" y="3029122"/>
            <a:ext cx="20968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dirty="0"/>
              <a:t>Process(es)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ADC199-6521-5D73-CB29-3232A8A79040}"/>
              </a:ext>
            </a:extLst>
          </p:cNvPr>
          <p:cNvSpPr txBox="1"/>
          <p:nvPr/>
        </p:nvSpPr>
        <p:spPr>
          <a:xfrm>
            <a:off x="8055450" y="3029121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dirty="0"/>
              <a:t>Output(s)</a:t>
            </a:r>
          </a:p>
        </p:txBody>
      </p:sp>
    </p:spTree>
    <p:extLst>
      <p:ext uri="{BB962C8B-B14F-4D97-AF65-F5344CB8AC3E}">
        <p14:creationId xmlns:p14="http://schemas.microsoft.com/office/powerpoint/2010/main" val="2200453781"/>
      </p:ext>
    </p:extLst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5678143"/>
      </p:ext>
    </p:extLst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noProof="0" dirty="0"/>
              <a:t>Identify the data types and structures required for a problem that relates to the implementation at this level.</a:t>
            </a:r>
          </a:p>
        </p:txBody>
      </p:sp>
    </p:spTree>
    <p:extLst>
      <p:ext uri="{BB962C8B-B14F-4D97-AF65-F5344CB8AC3E}">
        <p14:creationId xmlns:p14="http://schemas.microsoft.com/office/powerpoint/2010/main" val="977772895"/>
      </p:ext>
    </p:extLst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noProof="0" dirty="0"/>
              <a:t>Describe, identify, and be able to read and understand:</a:t>
            </a:r>
          </a:p>
          <a:p>
            <a:pPr lvl="1"/>
            <a:r>
              <a:rPr lang="en-GB" sz="3200" b="1" noProof="0" dirty="0"/>
              <a:t>structure diagrams</a:t>
            </a:r>
          </a:p>
          <a:p>
            <a:pPr lvl="1"/>
            <a:r>
              <a:rPr lang="en-GB" sz="3200" noProof="0" dirty="0"/>
              <a:t>flowcharts</a:t>
            </a:r>
          </a:p>
          <a:p>
            <a:pPr lvl="1"/>
            <a:r>
              <a:rPr lang="en-GB" sz="3200" noProof="0" dirty="0"/>
              <a:t>pseudocode</a:t>
            </a:r>
          </a:p>
          <a:p>
            <a:r>
              <a:rPr lang="en-GB" noProof="0" dirty="0"/>
              <a:t>Exemplify and implement one of the above design techniques to design efficient solutions to a problem.</a:t>
            </a:r>
          </a:p>
        </p:txBody>
      </p:sp>
    </p:spTree>
    <p:extLst>
      <p:ext uri="{BB962C8B-B14F-4D97-AF65-F5344CB8AC3E}">
        <p14:creationId xmlns:p14="http://schemas.microsoft.com/office/powerpoint/2010/main" val="3194918004"/>
      </p:ext>
    </p:extLst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DF0D2D-101B-4DC0-AA94-958D8F05E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Structure Diagrams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1A0DE2-227A-44C3-BF7E-11F7AB5C4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noProof="0" dirty="0"/>
              <a:t>Steps to solve a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A3773F-7B44-47F2-A9BE-D751A396BB68}"/>
              </a:ext>
            </a:extLst>
          </p:cNvPr>
          <p:cNvSpPr/>
          <p:nvPr/>
        </p:nvSpPr>
        <p:spPr>
          <a:xfrm>
            <a:off x="3252486" y="2999823"/>
            <a:ext cx="2160000" cy="144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DB045C-C4F9-4EBA-953B-B8CFDAFF8BD3}"/>
              </a:ext>
            </a:extLst>
          </p:cNvPr>
          <p:cNvSpPr/>
          <p:nvPr/>
        </p:nvSpPr>
        <p:spPr>
          <a:xfrm>
            <a:off x="6779516" y="2999823"/>
            <a:ext cx="2160000" cy="1440000"/>
          </a:xfrm>
          <a:prstGeom prst="roundRect">
            <a:avLst>
              <a:gd name="adj" fmla="val 50000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08558185-637E-487B-9244-6D46D6AFD104}"/>
              </a:ext>
            </a:extLst>
          </p:cNvPr>
          <p:cNvSpPr/>
          <p:nvPr/>
        </p:nvSpPr>
        <p:spPr>
          <a:xfrm>
            <a:off x="3252486" y="4929730"/>
            <a:ext cx="2160000" cy="1440000"/>
          </a:xfrm>
          <a:prstGeom prst="hexagon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966400E-029C-4CD1-A09E-59E25940B071}"/>
              </a:ext>
            </a:extLst>
          </p:cNvPr>
          <p:cNvGrpSpPr/>
          <p:nvPr/>
        </p:nvGrpSpPr>
        <p:grpSpPr>
          <a:xfrm>
            <a:off x="6779516" y="4925568"/>
            <a:ext cx="2160000" cy="1444752"/>
            <a:chOff x="6779516" y="4925568"/>
            <a:chExt cx="2160000" cy="144475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77E884-55D5-4FFF-BB6D-EC5A9DA0C9F2}"/>
                </a:ext>
              </a:extLst>
            </p:cNvPr>
            <p:cNvSpPr/>
            <p:nvPr/>
          </p:nvSpPr>
          <p:spPr>
            <a:xfrm>
              <a:off x="6779516" y="4925568"/>
              <a:ext cx="2160000" cy="1444752"/>
            </a:xfrm>
            <a:custGeom>
              <a:avLst/>
              <a:gdLst>
                <a:gd name="connsiteX0" fmla="*/ 0 w 2160000"/>
                <a:gd name="connsiteY0" fmla="*/ 0 h 1440000"/>
                <a:gd name="connsiteX1" fmla="*/ 2160000 w 2160000"/>
                <a:gd name="connsiteY1" fmla="*/ 0 h 1440000"/>
                <a:gd name="connsiteX2" fmla="*/ 2160000 w 2160000"/>
                <a:gd name="connsiteY2" fmla="*/ 1440000 h 1440000"/>
                <a:gd name="connsiteX3" fmla="*/ 0 w 2160000"/>
                <a:gd name="connsiteY3" fmla="*/ 1440000 h 1440000"/>
                <a:gd name="connsiteX4" fmla="*/ 0 w 2160000"/>
                <a:gd name="connsiteY4" fmla="*/ 0 h 1440000"/>
                <a:gd name="connsiteX0" fmla="*/ 0 w 2160000"/>
                <a:gd name="connsiteY0" fmla="*/ 0 h 1440000"/>
                <a:gd name="connsiteX1" fmla="*/ 432052 w 2160000"/>
                <a:gd name="connsiteY1" fmla="*/ 1934 h 1440000"/>
                <a:gd name="connsiteX2" fmla="*/ 2160000 w 2160000"/>
                <a:gd name="connsiteY2" fmla="*/ 0 h 1440000"/>
                <a:gd name="connsiteX3" fmla="*/ 2160000 w 2160000"/>
                <a:gd name="connsiteY3" fmla="*/ 1440000 h 1440000"/>
                <a:gd name="connsiteX4" fmla="*/ 0 w 2160000"/>
                <a:gd name="connsiteY4" fmla="*/ 1440000 h 1440000"/>
                <a:gd name="connsiteX5" fmla="*/ 0 w 2160000"/>
                <a:gd name="connsiteY5" fmla="*/ 0 h 1440000"/>
                <a:gd name="connsiteX0" fmla="*/ 0 w 2160000"/>
                <a:gd name="connsiteY0" fmla="*/ 0 h 1440590"/>
                <a:gd name="connsiteX1" fmla="*/ 432052 w 2160000"/>
                <a:gd name="connsiteY1" fmla="*/ 1934 h 1440590"/>
                <a:gd name="connsiteX2" fmla="*/ 2160000 w 2160000"/>
                <a:gd name="connsiteY2" fmla="*/ 0 h 1440590"/>
                <a:gd name="connsiteX3" fmla="*/ 2160000 w 2160000"/>
                <a:gd name="connsiteY3" fmla="*/ 1440000 h 1440590"/>
                <a:gd name="connsiteX4" fmla="*/ 432052 w 2160000"/>
                <a:gd name="connsiteY4" fmla="*/ 1440590 h 1440590"/>
                <a:gd name="connsiteX5" fmla="*/ 0 w 2160000"/>
                <a:gd name="connsiteY5" fmla="*/ 1440000 h 1440590"/>
                <a:gd name="connsiteX6" fmla="*/ 0 w 2160000"/>
                <a:gd name="connsiteY6" fmla="*/ 0 h 1440590"/>
                <a:gd name="connsiteX0" fmla="*/ 0 w 2160000"/>
                <a:gd name="connsiteY0" fmla="*/ 0 h 1440590"/>
                <a:gd name="connsiteX1" fmla="*/ 432052 w 2160000"/>
                <a:gd name="connsiteY1" fmla="*/ 1934 h 1440590"/>
                <a:gd name="connsiteX2" fmla="*/ 2160000 w 2160000"/>
                <a:gd name="connsiteY2" fmla="*/ 0 h 1440590"/>
                <a:gd name="connsiteX3" fmla="*/ 2160000 w 2160000"/>
                <a:gd name="connsiteY3" fmla="*/ 1440000 h 1440590"/>
                <a:gd name="connsiteX4" fmla="*/ 1730500 w 2160000"/>
                <a:gd name="connsiteY4" fmla="*/ 1440590 h 1440590"/>
                <a:gd name="connsiteX5" fmla="*/ 432052 w 2160000"/>
                <a:gd name="connsiteY5" fmla="*/ 1440590 h 1440590"/>
                <a:gd name="connsiteX6" fmla="*/ 0 w 2160000"/>
                <a:gd name="connsiteY6" fmla="*/ 1440000 h 1440590"/>
                <a:gd name="connsiteX7" fmla="*/ 0 w 2160000"/>
                <a:gd name="connsiteY7" fmla="*/ 0 h 1440590"/>
                <a:gd name="connsiteX0" fmla="*/ 0 w 2160000"/>
                <a:gd name="connsiteY0" fmla="*/ 4162 h 1444752"/>
                <a:gd name="connsiteX1" fmla="*/ 432052 w 2160000"/>
                <a:gd name="connsiteY1" fmla="*/ 6096 h 1444752"/>
                <a:gd name="connsiteX2" fmla="*/ 171221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730500 w 2160000"/>
                <a:gd name="connsiteY5" fmla="*/ 1444752 h 1444752"/>
                <a:gd name="connsiteX6" fmla="*/ 43205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  <a:gd name="connsiteX0" fmla="*/ 0 w 2160000"/>
                <a:gd name="connsiteY0" fmla="*/ 4162 h 1444752"/>
                <a:gd name="connsiteX1" fmla="*/ 432052 w 2160000"/>
                <a:gd name="connsiteY1" fmla="*/ 6096 h 1444752"/>
                <a:gd name="connsiteX2" fmla="*/ 196367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730500 w 2160000"/>
                <a:gd name="connsiteY5" fmla="*/ 1444752 h 1444752"/>
                <a:gd name="connsiteX6" fmla="*/ 43205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  <a:gd name="connsiteX0" fmla="*/ 0 w 2160000"/>
                <a:gd name="connsiteY0" fmla="*/ 4162 h 1444752"/>
                <a:gd name="connsiteX1" fmla="*/ 432052 w 2160000"/>
                <a:gd name="connsiteY1" fmla="*/ 6096 h 1444752"/>
                <a:gd name="connsiteX2" fmla="*/ 196367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961640 w 2160000"/>
                <a:gd name="connsiteY5" fmla="*/ 1444752 h 1444752"/>
                <a:gd name="connsiteX6" fmla="*/ 43205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  <a:gd name="connsiteX0" fmla="*/ 0 w 2160000"/>
                <a:gd name="connsiteY0" fmla="*/ 4162 h 1444752"/>
                <a:gd name="connsiteX1" fmla="*/ 200912 w 2160000"/>
                <a:gd name="connsiteY1" fmla="*/ 3556 h 1444752"/>
                <a:gd name="connsiteX2" fmla="*/ 196367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961640 w 2160000"/>
                <a:gd name="connsiteY5" fmla="*/ 1444752 h 1444752"/>
                <a:gd name="connsiteX6" fmla="*/ 43205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  <a:gd name="connsiteX0" fmla="*/ 0 w 2160000"/>
                <a:gd name="connsiteY0" fmla="*/ 4162 h 1444752"/>
                <a:gd name="connsiteX1" fmla="*/ 200912 w 2160000"/>
                <a:gd name="connsiteY1" fmla="*/ 3556 h 1444752"/>
                <a:gd name="connsiteX2" fmla="*/ 196367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961640 w 2160000"/>
                <a:gd name="connsiteY5" fmla="*/ 1444752 h 1444752"/>
                <a:gd name="connsiteX6" fmla="*/ 20091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000" h="1444752">
                  <a:moveTo>
                    <a:pt x="0" y="4162"/>
                  </a:moveTo>
                  <a:lnTo>
                    <a:pt x="200912" y="3556"/>
                  </a:lnTo>
                  <a:lnTo>
                    <a:pt x="1963672" y="0"/>
                  </a:lnTo>
                  <a:lnTo>
                    <a:pt x="2160000" y="4162"/>
                  </a:lnTo>
                  <a:lnTo>
                    <a:pt x="2160000" y="1444162"/>
                  </a:lnTo>
                  <a:lnTo>
                    <a:pt x="1961640" y="1444752"/>
                  </a:lnTo>
                  <a:lnTo>
                    <a:pt x="200912" y="1444752"/>
                  </a:lnTo>
                  <a:lnTo>
                    <a:pt x="0" y="1444162"/>
                  </a:lnTo>
                  <a:lnTo>
                    <a:pt x="0" y="4162"/>
                  </a:ln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ADEC8F9-CE22-4A26-94DA-42AF822BE9D9}"/>
                </a:ext>
              </a:extLst>
            </p:cNvPr>
            <p:cNvCxnSpPr>
              <a:stCxn id="9" idx="1"/>
              <a:endCxn id="9" idx="6"/>
            </p:cNvCxnSpPr>
            <p:nvPr/>
          </p:nvCxnSpPr>
          <p:spPr>
            <a:xfrm>
              <a:off x="6980428" y="4929124"/>
              <a:ext cx="0" cy="1441196"/>
            </a:xfrm>
            <a:prstGeom prst="lin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56CF83C-2D65-4D0F-BDD7-D041482842B1}"/>
                </a:ext>
              </a:extLst>
            </p:cNvPr>
            <p:cNvCxnSpPr>
              <a:cxnSpLocks/>
              <a:stCxn id="9" idx="2"/>
              <a:endCxn id="9" idx="5"/>
            </p:cNvCxnSpPr>
            <p:nvPr/>
          </p:nvCxnSpPr>
          <p:spPr>
            <a:xfrm flipH="1">
              <a:off x="8741156" y="4925568"/>
              <a:ext cx="2032" cy="1444752"/>
            </a:xfrm>
            <a:prstGeom prst="lin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146F41F-DF58-4815-A8EE-C303DC0D3272}"/>
              </a:ext>
            </a:extLst>
          </p:cNvPr>
          <p:cNvSpPr/>
          <p:nvPr/>
        </p:nvSpPr>
        <p:spPr>
          <a:xfrm>
            <a:off x="3678077" y="3456306"/>
            <a:ext cx="13088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800" b="1" dirty="0"/>
              <a:t>Process</a:t>
            </a:r>
            <a:endParaRPr lang="en-GB" sz="28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95C42C-90A5-4617-A92A-BFE617B2F0A5}"/>
              </a:ext>
            </a:extLst>
          </p:cNvPr>
          <p:cNvSpPr/>
          <p:nvPr/>
        </p:nvSpPr>
        <p:spPr>
          <a:xfrm>
            <a:off x="3555672" y="5386334"/>
            <a:ext cx="15536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800" b="1" dirty="0"/>
              <a:t>Selection</a:t>
            </a:r>
            <a:endParaRPr lang="en-GB" sz="28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FE676F-FA69-46E0-9CB8-B5E5FACA38CC}"/>
              </a:ext>
            </a:extLst>
          </p:cNvPr>
          <p:cNvSpPr/>
          <p:nvPr/>
        </p:nvSpPr>
        <p:spPr>
          <a:xfrm>
            <a:off x="7402500" y="3457538"/>
            <a:ext cx="9140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800" b="1" dirty="0"/>
              <a:t>Loop</a:t>
            </a:r>
            <a:endParaRPr lang="en-GB" sz="28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B85371-BA95-4B24-9AF0-4E4EB1962580}"/>
              </a:ext>
            </a:extLst>
          </p:cNvPr>
          <p:cNvSpPr/>
          <p:nvPr/>
        </p:nvSpPr>
        <p:spPr>
          <a:xfrm>
            <a:off x="6894476" y="5170890"/>
            <a:ext cx="1930079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800" b="1" dirty="0"/>
              <a:t>Pre-defined</a:t>
            </a:r>
          </a:p>
          <a:p>
            <a:pPr algn="ctr"/>
            <a:r>
              <a:rPr lang="en-GB" sz="2800" b="1" dirty="0"/>
              <a:t>function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46806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7" grpId="0" animBg="1"/>
      <p:bldP spid="8" grpId="0" animBg="1"/>
      <p:bldP spid="17" grpId="0"/>
      <p:bldP spid="18" grpId="0"/>
      <p:bldP spid="19" grpId="0"/>
      <p:bldP spid="20" grpId="0"/>
    </p:bldLst>
  </p:timing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DF0D2D-101B-4DC0-AA94-958D8F05E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Structure Diagrams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1A0DE2-227A-44C3-BF7E-11F7AB5C4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noProof="0" dirty="0"/>
              <a:t>Steps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A3773F-7B44-47F2-A9BE-D751A396BB68}"/>
              </a:ext>
            </a:extLst>
          </p:cNvPr>
          <p:cNvSpPr/>
          <p:nvPr/>
        </p:nvSpPr>
        <p:spPr>
          <a:xfrm>
            <a:off x="3252486" y="2999823"/>
            <a:ext cx="2160000" cy="144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DB045C-C4F9-4EBA-953B-B8CFDAFF8BD3}"/>
              </a:ext>
            </a:extLst>
          </p:cNvPr>
          <p:cNvSpPr/>
          <p:nvPr/>
        </p:nvSpPr>
        <p:spPr>
          <a:xfrm>
            <a:off x="6779516" y="2999823"/>
            <a:ext cx="2160000" cy="1440000"/>
          </a:xfrm>
          <a:prstGeom prst="roundRect">
            <a:avLst>
              <a:gd name="adj" fmla="val 50000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08558185-637E-487B-9244-6D46D6AFD104}"/>
              </a:ext>
            </a:extLst>
          </p:cNvPr>
          <p:cNvSpPr/>
          <p:nvPr/>
        </p:nvSpPr>
        <p:spPr>
          <a:xfrm>
            <a:off x="3252486" y="4929730"/>
            <a:ext cx="2160000" cy="1440000"/>
          </a:xfrm>
          <a:prstGeom prst="hexagon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966400E-029C-4CD1-A09E-59E25940B071}"/>
              </a:ext>
            </a:extLst>
          </p:cNvPr>
          <p:cNvGrpSpPr/>
          <p:nvPr/>
        </p:nvGrpSpPr>
        <p:grpSpPr>
          <a:xfrm>
            <a:off x="6779516" y="4925568"/>
            <a:ext cx="2160000" cy="1444752"/>
            <a:chOff x="6779516" y="4925568"/>
            <a:chExt cx="2160000" cy="144475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77E884-55D5-4FFF-BB6D-EC5A9DA0C9F2}"/>
                </a:ext>
              </a:extLst>
            </p:cNvPr>
            <p:cNvSpPr/>
            <p:nvPr/>
          </p:nvSpPr>
          <p:spPr>
            <a:xfrm>
              <a:off x="6779516" y="4925568"/>
              <a:ext cx="2160000" cy="1444752"/>
            </a:xfrm>
            <a:custGeom>
              <a:avLst/>
              <a:gdLst>
                <a:gd name="connsiteX0" fmla="*/ 0 w 2160000"/>
                <a:gd name="connsiteY0" fmla="*/ 0 h 1440000"/>
                <a:gd name="connsiteX1" fmla="*/ 2160000 w 2160000"/>
                <a:gd name="connsiteY1" fmla="*/ 0 h 1440000"/>
                <a:gd name="connsiteX2" fmla="*/ 2160000 w 2160000"/>
                <a:gd name="connsiteY2" fmla="*/ 1440000 h 1440000"/>
                <a:gd name="connsiteX3" fmla="*/ 0 w 2160000"/>
                <a:gd name="connsiteY3" fmla="*/ 1440000 h 1440000"/>
                <a:gd name="connsiteX4" fmla="*/ 0 w 2160000"/>
                <a:gd name="connsiteY4" fmla="*/ 0 h 1440000"/>
                <a:gd name="connsiteX0" fmla="*/ 0 w 2160000"/>
                <a:gd name="connsiteY0" fmla="*/ 0 h 1440000"/>
                <a:gd name="connsiteX1" fmla="*/ 432052 w 2160000"/>
                <a:gd name="connsiteY1" fmla="*/ 1934 h 1440000"/>
                <a:gd name="connsiteX2" fmla="*/ 2160000 w 2160000"/>
                <a:gd name="connsiteY2" fmla="*/ 0 h 1440000"/>
                <a:gd name="connsiteX3" fmla="*/ 2160000 w 2160000"/>
                <a:gd name="connsiteY3" fmla="*/ 1440000 h 1440000"/>
                <a:gd name="connsiteX4" fmla="*/ 0 w 2160000"/>
                <a:gd name="connsiteY4" fmla="*/ 1440000 h 1440000"/>
                <a:gd name="connsiteX5" fmla="*/ 0 w 2160000"/>
                <a:gd name="connsiteY5" fmla="*/ 0 h 1440000"/>
                <a:gd name="connsiteX0" fmla="*/ 0 w 2160000"/>
                <a:gd name="connsiteY0" fmla="*/ 0 h 1440590"/>
                <a:gd name="connsiteX1" fmla="*/ 432052 w 2160000"/>
                <a:gd name="connsiteY1" fmla="*/ 1934 h 1440590"/>
                <a:gd name="connsiteX2" fmla="*/ 2160000 w 2160000"/>
                <a:gd name="connsiteY2" fmla="*/ 0 h 1440590"/>
                <a:gd name="connsiteX3" fmla="*/ 2160000 w 2160000"/>
                <a:gd name="connsiteY3" fmla="*/ 1440000 h 1440590"/>
                <a:gd name="connsiteX4" fmla="*/ 432052 w 2160000"/>
                <a:gd name="connsiteY4" fmla="*/ 1440590 h 1440590"/>
                <a:gd name="connsiteX5" fmla="*/ 0 w 2160000"/>
                <a:gd name="connsiteY5" fmla="*/ 1440000 h 1440590"/>
                <a:gd name="connsiteX6" fmla="*/ 0 w 2160000"/>
                <a:gd name="connsiteY6" fmla="*/ 0 h 1440590"/>
                <a:gd name="connsiteX0" fmla="*/ 0 w 2160000"/>
                <a:gd name="connsiteY0" fmla="*/ 0 h 1440590"/>
                <a:gd name="connsiteX1" fmla="*/ 432052 w 2160000"/>
                <a:gd name="connsiteY1" fmla="*/ 1934 h 1440590"/>
                <a:gd name="connsiteX2" fmla="*/ 2160000 w 2160000"/>
                <a:gd name="connsiteY2" fmla="*/ 0 h 1440590"/>
                <a:gd name="connsiteX3" fmla="*/ 2160000 w 2160000"/>
                <a:gd name="connsiteY3" fmla="*/ 1440000 h 1440590"/>
                <a:gd name="connsiteX4" fmla="*/ 1730500 w 2160000"/>
                <a:gd name="connsiteY4" fmla="*/ 1440590 h 1440590"/>
                <a:gd name="connsiteX5" fmla="*/ 432052 w 2160000"/>
                <a:gd name="connsiteY5" fmla="*/ 1440590 h 1440590"/>
                <a:gd name="connsiteX6" fmla="*/ 0 w 2160000"/>
                <a:gd name="connsiteY6" fmla="*/ 1440000 h 1440590"/>
                <a:gd name="connsiteX7" fmla="*/ 0 w 2160000"/>
                <a:gd name="connsiteY7" fmla="*/ 0 h 1440590"/>
                <a:gd name="connsiteX0" fmla="*/ 0 w 2160000"/>
                <a:gd name="connsiteY0" fmla="*/ 4162 h 1444752"/>
                <a:gd name="connsiteX1" fmla="*/ 432052 w 2160000"/>
                <a:gd name="connsiteY1" fmla="*/ 6096 h 1444752"/>
                <a:gd name="connsiteX2" fmla="*/ 171221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730500 w 2160000"/>
                <a:gd name="connsiteY5" fmla="*/ 1444752 h 1444752"/>
                <a:gd name="connsiteX6" fmla="*/ 43205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  <a:gd name="connsiteX0" fmla="*/ 0 w 2160000"/>
                <a:gd name="connsiteY0" fmla="*/ 4162 h 1444752"/>
                <a:gd name="connsiteX1" fmla="*/ 432052 w 2160000"/>
                <a:gd name="connsiteY1" fmla="*/ 6096 h 1444752"/>
                <a:gd name="connsiteX2" fmla="*/ 196367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730500 w 2160000"/>
                <a:gd name="connsiteY5" fmla="*/ 1444752 h 1444752"/>
                <a:gd name="connsiteX6" fmla="*/ 43205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  <a:gd name="connsiteX0" fmla="*/ 0 w 2160000"/>
                <a:gd name="connsiteY0" fmla="*/ 4162 h 1444752"/>
                <a:gd name="connsiteX1" fmla="*/ 432052 w 2160000"/>
                <a:gd name="connsiteY1" fmla="*/ 6096 h 1444752"/>
                <a:gd name="connsiteX2" fmla="*/ 196367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961640 w 2160000"/>
                <a:gd name="connsiteY5" fmla="*/ 1444752 h 1444752"/>
                <a:gd name="connsiteX6" fmla="*/ 43205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  <a:gd name="connsiteX0" fmla="*/ 0 w 2160000"/>
                <a:gd name="connsiteY0" fmla="*/ 4162 h 1444752"/>
                <a:gd name="connsiteX1" fmla="*/ 200912 w 2160000"/>
                <a:gd name="connsiteY1" fmla="*/ 3556 h 1444752"/>
                <a:gd name="connsiteX2" fmla="*/ 196367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961640 w 2160000"/>
                <a:gd name="connsiteY5" fmla="*/ 1444752 h 1444752"/>
                <a:gd name="connsiteX6" fmla="*/ 43205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  <a:gd name="connsiteX0" fmla="*/ 0 w 2160000"/>
                <a:gd name="connsiteY0" fmla="*/ 4162 h 1444752"/>
                <a:gd name="connsiteX1" fmla="*/ 200912 w 2160000"/>
                <a:gd name="connsiteY1" fmla="*/ 3556 h 1444752"/>
                <a:gd name="connsiteX2" fmla="*/ 196367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961640 w 2160000"/>
                <a:gd name="connsiteY5" fmla="*/ 1444752 h 1444752"/>
                <a:gd name="connsiteX6" fmla="*/ 20091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000" h="1444752">
                  <a:moveTo>
                    <a:pt x="0" y="4162"/>
                  </a:moveTo>
                  <a:lnTo>
                    <a:pt x="200912" y="3556"/>
                  </a:lnTo>
                  <a:lnTo>
                    <a:pt x="1963672" y="0"/>
                  </a:lnTo>
                  <a:lnTo>
                    <a:pt x="2160000" y="4162"/>
                  </a:lnTo>
                  <a:lnTo>
                    <a:pt x="2160000" y="1444162"/>
                  </a:lnTo>
                  <a:lnTo>
                    <a:pt x="1961640" y="1444752"/>
                  </a:lnTo>
                  <a:lnTo>
                    <a:pt x="200912" y="1444752"/>
                  </a:lnTo>
                  <a:lnTo>
                    <a:pt x="0" y="1444162"/>
                  </a:lnTo>
                  <a:lnTo>
                    <a:pt x="0" y="4162"/>
                  </a:ln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ADEC8F9-CE22-4A26-94DA-42AF822BE9D9}"/>
                </a:ext>
              </a:extLst>
            </p:cNvPr>
            <p:cNvCxnSpPr>
              <a:stCxn id="9" idx="1"/>
              <a:endCxn id="9" idx="6"/>
            </p:cNvCxnSpPr>
            <p:nvPr/>
          </p:nvCxnSpPr>
          <p:spPr>
            <a:xfrm>
              <a:off x="6980428" y="4929124"/>
              <a:ext cx="0" cy="1441196"/>
            </a:xfrm>
            <a:prstGeom prst="lin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56CF83C-2D65-4D0F-BDD7-D041482842B1}"/>
                </a:ext>
              </a:extLst>
            </p:cNvPr>
            <p:cNvCxnSpPr>
              <a:cxnSpLocks/>
              <a:stCxn id="9" idx="2"/>
              <a:endCxn id="9" idx="5"/>
            </p:cNvCxnSpPr>
            <p:nvPr/>
          </p:nvCxnSpPr>
          <p:spPr>
            <a:xfrm flipH="1">
              <a:off x="8741156" y="4925568"/>
              <a:ext cx="2032" cy="1444752"/>
            </a:xfrm>
            <a:prstGeom prst="lin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1852391780"/>
      </p:ext>
    </p:extLst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1CF07-A400-4239-820D-650ECF346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noProof="0" dirty="0"/>
              <a:t>Read top to bottom, left to right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16000" y="2744937"/>
            <a:ext cx="2160000" cy="90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Add two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180" y="4442545"/>
            <a:ext cx="2160000" cy="90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Initialise variables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688090" y="4442545"/>
            <a:ext cx="2160000" cy="90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Get first value from user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16000" y="4442545"/>
            <a:ext cx="2160000" cy="90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Get second value from user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43910" y="4442545"/>
            <a:ext cx="2160000" cy="90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Add values together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71820" y="4442545"/>
            <a:ext cx="2160000" cy="90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Display result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1450938" y="3644937"/>
            <a:ext cx="9360000" cy="805322"/>
            <a:chOff x="1410798" y="2590688"/>
            <a:chExt cx="9360000" cy="805322"/>
          </a:xfrm>
        </p:grpSpPr>
        <p:cxnSp>
          <p:nvCxnSpPr>
            <p:cNvPr id="19" name="Straight Connector 18"/>
            <p:cNvCxnSpPr>
              <a:cxnSpLocks/>
            </p:cNvCxnSpPr>
            <p:nvPr/>
          </p:nvCxnSpPr>
          <p:spPr>
            <a:xfrm flipV="1">
              <a:off x="10751820" y="2872014"/>
              <a:ext cx="0" cy="504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cxnSpLocks/>
            </p:cNvCxnSpPr>
            <p:nvPr/>
          </p:nvCxnSpPr>
          <p:spPr>
            <a:xfrm flipH="1" flipV="1">
              <a:off x="8405880" y="2892010"/>
              <a:ext cx="0" cy="504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cxnSpLocks/>
              <a:stCxn id="8" idx="0"/>
              <a:endCxn id="4" idx="2"/>
            </p:cNvCxnSpPr>
            <p:nvPr/>
          </p:nvCxnSpPr>
          <p:spPr>
            <a:xfrm flipV="1">
              <a:off x="6055860" y="2590688"/>
              <a:ext cx="0" cy="79760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cxnSpLocks/>
            </p:cNvCxnSpPr>
            <p:nvPr/>
          </p:nvCxnSpPr>
          <p:spPr>
            <a:xfrm flipV="1">
              <a:off x="3768090" y="2881255"/>
              <a:ext cx="1088" cy="504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cxnSpLocks/>
            </p:cNvCxnSpPr>
            <p:nvPr/>
          </p:nvCxnSpPr>
          <p:spPr>
            <a:xfrm flipV="1">
              <a:off x="1440180" y="2874708"/>
              <a:ext cx="0" cy="504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410798" y="2859742"/>
              <a:ext cx="9360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>
          <a:xfrm>
            <a:off x="1243652" y="5310191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0242" y="5310191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9472" y="5310191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7560" y="5310191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55292" y="5310191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6740D7-A9B3-4CD9-A421-E59E72CD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Structure Diagrams – Example 1</a:t>
            </a:r>
          </a:p>
        </p:txBody>
      </p:sp>
      <p:sp>
        <p:nvSpPr>
          <p:cNvPr id="30" name="Callout: Bent Line with No Border 7">
            <a:extLst>
              <a:ext uri="{FF2B5EF4-FFF2-40B4-BE49-F238E27FC236}">
                <a16:creationId xmlns:a16="http://schemas.microsoft.com/office/drawing/2014/main" id="{EE6D944F-368C-49C4-BF8E-54FB76C2AC02}"/>
              </a:ext>
            </a:extLst>
          </p:cNvPr>
          <p:cNvSpPr/>
          <p:nvPr/>
        </p:nvSpPr>
        <p:spPr>
          <a:xfrm>
            <a:off x="7571531" y="1868522"/>
            <a:ext cx="2852629" cy="862642"/>
          </a:xfrm>
          <a:prstGeom prst="callout2">
            <a:avLst>
              <a:gd name="adj1" fmla="val 50321"/>
              <a:gd name="adj2" fmla="val -260"/>
              <a:gd name="adj3" fmla="val 50615"/>
              <a:gd name="adj4" fmla="val -16608"/>
              <a:gd name="adj5" fmla="val 96393"/>
              <a:gd name="adj6" fmla="val -2321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Title / Description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420658-AD53-47C2-B15E-FC51B97CD17C}"/>
              </a:ext>
            </a:extLst>
          </p:cNvPr>
          <p:cNvSpPr txBox="1"/>
          <p:nvPr/>
        </p:nvSpPr>
        <p:spPr>
          <a:xfrm>
            <a:off x="4610185" y="2446398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90094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25" grpId="0"/>
      <p:bldP spid="27" grpId="0"/>
      <p:bldP spid="28" grpId="0"/>
      <p:bldP spid="29" grpId="0"/>
      <p:bldP spid="30" grpId="0" animBg="1"/>
      <p:bldP spid="24" grpId="0"/>
    </p:bldLst>
  </p:timing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1CF07-A400-4239-820D-650ECF346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noProof="0" dirty="0"/>
              <a:t>Read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16000" y="2744937"/>
            <a:ext cx="2160000" cy="90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0180" y="4442545"/>
            <a:ext cx="2160000" cy="90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688090" y="4442545"/>
            <a:ext cx="2160000" cy="90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Get first value from user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16000" y="4442545"/>
            <a:ext cx="2160000" cy="90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Get second value from user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43910" y="4442545"/>
            <a:ext cx="2160000" cy="90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Add values together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71820" y="4442545"/>
            <a:ext cx="2160000" cy="90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1450938" y="3644937"/>
            <a:ext cx="9360000" cy="805322"/>
            <a:chOff x="1410798" y="2590688"/>
            <a:chExt cx="9360000" cy="805322"/>
          </a:xfrm>
        </p:grpSpPr>
        <p:cxnSp>
          <p:nvCxnSpPr>
            <p:cNvPr id="19" name="Straight Connector 18"/>
            <p:cNvCxnSpPr>
              <a:cxnSpLocks/>
            </p:cNvCxnSpPr>
            <p:nvPr/>
          </p:nvCxnSpPr>
          <p:spPr>
            <a:xfrm flipV="1">
              <a:off x="10751820" y="2872014"/>
              <a:ext cx="0" cy="504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cxnSpLocks/>
            </p:cNvCxnSpPr>
            <p:nvPr/>
          </p:nvCxnSpPr>
          <p:spPr>
            <a:xfrm flipH="1" flipV="1">
              <a:off x="8405880" y="2892010"/>
              <a:ext cx="0" cy="504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cxnSpLocks/>
              <a:stCxn id="8" idx="0"/>
              <a:endCxn id="4" idx="2"/>
            </p:cNvCxnSpPr>
            <p:nvPr/>
          </p:nvCxnSpPr>
          <p:spPr>
            <a:xfrm flipV="1">
              <a:off x="6055860" y="2590688"/>
              <a:ext cx="0" cy="79760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cxnSpLocks/>
            </p:cNvCxnSpPr>
            <p:nvPr/>
          </p:nvCxnSpPr>
          <p:spPr>
            <a:xfrm flipV="1">
              <a:off x="3768090" y="2881255"/>
              <a:ext cx="1088" cy="504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cxnSpLocks/>
            </p:cNvCxnSpPr>
            <p:nvPr/>
          </p:nvCxnSpPr>
          <p:spPr>
            <a:xfrm flipV="1">
              <a:off x="1440180" y="2874708"/>
              <a:ext cx="0" cy="504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410798" y="2859742"/>
              <a:ext cx="9360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D6740D7-A9B3-4CD9-A421-E59E72CD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Structure Diagrams – Example 1</a:t>
            </a:r>
          </a:p>
        </p:txBody>
      </p:sp>
    </p:spTree>
    <p:extLst>
      <p:ext uri="{BB962C8B-B14F-4D97-AF65-F5344CB8AC3E}">
        <p14:creationId xmlns:p14="http://schemas.microsoft.com/office/powerpoint/2010/main" val="553773557"/>
      </p:ext>
    </p:extLst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308F7-8F58-42F4-AECC-CC89502FB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Structure Diagrams – Example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DBCB8A-2E3A-4783-8B08-A66A226F4E82}"/>
              </a:ext>
            </a:extLst>
          </p:cNvPr>
          <p:cNvSpPr/>
          <p:nvPr/>
        </p:nvSpPr>
        <p:spPr>
          <a:xfrm>
            <a:off x="5016000" y="1686047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Find the average of 4 numbers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64D760-95E4-48D5-B6B3-48C97987B43D}"/>
              </a:ext>
            </a:extLst>
          </p:cNvPr>
          <p:cNvSpPr/>
          <p:nvPr/>
        </p:nvSpPr>
        <p:spPr>
          <a:xfrm>
            <a:off x="3546503" y="3464088"/>
            <a:ext cx="2160000" cy="1080000"/>
          </a:xfrm>
          <a:prstGeom prst="roundRect">
            <a:avLst>
              <a:gd name="adj" fmla="val 50000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Loop 4 times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2269928-ADD2-4301-A218-BAB1ECC6054D}"/>
              </a:ext>
            </a:extLst>
          </p:cNvPr>
          <p:cNvGrpSpPr/>
          <p:nvPr/>
        </p:nvGrpSpPr>
        <p:grpSpPr>
          <a:xfrm>
            <a:off x="1763248" y="2766047"/>
            <a:ext cx="8658110" cy="710172"/>
            <a:chOff x="1758046" y="2590688"/>
            <a:chExt cx="8658110" cy="710172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2827755-A904-4CE6-AA0D-584E92A908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16156" y="2837289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D66F9B0-1F3F-4B40-A721-BDCBAF1DC6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6203" y="2868860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958D091-C5EA-4FA4-96A7-AB843EFFC9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5860" y="2590688"/>
              <a:ext cx="0" cy="28132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B02DE1B-D1AC-4D0E-9463-CFD698ACDE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6189" y="2858105"/>
              <a:ext cx="1088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3D34812-07CF-41AD-9FA7-8C001A6B48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5848" y="2851558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96E9659-8E3E-4021-A0B3-C771EED89525}"/>
                </a:ext>
              </a:extLst>
            </p:cNvPr>
            <p:cNvCxnSpPr/>
            <p:nvPr/>
          </p:nvCxnSpPr>
          <p:spPr>
            <a:xfrm>
              <a:off x="1758046" y="2859742"/>
              <a:ext cx="8640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31B1890-4B11-47C2-9531-07AE684CD2D0}"/>
              </a:ext>
            </a:extLst>
          </p:cNvPr>
          <p:cNvSpPr/>
          <p:nvPr/>
        </p:nvSpPr>
        <p:spPr>
          <a:xfrm>
            <a:off x="749371" y="5190088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Get number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874F2D-BD99-4D6C-98D2-3C9468CDAF50}"/>
              </a:ext>
            </a:extLst>
          </p:cNvPr>
          <p:cNvSpPr/>
          <p:nvPr/>
        </p:nvSpPr>
        <p:spPr>
          <a:xfrm>
            <a:off x="3590098" y="5190088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Add number to total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D846CF-F2A2-4483-8D74-0083FD19BB33}"/>
              </a:ext>
            </a:extLst>
          </p:cNvPr>
          <p:cNvSpPr/>
          <p:nvPr/>
        </p:nvSpPr>
        <p:spPr>
          <a:xfrm>
            <a:off x="6447985" y="3464088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Calculate average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35B98A-958A-4A65-B0BE-98F4FFADE7A1}"/>
              </a:ext>
            </a:extLst>
          </p:cNvPr>
          <p:cNvSpPr/>
          <p:nvPr/>
        </p:nvSpPr>
        <p:spPr>
          <a:xfrm>
            <a:off x="9243706" y="3464088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Display average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75911C-671F-442F-BF19-0118812EF045}"/>
              </a:ext>
            </a:extLst>
          </p:cNvPr>
          <p:cNvSpPr/>
          <p:nvPr/>
        </p:nvSpPr>
        <p:spPr>
          <a:xfrm>
            <a:off x="681332" y="3464088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Initialise variables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6B26DA7-45A8-439D-AAB9-93B09AE18EA5}"/>
              </a:ext>
            </a:extLst>
          </p:cNvPr>
          <p:cNvGrpSpPr/>
          <p:nvPr/>
        </p:nvGrpSpPr>
        <p:grpSpPr>
          <a:xfrm>
            <a:off x="6451405" y="5190088"/>
            <a:ext cx="2160000" cy="1080000"/>
            <a:chOff x="6779516" y="4925568"/>
            <a:chExt cx="2160000" cy="1444752"/>
          </a:xfrm>
        </p:grpSpPr>
        <p:sp>
          <p:nvSpPr>
            <p:cNvPr id="32" name="Rectangle 8">
              <a:extLst>
                <a:ext uri="{FF2B5EF4-FFF2-40B4-BE49-F238E27FC236}">
                  <a16:creationId xmlns:a16="http://schemas.microsoft.com/office/drawing/2014/main" id="{71699206-5B2E-43B0-95DD-6911755B24EB}"/>
                </a:ext>
              </a:extLst>
            </p:cNvPr>
            <p:cNvSpPr/>
            <p:nvPr/>
          </p:nvSpPr>
          <p:spPr>
            <a:xfrm>
              <a:off x="6779516" y="4925568"/>
              <a:ext cx="2160000" cy="1444752"/>
            </a:xfrm>
            <a:custGeom>
              <a:avLst/>
              <a:gdLst>
                <a:gd name="connsiteX0" fmla="*/ 0 w 2160000"/>
                <a:gd name="connsiteY0" fmla="*/ 0 h 1440000"/>
                <a:gd name="connsiteX1" fmla="*/ 2160000 w 2160000"/>
                <a:gd name="connsiteY1" fmla="*/ 0 h 1440000"/>
                <a:gd name="connsiteX2" fmla="*/ 2160000 w 2160000"/>
                <a:gd name="connsiteY2" fmla="*/ 1440000 h 1440000"/>
                <a:gd name="connsiteX3" fmla="*/ 0 w 2160000"/>
                <a:gd name="connsiteY3" fmla="*/ 1440000 h 1440000"/>
                <a:gd name="connsiteX4" fmla="*/ 0 w 2160000"/>
                <a:gd name="connsiteY4" fmla="*/ 0 h 1440000"/>
                <a:gd name="connsiteX0" fmla="*/ 0 w 2160000"/>
                <a:gd name="connsiteY0" fmla="*/ 0 h 1440000"/>
                <a:gd name="connsiteX1" fmla="*/ 432052 w 2160000"/>
                <a:gd name="connsiteY1" fmla="*/ 1934 h 1440000"/>
                <a:gd name="connsiteX2" fmla="*/ 2160000 w 2160000"/>
                <a:gd name="connsiteY2" fmla="*/ 0 h 1440000"/>
                <a:gd name="connsiteX3" fmla="*/ 2160000 w 2160000"/>
                <a:gd name="connsiteY3" fmla="*/ 1440000 h 1440000"/>
                <a:gd name="connsiteX4" fmla="*/ 0 w 2160000"/>
                <a:gd name="connsiteY4" fmla="*/ 1440000 h 1440000"/>
                <a:gd name="connsiteX5" fmla="*/ 0 w 2160000"/>
                <a:gd name="connsiteY5" fmla="*/ 0 h 1440000"/>
                <a:gd name="connsiteX0" fmla="*/ 0 w 2160000"/>
                <a:gd name="connsiteY0" fmla="*/ 0 h 1440590"/>
                <a:gd name="connsiteX1" fmla="*/ 432052 w 2160000"/>
                <a:gd name="connsiteY1" fmla="*/ 1934 h 1440590"/>
                <a:gd name="connsiteX2" fmla="*/ 2160000 w 2160000"/>
                <a:gd name="connsiteY2" fmla="*/ 0 h 1440590"/>
                <a:gd name="connsiteX3" fmla="*/ 2160000 w 2160000"/>
                <a:gd name="connsiteY3" fmla="*/ 1440000 h 1440590"/>
                <a:gd name="connsiteX4" fmla="*/ 432052 w 2160000"/>
                <a:gd name="connsiteY4" fmla="*/ 1440590 h 1440590"/>
                <a:gd name="connsiteX5" fmla="*/ 0 w 2160000"/>
                <a:gd name="connsiteY5" fmla="*/ 1440000 h 1440590"/>
                <a:gd name="connsiteX6" fmla="*/ 0 w 2160000"/>
                <a:gd name="connsiteY6" fmla="*/ 0 h 1440590"/>
                <a:gd name="connsiteX0" fmla="*/ 0 w 2160000"/>
                <a:gd name="connsiteY0" fmla="*/ 0 h 1440590"/>
                <a:gd name="connsiteX1" fmla="*/ 432052 w 2160000"/>
                <a:gd name="connsiteY1" fmla="*/ 1934 h 1440590"/>
                <a:gd name="connsiteX2" fmla="*/ 2160000 w 2160000"/>
                <a:gd name="connsiteY2" fmla="*/ 0 h 1440590"/>
                <a:gd name="connsiteX3" fmla="*/ 2160000 w 2160000"/>
                <a:gd name="connsiteY3" fmla="*/ 1440000 h 1440590"/>
                <a:gd name="connsiteX4" fmla="*/ 1730500 w 2160000"/>
                <a:gd name="connsiteY4" fmla="*/ 1440590 h 1440590"/>
                <a:gd name="connsiteX5" fmla="*/ 432052 w 2160000"/>
                <a:gd name="connsiteY5" fmla="*/ 1440590 h 1440590"/>
                <a:gd name="connsiteX6" fmla="*/ 0 w 2160000"/>
                <a:gd name="connsiteY6" fmla="*/ 1440000 h 1440590"/>
                <a:gd name="connsiteX7" fmla="*/ 0 w 2160000"/>
                <a:gd name="connsiteY7" fmla="*/ 0 h 1440590"/>
                <a:gd name="connsiteX0" fmla="*/ 0 w 2160000"/>
                <a:gd name="connsiteY0" fmla="*/ 4162 h 1444752"/>
                <a:gd name="connsiteX1" fmla="*/ 432052 w 2160000"/>
                <a:gd name="connsiteY1" fmla="*/ 6096 h 1444752"/>
                <a:gd name="connsiteX2" fmla="*/ 171221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730500 w 2160000"/>
                <a:gd name="connsiteY5" fmla="*/ 1444752 h 1444752"/>
                <a:gd name="connsiteX6" fmla="*/ 43205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  <a:gd name="connsiteX0" fmla="*/ 0 w 2160000"/>
                <a:gd name="connsiteY0" fmla="*/ 4162 h 1444752"/>
                <a:gd name="connsiteX1" fmla="*/ 432052 w 2160000"/>
                <a:gd name="connsiteY1" fmla="*/ 6096 h 1444752"/>
                <a:gd name="connsiteX2" fmla="*/ 196367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730500 w 2160000"/>
                <a:gd name="connsiteY5" fmla="*/ 1444752 h 1444752"/>
                <a:gd name="connsiteX6" fmla="*/ 43205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  <a:gd name="connsiteX0" fmla="*/ 0 w 2160000"/>
                <a:gd name="connsiteY0" fmla="*/ 4162 h 1444752"/>
                <a:gd name="connsiteX1" fmla="*/ 432052 w 2160000"/>
                <a:gd name="connsiteY1" fmla="*/ 6096 h 1444752"/>
                <a:gd name="connsiteX2" fmla="*/ 196367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961640 w 2160000"/>
                <a:gd name="connsiteY5" fmla="*/ 1444752 h 1444752"/>
                <a:gd name="connsiteX6" fmla="*/ 43205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  <a:gd name="connsiteX0" fmla="*/ 0 w 2160000"/>
                <a:gd name="connsiteY0" fmla="*/ 4162 h 1444752"/>
                <a:gd name="connsiteX1" fmla="*/ 200912 w 2160000"/>
                <a:gd name="connsiteY1" fmla="*/ 3556 h 1444752"/>
                <a:gd name="connsiteX2" fmla="*/ 196367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961640 w 2160000"/>
                <a:gd name="connsiteY5" fmla="*/ 1444752 h 1444752"/>
                <a:gd name="connsiteX6" fmla="*/ 43205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  <a:gd name="connsiteX0" fmla="*/ 0 w 2160000"/>
                <a:gd name="connsiteY0" fmla="*/ 4162 h 1444752"/>
                <a:gd name="connsiteX1" fmla="*/ 200912 w 2160000"/>
                <a:gd name="connsiteY1" fmla="*/ 3556 h 1444752"/>
                <a:gd name="connsiteX2" fmla="*/ 196367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961640 w 2160000"/>
                <a:gd name="connsiteY5" fmla="*/ 1444752 h 1444752"/>
                <a:gd name="connsiteX6" fmla="*/ 20091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000" h="1444752">
                  <a:moveTo>
                    <a:pt x="0" y="4162"/>
                  </a:moveTo>
                  <a:lnTo>
                    <a:pt x="200912" y="3556"/>
                  </a:lnTo>
                  <a:lnTo>
                    <a:pt x="1963672" y="0"/>
                  </a:lnTo>
                  <a:lnTo>
                    <a:pt x="2160000" y="4162"/>
                  </a:lnTo>
                  <a:lnTo>
                    <a:pt x="2160000" y="1444162"/>
                  </a:lnTo>
                  <a:lnTo>
                    <a:pt x="1961640" y="1444752"/>
                  </a:lnTo>
                  <a:lnTo>
                    <a:pt x="200912" y="1444752"/>
                  </a:lnTo>
                  <a:lnTo>
                    <a:pt x="0" y="1444162"/>
                  </a:lnTo>
                  <a:lnTo>
                    <a:pt x="0" y="4162"/>
                  </a:ln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Round to</a:t>
              </a:r>
            </a:p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1 dp 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95FF9D3-9D8A-47CC-8A02-DE254239F9E1}"/>
                </a:ext>
              </a:extLst>
            </p:cNvPr>
            <p:cNvCxnSpPr>
              <a:stCxn id="32" idx="1"/>
              <a:endCxn id="32" idx="6"/>
            </p:cNvCxnSpPr>
            <p:nvPr/>
          </p:nvCxnSpPr>
          <p:spPr>
            <a:xfrm>
              <a:off x="6980428" y="4929124"/>
              <a:ext cx="0" cy="1441196"/>
            </a:xfrm>
            <a:prstGeom prst="lin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C2227BD-0480-493B-BF83-FA2AD69DC5BA}"/>
                </a:ext>
              </a:extLst>
            </p:cNvPr>
            <p:cNvCxnSpPr>
              <a:cxnSpLocks/>
              <a:stCxn id="32" idx="2"/>
              <a:endCxn id="32" idx="5"/>
            </p:cNvCxnSpPr>
            <p:nvPr/>
          </p:nvCxnSpPr>
          <p:spPr>
            <a:xfrm flipH="1">
              <a:off x="8741156" y="4925568"/>
              <a:ext cx="2032" cy="1444752"/>
            </a:xfrm>
            <a:prstGeom prst="lin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726CDC9-AB3E-4E79-B53E-9920D9A9E0BD}"/>
              </a:ext>
            </a:extLst>
          </p:cNvPr>
          <p:cNvGrpSpPr/>
          <p:nvPr/>
        </p:nvGrpSpPr>
        <p:grpSpPr>
          <a:xfrm>
            <a:off x="1784457" y="4535655"/>
            <a:ext cx="5740115" cy="648000"/>
            <a:chOff x="1784457" y="4535655"/>
            <a:chExt cx="5740115" cy="648000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F99D241-6787-474E-94E1-54054FDA69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2600" y="4535655"/>
              <a:ext cx="1088" cy="648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83EC3F4-18C1-48AD-9F1A-83468A29F3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2259" y="4783758"/>
              <a:ext cx="0" cy="396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2B692DB-CEAC-41D7-B9A2-376260F15B82}"/>
                </a:ext>
              </a:extLst>
            </p:cNvPr>
            <p:cNvCxnSpPr/>
            <p:nvPr/>
          </p:nvCxnSpPr>
          <p:spPr>
            <a:xfrm>
              <a:off x="1784457" y="4791942"/>
              <a:ext cx="2880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F9AB94A-2B90-43EA-B363-4BEE294145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3484" y="4535655"/>
              <a:ext cx="1088" cy="648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29FA0E2-A8D0-4BCF-9F8F-1B7F11F9BC42}"/>
              </a:ext>
            </a:extLst>
          </p:cNvPr>
          <p:cNvSpPr txBox="1"/>
          <p:nvPr/>
        </p:nvSpPr>
        <p:spPr>
          <a:xfrm>
            <a:off x="322990" y="316911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E0C4BF-EA74-426C-8B6C-61EB980A55A3}"/>
              </a:ext>
            </a:extLst>
          </p:cNvPr>
          <p:cNvSpPr txBox="1"/>
          <p:nvPr/>
        </p:nvSpPr>
        <p:spPr>
          <a:xfrm>
            <a:off x="3280525" y="3173076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2845B0-9C90-4D73-AA2F-C515335F3EFC}"/>
              </a:ext>
            </a:extLst>
          </p:cNvPr>
          <p:cNvSpPr txBox="1"/>
          <p:nvPr/>
        </p:nvSpPr>
        <p:spPr>
          <a:xfrm>
            <a:off x="365619" y="486479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36A9CC-8F8A-43EF-A69B-D24E77D11705}"/>
              </a:ext>
            </a:extLst>
          </p:cNvPr>
          <p:cNvSpPr txBox="1"/>
          <p:nvPr/>
        </p:nvSpPr>
        <p:spPr>
          <a:xfrm>
            <a:off x="3225415" y="4929916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CACEE0F-C65D-48B7-9B4F-1E52AF3B9A26}"/>
              </a:ext>
            </a:extLst>
          </p:cNvPr>
          <p:cNvSpPr txBox="1"/>
          <p:nvPr/>
        </p:nvSpPr>
        <p:spPr>
          <a:xfrm>
            <a:off x="6083248" y="316911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D11D1F-5ED0-4A4C-BA74-C8CAAEECC6B3}"/>
              </a:ext>
            </a:extLst>
          </p:cNvPr>
          <p:cNvSpPr txBox="1"/>
          <p:nvPr/>
        </p:nvSpPr>
        <p:spPr>
          <a:xfrm>
            <a:off x="6062933" y="4981758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7628E1-9772-4394-9D55-D0AE63DB8E93}"/>
              </a:ext>
            </a:extLst>
          </p:cNvPr>
          <p:cNvSpPr txBox="1"/>
          <p:nvPr/>
        </p:nvSpPr>
        <p:spPr>
          <a:xfrm>
            <a:off x="8850650" y="317307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567988-D8C8-49BC-932A-68CCC847F6C9}"/>
              </a:ext>
            </a:extLst>
          </p:cNvPr>
          <p:cNvSpPr txBox="1"/>
          <p:nvPr/>
        </p:nvSpPr>
        <p:spPr>
          <a:xfrm>
            <a:off x="4607557" y="142326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74EB6A7-AB6B-4241-B776-0AF13A1E554A}"/>
              </a:ext>
            </a:extLst>
          </p:cNvPr>
          <p:cNvSpPr txBox="1"/>
          <p:nvPr/>
        </p:nvSpPr>
        <p:spPr>
          <a:xfrm>
            <a:off x="8792350" y="1418456"/>
            <a:ext cx="261135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7030A0"/>
                </a:solidFill>
              </a:rPr>
              <a:t>Top to bottom</a:t>
            </a:r>
          </a:p>
          <a:p>
            <a:r>
              <a:rPr lang="en-GB" sz="3200" b="1" dirty="0">
                <a:solidFill>
                  <a:srgbClr val="7030A0"/>
                </a:solidFill>
              </a:rPr>
              <a:t>Left to right</a:t>
            </a:r>
          </a:p>
        </p:txBody>
      </p:sp>
    </p:spTree>
    <p:extLst>
      <p:ext uri="{BB962C8B-B14F-4D97-AF65-F5344CB8AC3E}">
        <p14:creationId xmlns:p14="http://schemas.microsoft.com/office/powerpoint/2010/main" val="686795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25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500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4" grpId="0" animBg="1"/>
      <p:bldP spid="16" grpId="0" animBg="1"/>
      <p:bldP spid="18" grpId="0" animBg="1"/>
      <p:bldP spid="21" grpId="0" animBg="1"/>
      <p:bldP spid="23" grpId="0" animBg="1"/>
      <p:bldP spid="33" grpId="0"/>
      <p:bldP spid="41" grpId="0"/>
      <p:bldP spid="42" grpId="0"/>
      <p:bldP spid="43" grpId="0"/>
      <p:bldP spid="44" grpId="0"/>
      <p:bldP spid="45" grpId="0"/>
      <p:bldP spid="48" grpId="0"/>
      <p:bldP spid="49" grpId="0" build="p"/>
    </p:bldLst>
  </p:timing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308F7-8F58-42F4-AECC-CC89502FB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Structure Diagrams – Example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DBCB8A-2E3A-4783-8B08-A66A226F4E82}"/>
              </a:ext>
            </a:extLst>
          </p:cNvPr>
          <p:cNvSpPr/>
          <p:nvPr/>
        </p:nvSpPr>
        <p:spPr>
          <a:xfrm>
            <a:off x="5016000" y="1686047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Find the average of 4 numbers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64D760-95E4-48D5-B6B3-48C97987B43D}"/>
              </a:ext>
            </a:extLst>
          </p:cNvPr>
          <p:cNvSpPr/>
          <p:nvPr/>
        </p:nvSpPr>
        <p:spPr>
          <a:xfrm>
            <a:off x="3546503" y="3464088"/>
            <a:ext cx="2160000" cy="1080000"/>
          </a:xfrm>
          <a:prstGeom prst="roundRect">
            <a:avLst>
              <a:gd name="adj" fmla="val 50000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2269928-ADD2-4301-A218-BAB1ECC6054D}"/>
              </a:ext>
            </a:extLst>
          </p:cNvPr>
          <p:cNvGrpSpPr/>
          <p:nvPr/>
        </p:nvGrpSpPr>
        <p:grpSpPr>
          <a:xfrm>
            <a:off x="1763248" y="2766047"/>
            <a:ext cx="8658110" cy="710172"/>
            <a:chOff x="1758046" y="2590688"/>
            <a:chExt cx="8658110" cy="710172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2827755-A904-4CE6-AA0D-584E92A908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16156" y="2837289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D66F9B0-1F3F-4B40-A721-BDCBAF1DC6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6203" y="2868860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958D091-C5EA-4FA4-96A7-AB843EFFC9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5860" y="2590688"/>
              <a:ext cx="0" cy="28132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B02DE1B-D1AC-4D0E-9463-CFD698ACDE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6189" y="2858105"/>
              <a:ext cx="1088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3D34812-07CF-41AD-9FA7-8C001A6B48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5848" y="2851558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96E9659-8E3E-4021-A0B3-C771EED89525}"/>
                </a:ext>
              </a:extLst>
            </p:cNvPr>
            <p:cNvCxnSpPr/>
            <p:nvPr/>
          </p:nvCxnSpPr>
          <p:spPr>
            <a:xfrm>
              <a:off x="1758046" y="2859742"/>
              <a:ext cx="8640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31B1890-4B11-47C2-9531-07AE684CD2D0}"/>
              </a:ext>
            </a:extLst>
          </p:cNvPr>
          <p:cNvSpPr/>
          <p:nvPr/>
        </p:nvSpPr>
        <p:spPr>
          <a:xfrm>
            <a:off x="749371" y="5190088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Get number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874F2D-BD99-4D6C-98D2-3C9468CDAF50}"/>
              </a:ext>
            </a:extLst>
          </p:cNvPr>
          <p:cNvSpPr/>
          <p:nvPr/>
        </p:nvSpPr>
        <p:spPr>
          <a:xfrm>
            <a:off x="3590098" y="5190088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Add number to total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D846CF-F2A2-4483-8D74-0083FD19BB33}"/>
              </a:ext>
            </a:extLst>
          </p:cNvPr>
          <p:cNvSpPr/>
          <p:nvPr/>
        </p:nvSpPr>
        <p:spPr>
          <a:xfrm>
            <a:off x="6447985" y="3464088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Calculate average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35B98A-958A-4A65-B0BE-98F4FFADE7A1}"/>
              </a:ext>
            </a:extLst>
          </p:cNvPr>
          <p:cNvSpPr/>
          <p:nvPr/>
        </p:nvSpPr>
        <p:spPr>
          <a:xfrm>
            <a:off x="9243706" y="3464088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Display average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75911C-671F-442F-BF19-0118812EF045}"/>
              </a:ext>
            </a:extLst>
          </p:cNvPr>
          <p:cNvSpPr/>
          <p:nvPr/>
        </p:nvSpPr>
        <p:spPr>
          <a:xfrm>
            <a:off x="681332" y="3464088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Initialise variables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6B26DA7-45A8-439D-AAB9-93B09AE18EA5}"/>
              </a:ext>
            </a:extLst>
          </p:cNvPr>
          <p:cNvGrpSpPr/>
          <p:nvPr/>
        </p:nvGrpSpPr>
        <p:grpSpPr>
          <a:xfrm>
            <a:off x="6451405" y="5190088"/>
            <a:ext cx="2160000" cy="1080000"/>
            <a:chOff x="6779516" y="4925568"/>
            <a:chExt cx="2160000" cy="1444752"/>
          </a:xfrm>
        </p:grpSpPr>
        <p:sp>
          <p:nvSpPr>
            <p:cNvPr id="32" name="Rectangle 8">
              <a:extLst>
                <a:ext uri="{FF2B5EF4-FFF2-40B4-BE49-F238E27FC236}">
                  <a16:creationId xmlns:a16="http://schemas.microsoft.com/office/drawing/2014/main" id="{71699206-5B2E-43B0-95DD-6911755B24EB}"/>
                </a:ext>
              </a:extLst>
            </p:cNvPr>
            <p:cNvSpPr/>
            <p:nvPr/>
          </p:nvSpPr>
          <p:spPr>
            <a:xfrm>
              <a:off x="6779516" y="4925568"/>
              <a:ext cx="2160000" cy="1444752"/>
            </a:xfrm>
            <a:custGeom>
              <a:avLst/>
              <a:gdLst>
                <a:gd name="connsiteX0" fmla="*/ 0 w 2160000"/>
                <a:gd name="connsiteY0" fmla="*/ 0 h 1440000"/>
                <a:gd name="connsiteX1" fmla="*/ 2160000 w 2160000"/>
                <a:gd name="connsiteY1" fmla="*/ 0 h 1440000"/>
                <a:gd name="connsiteX2" fmla="*/ 2160000 w 2160000"/>
                <a:gd name="connsiteY2" fmla="*/ 1440000 h 1440000"/>
                <a:gd name="connsiteX3" fmla="*/ 0 w 2160000"/>
                <a:gd name="connsiteY3" fmla="*/ 1440000 h 1440000"/>
                <a:gd name="connsiteX4" fmla="*/ 0 w 2160000"/>
                <a:gd name="connsiteY4" fmla="*/ 0 h 1440000"/>
                <a:gd name="connsiteX0" fmla="*/ 0 w 2160000"/>
                <a:gd name="connsiteY0" fmla="*/ 0 h 1440000"/>
                <a:gd name="connsiteX1" fmla="*/ 432052 w 2160000"/>
                <a:gd name="connsiteY1" fmla="*/ 1934 h 1440000"/>
                <a:gd name="connsiteX2" fmla="*/ 2160000 w 2160000"/>
                <a:gd name="connsiteY2" fmla="*/ 0 h 1440000"/>
                <a:gd name="connsiteX3" fmla="*/ 2160000 w 2160000"/>
                <a:gd name="connsiteY3" fmla="*/ 1440000 h 1440000"/>
                <a:gd name="connsiteX4" fmla="*/ 0 w 2160000"/>
                <a:gd name="connsiteY4" fmla="*/ 1440000 h 1440000"/>
                <a:gd name="connsiteX5" fmla="*/ 0 w 2160000"/>
                <a:gd name="connsiteY5" fmla="*/ 0 h 1440000"/>
                <a:gd name="connsiteX0" fmla="*/ 0 w 2160000"/>
                <a:gd name="connsiteY0" fmla="*/ 0 h 1440590"/>
                <a:gd name="connsiteX1" fmla="*/ 432052 w 2160000"/>
                <a:gd name="connsiteY1" fmla="*/ 1934 h 1440590"/>
                <a:gd name="connsiteX2" fmla="*/ 2160000 w 2160000"/>
                <a:gd name="connsiteY2" fmla="*/ 0 h 1440590"/>
                <a:gd name="connsiteX3" fmla="*/ 2160000 w 2160000"/>
                <a:gd name="connsiteY3" fmla="*/ 1440000 h 1440590"/>
                <a:gd name="connsiteX4" fmla="*/ 432052 w 2160000"/>
                <a:gd name="connsiteY4" fmla="*/ 1440590 h 1440590"/>
                <a:gd name="connsiteX5" fmla="*/ 0 w 2160000"/>
                <a:gd name="connsiteY5" fmla="*/ 1440000 h 1440590"/>
                <a:gd name="connsiteX6" fmla="*/ 0 w 2160000"/>
                <a:gd name="connsiteY6" fmla="*/ 0 h 1440590"/>
                <a:gd name="connsiteX0" fmla="*/ 0 w 2160000"/>
                <a:gd name="connsiteY0" fmla="*/ 0 h 1440590"/>
                <a:gd name="connsiteX1" fmla="*/ 432052 w 2160000"/>
                <a:gd name="connsiteY1" fmla="*/ 1934 h 1440590"/>
                <a:gd name="connsiteX2" fmla="*/ 2160000 w 2160000"/>
                <a:gd name="connsiteY2" fmla="*/ 0 h 1440590"/>
                <a:gd name="connsiteX3" fmla="*/ 2160000 w 2160000"/>
                <a:gd name="connsiteY3" fmla="*/ 1440000 h 1440590"/>
                <a:gd name="connsiteX4" fmla="*/ 1730500 w 2160000"/>
                <a:gd name="connsiteY4" fmla="*/ 1440590 h 1440590"/>
                <a:gd name="connsiteX5" fmla="*/ 432052 w 2160000"/>
                <a:gd name="connsiteY5" fmla="*/ 1440590 h 1440590"/>
                <a:gd name="connsiteX6" fmla="*/ 0 w 2160000"/>
                <a:gd name="connsiteY6" fmla="*/ 1440000 h 1440590"/>
                <a:gd name="connsiteX7" fmla="*/ 0 w 2160000"/>
                <a:gd name="connsiteY7" fmla="*/ 0 h 1440590"/>
                <a:gd name="connsiteX0" fmla="*/ 0 w 2160000"/>
                <a:gd name="connsiteY0" fmla="*/ 4162 h 1444752"/>
                <a:gd name="connsiteX1" fmla="*/ 432052 w 2160000"/>
                <a:gd name="connsiteY1" fmla="*/ 6096 h 1444752"/>
                <a:gd name="connsiteX2" fmla="*/ 171221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730500 w 2160000"/>
                <a:gd name="connsiteY5" fmla="*/ 1444752 h 1444752"/>
                <a:gd name="connsiteX6" fmla="*/ 43205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  <a:gd name="connsiteX0" fmla="*/ 0 w 2160000"/>
                <a:gd name="connsiteY0" fmla="*/ 4162 h 1444752"/>
                <a:gd name="connsiteX1" fmla="*/ 432052 w 2160000"/>
                <a:gd name="connsiteY1" fmla="*/ 6096 h 1444752"/>
                <a:gd name="connsiteX2" fmla="*/ 196367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730500 w 2160000"/>
                <a:gd name="connsiteY5" fmla="*/ 1444752 h 1444752"/>
                <a:gd name="connsiteX6" fmla="*/ 43205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  <a:gd name="connsiteX0" fmla="*/ 0 w 2160000"/>
                <a:gd name="connsiteY0" fmla="*/ 4162 h 1444752"/>
                <a:gd name="connsiteX1" fmla="*/ 432052 w 2160000"/>
                <a:gd name="connsiteY1" fmla="*/ 6096 h 1444752"/>
                <a:gd name="connsiteX2" fmla="*/ 196367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961640 w 2160000"/>
                <a:gd name="connsiteY5" fmla="*/ 1444752 h 1444752"/>
                <a:gd name="connsiteX6" fmla="*/ 43205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  <a:gd name="connsiteX0" fmla="*/ 0 w 2160000"/>
                <a:gd name="connsiteY0" fmla="*/ 4162 h 1444752"/>
                <a:gd name="connsiteX1" fmla="*/ 200912 w 2160000"/>
                <a:gd name="connsiteY1" fmla="*/ 3556 h 1444752"/>
                <a:gd name="connsiteX2" fmla="*/ 196367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961640 w 2160000"/>
                <a:gd name="connsiteY5" fmla="*/ 1444752 h 1444752"/>
                <a:gd name="connsiteX6" fmla="*/ 43205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  <a:gd name="connsiteX0" fmla="*/ 0 w 2160000"/>
                <a:gd name="connsiteY0" fmla="*/ 4162 h 1444752"/>
                <a:gd name="connsiteX1" fmla="*/ 200912 w 2160000"/>
                <a:gd name="connsiteY1" fmla="*/ 3556 h 1444752"/>
                <a:gd name="connsiteX2" fmla="*/ 196367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961640 w 2160000"/>
                <a:gd name="connsiteY5" fmla="*/ 1444752 h 1444752"/>
                <a:gd name="connsiteX6" fmla="*/ 20091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000" h="1444752">
                  <a:moveTo>
                    <a:pt x="0" y="4162"/>
                  </a:moveTo>
                  <a:lnTo>
                    <a:pt x="200912" y="3556"/>
                  </a:lnTo>
                  <a:lnTo>
                    <a:pt x="1963672" y="0"/>
                  </a:lnTo>
                  <a:lnTo>
                    <a:pt x="2160000" y="4162"/>
                  </a:lnTo>
                  <a:lnTo>
                    <a:pt x="2160000" y="1444162"/>
                  </a:lnTo>
                  <a:lnTo>
                    <a:pt x="1961640" y="1444752"/>
                  </a:lnTo>
                  <a:lnTo>
                    <a:pt x="200912" y="1444752"/>
                  </a:lnTo>
                  <a:lnTo>
                    <a:pt x="0" y="1444162"/>
                  </a:lnTo>
                  <a:lnTo>
                    <a:pt x="0" y="4162"/>
                  </a:ln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95FF9D3-9D8A-47CC-8A02-DE254239F9E1}"/>
                </a:ext>
              </a:extLst>
            </p:cNvPr>
            <p:cNvCxnSpPr>
              <a:stCxn id="32" idx="1"/>
              <a:endCxn id="32" idx="6"/>
            </p:cNvCxnSpPr>
            <p:nvPr/>
          </p:nvCxnSpPr>
          <p:spPr>
            <a:xfrm>
              <a:off x="6980428" y="4929124"/>
              <a:ext cx="0" cy="1441196"/>
            </a:xfrm>
            <a:prstGeom prst="lin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C2227BD-0480-493B-BF83-FA2AD69DC5BA}"/>
                </a:ext>
              </a:extLst>
            </p:cNvPr>
            <p:cNvCxnSpPr>
              <a:cxnSpLocks/>
              <a:stCxn id="32" idx="2"/>
              <a:endCxn id="32" idx="5"/>
            </p:cNvCxnSpPr>
            <p:nvPr/>
          </p:nvCxnSpPr>
          <p:spPr>
            <a:xfrm flipH="1">
              <a:off x="8741156" y="4925568"/>
              <a:ext cx="2032" cy="1444752"/>
            </a:xfrm>
            <a:prstGeom prst="lin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726CDC9-AB3E-4E79-B53E-9920D9A9E0BD}"/>
              </a:ext>
            </a:extLst>
          </p:cNvPr>
          <p:cNvGrpSpPr/>
          <p:nvPr/>
        </p:nvGrpSpPr>
        <p:grpSpPr>
          <a:xfrm>
            <a:off x="1784457" y="4535655"/>
            <a:ext cx="5740115" cy="648000"/>
            <a:chOff x="1784457" y="4535655"/>
            <a:chExt cx="5740115" cy="648000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F99D241-6787-474E-94E1-54054FDA69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2600" y="4535655"/>
              <a:ext cx="1088" cy="648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83EC3F4-18C1-48AD-9F1A-83468A29F3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2259" y="4783758"/>
              <a:ext cx="0" cy="396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2B692DB-CEAC-41D7-B9A2-376260F15B82}"/>
                </a:ext>
              </a:extLst>
            </p:cNvPr>
            <p:cNvCxnSpPr/>
            <p:nvPr/>
          </p:nvCxnSpPr>
          <p:spPr>
            <a:xfrm>
              <a:off x="1784457" y="4791942"/>
              <a:ext cx="2880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F9AB94A-2B90-43EA-B363-4BEE294145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3484" y="4535655"/>
              <a:ext cx="1088" cy="648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1749385"/>
      </p:ext>
    </p:extLst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01D18CE-D8B0-4EF6-AA6E-2FC940D4D1CD}"/>
              </a:ext>
            </a:extLst>
          </p:cNvPr>
          <p:cNvGrpSpPr/>
          <p:nvPr/>
        </p:nvGrpSpPr>
        <p:grpSpPr>
          <a:xfrm>
            <a:off x="6839067" y="4521700"/>
            <a:ext cx="696423" cy="650253"/>
            <a:chOff x="6839067" y="4521700"/>
            <a:chExt cx="696423" cy="650253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83EC3F4-18C1-48AD-9F1A-83468A29F35F}"/>
                </a:ext>
              </a:extLst>
            </p:cNvPr>
            <p:cNvCxnSpPr>
              <a:cxnSpLocks/>
              <a:stCxn id="14" idx="0"/>
            </p:cNvCxnSpPr>
            <p:nvPr/>
          </p:nvCxnSpPr>
          <p:spPr>
            <a:xfrm flipH="1" flipV="1">
              <a:off x="7531405" y="4521700"/>
              <a:ext cx="4085" cy="65025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9036248-8898-44CE-AC06-35D748528461}"/>
                </a:ext>
              </a:extLst>
            </p:cNvPr>
            <p:cNvSpPr txBox="1"/>
            <p:nvPr/>
          </p:nvSpPr>
          <p:spPr>
            <a:xfrm>
              <a:off x="6839067" y="4597123"/>
              <a:ext cx="6656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/>
                <a:t>Yes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95308F7-8F58-42F4-AECC-CC89502FB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Structure Diagrams – Example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DBCB8A-2E3A-4783-8B08-A66A226F4E82}"/>
              </a:ext>
            </a:extLst>
          </p:cNvPr>
          <p:cNvSpPr/>
          <p:nvPr/>
        </p:nvSpPr>
        <p:spPr>
          <a:xfrm>
            <a:off x="5016000" y="1686047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Determine</a:t>
            </a:r>
          </a:p>
          <a:p>
            <a:pPr algn="ctr"/>
            <a:r>
              <a:rPr lang="en-GB" sz="2400" dirty="0">
                <a:solidFill>
                  <a:schemeClr val="tx1"/>
                </a:solidFill>
              </a:rPr>
              <a:t>Pass / Fail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2269928-ADD2-4301-A218-BAB1ECC6054D}"/>
              </a:ext>
            </a:extLst>
          </p:cNvPr>
          <p:cNvGrpSpPr/>
          <p:nvPr/>
        </p:nvGrpSpPr>
        <p:grpSpPr>
          <a:xfrm>
            <a:off x="1763248" y="2766047"/>
            <a:ext cx="8658110" cy="710172"/>
            <a:chOff x="1758046" y="2590688"/>
            <a:chExt cx="8658110" cy="710172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2827755-A904-4CE6-AA0D-584E92A908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16156" y="2837289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D66F9B0-1F3F-4B40-A721-BDCBAF1DC6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6203" y="2868860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958D091-C5EA-4FA4-96A7-AB843EFFC9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5860" y="2590688"/>
              <a:ext cx="0" cy="28132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B02DE1B-D1AC-4D0E-9463-CFD698ACDE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6189" y="2858105"/>
              <a:ext cx="1088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3D34812-07CF-41AD-9FA7-8C001A6B48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5848" y="2851558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96E9659-8E3E-4021-A0B3-C771EED89525}"/>
                </a:ext>
              </a:extLst>
            </p:cNvPr>
            <p:cNvCxnSpPr/>
            <p:nvPr/>
          </p:nvCxnSpPr>
          <p:spPr>
            <a:xfrm>
              <a:off x="1758046" y="2859742"/>
              <a:ext cx="8640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31B1890-4B11-47C2-9531-07AE684CD2D0}"/>
              </a:ext>
            </a:extLst>
          </p:cNvPr>
          <p:cNvSpPr/>
          <p:nvPr/>
        </p:nvSpPr>
        <p:spPr>
          <a:xfrm>
            <a:off x="6455490" y="5171953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Set result to pass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D846CF-F2A2-4483-8D74-0083FD19BB33}"/>
              </a:ext>
            </a:extLst>
          </p:cNvPr>
          <p:cNvSpPr/>
          <p:nvPr/>
        </p:nvSpPr>
        <p:spPr>
          <a:xfrm>
            <a:off x="3522448" y="3473648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Get valid mark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35B98A-958A-4A65-B0BE-98F4FFADE7A1}"/>
              </a:ext>
            </a:extLst>
          </p:cNvPr>
          <p:cNvSpPr/>
          <p:nvPr/>
        </p:nvSpPr>
        <p:spPr>
          <a:xfrm>
            <a:off x="9243706" y="3464088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Display result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75911C-671F-442F-BF19-0118812EF045}"/>
              </a:ext>
            </a:extLst>
          </p:cNvPr>
          <p:cNvSpPr/>
          <p:nvPr/>
        </p:nvSpPr>
        <p:spPr>
          <a:xfrm>
            <a:off x="681332" y="3464088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Initialise variables</a:t>
            </a:r>
          </a:p>
        </p:txBody>
      </p:sp>
      <p:sp>
        <p:nvSpPr>
          <p:cNvPr id="22" name="Hexagon 21">
            <a:extLst>
              <a:ext uri="{FF2B5EF4-FFF2-40B4-BE49-F238E27FC236}">
                <a16:creationId xmlns:a16="http://schemas.microsoft.com/office/drawing/2014/main" id="{D019096B-5D63-40C4-A445-3A337FA285C1}"/>
              </a:ext>
            </a:extLst>
          </p:cNvPr>
          <p:cNvSpPr/>
          <p:nvPr/>
        </p:nvSpPr>
        <p:spPr>
          <a:xfrm>
            <a:off x="6442538" y="3465513"/>
            <a:ext cx="2160000" cy="1080000"/>
          </a:xfrm>
          <a:prstGeom prst="hexagon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Is mark</a:t>
            </a:r>
          </a:p>
          <a:p>
            <a:pPr algn="ctr"/>
            <a:r>
              <a:rPr lang="en-GB" sz="2400" dirty="0">
                <a:solidFill>
                  <a:schemeClr val="tx1"/>
                </a:solidFill>
              </a:rPr>
              <a:t>&gt;= 50?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DE6F0F-4438-4504-875E-04AAF0696B9E}"/>
              </a:ext>
            </a:extLst>
          </p:cNvPr>
          <p:cNvSpPr txBox="1"/>
          <p:nvPr/>
        </p:nvSpPr>
        <p:spPr>
          <a:xfrm>
            <a:off x="323296" y="318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2DB5EC5-8A2E-413E-A2F4-8D67CC9B8875}"/>
              </a:ext>
            </a:extLst>
          </p:cNvPr>
          <p:cNvSpPr txBox="1"/>
          <p:nvPr/>
        </p:nvSpPr>
        <p:spPr>
          <a:xfrm>
            <a:off x="3188054" y="3173076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474DBE-6DD8-471F-B894-0E1BBFCB7037}"/>
              </a:ext>
            </a:extLst>
          </p:cNvPr>
          <p:cNvSpPr txBox="1"/>
          <p:nvPr/>
        </p:nvSpPr>
        <p:spPr>
          <a:xfrm>
            <a:off x="6244922" y="318153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E945E49-340A-40C2-BFC6-3EADB7A613F5}"/>
              </a:ext>
            </a:extLst>
          </p:cNvPr>
          <p:cNvSpPr txBox="1"/>
          <p:nvPr/>
        </p:nvSpPr>
        <p:spPr>
          <a:xfrm>
            <a:off x="6035791" y="489991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D6C8FAD-D2E7-47BF-922C-E8665CF344D6}"/>
              </a:ext>
            </a:extLst>
          </p:cNvPr>
          <p:cNvSpPr txBox="1"/>
          <p:nvPr/>
        </p:nvSpPr>
        <p:spPr>
          <a:xfrm>
            <a:off x="8869104" y="318125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F0D6B9-1E7F-41F2-993A-4D076D6D80BB}"/>
              </a:ext>
            </a:extLst>
          </p:cNvPr>
          <p:cNvSpPr txBox="1"/>
          <p:nvPr/>
        </p:nvSpPr>
        <p:spPr>
          <a:xfrm>
            <a:off x="4614554" y="1398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36C1E6-BF33-4D0D-9817-9A20CAE553A4}"/>
              </a:ext>
            </a:extLst>
          </p:cNvPr>
          <p:cNvSpPr txBox="1"/>
          <p:nvPr/>
        </p:nvSpPr>
        <p:spPr>
          <a:xfrm>
            <a:off x="8792350" y="1418456"/>
            <a:ext cx="261135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7030A0"/>
                </a:solidFill>
              </a:rPr>
              <a:t>Top to bottom</a:t>
            </a:r>
          </a:p>
          <a:p>
            <a:r>
              <a:rPr lang="en-GB" sz="3200" b="1" dirty="0">
                <a:solidFill>
                  <a:srgbClr val="7030A0"/>
                </a:solidFill>
              </a:rPr>
              <a:t>Left to right</a:t>
            </a:r>
          </a:p>
        </p:txBody>
      </p:sp>
    </p:spTree>
    <p:extLst>
      <p:ext uri="{BB962C8B-B14F-4D97-AF65-F5344CB8AC3E}">
        <p14:creationId xmlns:p14="http://schemas.microsoft.com/office/powerpoint/2010/main" val="87581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5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 animBg="1"/>
      <p:bldP spid="18" grpId="0" animBg="1"/>
      <p:bldP spid="21" grpId="0" animBg="1"/>
      <p:bldP spid="23" grpId="0" animBg="1"/>
      <p:bldP spid="22" grpId="0" animBg="1"/>
      <p:bldP spid="45" grpId="0"/>
      <p:bldP spid="47" grpId="0"/>
      <p:bldP spid="48" grpId="0"/>
      <p:bldP spid="49" grpId="0"/>
      <p:bldP spid="33" grpId="0"/>
      <p:bldP spid="35" grpId="0" build="p"/>
    </p:bldLst>
  </p:timing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83EC3F4-18C1-48AD-9F1A-83468A29F35F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7531405" y="4521700"/>
            <a:ext cx="4085" cy="65025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95308F7-8F58-42F4-AECC-CC89502FB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Structure Diagrams – Example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DBCB8A-2E3A-4783-8B08-A66A226F4E82}"/>
              </a:ext>
            </a:extLst>
          </p:cNvPr>
          <p:cNvSpPr/>
          <p:nvPr/>
        </p:nvSpPr>
        <p:spPr>
          <a:xfrm>
            <a:off x="5016000" y="1686047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Determine</a:t>
            </a:r>
          </a:p>
          <a:p>
            <a:pPr algn="ctr"/>
            <a:r>
              <a:rPr lang="en-GB" sz="2400" dirty="0">
                <a:solidFill>
                  <a:schemeClr val="tx1"/>
                </a:solidFill>
              </a:rPr>
              <a:t>Pass / Fail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2269928-ADD2-4301-A218-BAB1ECC6054D}"/>
              </a:ext>
            </a:extLst>
          </p:cNvPr>
          <p:cNvGrpSpPr/>
          <p:nvPr/>
        </p:nvGrpSpPr>
        <p:grpSpPr>
          <a:xfrm>
            <a:off x="1763248" y="2766047"/>
            <a:ext cx="8658110" cy="710172"/>
            <a:chOff x="1758046" y="2590688"/>
            <a:chExt cx="8658110" cy="710172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2827755-A904-4CE6-AA0D-584E92A908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16156" y="2837289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D66F9B0-1F3F-4B40-A721-BDCBAF1DC6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6203" y="2868860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958D091-C5EA-4FA4-96A7-AB843EFFC9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5860" y="2590688"/>
              <a:ext cx="0" cy="28132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B02DE1B-D1AC-4D0E-9463-CFD698ACDE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6189" y="2858105"/>
              <a:ext cx="1088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3D34812-07CF-41AD-9FA7-8C001A6B48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5848" y="2851558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96E9659-8E3E-4021-A0B3-C771EED89525}"/>
                </a:ext>
              </a:extLst>
            </p:cNvPr>
            <p:cNvCxnSpPr/>
            <p:nvPr/>
          </p:nvCxnSpPr>
          <p:spPr>
            <a:xfrm>
              <a:off x="1758046" y="2859742"/>
              <a:ext cx="8640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31B1890-4B11-47C2-9531-07AE684CD2D0}"/>
              </a:ext>
            </a:extLst>
          </p:cNvPr>
          <p:cNvSpPr/>
          <p:nvPr/>
        </p:nvSpPr>
        <p:spPr>
          <a:xfrm>
            <a:off x="6455490" y="5171953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Set result to pass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D846CF-F2A2-4483-8D74-0083FD19BB33}"/>
              </a:ext>
            </a:extLst>
          </p:cNvPr>
          <p:cNvSpPr/>
          <p:nvPr/>
        </p:nvSpPr>
        <p:spPr>
          <a:xfrm>
            <a:off x="3522448" y="3473648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Get valid mark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35B98A-958A-4A65-B0BE-98F4FFADE7A1}"/>
              </a:ext>
            </a:extLst>
          </p:cNvPr>
          <p:cNvSpPr/>
          <p:nvPr/>
        </p:nvSpPr>
        <p:spPr>
          <a:xfrm>
            <a:off x="9243706" y="3464088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Display result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75911C-671F-442F-BF19-0118812EF045}"/>
              </a:ext>
            </a:extLst>
          </p:cNvPr>
          <p:cNvSpPr/>
          <p:nvPr/>
        </p:nvSpPr>
        <p:spPr>
          <a:xfrm>
            <a:off x="681332" y="3464088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Initialise variables</a:t>
            </a:r>
          </a:p>
        </p:txBody>
      </p:sp>
      <p:sp>
        <p:nvSpPr>
          <p:cNvPr id="22" name="Hexagon 21">
            <a:extLst>
              <a:ext uri="{FF2B5EF4-FFF2-40B4-BE49-F238E27FC236}">
                <a16:creationId xmlns:a16="http://schemas.microsoft.com/office/drawing/2014/main" id="{D019096B-5D63-40C4-A445-3A337FA285C1}"/>
              </a:ext>
            </a:extLst>
          </p:cNvPr>
          <p:cNvSpPr/>
          <p:nvPr/>
        </p:nvSpPr>
        <p:spPr>
          <a:xfrm>
            <a:off x="6442538" y="3465513"/>
            <a:ext cx="2160000" cy="1080000"/>
          </a:xfrm>
          <a:prstGeom prst="hexagon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Is mark</a:t>
            </a:r>
          </a:p>
          <a:p>
            <a:pPr algn="ctr"/>
            <a:r>
              <a:rPr lang="en-GB" sz="2400" dirty="0">
                <a:solidFill>
                  <a:schemeClr val="tx1"/>
                </a:solidFill>
              </a:rPr>
              <a:t>&gt;= 50?</a:t>
            </a:r>
          </a:p>
        </p:txBody>
      </p:sp>
    </p:spTree>
    <p:extLst>
      <p:ext uri="{BB962C8B-B14F-4D97-AF65-F5344CB8AC3E}">
        <p14:creationId xmlns:p14="http://schemas.microsoft.com/office/powerpoint/2010/main" val="355651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 animBg="1"/>
      <p:bldP spid="18" grpId="0" animBg="1"/>
      <p:bldP spid="21" grpId="0" animBg="1"/>
      <p:bldP spid="23" grpId="0" animBg="1"/>
      <p:bldP spid="22" grpId="0" animBg="1"/>
    </p:bldLst>
  </p:timing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01D18CE-D8B0-4EF6-AA6E-2FC940D4D1CD}"/>
              </a:ext>
            </a:extLst>
          </p:cNvPr>
          <p:cNvGrpSpPr/>
          <p:nvPr/>
        </p:nvGrpSpPr>
        <p:grpSpPr>
          <a:xfrm>
            <a:off x="5763152" y="4544089"/>
            <a:ext cx="3514089" cy="640828"/>
            <a:chOff x="5763152" y="4544089"/>
            <a:chExt cx="3514089" cy="640828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F99D241-6787-474E-94E1-54054FDA69D0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H="1" flipV="1">
              <a:off x="7529277" y="4544089"/>
              <a:ext cx="1440828" cy="64082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83EC3F4-18C1-48AD-9F1A-83468A29F35F}"/>
                </a:ext>
              </a:extLst>
            </p:cNvPr>
            <p:cNvCxnSpPr>
              <a:cxnSpLocks/>
              <a:stCxn id="14" idx="0"/>
            </p:cNvCxnSpPr>
            <p:nvPr/>
          </p:nvCxnSpPr>
          <p:spPr>
            <a:xfrm flipV="1">
              <a:off x="6129378" y="4544089"/>
              <a:ext cx="1402027" cy="64082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9036248-8898-44CE-AC06-35D748528461}"/>
                </a:ext>
              </a:extLst>
            </p:cNvPr>
            <p:cNvSpPr txBox="1"/>
            <p:nvPr/>
          </p:nvSpPr>
          <p:spPr>
            <a:xfrm>
              <a:off x="5763152" y="4599993"/>
              <a:ext cx="6656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/>
                <a:t>Yes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9B0E230-F4FB-45F8-AAE4-7EB39C58E853}"/>
                </a:ext>
              </a:extLst>
            </p:cNvPr>
            <p:cNvSpPr txBox="1"/>
            <p:nvPr/>
          </p:nvSpPr>
          <p:spPr>
            <a:xfrm>
              <a:off x="8662969" y="4602893"/>
              <a:ext cx="6142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/>
                <a:t>No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95308F7-8F58-42F4-AECC-CC89502FB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Structure Diagrams – Example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DBCB8A-2E3A-4783-8B08-A66A226F4E82}"/>
              </a:ext>
            </a:extLst>
          </p:cNvPr>
          <p:cNvSpPr/>
          <p:nvPr/>
        </p:nvSpPr>
        <p:spPr>
          <a:xfrm>
            <a:off x="5016000" y="1686047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Determine</a:t>
            </a:r>
          </a:p>
          <a:p>
            <a:pPr algn="ctr"/>
            <a:r>
              <a:rPr lang="en-GB" sz="2400" dirty="0">
                <a:solidFill>
                  <a:schemeClr val="tx1"/>
                </a:solidFill>
              </a:rPr>
              <a:t>Pass / Fail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2269928-ADD2-4301-A218-BAB1ECC6054D}"/>
              </a:ext>
            </a:extLst>
          </p:cNvPr>
          <p:cNvGrpSpPr/>
          <p:nvPr/>
        </p:nvGrpSpPr>
        <p:grpSpPr>
          <a:xfrm>
            <a:off x="1763248" y="2766047"/>
            <a:ext cx="8658110" cy="710172"/>
            <a:chOff x="1758046" y="2590688"/>
            <a:chExt cx="8658110" cy="710172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2827755-A904-4CE6-AA0D-584E92A908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16156" y="2837289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D66F9B0-1F3F-4B40-A721-BDCBAF1DC6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6203" y="2868860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958D091-C5EA-4FA4-96A7-AB843EFFC9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5860" y="2590688"/>
              <a:ext cx="0" cy="28132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B02DE1B-D1AC-4D0E-9463-CFD698ACDE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6189" y="2858105"/>
              <a:ext cx="1088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3D34812-07CF-41AD-9FA7-8C001A6B48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5848" y="2851558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96E9659-8E3E-4021-A0B3-C771EED89525}"/>
                </a:ext>
              </a:extLst>
            </p:cNvPr>
            <p:cNvCxnSpPr/>
            <p:nvPr/>
          </p:nvCxnSpPr>
          <p:spPr>
            <a:xfrm>
              <a:off x="1758046" y="2859742"/>
              <a:ext cx="8640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31B1890-4B11-47C2-9531-07AE684CD2D0}"/>
              </a:ext>
            </a:extLst>
          </p:cNvPr>
          <p:cNvSpPr/>
          <p:nvPr/>
        </p:nvSpPr>
        <p:spPr>
          <a:xfrm>
            <a:off x="5049378" y="5184917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Set result to pass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874F2D-BD99-4D6C-98D2-3C9468CDAF50}"/>
              </a:ext>
            </a:extLst>
          </p:cNvPr>
          <p:cNvSpPr/>
          <p:nvPr/>
        </p:nvSpPr>
        <p:spPr>
          <a:xfrm>
            <a:off x="7890105" y="5184917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Set result to</a:t>
            </a:r>
          </a:p>
          <a:p>
            <a:pPr algn="ctr"/>
            <a:r>
              <a:rPr lang="en-GB" sz="2400" dirty="0">
                <a:solidFill>
                  <a:schemeClr val="tx1"/>
                </a:solidFill>
              </a:rPr>
              <a:t>fail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D846CF-F2A2-4483-8D74-0083FD19BB33}"/>
              </a:ext>
            </a:extLst>
          </p:cNvPr>
          <p:cNvSpPr/>
          <p:nvPr/>
        </p:nvSpPr>
        <p:spPr>
          <a:xfrm>
            <a:off x="3522448" y="3473648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Get valid mark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35B98A-958A-4A65-B0BE-98F4FFADE7A1}"/>
              </a:ext>
            </a:extLst>
          </p:cNvPr>
          <p:cNvSpPr/>
          <p:nvPr/>
        </p:nvSpPr>
        <p:spPr>
          <a:xfrm>
            <a:off x="9243706" y="3464088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Display result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75911C-671F-442F-BF19-0118812EF045}"/>
              </a:ext>
            </a:extLst>
          </p:cNvPr>
          <p:cNvSpPr/>
          <p:nvPr/>
        </p:nvSpPr>
        <p:spPr>
          <a:xfrm>
            <a:off x="681332" y="3464088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Initialise variables</a:t>
            </a:r>
          </a:p>
        </p:txBody>
      </p:sp>
      <p:sp>
        <p:nvSpPr>
          <p:cNvPr id="22" name="Hexagon 21">
            <a:extLst>
              <a:ext uri="{FF2B5EF4-FFF2-40B4-BE49-F238E27FC236}">
                <a16:creationId xmlns:a16="http://schemas.microsoft.com/office/drawing/2014/main" id="{D019096B-5D63-40C4-A445-3A337FA285C1}"/>
              </a:ext>
            </a:extLst>
          </p:cNvPr>
          <p:cNvSpPr/>
          <p:nvPr/>
        </p:nvSpPr>
        <p:spPr>
          <a:xfrm>
            <a:off x="6442538" y="3465513"/>
            <a:ext cx="2160000" cy="1080000"/>
          </a:xfrm>
          <a:prstGeom prst="hexagon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Is mark</a:t>
            </a:r>
          </a:p>
          <a:p>
            <a:pPr algn="ctr"/>
            <a:r>
              <a:rPr lang="en-GB" sz="2400" dirty="0">
                <a:solidFill>
                  <a:schemeClr val="tx1"/>
                </a:solidFill>
              </a:rPr>
              <a:t>&gt;= 50?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DE6F0F-4438-4504-875E-04AAF0696B9E}"/>
              </a:ext>
            </a:extLst>
          </p:cNvPr>
          <p:cNvSpPr txBox="1"/>
          <p:nvPr/>
        </p:nvSpPr>
        <p:spPr>
          <a:xfrm>
            <a:off x="323296" y="318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2DB5EC5-8A2E-413E-A2F4-8D67CC9B8875}"/>
              </a:ext>
            </a:extLst>
          </p:cNvPr>
          <p:cNvSpPr txBox="1"/>
          <p:nvPr/>
        </p:nvSpPr>
        <p:spPr>
          <a:xfrm>
            <a:off x="3188054" y="3173076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474DBE-6DD8-471F-B894-0E1BBFCB7037}"/>
              </a:ext>
            </a:extLst>
          </p:cNvPr>
          <p:cNvSpPr txBox="1"/>
          <p:nvPr/>
        </p:nvSpPr>
        <p:spPr>
          <a:xfrm>
            <a:off x="6244922" y="318153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E945E49-340A-40C2-BFC6-3EADB7A613F5}"/>
              </a:ext>
            </a:extLst>
          </p:cNvPr>
          <p:cNvSpPr txBox="1"/>
          <p:nvPr/>
        </p:nvSpPr>
        <p:spPr>
          <a:xfrm>
            <a:off x="4420965" y="59081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4a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D6C8FAD-D2E7-47BF-922C-E8665CF344D6}"/>
              </a:ext>
            </a:extLst>
          </p:cNvPr>
          <p:cNvSpPr txBox="1"/>
          <p:nvPr/>
        </p:nvSpPr>
        <p:spPr>
          <a:xfrm>
            <a:off x="8869104" y="318125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E06B98D-5A07-40AF-987F-406563A07C48}"/>
              </a:ext>
            </a:extLst>
          </p:cNvPr>
          <p:cNvSpPr txBox="1"/>
          <p:nvPr/>
        </p:nvSpPr>
        <p:spPr>
          <a:xfrm>
            <a:off x="10105730" y="5908100"/>
            <a:ext cx="6094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4b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F0D6B9-1E7F-41F2-993A-4D076D6D80BB}"/>
              </a:ext>
            </a:extLst>
          </p:cNvPr>
          <p:cNvSpPr txBox="1"/>
          <p:nvPr/>
        </p:nvSpPr>
        <p:spPr>
          <a:xfrm>
            <a:off x="4614554" y="1398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36C1E6-BF33-4D0D-9817-9A20CAE553A4}"/>
              </a:ext>
            </a:extLst>
          </p:cNvPr>
          <p:cNvSpPr txBox="1"/>
          <p:nvPr/>
        </p:nvSpPr>
        <p:spPr>
          <a:xfrm>
            <a:off x="8792350" y="1418456"/>
            <a:ext cx="261135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7030A0"/>
                </a:solidFill>
              </a:rPr>
              <a:t>Top to bottom</a:t>
            </a:r>
          </a:p>
          <a:p>
            <a:r>
              <a:rPr lang="en-GB" sz="3200" b="1" dirty="0">
                <a:solidFill>
                  <a:srgbClr val="7030A0"/>
                </a:solidFill>
              </a:rPr>
              <a:t>Left to right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B69F1F-BF9E-4FDE-BCA3-75D909F404DA}"/>
              </a:ext>
            </a:extLst>
          </p:cNvPr>
          <p:cNvSpPr txBox="1"/>
          <p:nvPr/>
        </p:nvSpPr>
        <p:spPr>
          <a:xfrm>
            <a:off x="5263868" y="6217434"/>
            <a:ext cx="45940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(Only </a:t>
            </a:r>
            <a:r>
              <a:rPr lang="en-GB" sz="3200" b="1" i="1" dirty="0">
                <a:solidFill>
                  <a:srgbClr val="FF0000"/>
                </a:solidFill>
              </a:rPr>
              <a:t>Yes</a:t>
            </a:r>
            <a:r>
              <a:rPr lang="en-GB" sz="3200" b="1" dirty="0">
                <a:solidFill>
                  <a:srgbClr val="FF0000"/>
                </a:solidFill>
              </a:rPr>
              <a:t> or </a:t>
            </a:r>
            <a:r>
              <a:rPr lang="en-GB" sz="3200" b="1" i="1" dirty="0">
                <a:solidFill>
                  <a:srgbClr val="FF0000"/>
                </a:solidFill>
              </a:rPr>
              <a:t>No</a:t>
            </a:r>
            <a:r>
              <a:rPr lang="en-GB" sz="3200" b="1" dirty="0">
                <a:solidFill>
                  <a:srgbClr val="FF0000"/>
                </a:solidFill>
              </a:rPr>
              <a:t>, not both)</a:t>
            </a:r>
          </a:p>
        </p:txBody>
      </p:sp>
    </p:spTree>
    <p:extLst>
      <p:ext uri="{BB962C8B-B14F-4D97-AF65-F5344CB8AC3E}">
        <p14:creationId xmlns:p14="http://schemas.microsoft.com/office/powerpoint/2010/main" val="509563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5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1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 animBg="1"/>
      <p:bldP spid="16" grpId="0" animBg="1"/>
      <p:bldP spid="18" grpId="0" animBg="1"/>
      <p:bldP spid="21" grpId="0" animBg="1"/>
      <p:bldP spid="23" grpId="0" animBg="1"/>
      <p:bldP spid="22" grpId="0" animBg="1"/>
      <p:bldP spid="45" grpId="0"/>
      <p:bldP spid="47" grpId="0"/>
      <p:bldP spid="48" grpId="0"/>
      <p:bldP spid="49" grpId="0"/>
      <p:bldP spid="50" grpId="0"/>
      <p:bldP spid="33" grpId="0"/>
      <p:bldP spid="35" grpId="0" build="p"/>
      <p:bldP spid="36" grpId="0"/>
    </p:bldLst>
  </p:timing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01D18CE-D8B0-4EF6-AA6E-2FC940D4D1CD}"/>
              </a:ext>
            </a:extLst>
          </p:cNvPr>
          <p:cNvGrpSpPr/>
          <p:nvPr/>
        </p:nvGrpSpPr>
        <p:grpSpPr>
          <a:xfrm>
            <a:off x="6129378" y="4544089"/>
            <a:ext cx="2840727" cy="640828"/>
            <a:chOff x="6129378" y="4544089"/>
            <a:chExt cx="2840727" cy="640828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F99D241-6787-474E-94E1-54054FDA69D0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H="1" flipV="1">
              <a:off x="7529277" y="4544089"/>
              <a:ext cx="1440828" cy="64082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83EC3F4-18C1-48AD-9F1A-83468A29F35F}"/>
                </a:ext>
              </a:extLst>
            </p:cNvPr>
            <p:cNvCxnSpPr>
              <a:cxnSpLocks/>
              <a:stCxn id="14" idx="0"/>
            </p:cNvCxnSpPr>
            <p:nvPr/>
          </p:nvCxnSpPr>
          <p:spPr>
            <a:xfrm flipV="1">
              <a:off x="6129378" y="4544089"/>
              <a:ext cx="1402027" cy="64082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95308F7-8F58-42F4-AECC-CC89502FB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Structure Diagrams – Example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DBCB8A-2E3A-4783-8B08-A66A226F4E82}"/>
              </a:ext>
            </a:extLst>
          </p:cNvPr>
          <p:cNvSpPr/>
          <p:nvPr/>
        </p:nvSpPr>
        <p:spPr>
          <a:xfrm>
            <a:off x="5016000" y="1686047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Determine</a:t>
            </a:r>
          </a:p>
          <a:p>
            <a:pPr algn="ctr"/>
            <a:r>
              <a:rPr lang="en-GB" sz="2400" dirty="0">
                <a:solidFill>
                  <a:schemeClr val="tx1"/>
                </a:solidFill>
              </a:rPr>
              <a:t>Pass / Fail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2269928-ADD2-4301-A218-BAB1ECC6054D}"/>
              </a:ext>
            </a:extLst>
          </p:cNvPr>
          <p:cNvGrpSpPr/>
          <p:nvPr/>
        </p:nvGrpSpPr>
        <p:grpSpPr>
          <a:xfrm>
            <a:off x="1763248" y="2766047"/>
            <a:ext cx="8658110" cy="710172"/>
            <a:chOff x="1758046" y="2590688"/>
            <a:chExt cx="8658110" cy="710172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2827755-A904-4CE6-AA0D-584E92A908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16156" y="2837289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D66F9B0-1F3F-4B40-A721-BDCBAF1DC6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6203" y="2868860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958D091-C5EA-4FA4-96A7-AB843EFFC9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5860" y="2590688"/>
              <a:ext cx="0" cy="28132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B02DE1B-D1AC-4D0E-9463-CFD698ACDE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6189" y="2858105"/>
              <a:ext cx="1088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3D34812-07CF-41AD-9FA7-8C001A6B48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5848" y="2851558"/>
              <a:ext cx="0" cy="432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96E9659-8E3E-4021-A0B3-C771EED89525}"/>
                </a:ext>
              </a:extLst>
            </p:cNvPr>
            <p:cNvCxnSpPr/>
            <p:nvPr/>
          </p:nvCxnSpPr>
          <p:spPr>
            <a:xfrm>
              <a:off x="1758046" y="2859742"/>
              <a:ext cx="8640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31B1890-4B11-47C2-9531-07AE684CD2D0}"/>
              </a:ext>
            </a:extLst>
          </p:cNvPr>
          <p:cNvSpPr/>
          <p:nvPr/>
        </p:nvSpPr>
        <p:spPr>
          <a:xfrm>
            <a:off x="5049378" y="5184917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Set result to pass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874F2D-BD99-4D6C-98D2-3C9468CDAF50}"/>
              </a:ext>
            </a:extLst>
          </p:cNvPr>
          <p:cNvSpPr/>
          <p:nvPr/>
        </p:nvSpPr>
        <p:spPr>
          <a:xfrm>
            <a:off x="7890105" y="5184917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Set result to</a:t>
            </a:r>
          </a:p>
          <a:p>
            <a:pPr algn="ctr"/>
            <a:r>
              <a:rPr lang="en-GB" sz="2400" dirty="0">
                <a:solidFill>
                  <a:schemeClr val="tx1"/>
                </a:solidFill>
              </a:rPr>
              <a:t>fail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D846CF-F2A2-4483-8D74-0083FD19BB33}"/>
              </a:ext>
            </a:extLst>
          </p:cNvPr>
          <p:cNvSpPr/>
          <p:nvPr/>
        </p:nvSpPr>
        <p:spPr>
          <a:xfrm>
            <a:off x="3522448" y="3473648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Get valid mark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35B98A-958A-4A65-B0BE-98F4FFADE7A1}"/>
              </a:ext>
            </a:extLst>
          </p:cNvPr>
          <p:cNvSpPr/>
          <p:nvPr/>
        </p:nvSpPr>
        <p:spPr>
          <a:xfrm>
            <a:off x="9243706" y="3464088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Display result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75911C-671F-442F-BF19-0118812EF045}"/>
              </a:ext>
            </a:extLst>
          </p:cNvPr>
          <p:cNvSpPr/>
          <p:nvPr/>
        </p:nvSpPr>
        <p:spPr>
          <a:xfrm>
            <a:off x="681332" y="3464088"/>
            <a:ext cx="2160000" cy="108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Initialise variables</a:t>
            </a:r>
          </a:p>
        </p:txBody>
      </p:sp>
      <p:sp>
        <p:nvSpPr>
          <p:cNvPr id="22" name="Hexagon 21">
            <a:extLst>
              <a:ext uri="{FF2B5EF4-FFF2-40B4-BE49-F238E27FC236}">
                <a16:creationId xmlns:a16="http://schemas.microsoft.com/office/drawing/2014/main" id="{D019096B-5D63-40C4-A445-3A337FA285C1}"/>
              </a:ext>
            </a:extLst>
          </p:cNvPr>
          <p:cNvSpPr/>
          <p:nvPr/>
        </p:nvSpPr>
        <p:spPr>
          <a:xfrm>
            <a:off x="6442538" y="3465513"/>
            <a:ext cx="2160000" cy="1080000"/>
          </a:xfrm>
          <a:prstGeom prst="hexagon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41101"/>
      </p:ext>
    </p:extLst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noProof="0" dirty="0"/>
              <a:t>Describe, identify, and be able to read and understand:</a:t>
            </a:r>
          </a:p>
          <a:p>
            <a:pPr lvl="1"/>
            <a:r>
              <a:rPr lang="en-GB" sz="3200" noProof="0" dirty="0"/>
              <a:t>structure diagrams</a:t>
            </a:r>
          </a:p>
          <a:p>
            <a:pPr lvl="1"/>
            <a:r>
              <a:rPr lang="en-GB" sz="3200" b="1" noProof="0" dirty="0"/>
              <a:t>flowcharts</a:t>
            </a:r>
          </a:p>
          <a:p>
            <a:pPr lvl="1"/>
            <a:r>
              <a:rPr lang="en-GB" sz="3200" noProof="0" dirty="0"/>
              <a:t>pseudocode</a:t>
            </a:r>
          </a:p>
          <a:p>
            <a:r>
              <a:rPr lang="en-GB" noProof="0" dirty="0"/>
              <a:t>Exemplify and implement one of the above design techniques to design efficient solutions to a problem.</a:t>
            </a:r>
          </a:p>
        </p:txBody>
      </p:sp>
    </p:spTree>
    <p:extLst>
      <p:ext uri="{BB962C8B-B14F-4D97-AF65-F5344CB8AC3E}">
        <p14:creationId xmlns:p14="http://schemas.microsoft.com/office/powerpoint/2010/main" val="1160263806"/>
      </p:ext>
    </p:extLst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40D7-A9B3-4CD9-A421-E59E72CD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Flowcharts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F7FE1-4B01-47EA-B5A2-F77F0B34E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Begin at </a:t>
            </a:r>
            <a:r>
              <a:rPr lang="en-GB" i="1" noProof="0" dirty="0">
                <a:solidFill>
                  <a:srgbClr val="7030A0"/>
                </a:solidFill>
              </a:rPr>
              <a:t>start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Follow the </a:t>
            </a:r>
            <a:r>
              <a:rPr lang="en-GB" i="1" noProof="0" dirty="0">
                <a:solidFill>
                  <a:srgbClr val="7030A0"/>
                </a:solidFill>
              </a:rPr>
              <a:t>arrows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Finish at </a:t>
            </a:r>
            <a:r>
              <a:rPr lang="en-GB" i="1" noProof="0" dirty="0">
                <a:solidFill>
                  <a:srgbClr val="7030A0"/>
                </a:solidFill>
              </a:rPr>
              <a:t>end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B4C61B-29E4-53C5-5BB8-FD0517FAC79E}"/>
              </a:ext>
            </a:extLst>
          </p:cNvPr>
          <p:cNvSpPr/>
          <p:nvPr/>
        </p:nvSpPr>
        <p:spPr>
          <a:xfrm>
            <a:off x="3596340" y="4867204"/>
            <a:ext cx="2160000" cy="144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1D7AF11-2A47-277B-9B5A-F6FB712EDF77}"/>
              </a:ext>
            </a:extLst>
          </p:cNvPr>
          <p:cNvSpPr/>
          <p:nvPr/>
        </p:nvSpPr>
        <p:spPr>
          <a:xfrm>
            <a:off x="1128093" y="3655996"/>
            <a:ext cx="1404000" cy="720000"/>
          </a:xfrm>
          <a:prstGeom prst="roundRect">
            <a:avLst>
              <a:gd name="adj" fmla="val 50000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3AAF7A6B-903A-875F-1CFE-E5733CB5AE99}"/>
              </a:ext>
            </a:extLst>
          </p:cNvPr>
          <p:cNvSpPr/>
          <p:nvPr/>
        </p:nvSpPr>
        <p:spPr>
          <a:xfrm>
            <a:off x="5416800" y="2896890"/>
            <a:ext cx="2160000" cy="1440000"/>
          </a:xfrm>
          <a:prstGeom prst="hexagon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8744F60-19F5-7550-F5C0-796944DCBA9D}"/>
              </a:ext>
            </a:extLst>
          </p:cNvPr>
          <p:cNvGrpSpPr/>
          <p:nvPr/>
        </p:nvGrpSpPr>
        <p:grpSpPr>
          <a:xfrm>
            <a:off x="6863213" y="4853781"/>
            <a:ext cx="2160000" cy="1444752"/>
            <a:chOff x="6779516" y="4925568"/>
            <a:chExt cx="2160000" cy="1444752"/>
          </a:xfrm>
        </p:grpSpPr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65E7AFCA-35A8-A5BE-204B-9FE2B4AC8845}"/>
                </a:ext>
              </a:extLst>
            </p:cNvPr>
            <p:cNvSpPr/>
            <p:nvPr/>
          </p:nvSpPr>
          <p:spPr>
            <a:xfrm>
              <a:off x="6779516" y="4925568"/>
              <a:ext cx="2160000" cy="1444752"/>
            </a:xfrm>
            <a:custGeom>
              <a:avLst/>
              <a:gdLst>
                <a:gd name="connsiteX0" fmla="*/ 0 w 2160000"/>
                <a:gd name="connsiteY0" fmla="*/ 0 h 1440000"/>
                <a:gd name="connsiteX1" fmla="*/ 2160000 w 2160000"/>
                <a:gd name="connsiteY1" fmla="*/ 0 h 1440000"/>
                <a:gd name="connsiteX2" fmla="*/ 2160000 w 2160000"/>
                <a:gd name="connsiteY2" fmla="*/ 1440000 h 1440000"/>
                <a:gd name="connsiteX3" fmla="*/ 0 w 2160000"/>
                <a:gd name="connsiteY3" fmla="*/ 1440000 h 1440000"/>
                <a:gd name="connsiteX4" fmla="*/ 0 w 2160000"/>
                <a:gd name="connsiteY4" fmla="*/ 0 h 1440000"/>
                <a:gd name="connsiteX0" fmla="*/ 0 w 2160000"/>
                <a:gd name="connsiteY0" fmla="*/ 0 h 1440000"/>
                <a:gd name="connsiteX1" fmla="*/ 432052 w 2160000"/>
                <a:gd name="connsiteY1" fmla="*/ 1934 h 1440000"/>
                <a:gd name="connsiteX2" fmla="*/ 2160000 w 2160000"/>
                <a:gd name="connsiteY2" fmla="*/ 0 h 1440000"/>
                <a:gd name="connsiteX3" fmla="*/ 2160000 w 2160000"/>
                <a:gd name="connsiteY3" fmla="*/ 1440000 h 1440000"/>
                <a:gd name="connsiteX4" fmla="*/ 0 w 2160000"/>
                <a:gd name="connsiteY4" fmla="*/ 1440000 h 1440000"/>
                <a:gd name="connsiteX5" fmla="*/ 0 w 2160000"/>
                <a:gd name="connsiteY5" fmla="*/ 0 h 1440000"/>
                <a:gd name="connsiteX0" fmla="*/ 0 w 2160000"/>
                <a:gd name="connsiteY0" fmla="*/ 0 h 1440590"/>
                <a:gd name="connsiteX1" fmla="*/ 432052 w 2160000"/>
                <a:gd name="connsiteY1" fmla="*/ 1934 h 1440590"/>
                <a:gd name="connsiteX2" fmla="*/ 2160000 w 2160000"/>
                <a:gd name="connsiteY2" fmla="*/ 0 h 1440590"/>
                <a:gd name="connsiteX3" fmla="*/ 2160000 w 2160000"/>
                <a:gd name="connsiteY3" fmla="*/ 1440000 h 1440590"/>
                <a:gd name="connsiteX4" fmla="*/ 432052 w 2160000"/>
                <a:gd name="connsiteY4" fmla="*/ 1440590 h 1440590"/>
                <a:gd name="connsiteX5" fmla="*/ 0 w 2160000"/>
                <a:gd name="connsiteY5" fmla="*/ 1440000 h 1440590"/>
                <a:gd name="connsiteX6" fmla="*/ 0 w 2160000"/>
                <a:gd name="connsiteY6" fmla="*/ 0 h 1440590"/>
                <a:gd name="connsiteX0" fmla="*/ 0 w 2160000"/>
                <a:gd name="connsiteY0" fmla="*/ 0 h 1440590"/>
                <a:gd name="connsiteX1" fmla="*/ 432052 w 2160000"/>
                <a:gd name="connsiteY1" fmla="*/ 1934 h 1440590"/>
                <a:gd name="connsiteX2" fmla="*/ 2160000 w 2160000"/>
                <a:gd name="connsiteY2" fmla="*/ 0 h 1440590"/>
                <a:gd name="connsiteX3" fmla="*/ 2160000 w 2160000"/>
                <a:gd name="connsiteY3" fmla="*/ 1440000 h 1440590"/>
                <a:gd name="connsiteX4" fmla="*/ 1730500 w 2160000"/>
                <a:gd name="connsiteY4" fmla="*/ 1440590 h 1440590"/>
                <a:gd name="connsiteX5" fmla="*/ 432052 w 2160000"/>
                <a:gd name="connsiteY5" fmla="*/ 1440590 h 1440590"/>
                <a:gd name="connsiteX6" fmla="*/ 0 w 2160000"/>
                <a:gd name="connsiteY6" fmla="*/ 1440000 h 1440590"/>
                <a:gd name="connsiteX7" fmla="*/ 0 w 2160000"/>
                <a:gd name="connsiteY7" fmla="*/ 0 h 1440590"/>
                <a:gd name="connsiteX0" fmla="*/ 0 w 2160000"/>
                <a:gd name="connsiteY0" fmla="*/ 4162 h 1444752"/>
                <a:gd name="connsiteX1" fmla="*/ 432052 w 2160000"/>
                <a:gd name="connsiteY1" fmla="*/ 6096 h 1444752"/>
                <a:gd name="connsiteX2" fmla="*/ 171221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730500 w 2160000"/>
                <a:gd name="connsiteY5" fmla="*/ 1444752 h 1444752"/>
                <a:gd name="connsiteX6" fmla="*/ 43205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  <a:gd name="connsiteX0" fmla="*/ 0 w 2160000"/>
                <a:gd name="connsiteY0" fmla="*/ 4162 h 1444752"/>
                <a:gd name="connsiteX1" fmla="*/ 432052 w 2160000"/>
                <a:gd name="connsiteY1" fmla="*/ 6096 h 1444752"/>
                <a:gd name="connsiteX2" fmla="*/ 196367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730500 w 2160000"/>
                <a:gd name="connsiteY5" fmla="*/ 1444752 h 1444752"/>
                <a:gd name="connsiteX6" fmla="*/ 43205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  <a:gd name="connsiteX0" fmla="*/ 0 w 2160000"/>
                <a:gd name="connsiteY0" fmla="*/ 4162 h 1444752"/>
                <a:gd name="connsiteX1" fmla="*/ 432052 w 2160000"/>
                <a:gd name="connsiteY1" fmla="*/ 6096 h 1444752"/>
                <a:gd name="connsiteX2" fmla="*/ 196367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961640 w 2160000"/>
                <a:gd name="connsiteY5" fmla="*/ 1444752 h 1444752"/>
                <a:gd name="connsiteX6" fmla="*/ 43205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  <a:gd name="connsiteX0" fmla="*/ 0 w 2160000"/>
                <a:gd name="connsiteY0" fmla="*/ 4162 h 1444752"/>
                <a:gd name="connsiteX1" fmla="*/ 200912 w 2160000"/>
                <a:gd name="connsiteY1" fmla="*/ 3556 h 1444752"/>
                <a:gd name="connsiteX2" fmla="*/ 196367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961640 w 2160000"/>
                <a:gd name="connsiteY5" fmla="*/ 1444752 h 1444752"/>
                <a:gd name="connsiteX6" fmla="*/ 43205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  <a:gd name="connsiteX0" fmla="*/ 0 w 2160000"/>
                <a:gd name="connsiteY0" fmla="*/ 4162 h 1444752"/>
                <a:gd name="connsiteX1" fmla="*/ 200912 w 2160000"/>
                <a:gd name="connsiteY1" fmla="*/ 3556 h 1444752"/>
                <a:gd name="connsiteX2" fmla="*/ 196367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961640 w 2160000"/>
                <a:gd name="connsiteY5" fmla="*/ 1444752 h 1444752"/>
                <a:gd name="connsiteX6" fmla="*/ 20091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000" h="1444752">
                  <a:moveTo>
                    <a:pt x="0" y="4162"/>
                  </a:moveTo>
                  <a:lnTo>
                    <a:pt x="200912" y="3556"/>
                  </a:lnTo>
                  <a:lnTo>
                    <a:pt x="1963672" y="0"/>
                  </a:lnTo>
                  <a:lnTo>
                    <a:pt x="2160000" y="4162"/>
                  </a:lnTo>
                  <a:lnTo>
                    <a:pt x="2160000" y="1444162"/>
                  </a:lnTo>
                  <a:lnTo>
                    <a:pt x="1961640" y="1444752"/>
                  </a:lnTo>
                  <a:lnTo>
                    <a:pt x="200912" y="1444752"/>
                  </a:lnTo>
                  <a:lnTo>
                    <a:pt x="0" y="1444162"/>
                  </a:lnTo>
                  <a:lnTo>
                    <a:pt x="0" y="4162"/>
                  </a:ln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80B1CAC-FC00-BE8F-0BBA-D97A469B4D9E}"/>
                </a:ext>
              </a:extLst>
            </p:cNvPr>
            <p:cNvCxnSpPr>
              <a:stCxn id="8" idx="1"/>
              <a:endCxn id="8" idx="6"/>
            </p:cNvCxnSpPr>
            <p:nvPr/>
          </p:nvCxnSpPr>
          <p:spPr>
            <a:xfrm>
              <a:off x="6980428" y="4929124"/>
              <a:ext cx="0" cy="1441196"/>
            </a:xfrm>
            <a:prstGeom prst="lin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F110458-439D-BE45-875B-6655AF9E7D04}"/>
                </a:ext>
              </a:extLst>
            </p:cNvPr>
            <p:cNvCxnSpPr>
              <a:cxnSpLocks/>
              <a:stCxn id="8" idx="2"/>
              <a:endCxn id="8" idx="5"/>
            </p:cNvCxnSpPr>
            <p:nvPr/>
          </p:nvCxnSpPr>
          <p:spPr>
            <a:xfrm flipH="1">
              <a:off x="8741156" y="4925568"/>
              <a:ext cx="2032" cy="1444752"/>
            </a:xfrm>
            <a:prstGeom prst="lin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DEAB7B7-467B-636D-2688-B5CB525482FE}"/>
              </a:ext>
            </a:extLst>
          </p:cNvPr>
          <p:cNvSpPr/>
          <p:nvPr/>
        </p:nvSpPr>
        <p:spPr>
          <a:xfrm>
            <a:off x="10279428" y="5393950"/>
            <a:ext cx="360000" cy="3600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3E98C903-74B3-1CA1-825C-7AB052F12503}"/>
              </a:ext>
            </a:extLst>
          </p:cNvPr>
          <p:cNvSpPr/>
          <p:nvPr/>
        </p:nvSpPr>
        <p:spPr>
          <a:xfrm>
            <a:off x="8479428" y="2935996"/>
            <a:ext cx="2160000" cy="1440000"/>
          </a:xfrm>
          <a:prstGeom prst="parallelogram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E5862FBB-AD4E-BD36-C87C-616D44EA10E8}"/>
              </a:ext>
            </a:extLst>
          </p:cNvPr>
          <p:cNvSpPr/>
          <p:nvPr/>
        </p:nvSpPr>
        <p:spPr>
          <a:xfrm>
            <a:off x="1049467" y="4862928"/>
            <a:ext cx="1440000" cy="1440000"/>
          </a:xfrm>
          <a:prstGeom prst="diamond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1F29652-03B1-61D8-501A-4DCF860EF332}"/>
              </a:ext>
            </a:extLst>
          </p:cNvPr>
          <p:cNvCxnSpPr/>
          <p:nvPr/>
        </p:nvCxnSpPr>
        <p:spPr>
          <a:xfrm>
            <a:off x="3512440" y="4064309"/>
            <a:ext cx="1113182" cy="0"/>
          </a:xfrm>
          <a:prstGeom prst="straightConnector1">
            <a:avLst/>
          </a:prstGeom>
          <a:noFill/>
          <a:ln w="38100"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D22231A-0AC7-856C-6189-14E0EE787E28}"/>
              </a:ext>
            </a:extLst>
          </p:cNvPr>
          <p:cNvSpPr/>
          <p:nvPr/>
        </p:nvSpPr>
        <p:spPr>
          <a:xfrm>
            <a:off x="4021930" y="5325593"/>
            <a:ext cx="13088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800" b="1" dirty="0"/>
              <a:t>Process</a:t>
            </a:r>
            <a:endParaRPr lang="en-GB" sz="28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9E1FC2-8847-E419-81EE-A4E64D7849AA}"/>
              </a:ext>
            </a:extLst>
          </p:cNvPr>
          <p:cNvSpPr/>
          <p:nvPr/>
        </p:nvSpPr>
        <p:spPr>
          <a:xfrm>
            <a:off x="3620382" y="3574218"/>
            <a:ext cx="8972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800" b="1" dirty="0"/>
              <a:t>Flow</a:t>
            </a:r>
            <a:endParaRPr lang="en-GB" sz="28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A82F0E-862C-023D-13E6-DEF23788E7FD}"/>
              </a:ext>
            </a:extLst>
          </p:cNvPr>
          <p:cNvSpPr/>
          <p:nvPr/>
        </p:nvSpPr>
        <p:spPr>
          <a:xfrm>
            <a:off x="1090435" y="3766186"/>
            <a:ext cx="14793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800" b="1" dirty="0"/>
              <a:t>Terminal</a:t>
            </a:r>
            <a:endParaRPr lang="en-GB" sz="28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EACEEA-67C5-FC3E-C755-92BE55C51624}"/>
              </a:ext>
            </a:extLst>
          </p:cNvPr>
          <p:cNvSpPr/>
          <p:nvPr/>
        </p:nvSpPr>
        <p:spPr>
          <a:xfrm>
            <a:off x="6978173" y="5105755"/>
            <a:ext cx="1930079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800" b="1" dirty="0"/>
              <a:t>Pre-defined</a:t>
            </a:r>
          </a:p>
          <a:p>
            <a:pPr algn="ctr"/>
            <a:r>
              <a:rPr lang="en-GB" sz="2800" b="1" dirty="0"/>
              <a:t>function</a:t>
            </a:r>
            <a:endParaRPr lang="en-GB" sz="28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740E34-E7CE-2A75-C144-725C378706FB}"/>
              </a:ext>
            </a:extLst>
          </p:cNvPr>
          <p:cNvSpPr/>
          <p:nvPr/>
        </p:nvSpPr>
        <p:spPr>
          <a:xfrm>
            <a:off x="5474793" y="3355280"/>
            <a:ext cx="20440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800" b="1" dirty="0"/>
              <a:t>Initialisation</a:t>
            </a:r>
            <a:endParaRPr lang="en-GB" sz="28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211EFB-BA1B-A2F2-43AC-50C2B6BE2285}"/>
              </a:ext>
            </a:extLst>
          </p:cNvPr>
          <p:cNvSpPr/>
          <p:nvPr/>
        </p:nvSpPr>
        <p:spPr>
          <a:xfrm>
            <a:off x="8932493" y="3188149"/>
            <a:ext cx="1253869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800" b="1" dirty="0"/>
              <a:t>Input /</a:t>
            </a:r>
          </a:p>
          <a:p>
            <a:pPr algn="ctr"/>
            <a:r>
              <a:rPr lang="en-GB" sz="2800" b="1" dirty="0"/>
              <a:t>Output</a:t>
            </a:r>
            <a:endParaRPr lang="en-GB" sz="28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00DF69-E059-013C-28D9-35F145BAD9FF}"/>
              </a:ext>
            </a:extLst>
          </p:cNvPr>
          <p:cNvSpPr/>
          <p:nvPr/>
        </p:nvSpPr>
        <p:spPr>
          <a:xfrm>
            <a:off x="9489775" y="4797755"/>
            <a:ext cx="17264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800" b="1" dirty="0"/>
              <a:t>Connector</a:t>
            </a:r>
            <a:endParaRPr lang="en-GB" sz="28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AC73A6-2ECD-B818-B4D6-60C99EE82704}"/>
              </a:ext>
            </a:extLst>
          </p:cNvPr>
          <p:cNvSpPr/>
          <p:nvPr/>
        </p:nvSpPr>
        <p:spPr>
          <a:xfrm>
            <a:off x="1090435" y="5317204"/>
            <a:ext cx="1358064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600" b="1" dirty="0"/>
              <a:t>Decision</a:t>
            </a: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1647130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11" grpId="0" animBg="1"/>
      <p:bldP spid="12" grpId="0" animBg="1"/>
      <p:bldP spid="13" grpId="0" animBg="1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40D7-A9B3-4CD9-A421-E59E72CD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Flowcharts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F7FE1-4B01-47EA-B5A2-F77F0B34E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Begin at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Follow the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noProof="0" dirty="0"/>
              <a:t>Finish at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B4C61B-29E4-53C5-5BB8-FD0517FAC79E}"/>
              </a:ext>
            </a:extLst>
          </p:cNvPr>
          <p:cNvSpPr/>
          <p:nvPr/>
        </p:nvSpPr>
        <p:spPr>
          <a:xfrm>
            <a:off x="3596340" y="4867204"/>
            <a:ext cx="2160000" cy="144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1D7AF11-2A47-277B-9B5A-F6FB712EDF77}"/>
              </a:ext>
            </a:extLst>
          </p:cNvPr>
          <p:cNvSpPr/>
          <p:nvPr/>
        </p:nvSpPr>
        <p:spPr>
          <a:xfrm>
            <a:off x="1128093" y="3655996"/>
            <a:ext cx="1404000" cy="720000"/>
          </a:xfrm>
          <a:prstGeom prst="roundRect">
            <a:avLst>
              <a:gd name="adj" fmla="val 50000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3AAF7A6B-903A-875F-1CFE-E5733CB5AE99}"/>
              </a:ext>
            </a:extLst>
          </p:cNvPr>
          <p:cNvSpPr/>
          <p:nvPr/>
        </p:nvSpPr>
        <p:spPr>
          <a:xfrm>
            <a:off x="5416800" y="2896890"/>
            <a:ext cx="2160000" cy="1440000"/>
          </a:xfrm>
          <a:prstGeom prst="hexagon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8744F60-19F5-7550-F5C0-796944DCBA9D}"/>
              </a:ext>
            </a:extLst>
          </p:cNvPr>
          <p:cNvGrpSpPr/>
          <p:nvPr/>
        </p:nvGrpSpPr>
        <p:grpSpPr>
          <a:xfrm>
            <a:off x="6863213" y="4853781"/>
            <a:ext cx="2160000" cy="1444752"/>
            <a:chOff x="6779516" y="4925568"/>
            <a:chExt cx="2160000" cy="1444752"/>
          </a:xfrm>
        </p:grpSpPr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65E7AFCA-35A8-A5BE-204B-9FE2B4AC8845}"/>
                </a:ext>
              </a:extLst>
            </p:cNvPr>
            <p:cNvSpPr/>
            <p:nvPr/>
          </p:nvSpPr>
          <p:spPr>
            <a:xfrm>
              <a:off x="6779516" y="4925568"/>
              <a:ext cx="2160000" cy="1444752"/>
            </a:xfrm>
            <a:custGeom>
              <a:avLst/>
              <a:gdLst>
                <a:gd name="connsiteX0" fmla="*/ 0 w 2160000"/>
                <a:gd name="connsiteY0" fmla="*/ 0 h 1440000"/>
                <a:gd name="connsiteX1" fmla="*/ 2160000 w 2160000"/>
                <a:gd name="connsiteY1" fmla="*/ 0 h 1440000"/>
                <a:gd name="connsiteX2" fmla="*/ 2160000 w 2160000"/>
                <a:gd name="connsiteY2" fmla="*/ 1440000 h 1440000"/>
                <a:gd name="connsiteX3" fmla="*/ 0 w 2160000"/>
                <a:gd name="connsiteY3" fmla="*/ 1440000 h 1440000"/>
                <a:gd name="connsiteX4" fmla="*/ 0 w 2160000"/>
                <a:gd name="connsiteY4" fmla="*/ 0 h 1440000"/>
                <a:gd name="connsiteX0" fmla="*/ 0 w 2160000"/>
                <a:gd name="connsiteY0" fmla="*/ 0 h 1440000"/>
                <a:gd name="connsiteX1" fmla="*/ 432052 w 2160000"/>
                <a:gd name="connsiteY1" fmla="*/ 1934 h 1440000"/>
                <a:gd name="connsiteX2" fmla="*/ 2160000 w 2160000"/>
                <a:gd name="connsiteY2" fmla="*/ 0 h 1440000"/>
                <a:gd name="connsiteX3" fmla="*/ 2160000 w 2160000"/>
                <a:gd name="connsiteY3" fmla="*/ 1440000 h 1440000"/>
                <a:gd name="connsiteX4" fmla="*/ 0 w 2160000"/>
                <a:gd name="connsiteY4" fmla="*/ 1440000 h 1440000"/>
                <a:gd name="connsiteX5" fmla="*/ 0 w 2160000"/>
                <a:gd name="connsiteY5" fmla="*/ 0 h 1440000"/>
                <a:gd name="connsiteX0" fmla="*/ 0 w 2160000"/>
                <a:gd name="connsiteY0" fmla="*/ 0 h 1440590"/>
                <a:gd name="connsiteX1" fmla="*/ 432052 w 2160000"/>
                <a:gd name="connsiteY1" fmla="*/ 1934 h 1440590"/>
                <a:gd name="connsiteX2" fmla="*/ 2160000 w 2160000"/>
                <a:gd name="connsiteY2" fmla="*/ 0 h 1440590"/>
                <a:gd name="connsiteX3" fmla="*/ 2160000 w 2160000"/>
                <a:gd name="connsiteY3" fmla="*/ 1440000 h 1440590"/>
                <a:gd name="connsiteX4" fmla="*/ 432052 w 2160000"/>
                <a:gd name="connsiteY4" fmla="*/ 1440590 h 1440590"/>
                <a:gd name="connsiteX5" fmla="*/ 0 w 2160000"/>
                <a:gd name="connsiteY5" fmla="*/ 1440000 h 1440590"/>
                <a:gd name="connsiteX6" fmla="*/ 0 w 2160000"/>
                <a:gd name="connsiteY6" fmla="*/ 0 h 1440590"/>
                <a:gd name="connsiteX0" fmla="*/ 0 w 2160000"/>
                <a:gd name="connsiteY0" fmla="*/ 0 h 1440590"/>
                <a:gd name="connsiteX1" fmla="*/ 432052 w 2160000"/>
                <a:gd name="connsiteY1" fmla="*/ 1934 h 1440590"/>
                <a:gd name="connsiteX2" fmla="*/ 2160000 w 2160000"/>
                <a:gd name="connsiteY2" fmla="*/ 0 h 1440590"/>
                <a:gd name="connsiteX3" fmla="*/ 2160000 w 2160000"/>
                <a:gd name="connsiteY3" fmla="*/ 1440000 h 1440590"/>
                <a:gd name="connsiteX4" fmla="*/ 1730500 w 2160000"/>
                <a:gd name="connsiteY4" fmla="*/ 1440590 h 1440590"/>
                <a:gd name="connsiteX5" fmla="*/ 432052 w 2160000"/>
                <a:gd name="connsiteY5" fmla="*/ 1440590 h 1440590"/>
                <a:gd name="connsiteX6" fmla="*/ 0 w 2160000"/>
                <a:gd name="connsiteY6" fmla="*/ 1440000 h 1440590"/>
                <a:gd name="connsiteX7" fmla="*/ 0 w 2160000"/>
                <a:gd name="connsiteY7" fmla="*/ 0 h 1440590"/>
                <a:gd name="connsiteX0" fmla="*/ 0 w 2160000"/>
                <a:gd name="connsiteY0" fmla="*/ 4162 h 1444752"/>
                <a:gd name="connsiteX1" fmla="*/ 432052 w 2160000"/>
                <a:gd name="connsiteY1" fmla="*/ 6096 h 1444752"/>
                <a:gd name="connsiteX2" fmla="*/ 171221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730500 w 2160000"/>
                <a:gd name="connsiteY5" fmla="*/ 1444752 h 1444752"/>
                <a:gd name="connsiteX6" fmla="*/ 43205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  <a:gd name="connsiteX0" fmla="*/ 0 w 2160000"/>
                <a:gd name="connsiteY0" fmla="*/ 4162 h 1444752"/>
                <a:gd name="connsiteX1" fmla="*/ 432052 w 2160000"/>
                <a:gd name="connsiteY1" fmla="*/ 6096 h 1444752"/>
                <a:gd name="connsiteX2" fmla="*/ 196367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730500 w 2160000"/>
                <a:gd name="connsiteY5" fmla="*/ 1444752 h 1444752"/>
                <a:gd name="connsiteX6" fmla="*/ 43205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  <a:gd name="connsiteX0" fmla="*/ 0 w 2160000"/>
                <a:gd name="connsiteY0" fmla="*/ 4162 h 1444752"/>
                <a:gd name="connsiteX1" fmla="*/ 432052 w 2160000"/>
                <a:gd name="connsiteY1" fmla="*/ 6096 h 1444752"/>
                <a:gd name="connsiteX2" fmla="*/ 196367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961640 w 2160000"/>
                <a:gd name="connsiteY5" fmla="*/ 1444752 h 1444752"/>
                <a:gd name="connsiteX6" fmla="*/ 43205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  <a:gd name="connsiteX0" fmla="*/ 0 w 2160000"/>
                <a:gd name="connsiteY0" fmla="*/ 4162 h 1444752"/>
                <a:gd name="connsiteX1" fmla="*/ 200912 w 2160000"/>
                <a:gd name="connsiteY1" fmla="*/ 3556 h 1444752"/>
                <a:gd name="connsiteX2" fmla="*/ 196367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961640 w 2160000"/>
                <a:gd name="connsiteY5" fmla="*/ 1444752 h 1444752"/>
                <a:gd name="connsiteX6" fmla="*/ 43205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  <a:gd name="connsiteX0" fmla="*/ 0 w 2160000"/>
                <a:gd name="connsiteY0" fmla="*/ 4162 h 1444752"/>
                <a:gd name="connsiteX1" fmla="*/ 200912 w 2160000"/>
                <a:gd name="connsiteY1" fmla="*/ 3556 h 1444752"/>
                <a:gd name="connsiteX2" fmla="*/ 1963672 w 2160000"/>
                <a:gd name="connsiteY2" fmla="*/ 0 h 1444752"/>
                <a:gd name="connsiteX3" fmla="*/ 2160000 w 2160000"/>
                <a:gd name="connsiteY3" fmla="*/ 4162 h 1444752"/>
                <a:gd name="connsiteX4" fmla="*/ 2160000 w 2160000"/>
                <a:gd name="connsiteY4" fmla="*/ 1444162 h 1444752"/>
                <a:gd name="connsiteX5" fmla="*/ 1961640 w 2160000"/>
                <a:gd name="connsiteY5" fmla="*/ 1444752 h 1444752"/>
                <a:gd name="connsiteX6" fmla="*/ 200912 w 2160000"/>
                <a:gd name="connsiteY6" fmla="*/ 1444752 h 1444752"/>
                <a:gd name="connsiteX7" fmla="*/ 0 w 2160000"/>
                <a:gd name="connsiteY7" fmla="*/ 1444162 h 1444752"/>
                <a:gd name="connsiteX8" fmla="*/ 0 w 2160000"/>
                <a:gd name="connsiteY8" fmla="*/ 4162 h 144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000" h="1444752">
                  <a:moveTo>
                    <a:pt x="0" y="4162"/>
                  </a:moveTo>
                  <a:lnTo>
                    <a:pt x="200912" y="3556"/>
                  </a:lnTo>
                  <a:lnTo>
                    <a:pt x="1963672" y="0"/>
                  </a:lnTo>
                  <a:lnTo>
                    <a:pt x="2160000" y="4162"/>
                  </a:lnTo>
                  <a:lnTo>
                    <a:pt x="2160000" y="1444162"/>
                  </a:lnTo>
                  <a:lnTo>
                    <a:pt x="1961640" y="1444752"/>
                  </a:lnTo>
                  <a:lnTo>
                    <a:pt x="200912" y="1444752"/>
                  </a:lnTo>
                  <a:lnTo>
                    <a:pt x="0" y="1444162"/>
                  </a:lnTo>
                  <a:lnTo>
                    <a:pt x="0" y="4162"/>
                  </a:ln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80B1CAC-FC00-BE8F-0BBA-D97A469B4D9E}"/>
                </a:ext>
              </a:extLst>
            </p:cNvPr>
            <p:cNvCxnSpPr>
              <a:stCxn id="8" idx="1"/>
              <a:endCxn id="8" idx="6"/>
            </p:cNvCxnSpPr>
            <p:nvPr/>
          </p:nvCxnSpPr>
          <p:spPr>
            <a:xfrm>
              <a:off x="6980428" y="4929124"/>
              <a:ext cx="0" cy="1441196"/>
            </a:xfrm>
            <a:prstGeom prst="line">
              <a:avLst/>
            </a:prstGeom>
            <a:ln w="3810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F110458-439D-BE45-875B-6655AF9E7D04}"/>
                </a:ext>
              </a:extLst>
            </p:cNvPr>
            <p:cNvCxnSpPr>
              <a:cxnSpLocks/>
              <a:stCxn id="8" idx="2"/>
              <a:endCxn id="8" idx="5"/>
            </p:cNvCxnSpPr>
            <p:nvPr/>
          </p:nvCxnSpPr>
          <p:spPr>
            <a:xfrm flipH="1">
              <a:off x="8741156" y="4925568"/>
              <a:ext cx="2032" cy="1444752"/>
            </a:xfrm>
            <a:prstGeom prst="line">
              <a:avLst/>
            </a:prstGeom>
            <a:ln w="3810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DEAB7B7-467B-636D-2688-B5CB525482FE}"/>
              </a:ext>
            </a:extLst>
          </p:cNvPr>
          <p:cNvSpPr/>
          <p:nvPr/>
        </p:nvSpPr>
        <p:spPr>
          <a:xfrm>
            <a:off x="10279428" y="5393950"/>
            <a:ext cx="360000" cy="3600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3E98C903-74B3-1CA1-825C-7AB052F12503}"/>
              </a:ext>
            </a:extLst>
          </p:cNvPr>
          <p:cNvSpPr/>
          <p:nvPr/>
        </p:nvSpPr>
        <p:spPr>
          <a:xfrm>
            <a:off x="8479428" y="2935996"/>
            <a:ext cx="2160000" cy="1440000"/>
          </a:xfrm>
          <a:prstGeom prst="parallelogram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E5862FBB-AD4E-BD36-C87C-616D44EA10E8}"/>
              </a:ext>
            </a:extLst>
          </p:cNvPr>
          <p:cNvSpPr/>
          <p:nvPr/>
        </p:nvSpPr>
        <p:spPr>
          <a:xfrm>
            <a:off x="1049467" y="4862928"/>
            <a:ext cx="1440000" cy="1440000"/>
          </a:xfrm>
          <a:prstGeom prst="diamond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1F29652-03B1-61D8-501A-4DCF860EF332}"/>
              </a:ext>
            </a:extLst>
          </p:cNvPr>
          <p:cNvCxnSpPr/>
          <p:nvPr/>
        </p:nvCxnSpPr>
        <p:spPr>
          <a:xfrm>
            <a:off x="3512440" y="4064309"/>
            <a:ext cx="1113182" cy="0"/>
          </a:xfrm>
          <a:prstGeom prst="straightConnector1">
            <a:avLst/>
          </a:prstGeom>
          <a:noFill/>
          <a:ln w="38100"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926422631"/>
      </p:ext>
    </p:extLst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40D7-A9B3-4CD9-A421-E59E72CD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Flowcharts – Example 1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BD5C1C1-57EC-35B5-0570-3353EDD9C4CC}"/>
              </a:ext>
            </a:extLst>
          </p:cNvPr>
          <p:cNvGrpSpPr/>
          <p:nvPr/>
        </p:nvGrpSpPr>
        <p:grpSpPr>
          <a:xfrm>
            <a:off x="2146152" y="1936865"/>
            <a:ext cx="2160000" cy="4342681"/>
            <a:chOff x="2146152" y="1936865"/>
            <a:chExt cx="2160000" cy="434268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1D7AF11-2A47-277B-9B5A-F6FB712EDF77}"/>
                </a:ext>
              </a:extLst>
            </p:cNvPr>
            <p:cNvSpPr/>
            <p:nvPr/>
          </p:nvSpPr>
          <p:spPr>
            <a:xfrm>
              <a:off x="2686152" y="1936865"/>
              <a:ext cx="1080000" cy="540000"/>
            </a:xfrm>
            <a:prstGeom prst="roundRect">
              <a:avLst>
                <a:gd name="adj" fmla="val 50000"/>
              </a:avLst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start</a:t>
              </a:r>
            </a:p>
          </p:txBody>
        </p:sp>
        <p:sp>
          <p:nvSpPr>
            <p:cNvPr id="6" name="Hexagon 5">
              <a:extLst>
                <a:ext uri="{FF2B5EF4-FFF2-40B4-BE49-F238E27FC236}">
                  <a16:creationId xmlns:a16="http://schemas.microsoft.com/office/drawing/2014/main" id="{3AAF7A6B-903A-875F-1CFE-E5733CB5AE99}"/>
                </a:ext>
              </a:extLst>
            </p:cNvPr>
            <p:cNvSpPr/>
            <p:nvPr/>
          </p:nvSpPr>
          <p:spPr>
            <a:xfrm>
              <a:off x="2326152" y="3016865"/>
              <a:ext cx="1800000" cy="900000"/>
            </a:xfrm>
            <a:prstGeom prst="hexagon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Declare variables</a:t>
              </a:r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3E98C903-74B3-1CA1-825C-7AB052F12503}"/>
                </a:ext>
              </a:extLst>
            </p:cNvPr>
            <p:cNvSpPr/>
            <p:nvPr/>
          </p:nvSpPr>
          <p:spPr>
            <a:xfrm>
              <a:off x="2146152" y="4456865"/>
              <a:ext cx="2160000" cy="900000"/>
            </a:xfrm>
            <a:prstGeom prst="parallelogram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Get first user value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5B80B98-42ED-EF3B-F9AB-A36CD79E8E45}"/>
                </a:ext>
              </a:extLst>
            </p:cNvPr>
            <p:cNvSpPr/>
            <p:nvPr/>
          </p:nvSpPr>
          <p:spPr>
            <a:xfrm>
              <a:off x="3046152" y="5919546"/>
              <a:ext cx="360000" cy="36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/>
              <a:endParaRPr lang="en-GB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B62C9AE-C7DF-EDDE-FFFA-337DE6C0839B}"/>
                </a:ext>
              </a:extLst>
            </p:cNvPr>
            <p:cNvCxnSpPr>
              <a:stCxn id="5" idx="2"/>
            </p:cNvCxnSpPr>
            <p:nvPr/>
          </p:nvCxnSpPr>
          <p:spPr>
            <a:xfrm>
              <a:off x="3226152" y="2476865"/>
              <a:ext cx="0" cy="54000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E7F5C85-7F39-AA8B-00B1-B6C439A13280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 flipH="1">
              <a:off x="3226152" y="3916865"/>
              <a:ext cx="9187" cy="54000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9E790E8-8AA5-1E38-755F-BB6373FFDC5D}"/>
                </a:ext>
              </a:extLst>
            </p:cNvPr>
            <p:cNvCxnSpPr>
              <a:cxnSpLocks/>
              <a:stCxn id="12" idx="4"/>
              <a:endCxn id="14" idx="0"/>
            </p:cNvCxnSpPr>
            <p:nvPr/>
          </p:nvCxnSpPr>
          <p:spPr>
            <a:xfrm>
              <a:off x="3226152" y="5356865"/>
              <a:ext cx="0" cy="562681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C5BC680-93EA-F20E-9E20-CFFDD11FDE2F}"/>
              </a:ext>
            </a:extLst>
          </p:cNvPr>
          <p:cNvGrpSpPr/>
          <p:nvPr/>
        </p:nvGrpSpPr>
        <p:grpSpPr>
          <a:xfrm>
            <a:off x="5014048" y="1937243"/>
            <a:ext cx="2161952" cy="4342303"/>
            <a:chOff x="5014048" y="1937243"/>
            <a:chExt cx="2161952" cy="434230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0B4C61B-29E4-53C5-5BB8-FD0517FAC79E}"/>
                </a:ext>
              </a:extLst>
            </p:cNvPr>
            <p:cNvSpPr/>
            <p:nvPr/>
          </p:nvSpPr>
          <p:spPr>
            <a:xfrm>
              <a:off x="5014048" y="4366865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Add values together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DEAB7B7-467B-636D-2688-B5CB525482FE}"/>
                </a:ext>
              </a:extLst>
            </p:cNvPr>
            <p:cNvSpPr/>
            <p:nvPr/>
          </p:nvSpPr>
          <p:spPr>
            <a:xfrm>
              <a:off x="5916002" y="1937243"/>
              <a:ext cx="360000" cy="36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/>
              <a:endParaRPr lang="en-GB" sz="2400" dirty="0">
                <a:solidFill>
                  <a:schemeClr val="tx1"/>
                </a:solidFill>
              </a:endParaRPr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F65510EF-29B2-A8CF-4915-299CE2F89FA8}"/>
                </a:ext>
              </a:extLst>
            </p:cNvPr>
            <p:cNvSpPr/>
            <p:nvPr/>
          </p:nvSpPr>
          <p:spPr>
            <a:xfrm>
              <a:off x="5016000" y="2900955"/>
              <a:ext cx="2160000" cy="900000"/>
            </a:xfrm>
            <a:prstGeom prst="parallelogram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Get second user value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4E15B45-DE00-DE1D-A614-B6721F1DC827}"/>
                </a:ext>
              </a:extLst>
            </p:cNvPr>
            <p:cNvSpPr/>
            <p:nvPr/>
          </p:nvSpPr>
          <p:spPr>
            <a:xfrm>
              <a:off x="5916002" y="5919546"/>
              <a:ext cx="360000" cy="36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/>
              <a:endParaRPr lang="en-GB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B106412-AD7D-7353-67B6-F7120404F609}"/>
                </a:ext>
              </a:extLst>
            </p:cNvPr>
            <p:cNvCxnSpPr>
              <a:cxnSpLocks/>
              <a:stCxn id="11" idx="4"/>
              <a:endCxn id="25" idx="0"/>
            </p:cNvCxnSpPr>
            <p:nvPr/>
          </p:nvCxnSpPr>
          <p:spPr>
            <a:xfrm flipH="1">
              <a:off x="6096000" y="2297243"/>
              <a:ext cx="2" cy="603712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FE4E96C-E277-CA71-88B6-6F59025F5559}"/>
                </a:ext>
              </a:extLst>
            </p:cNvPr>
            <p:cNvCxnSpPr>
              <a:cxnSpLocks/>
              <a:stCxn id="25" idx="4"/>
              <a:endCxn id="4" idx="0"/>
            </p:cNvCxnSpPr>
            <p:nvPr/>
          </p:nvCxnSpPr>
          <p:spPr>
            <a:xfrm flipH="1">
              <a:off x="6094048" y="3800955"/>
              <a:ext cx="1952" cy="56591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3760A0ED-F43D-848C-7B49-AC23404CCB76}"/>
                </a:ext>
              </a:extLst>
            </p:cNvPr>
            <p:cNvCxnSpPr>
              <a:cxnSpLocks/>
              <a:stCxn id="4" idx="2"/>
              <a:endCxn id="26" idx="0"/>
            </p:cNvCxnSpPr>
            <p:nvPr/>
          </p:nvCxnSpPr>
          <p:spPr>
            <a:xfrm>
              <a:off x="6094048" y="5446865"/>
              <a:ext cx="1954" cy="472681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29BA7FD-A82B-272D-207F-A23DAA5DB746}"/>
              </a:ext>
            </a:extLst>
          </p:cNvPr>
          <p:cNvGrpSpPr/>
          <p:nvPr/>
        </p:nvGrpSpPr>
        <p:grpSpPr>
          <a:xfrm>
            <a:off x="7874709" y="1936865"/>
            <a:ext cx="2160000" cy="3240000"/>
            <a:chOff x="7874709" y="1936865"/>
            <a:chExt cx="2160000" cy="324000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E5373707-A916-EABC-701C-6B0655EF4E65}"/>
                </a:ext>
              </a:extLst>
            </p:cNvPr>
            <p:cNvSpPr/>
            <p:nvPr/>
          </p:nvSpPr>
          <p:spPr>
            <a:xfrm>
              <a:off x="8412757" y="4636865"/>
              <a:ext cx="1080000" cy="540000"/>
            </a:xfrm>
            <a:prstGeom prst="roundRect">
              <a:avLst>
                <a:gd name="adj" fmla="val 50000"/>
              </a:avLst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end</a:t>
              </a:r>
            </a:p>
          </p:txBody>
        </p:sp>
        <p:sp>
          <p:nvSpPr>
            <p:cNvPr id="27" name="Parallelogram 26">
              <a:extLst>
                <a:ext uri="{FF2B5EF4-FFF2-40B4-BE49-F238E27FC236}">
                  <a16:creationId xmlns:a16="http://schemas.microsoft.com/office/drawing/2014/main" id="{E70B8D10-B8B0-9A37-C6DE-44A51DEEC9B1}"/>
                </a:ext>
              </a:extLst>
            </p:cNvPr>
            <p:cNvSpPr/>
            <p:nvPr/>
          </p:nvSpPr>
          <p:spPr>
            <a:xfrm>
              <a:off x="7874709" y="3016865"/>
              <a:ext cx="2160000" cy="900000"/>
            </a:xfrm>
            <a:prstGeom prst="parallelogram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Display result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663C536-D2B8-617F-BFD0-488BD4BF30E9}"/>
                </a:ext>
              </a:extLst>
            </p:cNvPr>
            <p:cNvSpPr/>
            <p:nvPr/>
          </p:nvSpPr>
          <p:spPr>
            <a:xfrm>
              <a:off x="8772757" y="1936865"/>
              <a:ext cx="360000" cy="36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/>
              <a:endParaRPr lang="en-GB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BF723EB2-F1D9-F850-C949-C9580E15CC89}"/>
                </a:ext>
              </a:extLst>
            </p:cNvPr>
            <p:cNvCxnSpPr>
              <a:cxnSpLocks/>
              <a:stCxn id="28" idx="4"/>
              <a:endCxn id="27" idx="0"/>
            </p:cNvCxnSpPr>
            <p:nvPr/>
          </p:nvCxnSpPr>
          <p:spPr>
            <a:xfrm>
              <a:off x="8952757" y="2296865"/>
              <a:ext cx="1952" cy="72000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63E960C0-C0F1-77CA-F41B-AEA86F612971}"/>
                </a:ext>
              </a:extLst>
            </p:cNvPr>
            <p:cNvCxnSpPr>
              <a:cxnSpLocks/>
              <a:stCxn id="27" idx="4"/>
              <a:endCxn id="24" idx="0"/>
            </p:cNvCxnSpPr>
            <p:nvPr/>
          </p:nvCxnSpPr>
          <p:spPr>
            <a:xfrm flipH="1">
              <a:off x="8952757" y="3916865"/>
              <a:ext cx="1952" cy="72000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3240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3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40D7-A9B3-4CD9-A421-E59E72CD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Flowcharts – Example 1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BD5C1C1-57EC-35B5-0570-3353EDD9C4CC}"/>
              </a:ext>
            </a:extLst>
          </p:cNvPr>
          <p:cNvGrpSpPr/>
          <p:nvPr/>
        </p:nvGrpSpPr>
        <p:grpSpPr>
          <a:xfrm>
            <a:off x="2146152" y="1936865"/>
            <a:ext cx="2160000" cy="4342681"/>
            <a:chOff x="2146152" y="1936865"/>
            <a:chExt cx="2160000" cy="434268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1D7AF11-2A47-277B-9B5A-F6FB712EDF77}"/>
                </a:ext>
              </a:extLst>
            </p:cNvPr>
            <p:cNvSpPr/>
            <p:nvPr/>
          </p:nvSpPr>
          <p:spPr>
            <a:xfrm>
              <a:off x="2686152" y="1936865"/>
              <a:ext cx="1080000" cy="540000"/>
            </a:xfrm>
            <a:prstGeom prst="roundRect">
              <a:avLst>
                <a:gd name="adj" fmla="val 50000"/>
              </a:avLst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dirty="0">
                <a:solidFill>
                  <a:schemeClr val="tx1"/>
                </a:solidFill>
              </a:endParaRPr>
            </a:p>
          </p:txBody>
        </p:sp>
        <p:sp>
          <p:nvSpPr>
            <p:cNvPr id="6" name="Hexagon 5">
              <a:extLst>
                <a:ext uri="{FF2B5EF4-FFF2-40B4-BE49-F238E27FC236}">
                  <a16:creationId xmlns:a16="http://schemas.microsoft.com/office/drawing/2014/main" id="{3AAF7A6B-903A-875F-1CFE-E5733CB5AE99}"/>
                </a:ext>
              </a:extLst>
            </p:cNvPr>
            <p:cNvSpPr/>
            <p:nvPr/>
          </p:nvSpPr>
          <p:spPr>
            <a:xfrm>
              <a:off x="2326152" y="3016865"/>
              <a:ext cx="1800000" cy="900000"/>
            </a:xfrm>
            <a:prstGeom prst="hexagon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dirty="0">
                <a:solidFill>
                  <a:schemeClr val="tx1"/>
                </a:solidFill>
              </a:endParaRPr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3E98C903-74B3-1CA1-825C-7AB052F12503}"/>
                </a:ext>
              </a:extLst>
            </p:cNvPr>
            <p:cNvSpPr/>
            <p:nvPr/>
          </p:nvSpPr>
          <p:spPr>
            <a:xfrm>
              <a:off x="2146152" y="4456865"/>
              <a:ext cx="2160000" cy="900000"/>
            </a:xfrm>
            <a:prstGeom prst="parallelogram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Get first user value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5B80B98-42ED-EF3B-F9AB-A36CD79E8E45}"/>
                </a:ext>
              </a:extLst>
            </p:cNvPr>
            <p:cNvSpPr/>
            <p:nvPr/>
          </p:nvSpPr>
          <p:spPr>
            <a:xfrm>
              <a:off x="3046152" y="5919546"/>
              <a:ext cx="360000" cy="36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/>
              <a:endParaRPr lang="en-GB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B62C9AE-C7DF-EDDE-FFFA-337DE6C0839B}"/>
                </a:ext>
              </a:extLst>
            </p:cNvPr>
            <p:cNvCxnSpPr>
              <a:stCxn id="5" idx="2"/>
            </p:cNvCxnSpPr>
            <p:nvPr/>
          </p:nvCxnSpPr>
          <p:spPr>
            <a:xfrm>
              <a:off x="3226152" y="2476865"/>
              <a:ext cx="0" cy="54000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E7F5C85-7F39-AA8B-00B1-B6C439A13280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 flipH="1">
              <a:off x="3226152" y="3916865"/>
              <a:ext cx="9187" cy="54000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9E790E8-8AA5-1E38-755F-BB6373FFDC5D}"/>
                </a:ext>
              </a:extLst>
            </p:cNvPr>
            <p:cNvCxnSpPr>
              <a:cxnSpLocks/>
              <a:stCxn id="12" idx="4"/>
              <a:endCxn id="14" idx="0"/>
            </p:cNvCxnSpPr>
            <p:nvPr/>
          </p:nvCxnSpPr>
          <p:spPr>
            <a:xfrm>
              <a:off x="3226152" y="5356865"/>
              <a:ext cx="0" cy="562681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C5BC680-93EA-F20E-9E20-CFFDD11FDE2F}"/>
              </a:ext>
            </a:extLst>
          </p:cNvPr>
          <p:cNvGrpSpPr/>
          <p:nvPr/>
        </p:nvGrpSpPr>
        <p:grpSpPr>
          <a:xfrm>
            <a:off x="5014048" y="1937243"/>
            <a:ext cx="2161952" cy="4342303"/>
            <a:chOff x="5014048" y="1937243"/>
            <a:chExt cx="2161952" cy="434230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0B4C61B-29E4-53C5-5BB8-FD0517FAC79E}"/>
                </a:ext>
              </a:extLst>
            </p:cNvPr>
            <p:cNvSpPr/>
            <p:nvPr/>
          </p:nvSpPr>
          <p:spPr>
            <a:xfrm>
              <a:off x="5014048" y="4366865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Add values together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DEAB7B7-467B-636D-2688-B5CB525482FE}"/>
                </a:ext>
              </a:extLst>
            </p:cNvPr>
            <p:cNvSpPr/>
            <p:nvPr/>
          </p:nvSpPr>
          <p:spPr>
            <a:xfrm>
              <a:off x="5916002" y="1937243"/>
              <a:ext cx="360000" cy="36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/>
              <a:endParaRPr lang="en-GB" sz="2400" dirty="0">
                <a:solidFill>
                  <a:schemeClr val="tx1"/>
                </a:solidFill>
              </a:endParaRPr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F65510EF-29B2-A8CF-4915-299CE2F89FA8}"/>
                </a:ext>
              </a:extLst>
            </p:cNvPr>
            <p:cNvSpPr/>
            <p:nvPr/>
          </p:nvSpPr>
          <p:spPr>
            <a:xfrm>
              <a:off x="5016000" y="2900955"/>
              <a:ext cx="2160000" cy="900000"/>
            </a:xfrm>
            <a:prstGeom prst="parallelogram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Get second user value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4E15B45-DE00-DE1D-A614-B6721F1DC827}"/>
                </a:ext>
              </a:extLst>
            </p:cNvPr>
            <p:cNvSpPr/>
            <p:nvPr/>
          </p:nvSpPr>
          <p:spPr>
            <a:xfrm>
              <a:off x="5916002" y="5919546"/>
              <a:ext cx="360000" cy="36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/>
              <a:endParaRPr lang="en-GB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B106412-AD7D-7353-67B6-F7120404F609}"/>
                </a:ext>
              </a:extLst>
            </p:cNvPr>
            <p:cNvCxnSpPr>
              <a:cxnSpLocks/>
              <a:stCxn id="11" idx="4"/>
              <a:endCxn id="25" idx="0"/>
            </p:cNvCxnSpPr>
            <p:nvPr/>
          </p:nvCxnSpPr>
          <p:spPr>
            <a:xfrm flipH="1">
              <a:off x="6096000" y="2297243"/>
              <a:ext cx="2" cy="603712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FE4E96C-E277-CA71-88B6-6F59025F5559}"/>
                </a:ext>
              </a:extLst>
            </p:cNvPr>
            <p:cNvCxnSpPr>
              <a:cxnSpLocks/>
              <a:stCxn id="25" idx="4"/>
              <a:endCxn id="4" idx="0"/>
            </p:cNvCxnSpPr>
            <p:nvPr/>
          </p:nvCxnSpPr>
          <p:spPr>
            <a:xfrm flipH="1">
              <a:off x="6094048" y="3800955"/>
              <a:ext cx="1952" cy="56591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3760A0ED-F43D-848C-7B49-AC23404CCB76}"/>
                </a:ext>
              </a:extLst>
            </p:cNvPr>
            <p:cNvCxnSpPr>
              <a:cxnSpLocks/>
              <a:stCxn id="4" idx="2"/>
              <a:endCxn id="26" idx="0"/>
            </p:cNvCxnSpPr>
            <p:nvPr/>
          </p:nvCxnSpPr>
          <p:spPr>
            <a:xfrm>
              <a:off x="6094048" y="5446865"/>
              <a:ext cx="1954" cy="472681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29BA7FD-A82B-272D-207F-A23DAA5DB746}"/>
              </a:ext>
            </a:extLst>
          </p:cNvPr>
          <p:cNvGrpSpPr/>
          <p:nvPr/>
        </p:nvGrpSpPr>
        <p:grpSpPr>
          <a:xfrm>
            <a:off x="7874709" y="1936865"/>
            <a:ext cx="2160000" cy="3240000"/>
            <a:chOff x="7874709" y="1936865"/>
            <a:chExt cx="2160000" cy="324000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E5373707-A916-EABC-701C-6B0655EF4E65}"/>
                </a:ext>
              </a:extLst>
            </p:cNvPr>
            <p:cNvSpPr/>
            <p:nvPr/>
          </p:nvSpPr>
          <p:spPr>
            <a:xfrm>
              <a:off x="8412757" y="4636865"/>
              <a:ext cx="1080000" cy="540000"/>
            </a:xfrm>
            <a:prstGeom prst="roundRect">
              <a:avLst>
                <a:gd name="adj" fmla="val 50000"/>
              </a:avLst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dirty="0">
                <a:solidFill>
                  <a:schemeClr val="tx1"/>
                </a:solidFill>
              </a:endParaRPr>
            </a:p>
          </p:txBody>
        </p:sp>
        <p:sp>
          <p:nvSpPr>
            <p:cNvPr id="27" name="Parallelogram 26">
              <a:extLst>
                <a:ext uri="{FF2B5EF4-FFF2-40B4-BE49-F238E27FC236}">
                  <a16:creationId xmlns:a16="http://schemas.microsoft.com/office/drawing/2014/main" id="{E70B8D10-B8B0-9A37-C6DE-44A51DEEC9B1}"/>
                </a:ext>
              </a:extLst>
            </p:cNvPr>
            <p:cNvSpPr/>
            <p:nvPr/>
          </p:nvSpPr>
          <p:spPr>
            <a:xfrm>
              <a:off x="7874709" y="3016865"/>
              <a:ext cx="2160000" cy="900000"/>
            </a:xfrm>
            <a:prstGeom prst="parallelogram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dirty="0">
                <a:solidFill>
                  <a:schemeClr val="tx1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663C536-D2B8-617F-BFD0-488BD4BF30E9}"/>
                </a:ext>
              </a:extLst>
            </p:cNvPr>
            <p:cNvSpPr/>
            <p:nvPr/>
          </p:nvSpPr>
          <p:spPr>
            <a:xfrm>
              <a:off x="8772757" y="1936865"/>
              <a:ext cx="360000" cy="36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/>
              <a:endParaRPr lang="en-GB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BF723EB2-F1D9-F850-C949-C9580E15CC89}"/>
                </a:ext>
              </a:extLst>
            </p:cNvPr>
            <p:cNvCxnSpPr>
              <a:cxnSpLocks/>
              <a:stCxn id="28" idx="4"/>
              <a:endCxn id="27" idx="0"/>
            </p:cNvCxnSpPr>
            <p:nvPr/>
          </p:nvCxnSpPr>
          <p:spPr>
            <a:xfrm>
              <a:off x="8952757" y="2296865"/>
              <a:ext cx="1952" cy="72000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63E960C0-C0F1-77CA-F41B-AEA86F612971}"/>
                </a:ext>
              </a:extLst>
            </p:cNvPr>
            <p:cNvCxnSpPr>
              <a:cxnSpLocks/>
              <a:stCxn id="27" idx="4"/>
              <a:endCxn id="24" idx="0"/>
            </p:cNvCxnSpPr>
            <p:nvPr/>
          </p:nvCxnSpPr>
          <p:spPr>
            <a:xfrm flipH="1">
              <a:off x="8952757" y="3916865"/>
              <a:ext cx="1952" cy="72000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51417108"/>
      </p:ext>
    </p:extLst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40D7-A9B3-4CD9-A421-E59E72CD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Flowcharts – Example 2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0558E9C-C746-4FB0-822C-B8823BAA6118}"/>
              </a:ext>
            </a:extLst>
          </p:cNvPr>
          <p:cNvGrpSpPr/>
          <p:nvPr/>
        </p:nvGrpSpPr>
        <p:grpSpPr>
          <a:xfrm>
            <a:off x="545467" y="1593342"/>
            <a:ext cx="2160000" cy="4376578"/>
            <a:chOff x="545467" y="1593342"/>
            <a:chExt cx="2160000" cy="437657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1D7AF11-2A47-277B-9B5A-F6FB712EDF77}"/>
                </a:ext>
              </a:extLst>
            </p:cNvPr>
            <p:cNvSpPr/>
            <p:nvPr/>
          </p:nvSpPr>
          <p:spPr>
            <a:xfrm>
              <a:off x="1085467" y="1593342"/>
              <a:ext cx="1080000" cy="540000"/>
            </a:xfrm>
            <a:prstGeom prst="roundRect">
              <a:avLst>
                <a:gd name="adj" fmla="val 50000"/>
              </a:avLst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start</a:t>
              </a:r>
            </a:p>
          </p:txBody>
        </p:sp>
        <p:sp>
          <p:nvSpPr>
            <p:cNvPr id="6" name="Hexagon 5">
              <a:extLst>
                <a:ext uri="{FF2B5EF4-FFF2-40B4-BE49-F238E27FC236}">
                  <a16:creationId xmlns:a16="http://schemas.microsoft.com/office/drawing/2014/main" id="{3AAF7A6B-903A-875F-1CFE-E5733CB5AE99}"/>
                </a:ext>
              </a:extLst>
            </p:cNvPr>
            <p:cNvSpPr/>
            <p:nvPr/>
          </p:nvSpPr>
          <p:spPr>
            <a:xfrm>
              <a:off x="545467" y="2680620"/>
              <a:ext cx="2160000" cy="900000"/>
            </a:xfrm>
            <a:prstGeom prst="hexagon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>
                  <a:solidFill>
                    <a:schemeClr val="tx1"/>
                  </a:solidFill>
                </a:rPr>
                <a:t>counter = 0</a:t>
              </a:r>
            </a:p>
            <a:p>
              <a:pPr algn="ctr"/>
              <a:r>
                <a:rPr lang="en-GB" sz="2000" dirty="0">
                  <a:solidFill>
                    <a:schemeClr val="tx1"/>
                  </a:solidFill>
                </a:rPr>
                <a:t>value = 0</a:t>
              </a:r>
            </a:p>
            <a:p>
              <a:pPr algn="ctr"/>
              <a:r>
                <a:rPr lang="en-GB" sz="2000" dirty="0">
                  <a:solidFill>
                    <a:schemeClr val="tx1"/>
                  </a:solidFill>
                </a:rPr>
                <a:t>total = 0</a:t>
              </a:r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3E98C903-74B3-1CA1-825C-7AB052F12503}"/>
                </a:ext>
              </a:extLst>
            </p:cNvPr>
            <p:cNvSpPr/>
            <p:nvPr/>
          </p:nvSpPr>
          <p:spPr>
            <a:xfrm>
              <a:off x="545467" y="4139566"/>
              <a:ext cx="2160000" cy="900000"/>
            </a:xfrm>
            <a:prstGeom prst="parallelogram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"Enter 4 values"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5B80B98-42ED-EF3B-F9AB-A36CD79E8E45}"/>
                </a:ext>
              </a:extLst>
            </p:cNvPr>
            <p:cNvSpPr/>
            <p:nvPr/>
          </p:nvSpPr>
          <p:spPr>
            <a:xfrm>
              <a:off x="1445467" y="5609920"/>
              <a:ext cx="360000" cy="36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/>
              <a:endParaRPr lang="en-GB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65E52C9-03E6-4C0C-A5A1-0CA6DCC51838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1625467" y="2133342"/>
              <a:ext cx="0" cy="538119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078D7EB-7F47-4650-B384-D4653CF90BB1}"/>
                </a:ext>
              </a:extLst>
            </p:cNvPr>
            <p:cNvCxnSpPr>
              <a:endCxn id="12" idx="0"/>
            </p:cNvCxnSpPr>
            <p:nvPr/>
          </p:nvCxnSpPr>
          <p:spPr>
            <a:xfrm>
              <a:off x="1625467" y="3580620"/>
              <a:ext cx="0" cy="558946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19A08EE-24CB-49D6-9037-557B5346031D}"/>
                </a:ext>
              </a:extLst>
            </p:cNvPr>
            <p:cNvCxnSpPr>
              <a:stCxn id="12" idx="4"/>
              <a:endCxn id="14" idx="0"/>
            </p:cNvCxnSpPr>
            <p:nvPr/>
          </p:nvCxnSpPr>
          <p:spPr>
            <a:xfrm>
              <a:off x="1625467" y="5039566"/>
              <a:ext cx="0" cy="570354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1B2D08A-36D1-46EC-A4A3-1CB64EB9DFD6}"/>
              </a:ext>
            </a:extLst>
          </p:cNvPr>
          <p:cNvGrpSpPr/>
          <p:nvPr/>
        </p:nvGrpSpPr>
        <p:grpSpPr>
          <a:xfrm>
            <a:off x="3365620" y="1642855"/>
            <a:ext cx="2160000" cy="4296138"/>
            <a:chOff x="3365620" y="1642855"/>
            <a:chExt cx="2160000" cy="429613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0B4C61B-29E4-53C5-5BB8-FD0517FAC79E}"/>
                </a:ext>
              </a:extLst>
            </p:cNvPr>
            <p:cNvSpPr/>
            <p:nvPr/>
          </p:nvSpPr>
          <p:spPr>
            <a:xfrm>
              <a:off x="3365620" y="4049566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Add value</a:t>
              </a:r>
            </a:p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to total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DEAB7B7-467B-636D-2688-B5CB525482FE}"/>
                </a:ext>
              </a:extLst>
            </p:cNvPr>
            <p:cNvSpPr/>
            <p:nvPr/>
          </p:nvSpPr>
          <p:spPr>
            <a:xfrm>
              <a:off x="4265622" y="1642855"/>
              <a:ext cx="360000" cy="36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/>
              <a:endParaRPr lang="en-GB" sz="2400" dirty="0">
                <a:solidFill>
                  <a:schemeClr val="tx1"/>
                </a:solidFill>
              </a:endParaRPr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F65510EF-29B2-A8CF-4915-299CE2F89FA8}"/>
                </a:ext>
              </a:extLst>
            </p:cNvPr>
            <p:cNvSpPr/>
            <p:nvPr/>
          </p:nvSpPr>
          <p:spPr>
            <a:xfrm>
              <a:off x="3365620" y="2680620"/>
              <a:ext cx="2160000" cy="900000"/>
            </a:xfrm>
            <a:prstGeom prst="parallelogram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Get value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4E15B45-DE00-DE1D-A614-B6721F1DC827}"/>
                </a:ext>
              </a:extLst>
            </p:cNvPr>
            <p:cNvSpPr/>
            <p:nvPr/>
          </p:nvSpPr>
          <p:spPr>
            <a:xfrm>
              <a:off x="4265620" y="5578993"/>
              <a:ext cx="360000" cy="36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/>
              <a:endParaRPr lang="en-GB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E64A936-D421-4EDA-A28C-13FE2AAE7C3E}"/>
                </a:ext>
              </a:extLst>
            </p:cNvPr>
            <p:cNvCxnSpPr>
              <a:stCxn id="11" idx="4"/>
              <a:endCxn id="25" idx="0"/>
            </p:cNvCxnSpPr>
            <p:nvPr/>
          </p:nvCxnSpPr>
          <p:spPr>
            <a:xfrm flipH="1">
              <a:off x="4445620" y="2002855"/>
              <a:ext cx="2" cy="677765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8EE151E-E1F5-41F0-8961-FE12EC773F39}"/>
                </a:ext>
              </a:extLst>
            </p:cNvPr>
            <p:cNvCxnSpPr>
              <a:stCxn id="25" idx="4"/>
              <a:endCxn id="4" idx="0"/>
            </p:cNvCxnSpPr>
            <p:nvPr/>
          </p:nvCxnSpPr>
          <p:spPr>
            <a:xfrm>
              <a:off x="4445620" y="3580620"/>
              <a:ext cx="0" cy="468946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74CD26C-57A0-44F1-B2FF-D067EFDAC3C5}"/>
                </a:ext>
              </a:extLst>
            </p:cNvPr>
            <p:cNvCxnSpPr>
              <a:stCxn id="4" idx="2"/>
              <a:endCxn id="26" idx="0"/>
            </p:cNvCxnSpPr>
            <p:nvPr/>
          </p:nvCxnSpPr>
          <p:spPr>
            <a:xfrm>
              <a:off x="4445620" y="5129566"/>
              <a:ext cx="0" cy="449427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A7D8ED1-0925-4368-9225-A83DB86D04AE}"/>
              </a:ext>
            </a:extLst>
          </p:cNvPr>
          <p:cNvGrpSpPr/>
          <p:nvPr/>
        </p:nvGrpSpPr>
        <p:grpSpPr>
          <a:xfrm>
            <a:off x="6185773" y="1639007"/>
            <a:ext cx="2160000" cy="4330913"/>
            <a:chOff x="6185773" y="1639007"/>
            <a:chExt cx="2160000" cy="4330913"/>
          </a:xfrm>
        </p:grpSpPr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E5862FBB-AD4E-BD36-C87C-616D44EA10E8}"/>
                </a:ext>
              </a:extLst>
            </p:cNvPr>
            <p:cNvSpPr/>
            <p:nvPr/>
          </p:nvSpPr>
          <p:spPr>
            <a:xfrm>
              <a:off x="6274267" y="4049566"/>
              <a:ext cx="1980000" cy="1080000"/>
            </a:xfrm>
            <a:prstGeom prst="diamond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>
                  <a:solidFill>
                    <a:schemeClr val="tx1"/>
                  </a:solidFill>
                </a:rPr>
                <a:t>counter</a:t>
              </a:r>
            </a:p>
            <a:p>
              <a:pPr algn="ctr"/>
              <a:r>
                <a:rPr lang="en-GB" sz="2000" dirty="0">
                  <a:solidFill>
                    <a:schemeClr val="tx1"/>
                  </a:solidFill>
                </a:rPr>
                <a:t>= 4?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663C536-D2B8-617F-BFD0-488BD4BF30E9}"/>
                </a:ext>
              </a:extLst>
            </p:cNvPr>
            <p:cNvSpPr/>
            <p:nvPr/>
          </p:nvSpPr>
          <p:spPr>
            <a:xfrm>
              <a:off x="7084267" y="1639007"/>
              <a:ext cx="360000" cy="36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/>
              <a:endParaRPr lang="en-GB" sz="240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7B2A333-4E1F-47FC-B722-1BC432E5DB1A}"/>
                </a:ext>
              </a:extLst>
            </p:cNvPr>
            <p:cNvSpPr/>
            <p:nvPr/>
          </p:nvSpPr>
          <p:spPr>
            <a:xfrm>
              <a:off x="6185773" y="2590620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Add 1</a:t>
              </a:r>
            </a:p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to counter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9B47688-12DE-489A-B2B0-A71E39A41316}"/>
                </a:ext>
              </a:extLst>
            </p:cNvPr>
            <p:cNvSpPr/>
            <p:nvPr/>
          </p:nvSpPr>
          <p:spPr>
            <a:xfrm>
              <a:off x="7084267" y="5609920"/>
              <a:ext cx="360000" cy="36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/>
              <a:endParaRPr lang="en-GB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61CB19A-A274-49EF-BE30-6215F0B000DC}"/>
                </a:ext>
              </a:extLst>
            </p:cNvPr>
            <p:cNvCxnSpPr>
              <a:stCxn id="28" idx="4"/>
              <a:endCxn id="20" idx="0"/>
            </p:cNvCxnSpPr>
            <p:nvPr/>
          </p:nvCxnSpPr>
          <p:spPr>
            <a:xfrm>
              <a:off x="7264267" y="1999007"/>
              <a:ext cx="1506" cy="591613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F60BA6E-10BF-4FAB-9EAF-61EABDEED2F5}"/>
                </a:ext>
              </a:extLst>
            </p:cNvPr>
            <p:cNvCxnSpPr>
              <a:stCxn id="20" idx="2"/>
              <a:endCxn id="13" idx="0"/>
            </p:cNvCxnSpPr>
            <p:nvPr/>
          </p:nvCxnSpPr>
          <p:spPr>
            <a:xfrm flipH="1">
              <a:off x="7264267" y="3670620"/>
              <a:ext cx="1506" cy="378946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371FE36-B3B8-4CD8-83AD-CB1606D09A65}"/>
                </a:ext>
              </a:extLst>
            </p:cNvPr>
            <p:cNvCxnSpPr>
              <a:stCxn id="13" idx="2"/>
              <a:endCxn id="23" idx="0"/>
            </p:cNvCxnSpPr>
            <p:nvPr/>
          </p:nvCxnSpPr>
          <p:spPr>
            <a:xfrm>
              <a:off x="7264267" y="5129566"/>
              <a:ext cx="0" cy="480354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A432D40-80AA-468C-9780-A68E92AFF338}"/>
              </a:ext>
            </a:extLst>
          </p:cNvPr>
          <p:cNvGrpSpPr/>
          <p:nvPr/>
        </p:nvGrpSpPr>
        <p:grpSpPr>
          <a:xfrm>
            <a:off x="9005926" y="1639007"/>
            <a:ext cx="2160000" cy="3220559"/>
            <a:chOff x="9005926" y="1639007"/>
            <a:chExt cx="2160000" cy="322055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E5373707-A916-EABC-701C-6B0655EF4E65}"/>
                </a:ext>
              </a:extLst>
            </p:cNvPr>
            <p:cNvSpPr/>
            <p:nvPr/>
          </p:nvSpPr>
          <p:spPr>
            <a:xfrm>
              <a:off x="9542912" y="4319566"/>
              <a:ext cx="1080000" cy="540000"/>
            </a:xfrm>
            <a:prstGeom prst="roundRect">
              <a:avLst>
                <a:gd name="adj" fmla="val 50000"/>
              </a:avLst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end</a:t>
              </a:r>
            </a:p>
          </p:txBody>
        </p:sp>
        <p:sp>
          <p:nvSpPr>
            <p:cNvPr id="27" name="Parallelogram 26">
              <a:extLst>
                <a:ext uri="{FF2B5EF4-FFF2-40B4-BE49-F238E27FC236}">
                  <a16:creationId xmlns:a16="http://schemas.microsoft.com/office/drawing/2014/main" id="{E70B8D10-B8B0-9A37-C6DE-44A51DEEC9B1}"/>
                </a:ext>
              </a:extLst>
            </p:cNvPr>
            <p:cNvSpPr/>
            <p:nvPr/>
          </p:nvSpPr>
          <p:spPr>
            <a:xfrm>
              <a:off x="9005926" y="2671461"/>
              <a:ext cx="2160000" cy="900000"/>
            </a:xfrm>
            <a:prstGeom prst="parallelogram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Display total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2EE7A80-2F30-402B-8274-69CDB3BD7C25}"/>
                </a:ext>
              </a:extLst>
            </p:cNvPr>
            <p:cNvSpPr/>
            <p:nvPr/>
          </p:nvSpPr>
          <p:spPr>
            <a:xfrm>
              <a:off x="9902912" y="1639007"/>
              <a:ext cx="360000" cy="36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/>
              <a:endParaRPr lang="en-GB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96455023-2D71-4330-B743-5E4267D86C98}"/>
                </a:ext>
              </a:extLst>
            </p:cNvPr>
            <p:cNvCxnSpPr>
              <a:stCxn id="22" idx="4"/>
              <a:endCxn id="27" idx="0"/>
            </p:cNvCxnSpPr>
            <p:nvPr/>
          </p:nvCxnSpPr>
          <p:spPr>
            <a:xfrm>
              <a:off x="10082912" y="1999007"/>
              <a:ext cx="3014" cy="672454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A30562B-CA2E-4835-93AF-A4EC2F9C39FF}"/>
                </a:ext>
              </a:extLst>
            </p:cNvPr>
            <p:cNvCxnSpPr>
              <a:stCxn id="27" idx="4"/>
              <a:endCxn id="24" idx="0"/>
            </p:cNvCxnSpPr>
            <p:nvPr/>
          </p:nvCxnSpPr>
          <p:spPr>
            <a:xfrm flipH="1">
              <a:off x="10082912" y="3571461"/>
              <a:ext cx="3014" cy="748105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4F7B893-4B46-4405-BBC1-D321DB8854B8}"/>
              </a:ext>
            </a:extLst>
          </p:cNvPr>
          <p:cNvGrpSpPr/>
          <p:nvPr/>
        </p:nvGrpSpPr>
        <p:grpSpPr>
          <a:xfrm>
            <a:off x="5413121" y="3130620"/>
            <a:ext cx="2530155" cy="2455733"/>
            <a:chOff x="5413121" y="3130620"/>
            <a:chExt cx="2530155" cy="2455733"/>
          </a:xfrm>
        </p:grpSpPr>
        <p:cxnSp>
          <p:nvCxnSpPr>
            <p:cNvPr id="49" name="Connector: Elbow 48">
              <a:extLst>
                <a:ext uri="{FF2B5EF4-FFF2-40B4-BE49-F238E27FC236}">
                  <a16:creationId xmlns:a16="http://schemas.microsoft.com/office/drawing/2014/main" id="{F80EE6B2-2E8B-4A70-BEC4-1A59869CF745}"/>
                </a:ext>
              </a:extLst>
            </p:cNvPr>
            <p:cNvCxnSpPr>
              <a:stCxn id="13" idx="1"/>
              <a:endCxn id="25" idx="2"/>
            </p:cNvCxnSpPr>
            <p:nvPr/>
          </p:nvCxnSpPr>
          <p:spPr>
            <a:xfrm rot="10800000">
              <a:off x="5413121" y="3130620"/>
              <a:ext cx="861147" cy="1458946"/>
            </a:xfrm>
            <a:prstGeom prst="bentConnector3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6039D7D7-6C42-4338-9281-0F4F0D13D4FF}"/>
                </a:ext>
              </a:extLst>
            </p:cNvPr>
            <p:cNvGrpSpPr/>
            <p:nvPr/>
          </p:nvGrpSpPr>
          <p:grpSpPr>
            <a:xfrm>
              <a:off x="5799427" y="4084398"/>
              <a:ext cx="2143849" cy="1501955"/>
              <a:chOff x="5799427" y="4084398"/>
              <a:chExt cx="2143849" cy="1501955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C7EFB87-9B43-4920-B17B-EBA7F65B30A6}"/>
                  </a:ext>
                </a:extLst>
              </p:cNvPr>
              <p:cNvSpPr txBox="1"/>
              <p:nvPr/>
            </p:nvSpPr>
            <p:spPr>
              <a:xfrm>
                <a:off x="7277581" y="5063133"/>
                <a:ext cx="6656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800" b="1" dirty="0"/>
                  <a:t>Yes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3166625-9F8A-43A5-B3D5-F968B7F2DBFD}"/>
                  </a:ext>
                </a:extLst>
              </p:cNvPr>
              <p:cNvSpPr txBox="1"/>
              <p:nvPr/>
            </p:nvSpPr>
            <p:spPr>
              <a:xfrm>
                <a:off x="5799427" y="4084398"/>
                <a:ext cx="6142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800" b="1" dirty="0"/>
                  <a:t>No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76251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40D7-A9B3-4CD9-A421-E59E72CD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Flowcharts – Example 2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0558E9C-C746-4FB0-822C-B8823BAA6118}"/>
              </a:ext>
            </a:extLst>
          </p:cNvPr>
          <p:cNvGrpSpPr/>
          <p:nvPr/>
        </p:nvGrpSpPr>
        <p:grpSpPr>
          <a:xfrm>
            <a:off x="545467" y="1593342"/>
            <a:ext cx="2160000" cy="4376578"/>
            <a:chOff x="545467" y="1593342"/>
            <a:chExt cx="2160000" cy="437657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1D7AF11-2A47-277B-9B5A-F6FB712EDF77}"/>
                </a:ext>
              </a:extLst>
            </p:cNvPr>
            <p:cNvSpPr/>
            <p:nvPr/>
          </p:nvSpPr>
          <p:spPr>
            <a:xfrm>
              <a:off x="1085467" y="1593342"/>
              <a:ext cx="1080000" cy="540000"/>
            </a:xfrm>
            <a:prstGeom prst="roundRect">
              <a:avLst>
                <a:gd name="adj" fmla="val 50000"/>
              </a:avLst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start</a:t>
              </a:r>
            </a:p>
          </p:txBody>
        </p:sp>
        <p:sp>
          <p:nvSpPr>
            <p:cNvPr id="6" name="Hexagon 5">
              <a:extLst>
                <a:ext uri="{FF2B5EF4-FFF2-40B4-BE49-F238E27FC236}">
                  <a16:creationId xmlns:a16="http://schemas.microsoft.com/office/drawing/2014/main" id="{3AAF7A6B-903A-875F-1CFE-E5733CB5AE99}"/>
                </a:ext>
              </a:extLst>
            </p:cNvPr>
            <p:cNvSpPr/>
            <p:nvPr/>
          </p:nvSpPr>
          <p:spPr>
            <a:xfrm>
              <a:off x="545467" y="2680620"/>
              <a:ext cx="2160000" cy="900000"/>
            </a:xfrm>
            <a:prstGeom prst="hexagon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>
                  <a:solidFill>
                    <a:schemeClr val="tx1"/>
                  </a:solidFill>
                </a:rPr>
                <a:t>counter = 0</a:t>
              </a:r>
            </a:p>
            <a:p>
              <a:pPr algn="ctr"/>
              <a:r>
                <a:rPr lang="en-GB" sz="2000" dirty="0">
                  <a:solidFill>
                    <a:schemeClr val="tx1"/>
                  </a:solidFill>
                </a:rPr>
                <a:t>value = 0</a:t>
              </a:r>
            </a:p>
            <a:p>
              <a:pPr algn="ctr"/>
              <a:r>
                <a:rPr lang="en-GB" sz="2000" dirty="0">
                  <a:solidFill>
                    <a:schemeClr val="tx1"/>
                  </a:solidFill>
                </a:rPr>
                <a:t>total = 0</a:t>
              </a:r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3E98C903-74B3-1CA1-825C-7AB052F12503}"/>
                </a:ext>
              </a:extLst>
            </p:cNvPr>
            <p:cNvSpPr/>
            <p:nvPr/>
          </p:nvSpPr>
          <p:spPr>
            <a:xfrm>
              <a:off x="545467" y="4139566"/>
              <a:ext cx="2160000" cy="900000"/>
            </a:xfrm>
            <a:prstGeom prst="parallelogram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"Enter 4 values"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5B80B98-42ED-EF3B-F9AB-A36CD79E8E45}"/>
                </a:ext>
              </a:extLst>
            </p:cNvPr>
            <p:cNvSpPr/>
            <p:nvPr/>
          </p:nvSpPr>
          <p:spPr>
            <a:xfrm>
              <a:off x="1445467" y="5609920"/>
              <a:ext cx="360000" cy="36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/>
              <a:endParaRPr lang="en-GB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65E52C9-03E6-4C0C-A5A1-0CA6DCC51838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1625467" y="2133342"/>
              <a:ext cx="0" cy="538119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078D7EB-7F47-4650-B384-D4653CF90BB1}"/>
                </a:ext>
              </a:extLst>
            </p:cNvPr>
            <p:cNvCxnSpPr>
              <a:endCxn id="12" idx="0"/>
            </p:cNvCxnSpPr>
            <p:nvPr/>
          </p:nvCxnSpPr>
          <p:spPr>
            <a:xfrm>
              <a:off x="1625467" y="3580620"/>
              <a:ext cx="0" cy="558946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19A08EE-24CB-49D6-9037-557B5346031D}"/>
                </a:ext>
              </a:extLst>
            </p:cNvPr>
            <p:cNvCxnSpPr>
              <a:stCxn id="12" idx="4"/>
              <a:endCxn id="14" idx="0"/>
            </p:cNvCxnSpPr>
            <p:nvPr/>
          </p:nvCxnSpPr>
          <p:spPr>
            <a:xfrm>
              <a:off x="1625467" y="5039566"/>
              <a:ext cx="0" cy="570354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1B2D08A-36D1-46EC-A4A3-1CB64EB9DFD6}"/>
              </a:ext>
            </a:extLst>
          </p:cNvPr>
          <p:cNvGrpSpPr/>
          <p:nvPr/>
        </p:nvGrpSpPr>
        <p:grpSpPr>
          <a:xfrm>
            <a:off x="3365620" y="1642855"/>
            <a:ext cx="2160000" cy="4296138"/>
            <a:chOff x="3365620" y="1642855"/>
            <a:chExt cx="2160000" cy="429613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0B4C61B-29E4-53C5-5BB8-FD0517FAC79E}"/>
                </a:ext>
              </a:extLst>
            </p:cNvPr>
            <p:cNvSpPr/>
            <p:nvPr/>
          </p:nvSpPr>
          <p:spPr>
            <a:xfrm>
              <a:off x="3365620" y="4049566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Add value</a:t>
              </a:r>
            </a:p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to total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DEAB7B7-467B-636D-2688-B5CB525482FE}"/>
                </a:ext>
              </a:extLst>
            </p:cNvPr>
            <p:cNvSpPr/>
            <p:nvPr/>
          </p:nvSpPr>
          <p:spPr>
            <a:xfrm>
              <a:off x="4265622" y="1642855"/>
              <a:ext cx="360000" cy="36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/>
              <a:endParaRPr lang="en-GB" sz="2400" dirty="0">
                <a:solidFill>
                  <a:schemeClr val="tx1"/>
                </a:solidFill>
              </a:endParaRPr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F65510EF-29B2-A8CF-4915-299CE2F89FA8}"/>
                </a:ext>
              </a:extLst>
            </p:cNvPr>
            <p:cNvSpPr/>
            <p:nvPr/>
          </p:nvSpPr>
          <p:spPr>
            <a:xfrm>
              <a:off x="3365620" y="2680620"/>
              <a:ext cx="2160000" cy="900000"/>
            </a:xfrm>
            <a:prstGeom prst="parallelogram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Get value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4E15B45-DE00-DE1D-A614-B6721F1DC827}"/>
                </a:ext>
              </a:extLst>
            </p:cNvPr>
            <p:cNvSpPr/>
            <p:nvPr/>
          </p:nvSpPr>
          <p:spPr>
            <a:xfrm>
              <a:off x="4265620" y="5578993"/>
              <a:ext cx="360000" cy="36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/>
              <a:endParaRPr lang="en-GB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E64A936-D421-4EDA-A28C-13FE2AAE7C3E}"/>
                </a:ext>
              </a:extLst>
            </p:cNvPr>
            <p:cNvCxnSpPr>
              <a:stCxn id="11" idx="4"/>
              <a:endCxn id="25" idx="0"/>
            </p:cNvCxnSpPr>
            <p:nvPr/>
          </p:nvCxnSpPr>
          <p:spPr>
            <a:xfrm flipH="1">
              <a:off x="4445620" y="2002855"/>
              <a:ext cx="2" cy="677765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8EE151E-E1F5-41F0-8961-FE12EC773F39}"/>
                </a:ext>
              </a:extLst>
            </p:cNvPr>
            <p:cNvCxnSpPr>
              <a:stCxn id="25" idx="4"/>
              <a:endCxn id="4" idx="0"/>
            </p:cNvCxnSpPr>
            <p:nvPr/>
          </p:nvCxnSpPr>
          <p:spPr>
            <a:xfrm>
              <a:off x="4445620" y="3580620"/>
              <a:ext cx="0" cy="468946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74CD26C-57A0-44F1-B2FF-D067EFDAC3C5}"/>
                </a:ext>
              </a:extLst>
            </p:cNvPr>
            <p:cNvCxnSpPr>
              <a:stCxn id="4" idx="2"/>
              <a:endCxn id="26" idx="0"/>
            </p:cNvCxnSpPr>
            <p:nvPr/>
          </p:nvCxnSpPr>
          <p:spPr>
            <a:xfrm>
              <a:off x="4445620" y="5129566"/>
              <a:ext cx="0" cy="449427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A7D8ED1-0925-4368-9225-A83DB86D04AE}"/>
              </a:ext>
            </a:extLst>
          </p:cNvPr>
          <p:cNvGrpSpPr/>
          <p:nvPr/>
        </p:nvGrpSpPr>
        <p:grpSpPr>
          <a:xfrm>
            <a:off x="6185773" y="1639007"/>
            <a:ext cx="2160000" cy="4330913"/>
            <a:chOff x="6185773" y="1639007"/>
            <a:chExt cx="2160000" cy="4330913"/>
          </a:xfrm>
        </p:grpSpPr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E5862FBB-AD4E-BD36-C87C-616D44EA10E8}"/>
                </a:ext>
              </a:extLst>
            </p:cNvPr>
            <p:cNvSpPr/>
            <p:nvPr/>
          </p:nvSpPr>
          <p:spPr>
            <a:xfrm>
              <a:off x="6274267" y="4049566"/>
              <a:ext cx="1980000" cy="1080000"/>
            </a:xfrm>
            <a:prstGeom prst="diamond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>
                  <a:solidFill>
                    <a:schemeClr val="tx1"/>
                  </a:solidFill>
                </a:rPr>
                <a:t>counter</a:t>
              </a:r>
            </a:p>
            <a:p>
              <a:r>
                <a:rPr lang="en-GB" sz="2000" dirty="0">
                  <a:solidFill>
                    <a:schemeClr val="tx1"/>
                  </a:solidFill>
                </a:rPr>
                <a:t>=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663C536-D2B8-617F-BFD0-488BD4BF30E9}"/>
                </a:ext>
              </a:extLst>
            </p:cNvPr>
            <p:cNvSpPr/>
            <p:nvPr/>
          </p:nvSpPr>
          <p:spPr>
            <a:xfrm>
              <a:off x="7084267" y="1639007"/>
              <a:ext cx="360000" cy="36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/>
              <a:endParaRPr lang="en-GB" sz="240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7B2A333-4E1F-47FC-B722-1BC432E5DB1A}"/>
                </a:ext>
              </a:extLst>
            </p:cNvPr>
            <p:cNvSpPr/>
            <p:nvPr/>
          </p:nvSpPr>
          <p:spPr>
            <a:xfrm>
              <a:off x="6185773" y="2590620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Add 1</a:t>
              </a:r>
            </a:p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to counter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9B47688-12DE-489A-B2B0-A71E39A41316}"/>
                </a:ext>
              </a:extLst>
            </p:cNvPr>
            <p:cNvSpPr/>
            <p:nvPr/>
          </p:nvSpPr>
          <p:spPr>
            <a:xfrm>
              <a:off x="7084267" y="5609920"/>
              <a:ext cx="360000" cy="36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/>
              <a:endParaRPr lang="en-GB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61CB19A-A274-49EF-BE30-6215F0B000DC}"/>
                </a:ext>
              </a:extLst>
            </p:cNvPr>
            <p:cNvCxnSpPr>
              <a:stCxn id="28" idx="4"/>
              <a:endCxn id="20" idx="0"/>
            </p:cNvCxnSpPr>
            <p:nvPr/>
          </p:nvCxnSpPr>
          <p:spPr>
            <a:xfrm>
              <a:off x="7264267" y="1999007"/>
              <a:ext cx="1506" cy="591613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F60BA6E-10BF-4FAB-9EAF-61EABDEED2F5}"/>
                </a:ext>
              </a:extLst>
            </p:cNvPr>
            <p:cNvCxnSpPr>
              <a:stCxn id="20" idx="2"/>
              <a:endCxn id="13" idx="0"/>
            </p:cNvCxnSpPr>
            <p:nvPr/>
          </p:nvCxnSpPr>
          <p:spPr>
            <a:xfrm flipH="1">
              <a:off x="7264267" y="3670620"/>
              <a:ext cx="1506" cy="378946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371FE36-B3B8-4CD8-83AD-CB1606D09A65}"/>
                </a:ext>
              </a:extLst>
            </p:cNvPr>
            <p:cNvCxnSpPr>
              <a:stCxn id="13" idx="2"/>
              <a:endCxn id="23" idx="0"/>
            </p:cNvCxnSpPr>
            <p:nvPr/>
          </p:nvCxnSpPr>
          <p:spPr>
            <a:xfrm>
              <a:off x="7264267" y="5129566"/>
              <a:ext cx="0" cy="480354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A432D40-80AA-468C-9780-A68E92AFF338}"/>
              </a:ext>
            </a:extLst>
          </p:cNvPr>
          <p:cNvGrpSpPr/>
          <p:nvPr/>
        </p:nvGrpSpPr>
        <p:grpSpPr>
          <a:xfrm>
            <a:off x="9005926" y="1639007"/>
            <a:ext cx="2160000" cy="3220559"/>
            <a:chOff x="9005926" y="1639007"/>
            <a:chExt cx="2160000" cy="322055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E5373707-A916-EABC-701C-6B0655EF4E65}"/>
                </a:ext>
              </a:extLst>
            </p:cNvPr>
            <p:cNvSpPr/>
            <p:nvPr/>
          </p:nvSpPr>
          <p:spPr>
            <a:xfrm>
              <a:off x="9542912" y="4319566"/>
              <a:ext cx="1080000" cy="540000"/>
            </a:xfrm>
            <a:prstGeom prst="roundRect">
              <a:avLst>
                <a:gd name="adj" fmla="val 50000"/>
              </a:avLst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end</a:t>
              </a:r>
            </a:p>
          </p:txBody>
        </p:sp>
        <p:sp>
          <p:nvSpPr>
            <p:cNvPr id="27" name="Parallelogram 26">
              <a:extLst>
                <a:ext uri="{FF2B5EF4-FFF2-40B4-BE49-F238E27FC236}">
                  <a16:creationId xmlns:a16="http://schemas.microsoft.com/office/drawing/2014/main" id="{E70B8D10-B8B0-9A37-C6DE-44A51DEEC9B1}"/>
                </a:ext>
              </a:extLst>
            </p:cNvPr>
            <p:cNvSpPr/>
            <p:nvPr/>
          </p:nvSpPr>
          <p:spPr>
            <a:xfrm>
              <a:off x="9005926" y="2671461"/>
              <a:ext cx="2160000" cy="900000"/>
            </a:xfrm>
            <a:prstGeom prst="parallelogram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Display total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2EE7A80-2F30-402B-8274-69CDB3BD7C25}"/>
                </a:ext>
              </a:extLst>
            </p:cNvPr>
            <p:cNvSpPr/>
            <p:nvPr/>
          </p:nvSpPr>
          <p:spPr>
            <a:xfrm>
              <a:off x="9902912" y="1639007"/>
              <a:ext cx="360000" cy="36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ctr"/>
            <a:lstStyle/>
            <a:p>
              <a:pPr algn="ctr"/>
              <a:endParaRPr lang="en-GB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96455023-2D71-4330-B743-5E4267D86C98}"/>
                </a:ext>
              </a:extLst>
            </p:cNvPr>
            <p:cNvCxnSpPr>
              <a:stCxn id="22" idx="4"/>
              <a:endCxn id="27" idx="0"/>
            </p:cNvCxnSpPr>
            <p:nvPr/>
          </p:nvCxnSpPr>
          <p:spPr>
            <a:xfrm>
              <a:off x="10082912" y="1999007"/>
              <a:ext cx="3014" cy="672454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A30562B-CA2E-4835-93AF-A4EC2F9C39FF}"/>
                </a:ext>
              </a:extLst>
            </p:cNvPr>
            <p:cNvCxnSpPr>
              <a:stCxn id="27" idx="4"/>
              <a:endCxn id="24" idx="0"/>
            </p:cNvCxnSpPr>
            <p:nvPr/>
          </p:nvCxnSpPr>
          <p:spPr>
            <a:xfrm flipH="1">
              <a:off x="10082912" y="3571461"/>
              <a:ext cx="3014" cy="748105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F80EE6B2-2E8B-4A70-BEC4-1A59869CF745}"/>
              </a:ext>
            </a:extLst>
          </p:cNvPr>
          <p:cNvCxnSpPr>
            <a:stCxn id="13" idx="1"/>
            <a:endCxn id="25" idx="2"/>
          </p:cNvCxnSpPr>
          <p:nvPr/>
        </p:nvCxnSpPr>
        <p:spPr>
          <a:xfrm rot="10800000">
            <a:off x="5413121" y="3130620"/>
            <a:ext cx="861147" cy="1458946"/>
          </a:xfrm>
          <a:prstGeom prst="bentConnector3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177526"/>
      </p:ext>
    </p:extLst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CDE3C-362F-61E6-C145-ACF41DA18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Flowchart – If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559F4-457D-E10E-7E7C-D4C43321EB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303380" cy="4351338"/>
          </a:xfrm>
        </p:spPr>
        <p:txBody>
          <a:bodyPr/>
          <a:lstStyle/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age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endParaRPr lang="en-GB" altLang="en-US" noProof="0" dirty="0">
              <a:solidFill>
                <a:srgbClr val="0086B3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age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"Age?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age &gt;=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18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"Go in"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altLang="en-US" sz="4400" noProof="0" dirty="0">
              <a:latin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75E1B3B-E80F-DF7F-4C09-3A56DC0668C3}"/>
              </a:ext>
            </a:extLst>
          </p:cNvPr>
          <p:cNvGrpSpPr/>
          <p:nvPr/>
        </p:nvGrpSpPr>
        <p:grpSpPr>
          <a:xfrm>
            <a:off x="4318000" y="2732183"/>
            <a:ext cx="4242106" cy="1987610"/>
            <a:chOff x="5512872" y="1284400"/>
            <a:chExt cx="4242106" cy="198761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3BF4846-E70C-EEF2-1359-7C5A6B77A880}"/>
                </a:ext>
              </a:extLst>
            </p:cNvPr>
            <p:cNvCxnSpPr>
              <a:cxnSpLocks/>
            </p:cNvCxnSpPr>
            <p:nvPr/>
          </p:nvCxnSpPr>
          <p:spPr>
            <a:xfrm>
              <a:off x="5512872" y="3272010"/>
              <a:ext cx="2339975" cy="0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5A8FD28-5913-617B-C987-0655F92FD4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3797" y="1284400"/>
              <a:ext cx="1921181" cy="1987610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4DC67B6-5FB5-665B-3F07-06565D1F3D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1697" y="552875"/>
            <a:ext cx="2122604" cy="5940000"/>
          </a:xfr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3E7A2BE-9947-409D-82E7-D5BDBDCE1538}"/>
              </a:ext>
            </a:extLst>
          </p:cNvPr>
          <p:cNvGrpSpPr/>
          <p:nvPr/>
        </p:nvGrpSpPr>
        <p:grpSpPr>
          <a:xfrm>
            <a:off x="5487987" y="4584856"/>
            <a:ext cx="2815754" cy="719918"/>
            <a:chOff x="5512872" y="1284400"/>
            <a:chExt cx="4242106" cy="198761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0D6F84F-1F67-4839-B192-2C25816390AD}"/>
                </a:ext>
              </a:extLst>
            </p:cNvPr>
            <p:cNvCxnSpPr>
              <a:cxnSpLocks/>
            </p:cNvCxnSpPr>
            <p:nvPr/>
          </p:nvCxnSpPr>
          <p:spPr>
            <a:xfrm>
              <a:off x="5512872" y="3272010"/>
              <a:ext cx="2339975" cy="0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E81F76F-4891-49E6-8A72-1E5E93B1FF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3797" y="1284400"/>
              <a:ext cx="1921181" cy="1987610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1231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CDE3C-362F-61E6-C145-ACF41DA18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Flowchart – If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559F4-457D-E10E-7E7C-D4C43321EB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303380" cy="4351338"/>
          </a:xfrm>
        </p:spPr>
        <p:txBody>
          <a:bodyPr/>
          <a:lstStyle/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age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endParaRPr lang="en-GB" altLang="en-US" noProof="0" dirty="0">
              <a:solidFill>
                <a:srgbClr val="0086B3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age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"Age?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age &gt;=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18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"Go in"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altLang="en-US" sz="4400" noProof="0" dirty="0">
              <a:latin typeface="Arial" panose="020B0604020202020204" pitchFamily="34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4DC67B6-5FB5-665B-3F07-06565D1F3D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1697" y="552875"/>
            <a:ext cx="2122604" cy="5940000"/>
          </a:xfr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3E7A2BE-9947-409D-82E7-D5BDBDCE1538}"/>
              </a:ext>
            </a:extLst>
          </p:cNvPr>
          <p:cNvGrpSpPr/>
          <p:nvPr/>
        </p:nvGrpSpPr>
        <p:grpSpPr>
          <a:xfrm>
            <a:off x="5487987" y="4584856"/>
            <a:ext cx="2815754" cy="719918"/>
            <a:chOff x="5512872" y="1284400"/>
            <a:chExt cx="4242106" cy="198761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0D6F84F-1F67-4839-B192-2C25816390AD}"/>
                </a:ext>
              </a:extLst>
            </p:cNvPr>
            <p:cNvCxnSpPr>
              <a:cxnSpLocks/>
            </p:cNvCxnSpPr>
            <p:nvPr/>
          </p:nvCxnSpPr>
          <p:spPr>
            <a:xfrm>
              <a:off x="5512872" y="3272010"/>
              <a:ext cx="2339975" cy="0"/>
            </a:xfrm>
            <a:prstGeom prst="line">
              <a:avLst/>
            </a:prstGeom>
            <a:ln w="57150">
              <a:solidFill>
                <a:srgbClr val="7030A0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E81F76F-4891-49E6-8A72-1E5E93B1FF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3797" y="1284400"/>
              <a:ext cx="1921181" cy="1987610"/>
            </a:xfrm>
            <a:prstGeom prst="line">
              <a:avLst/>
            </a:prstGeom>
            <a:ln w="57150">
              <a:solidFill>
                <a:srgbClr val="7030A0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7161160"/>
      </p:ext>
    </p:extLst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CDE3C-362F-61E6-C145-ACF41DA18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Flowchart – 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559F4-457D-E10E-7E7C-D4C43321EB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245506" cy="4351338"/>
          </a:xfrm>
        </p:spPr>
        <p:txBody>
          <a:bodyPr>
            <a:normAutofit fontScale="92500" lnSpcReduction="20000"/>
          </a:bodyPr>
          <a:lstStyle/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age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age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"Age?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age &gt;=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18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"Go in"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else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"Get out!")</a:t>
            </a:r>
            <a:endParaRPr lang="en-GB" altLang="en-US" sz="4400" noProof="0" dirty="0">
              <a:latin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F6FD9B4-1AB9-93D9-CF8D-0377828C2B5B}"/>
              </a:ext>
            </a:extLst>
          </p:cNvPr>
          <p:cNvGrpSpPr/>
          <p:nvPr/>
        </p:nvGrpSpPr>
        <p:grpSpPr>
          <a:xfrm>
            <a:off x="4151523" y="2854411"/>
            <a:ext cx="3917439" cy="1265898"/>
            <a:chOff x="5442333" y="2006112"/>
            <a:chExt cx="3917439" cy="1265898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0492247-207A-5B8E-7F23-E632EFC6530E}"/>
                </a:ext>
              </a:extLst>
            </p:cNvPr>
            <p:cNvCxnSpPr>
              <a:cxnSpLocks/>
            </p:cNvCxnSpPr>
            <p:nvPr/>
          </p:nvCxnSpPr>
          <p:spPr>
            <a:xfrm>
              <a:off x="5442333" y="3272010"/>
              <a:ext cx="2700127" cy="0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B015F7E-58CB-C87D-FB90-1EB63029F3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2245" y="2006112"/>
              <a:ext cx="1237527" cy="1265898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2EDCCE4-6EA2-13AA-0715-08118C380DB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906" y="552875"/>
            <a:ext cx="3307312" cy="5940000"/>
          </a:xfr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2595D27-B235-4125-9B79-A2A22521ABD5}"/>
              </a:ext>
            </a:extLst>
          </p:cNvPr>
          <p:cNvGrpSpPr/>
          <p:nvPr/>
        </p:nvGrpSpPr>
        <p:grpSpPr>
          <a:xfrm>
            <a:off x="5149441" y="4255245"/>
            <a:ext cx="2700127" cy="359959"/>
            <a:chOff x="5512872" y="1284400"/>
            <a:chExt cx="4242106" cy="198761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5C5ACB0-2BEE-47E0-A3E8-08954FA5A8A6}"/>
                </a:ext>
              </a:extLst>
            </p:cNvPr>
            <p:cNvCxnSpPr>
              <a:cxnSpLocks/>
            </p:cNvCxnSpPr>
            <p:nvPr/>
          </p:nvCxnSpPr>
          <p:spPr>
            <a:xfrm>
              <a:off x="5512872" y="3272010"/>
              <a:ext cx="2339975" cy="0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1BAA6FC-5A79-4579-9EDD-4924E7404B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3797" y="1284400"/>
              <a:ext cx="1921181" cy="1987610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BDF52BD-EA97-4945-9758-B3EB014A2DED}"/>
              </a:ext>
            </a:extLst>
          </p:cNvPr>
          <p:cNvGrpSpPr/>
          <p:nvPr/>
        </p:nvGrpSpPr>
        <p:grpSpPr>
          <a:xfrm>
            <a:off x="5817934" y="4615204"/>
            <a:ext cx="4018044" cy="1010286"/>
            <a:chOff x="5512872" y="-2306554"/>
            <a:chExt cx="6312655" cy="5578564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ECD9A2F-EF12-455F-8673-1BE2FBE5D33F}"/>
                </a:ext>
              </a:extLst>
            </p:cNvPr>
            <p:cNvCxnSpPr>
              <a:cxnSpLocks/>
            </p:cNvCxnSpPr>
            <p:nvPr/>
          </p:nvCxnSpPr>
          <p:spPr>
            <a:xfrm>
              <a:off x="5512872" y="3272010"/>
              <a:ext cx="3730672" cy="0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84D661F-997B-47DF-A0D7-7E0376EB78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43544" y="-2306554"/>
              <a:ext cx="2581983" cy="5578564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7883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CDE3C-362F-61E6-C145-ACF41DA18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Flowchart – 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559F4-457D-E10E-7E7C-D4C43321EB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245506" cy="4351338"/>
          </a:xfrm>
        </p:spPr>
        <p:txBody>
          <a:bodyPr>
            <a:normAutofit fontScale="92500" lnSpcReduction="20000"/>
          </a:bodyPr>
          <a:lstStyle/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age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age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"Age?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age &gt;=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18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"Go in"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else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"Get out!")</a:t>
            </a:r>
            <a:endParaRPr lang="en-GB" altLang="en-US" sz="4400" noProof="0" dirty="0">
              <a:latin typeface="Arial" panose="020B0604020202020204" pitchFamily="34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2EDCCE4-6EA2-13AA-0715-08118C380DB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906" y="552875"/>
            <a:ext cx="3307312" cy="5940000"/>
          </a:xfrm>
        </p:spPr>
      </p:pic>
    </p:spTree>
    <p:extLst>
      <p:ext uri="{BB962C8B-B14F-4D97-AF65-F5344CB8AC3E}">
        <p14:creationId xmlns:p14="http://schemas.microsoft.com/office/powerpoint/2010/main" val="3904918738"/>
      </p:ext>
    </p:extLst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95759725-C505-419B-BE35-3F28C546A3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634" y="552875"/>
            <a:ext cx="3789774" cy="5940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BCDE3C-362F-61E6-C145-ACF41DA18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Flowchart – Else If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559F4-457D-E10E-7E7C-D4C43321EB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708495" cy="466725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mark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mark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"Mark?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mark &gt;=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85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"Distinction"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noProof="0" dirty="0" err="1">
                <a:solidFill>
                  <a:srgbClr val="A71D5D"/>
                </a:solidFill>
                <a:latin typeface="Consolas" panose="020B0609020204030204" pitchFamily="49" charset="0"/>
              </a:rPr>
              <a:t>elif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mark &gt;=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50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"Pass"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else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"Fail"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altLang="en-US" sz="4400" noProof="0" dirty="0">
              <a:latin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44A072D-34B1-2E6B-63DB-69C37DBB4868}"/>
              </a:ext>
            </a:extLst>
          </p:cNvPr>
          <p:cNvGrpSpPr/>
          <p:nvPr/>
        </p:nvGrpSpPr>
        <p:grpSpPr>
          <a:xfrm>
            <a:off x="4515080" y="2334974"/>
            <a:ext cx="3813580" cy="937036"/>
            <a:chOff x="5442333" y="2334974"/>
            <a:chExt cx="3813580" cy="93703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09314B4-2944-C2BA-6BFD-18012FF94BC1}"/>
                </a:ext>
              </a:extLst>
            </p:cNvPr>
            <p:cNvCxnSpPr>
              <a:cxnSpLocks/>
            </p:cNvCxnSpPr>
            <p:nvPr/>
          </p:nvCxnSpPr>
          <p:spPr>
            <a:xfrm>
              <a:off x="5442333" y="3272010"/>
              <a:ext cx="2882670" cy="0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1B9995E-B03E-1943-AF72-DFD3A4D664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9603" y="2334974"/>
              <a:ext cx="956310" cy="937036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6828B97-4767-BC7D-C177-592C6516DB0F}"/>
              </a:ext>
            </a:extLst>
          </p:cNvPr>
          <p:cNvGrpSpPr/>
          <p:nvPr/>
        </p:nvGrpSpPr>
        <p:grpSpPr>
          <a:xfrm>
            <a:off x="4957590" y="3522875"/>
            <a:ext cx="4811250" cy="891049"/>
            <a:chOff x="4303923" y="2469097"/>
            <a:chExt cx="4811250" cy="891049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E6FC4F5-3B34-D533-BB5B-13BBE46C12C6}"/>
                </a:ext>
              </a:extLst>
            </p:cNvPr>
            <p:cNvCxnSpPr>
              <a:cxnSpLocks/>
            </p:cNvCxnSpPr>
            <p:nvPr/>
          </p:nvCxnSpPr>
          <p:spPr>
            <a:xfrm>
              <a:off x="4303923" y="3360146"/>
              <a:ext cx="4043535" cy="0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CA352A9-F289-E0C0-22F9-4C82370284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8408" y="2469097"/>
              <a:ext cx="786765" cy="891049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4668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95759725-C505-419B-BE35-3F28C546A3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634" y="552875"/>
            <a:ext cx="3789774" cy="5940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BCDE3C-362F-61E6-C145-ACF41DA18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Flowchart – Else If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559F4-457D-E10E-7E7C-D4C43321EB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708495" cy="466725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mark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mark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"Mark?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mark &gt;=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85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"Distinction"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noProof="0" dirty="0" err="1">
                <a:solidFill>
                  <a:srgbClr val="A71D5D"/>
                </a:solidFill>
                <a:latin typeface="Consolas" panose="020B0609020204030204" pitchFamily="49" charset="0"/>
              </a:rPr>
              <a:t>elif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mark &gt;=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50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"Pass"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else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"Fail"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altLang="en-US" sz="4400" noProof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994858"/>
      </p:ext>
    </p:extLst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CDE3C-362F-61E6-C145-ACF41DA18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Flowchart – While (Repeat … Until)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559F4-457D-E10E-7E7C-D4C43321EB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1825625"/>
            <a:ext cx="7794814" cy="466725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cost, total, more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""</a:t>
            </a: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while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more != 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"n"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cost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"Cost?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total = total + cost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more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"More? (y/n)"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"Total: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(total))</a:t>
            </a:r>
            <a:endParaRPr lang="en-GB" altLang="en-US" sz="4400" noProof="0" dirty="0">
              <a:latin typeface="Arial" panose="020B0604020202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748266-0450-C23C-18A6-9C04F90EF5F9}"/>
              </a:ext>
            </a:extLst>
          </p:cNvPr>
          <p:cNvGrpSpPr/>
          <p:nvPr/>
        </p:nvGrpSpPr>
        <p:grpSpPr>
          <a:xfrm>
            <a:off x="5442333" y="3272010"/>
            <a:ext cx="4144580" cy="628478"/>
            <a:chOff x="5442333" y="3272010"/>
            <a:chExt cx="4144580" cy="628478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0EF9AC8-BB3C-CD17-5BF3-F1E368518477}"/>
                </a:ext>
              </a:extLst>
            </p:cNvPr>
            <p:cNvCxnSpPr>
              <a:cxnSpLocks/>
            </p:cNvCxnSpPr>
            <p:nvPr/>
          </p:nvCxnSpPr>
          <p:spPr>
            <a:xfrm>
              <a:off x="5442333" y="3272010"/>
              <a:ext cx="3406392" cy="0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4F6FD44-B815-C632-19B8-A25812463291}"/>
                </a:ext>
              </a:extLst>
            </p:cNvPr>
            <p:cNvCxnSpPr>
              <a:cxnSpLocks/>
            </p:cNvCxnSpPr>
            <p:nvPr/>
          </p:nvCxnSpPr>
          <p:spPr>
            <a:xfrm>
              <a:off x="8829675" y="3272010"/>
              <a:ext cx="757238" cy="628478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B7217F0-5601-FBCF-F022-D1860172377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287" y="552875"/>
            <a:ext cx="2387090" cy="5940000"/>
          </a:xfrm>
        </p:spPr>
      </p:pic>
    </p:spTree>
    <p:extLst>
      <p:ext uri="{BB962C8B-B14F-4D97-AF65-F5344CB8AC3E}">
        <p14:creationId xmlns:p14="http://schemas.microsoft.com/office/powerpoint/2010/main" val="2625209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CDE3C-362F-61E6-C145-ACF41DA18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Flowchart – While (Repeat … Until)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559F4-457D-E10E-7E7C-D4C43321EB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1825625"/>
            <a:ext cx="7794814" cy="466725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cost, total, more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""</a:t>
            </a:r>
            <a:endParaRPr lang="en-GB" altLang="en-US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while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more != 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"n"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cost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"Cost?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total = total + cost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more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"More? (y/n)"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"Total: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(total))</a:t>
            </a:r>
            <a:endParaRPr lang="en-GB" altLang="en-US" sz="4400" noProof="0" dirty="0">
              <a:latin typeface="Arial" panose="020B0604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B7217F0-5601-FBCF-F022-D1860172377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287" y="552875"/>
            <a:ext cx="2387090" cy="5940000"/>
          </a:xfrm>
        </p:spPr>
      </p:pic>
    </p:spTree>
    <p:extLst>
      <p:ext uri="{BB962C8B-B14F-4D97-AF65-F5344CB8AC3E}">
        <p14:creationId xmlns:p14="http://schemas.microsoft.com/office/powerpoint/2010/main" val="1803101682"/>
      </p:ext>
    </p:extLst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741CB-BCEA-E792-88F2-D3552AB22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7F165-FF6E-AA14-B914-9824BB4B7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Flowchart –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8CC5C-4B33-7461-B353-980538B6D4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1825625"/>
            <a:ext cx="7794814" cy="466725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cost, total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counter 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4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cost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"Cost?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total = total + cost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"Total: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(total))</a:t>
            </a:r>
            <a:endParaRPr lang="en-GB" altLang="en-US" sz="4400" noProof="0" dirty="0">
              <a:latin typeface="Arial" panose="020B0604020202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DE1BA0-7782-AE3F-7D55-196E0B2E138C}"/>
              </a:ext>
            </a:extLst>
          </p:cNvPr>
          <p:cNvGrpSpPr/>
          <p:nvPr/>
        </p:nvGrpSpPr>
        <p:grpSpPr>
          <a:xfrm>
            <a:off x="6771190" y="3272009"/>
            <a:ext cx="2990647" cy="879861"/>
            <a:chOff x="5442333" y="3272010"/>
            <a:chExt cx="4309754" cy="515178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1727276-F137-D185-7348-FD6DCD344C76}"/>
                </a:ext>
              </a:extLst>
            </p:cNvPr>
            <p:cNvCxnSpPr>
              <a:cxnSpLocks/>
            </p:cNvCxnSpPr>
            <p:nvPr/>
          </p:nvCxnSpPr>
          <p:spPr>
            <a:xfrm>
              <a:off x="5442333" y="3272010"/>
              <a:ext cx="3073749" cy="0"/>
            </a:xfrm>
            <a:prstGeom prst="line">
              <a:avLst/>
            </a:prstGeom>
            <a:ln w="57150">
              <a:solidFill>
                <a:srgbClr val="7030A0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B19EFFA-E771-48B9-77AB-4E3F3F2FDA14}"/>
                </a:ext>
              </a:extLst>
            </p:cNvPr>
            <p:cNvCxnSpPr>
              <a:cxnSpLocks/>
            </p:cNvCxnSpPr>
            <p:nvPr/>
          </p:nvCxnSpPr>
          <p:spPr>
            <a:xfrm>
              <a:off x="8516082" y="3272010"/>
              <a:ext cx="1236005" cy="515178"/>
            </a:xfrm>
            <a:prstGeom prst="line">
              <a:avLst/>
            </a:prstGeom>
            <a:ln w="57150">
              <a:solidFill>
                <a:srgbClr val="7030A0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A2219C3B-38C4-4505-82E5-C9339CEDFE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140" y="459000"/>
            <a:ext cx="2122604" cy="5940000"/>
          </a:xfrm>
        </p:spPr>
      </p:pic>
    </p:spTree>
    <p:extLst>
      <p:ext uri="{BB962C8B-B14F-4D97-AF65-F5344CB8AC3E}">
        <p14:creationId xmlns:p14="http://schemas.microsoft.com/office/powerpoint/2010/main" val="74414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99741CB-BCEA-E792-88F2-D3552AB22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7F165-FF6E-AA14-B914-9824BB4B7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Flowchart –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8CC5C-4B33-7461-B353-980538B6D4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1825625"/>
            <a:ext cx="7794814" cy="466725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cost, total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counter 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4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cost =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"Cost?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total = total + cost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noProof="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GB" altLang="en-US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noProof="0" dirty="0">
                <a:solidFill>
                  <a:srgbClr val="183691"/>
                </a:solidFill>
                <a:latin typeface="Consolas" panose="020B0609020204030204" pitchFamily="49" charset="0"/>
              </a:rPr>
              <a:t>"Total: "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GB" altLang="en-US" noProof="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GB" altLang="en-US" noProof="0" dirty="0">
                <a:solidFill>
                  <a:srgbClr val="000000"/>
                </a:solidFill>
                <a:latin typeface="Consolas" panose="020B0609020204030204" pitchFamily="49" charset="0"/>
              </a:rPr>
              <a:t>(total))</a:t>
            </a:r>
            <a:endParaRPr lang="en-GB" altLang="en-US" sz="4400" noProof="0" dirty="0">
              <a:latin typeface="Arial" panose="020B0604020202020204" pitchFamily="34" charset="0"/>
            </a:endParaRP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A2219C3B-38C4-4505-82E5-C9339CEDFE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140" y="459000"/>
            <a:ext cx="2122604" cy="5940000"/>
          </a:xfrm>
        </p:spPr>
      </p:pic>
    </p:spTree>
    <p:extLst>
      <p:ext uri="{BB962C8B-B14F-4D97-AF65-F5344CB8AC3E}">
        <p14:creationId xmlns:p14="http://schemas.microsoft.com/office/powerpoint/2010/main" val="2428031427"/>
      </p:ext>
    </p:extLst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noProof="0" dirty="0"/>
              <a:t>Describe, identify, and be able to read and understand:</a:t>
            </a:r>
          </a:p>
          <a:p>
            <a:pPr lvl="1"/>
            <a:r>
              <a:rPr lang="en-GB" sz="3200" noProof="0" dirty="0"/>
              <a:t>structure diagrams</a:t>
            </a:r>
          </a:p>
          <a:p>
            <a:pPr lvl="1"/>
            <a:r>
              <a:rPr lang="en-GB" sz="3200" noProof="0" dirty="0"/>
              <a:t>flowcharts</a:t>
            </a:r>
          </a:p>
          <a:p>
            <a:pPr lvl="1"/>
            <a:r>
              <a:rPr lang="en-GB" sz="3200" b="1" noProof="0" dirty="0"/>
              <a:t>pseudocode</a:t>
            </a:r>
          </a:p>
          <a:p>
            <a:r>
              <a:rPr lang="en-GB" noProof="0" dirty="0"/>
              <a:t>Exemplify and implement one of the above design techniques to design efficient solutions to a problem.</a:t>
            </a:r>
          </a:p>
        </p:txBody>
      </p:sp>
    </p:spTree>
    <p:extLst>
      <p:ext uri="{BB962C8B-B14F-4D97-AF65-F5344CB8AC3E}">
        <p14:creationId xmlns:p14="http://schemas.microsoft.com/office/powerpoint/2010/main" val="2112419833"/>
      </p:ext>
    </p:extLst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40D7-A9B3-4CD9-A421-E59E72CD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F7FE1-4B01-47EA-B5A2-F77F0B34E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noProof="0" dirty="0"/>
              <a:t>Written in structured English</a:t>
            </a:r>
          </a:p>
          <a:p>
            <a:r>
              <a:rPr lang="en-GB" noProof="0" dirty="0"/>
              <a:t>Main steps show algorithm</a:t>
            </a:r>
          </a:p>
          <a:p>
            <a:r>
              <a:rPr lang="en-GB" noProof="0" dirty="0"/>
              <a:t>Refinements show detail</a:t>
            </a:r>
          </a:p>
          <a:p>
            <a:pPr marL="0" indent="0">
              <a:buNone/>
            </a:pPr>
            <a:endParaRPr lang="en-GB" noProof="0" dirty="0"/>
          </a:p>
          <a:p>
            <a:pPr marL="0" indent="0">
              <a:buNone/>
            </a:pPr>
            <a:endParaRPr lang="en-GB" noProof="0" dirty="0"/>
          </a:p>
          <a:p>
            <a:r>
              <a:rPr lang="en-GB" noProof="0" dirty="0" err="1"/>
              <a:t>SQA</a:t>
            </a:r>
            <a:r>
              <a:rPr lang="en-GB" noProof="0" dirty="0"/>
              <a:t> Reference Language (</a:t>
            </a:r>
            <a:r>
              <a:rPr lang="en-GB" noProof="0" dirty="0" err="1"/>
              <a:t>SQARL</a:t>
            </a:r>
            <a:r>
              <a:rPr lang="en-GB" noProof="0" dirty="0"/>
              <a:t>) </a:t>
            </a:r>
            <a:r>
              <a:rPr lang="en-GB" b="1" noProof="0" dirty="0">
                <a:solidFill>
                  <a:srgbClr val="FF0000"/>
                </a:solidFill>
              </a:rPr>
              <a:t>!=</a:t>
            </a:r>
            <a:r>
              <a:rPr lang="en-GB" noProof="0" dirty="0"/>
              <a:t> Pseudocode</a:t>
            </a:r>
          </a:p>
        </p:txBody>
      </p:sp>
    </p:spTree>
    <p:extLst>
      <p:ext uri="{BB962C8B-B14F-4D97-AF65-F5344CB8AC3E}">
        <p14:creationId xmlns:p14="http://schemas.microsoft.com/office/powerpoint/2010/main" val="133884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40D7-A9B3-4CD9-A421-E59E72CD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F7FE1-4B01-47EA-B5A2-F77F0B34E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noProof="0" dirty="0"/>
              <a:t>Written in</a:t>
            </a:r>
          </a:p>
          <a:p>
            <a:r>
              <a:rPr lang="en-GB" noProof="0" dirty="0"/>
              <a:t>Main steps</a:t>
            </a:r>
          </a:p>
          <a:p>
            <a:r>
              <a:rPr lang="en-GB" noProof="0" dirty="0"/>
              <a:t>Refinements</a:t>
            </a:r>
          </a:p>
          <a:p>
            <a:pPr marL="0" indent="0">
              <a:buNone/>
            </a:pPr>
            <a:endParaRPr lang="en-GB" noProof="0" dirty="0"/>
          </a:p>
          <a:p>
            <a:pPr marL="0" indent="0">
              <a:buNone/>
            </a:pPr>
            <a:endParaRPr lang="en-GB" noProof="0" dirty="0"/>
          </a:p>
          <a:p>
            <a:r>
              <a:rPr lang="en-GB" noProof="0" dirty="0" err="1"/>
              <a:t>SQA</a:t>
            </a:r>
            <a:r>
              <a:rPr lang="en-GB" noProof="0" dirty="0"/>
              <a:t> Reference Language (</a:t>
            </a:r>
            <a:r>
              <a:rPr lang="en-GB" noProof="0" dirty="0" err="1"/>
              <a:t>SQARL</a:t>
            </a:r>
            <a:r>
              <a:rPr lang="en-GB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03656443"/>
      </p:ext>
    </p:extLst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40D7-A9B3-4CD9-A421-E59E72CD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Pseudocode –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DFBAE5-53BC-4528-A3A6-284F7E431B60}"/>
              </a:ext>
            </a:extLst>
          </p:cNvPr>
          <p:cNvSpPr txBox="1"/>
          <p:nvPr/>
        </p:nvSpPr>
        <p:spPr>
          <a:xfrm>
            <a:off x="838200" y="2025569"/>
            <a:ext cx="9451626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Consolas" panose="020B0609020204030204" pitchFamily="49" charset="0"/>
              </a:rPr>
              <a:t>1  Ask user to enter rectangle dimensions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2  Calculate perimeter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3  Calculate area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4  Display results</a:t>
            </a:r>
          </a:p>
          <a:p>
            <a:endParaRPr lang="en-GB" sz="3200" dirty="0">
              <a:latin typeface="Consolas" panose="020B0609020204030204" pitchFamily="49" charset="0"/>
            </a:endParaRPr>
          </a:p>
          <a:p>
            <a:r>
              <a:rPr lang="en-GB" sz="3200" dirty="0">
                <a:latin typeface="Consolas" panose="020B0609020204030204" pitchFamily="49" charset="0"/>
              </a:rPr>
              <a:t>1.1  Ask user for length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1.2  Ask user for breadth</a:t>
            </a:r>
          </a:p>
          <a:p>
            <a:endParaRPr lang="en-GB" sz="3200" dirty="0">
              <a:latin typeface="Consolas" panose="020B0609020204030204" pitchFamily="49" charset="0"/>
            </a:endParaRPr>
          </a:p>
          <a:p>
            <a:r>
              <a:rPr lang="en-GB" sz="3200" dirty="0">
                <a:latin typeface="Consolas" panose="020B0609020204030204" pitchFamily="49" charset="0"/>
              </a:rPr>
              <a:t>3.1  Calculate area: length x breadth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1D53E8-EAB2-4BD8-8482-989BD2396773}"/>
              </a:ext>
            </a:extLst>
          </p:cNvPr>
          <p:cNvSpPr txBox="1"/>
          <p:nvPr/>
        </p:nvSpPr>
        <p:spPr>
          <a:xfrm>
            <a:off x="7522434" y="5186362"/>
            <a:ext cx="45522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7030A0"/>
                </a:solidFill>
              </a:rPr>
              <a:t>Not all refinements shown</a:t>
            </a: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7E5243F4-436F-435A-83AB-A28916CFDC91}"/>
              </a:ext>
            </a:extLst>
          </p:cNvPr>
          <p:cNvSpPr/>
          <p:nvPr/>
        </p:nvSpPr>
        <p:spPr>
          <a:xfrm>
            <a:off x="7775118" y="2997679"/>
            <a:ext cx="2236641" cy="862642"/>
          </a:xfrm>
          <a:prstGeom prst="callout2">
            <a:avLst>
              <a:gd name="adj1" fmla="val 50787"/>
              <a:gd name="adj2" fmla="val -542"/>
              <a:gd name="adj3" fmla="val 51016"/>
              <a:gd name="adj4" fmla="val -23751"/>
              <a:gd name="adj5" fmla="val 11654"/>
              <a:gd name="adj6" fmla="val -71159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chemeClr val="tx1"/>
                </a:solidFill>
              </a:rPr>
              <a:t>Algorithm</a:t>
            </a:r>
          </a:p>
        </p:txBody>
      </p:sp>
      <p:sp>
        <p:nvSpPr>
          <p:cNvPr id="7" name="Callout: Bent Line with No Border 6">
            <a:extLst>
              <a:ext uri="{FF2B5EF4-FFF2-40B4-BE49-F238E27FC236}">
                <a16:creationId xmlns:a16="http://schemas.microsoft.com/office/drawing/2014/main" id="{214ADA54-DEA2-4973-91F1-2A5500F29621}"/>
              </a:ext>
            </a:extLst>
          </p:cNvPr>
          <p:cNvSpPr/>
          <p:nvPr/>
        </p:nvSpPr>
        <p:spPr>
          <a:xfrm>
            <a:off x="7775118" y="4129749"/>
            <a:ext cx="2236641" cy="862642"/>
          </a:xfrm>
          <a:prstGeom prst="callout2">
            <a:avLst>
              <a:gd name="adj1" fmla="val 50787"/>
              <a:gd name="adj2" fmla="val -542"/>
              <a:gd name="adj3" fmla="val 51016"/>
              <a:gd name="adj4" fmla="val -23751"/>
              <a:gd name="adj5" fmla="val 74959"/>
              <a:gd name="adj6" fmla="val -5753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chemeClr val="tx1"/>
                </a:solidFill>
              </a:rPr>
              <a:t>Refinements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CE246A-303B-4751-9244-59F8ECCC4D26}"/>
              </a:ext>
            </a:extLst>
          </p:cNvPr>
          <p:cNvGrpSpPr/>
          <p:nvPr/>
        </p:nvGrpSpPr>
        <p:grpSpPr>
          <a:xfrm>
            <a:off x="420132" y="2348427"/>
            <a:ext cx="360000" cy="2664000"/>
            <a:chOff x="296562" y="2348427"/>
            <a:chExt cx="360000" cy="2702008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E1C5674-8031-4302-B44A-137554DAA928}"/>
                </a:ext>
              </a:extLst>
            </p:cNvPr>
            <p:cNvCxnSpPr/>
            <p:nvPr/>
          </p:nvCxnSpPr>
          <p:spPr>
            <a:xfrm>
              <a:off x="296562" y="5050435"/>
              <a:ext cx="360000" cy="0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77F5BB9-7625-42D7-980D-B4C15C5EA5D8}"/>
                </a:ext>
              </a:extLst>
            </p:cNvPr>
            <p:cNvCxnSpPr/>
            <p:nvPr/>
          </p:nvCxnSpPr>
          <p:spPr>
            <a:xfrm>
              <a:off x="296562" y="2348427"/>
              <a:ext cx="360000" cy="0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3039E6C-B538-4A0F-908C-E453658540B2}"/>
                </a:ext>
              </a:extLst>
            </p:cNvPr>
            <p:cNvCxnSpPr>
              <a:cxnSpLocks/>
            </p:cNvCxnSpPr>
            <p:nvPr/>
          </p:nvCxnSpPr>
          <p:spPr>
            <a:xfrm>
              <a:off x="296562" y="2348427"/>
              <a:ext cx="0" cy="2702008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138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2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2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/>
      <p:bldP spid="6" grpId="0" animBg="1"/>
      <p:bldP spid="7" grpId="0" animBg="1"/>
    </p:bldLst>
  </p:timing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40D7-A9B3-4CD9-A421-E59E72CD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Pseudocode –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DFBAE5-53BC-4528-A3A6-284F7E431B60}"/>
              </a:ext>
            </a:extLst>
          </p:cNvPr>
          <p:cNvSpPr txBox="1"/>
          <p:nvPr/>
        </p:nvSpPr>
        <p:spPr>
          <a:xfrm>
            <a:off x="838200" y="2025569"/>
            <a:ext cx="9451626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Consolas" panose="020B0609020204030204" pitchFamily="49" charset="0"/>
              </a:rPr>
              <a:t>1  Ask user to enter rectangle dimensions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2  Calculate perimeter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3  Calculate area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4  Display results</a:t>
            </a:r>
          </a:p>
          <a:p>
            <a:endParaRPr lang="en-GB" sz="3200" dirty="0">
              <a:latin typeface="Consolas" panose="020B0609020204030204" pitchFamily="49" charset="0"/>
            </a:endParaRPr>
          </a:p>
          <a:p>
            <a:r>
              <a:rPr lang="en-GB" sz="3200" dirty="0">
                <a:latin typeface="Consolas" panose="020B0609020204030204" pitchFamily="49" charset="0"/>
              </a:rPr>
              <a:t>1.1  Ask user for length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1.2  Ask user for breadth</a:t>
            </a:r>
          </a:p>
          <a:p>
            <a:endParaRPr lang="en-GB" sz="3200" dirty="0">
              <a:latin typeface="Consolas" panose="020B0609020204030204" pitchFamily="49" charset="0"/>
            </a:endParaRPr>
          </a:p>
          <a:p>
            <a:r>
              <a:rPr lang="en-GB" sz="3200" dirty="0">
                <a:latin typeface="Consolas" panose="020B0609020204030204" pitchFamily="49" charset="0"/>
              </a:rPr>
              <a:t>3.1  Calculate area: length x breadth</a:t>
            </a:r>
          </a:p>
        </p:txBody>
      </p:sp>
    </p:spTree>
    <p:extLst>
      <p:ext uri="{BB962C8B-B14F-4D97-AF65-F5344CB8AC3E}">
        <p14:creationId xmlns:p14="http://schemas.microsoft.com/office/powerpoint/2010/main" val="4002745072"/>
      </p:ext>
    </p:extLst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noProof="0" dirty="0"/>
              <a:t>Describe, exemplify, and implement user-interface design, in terms of input and output, using a wireframe.</a:t>
            </a:r>
          </a:p>
        </p:txBody>
      </p:sp>
    </p:spTree>
    <p:extLst>
      <p:ext uri="{BB962C8B-B14F-4D97-AF65-F5344CB8AC3E}">
        <p14:creationId xmlns:p14="http://schemas.microsoft.com/office/powerpoint/2010/main" val="1109456355"/>
      </p:ext>
    </p:extLst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65066-7343-B70A-8E30-A4E4A89CD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UI Wireframe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A2767-CDBD-B7DD-B251-EB674AAE1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GB" noProof="0" dirty="0"/>
              <a:t>Used to show the inputs and outputs</a:t>
            </a:r>
          </a:p>
          <a:p>
            <a:pPr>
              <a:spcBef>
                <a:spcPts val="0"/>
              </a:spcBef>
            </a:pPr>
            <a:r>
              <a:rPr lang="en-GB" noProof="0" dirty="0"/>
              <a:t>Initially just a sketch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AB86EE-3A1C-586D-7050-714AFEE31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023" y="2996730"/>
            <a:ext cx="4867954" cy="3658111"/>
          </a:xfrm>
          <a:prstGeom prst="rect">
            <a:avLst/>
          </a:prstGeom>
        </p:spPr>
      </p:pic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9B37AA5F-C64D-34E2-478E-828B98FDC9FF}"/>
              </a:ext>
            </a:extLst>
          </p:cNvPr>
          <p:cNvSpPr/>
          <p:nvPr/>
        </p:nvSpPr>
        <p:spPr>
          <a:xfrm>
            <a:off x="2100713" y="5091477"/>
            <a:ext cx="1267719" cy="862642"/>
          </a:xfrm>
          <a:prstGeom prst="callout2">
            <a:avLst>
              <a:gd name="adj1" fmla="val 48750"/>
              <a:gd name="adj2" fmla="val 104056"/>
              <a:gd name="adj3" fmla="val 49417"/>
              <a:gd name="adj4" fmla="val 134218"/>
              <a:gd name="adj5" fmla="val 105661"/>
              <a:gd name="adj6" fmla="val 19316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8" name="Callout: Bent Line with No Border 7">
            <a:extLst>
              <a:ext uri="{FF2B5EF4-FFF2-40B4-BE49-F238E27FC236}">
                <a16:creationId xmlns:a16="http://schemas.microsoft.com/office/drawing/2014/main" id="{4248902B-3E9A-0030-10FA-29ADA9837163}"/>
              </a:ext>
            </a:extLst>
          </p:cNvPr>
          <p:cNvSpPr/>
          <p:nvPr/>
        </p:nvSpPr>
        <p:spPr>
          <a:xfrm>
            <a:off x="9117159" y="5408498"/>
            <a:ext cx="2236641" cy="862642"/>
          </a:xfrm>
          <a:prstGeom prst="callout2">
            <a:avLst>
              <a:gd name="adj1" fmla="val 52750"/>
              <a:gd name="adj2" fmla="val -2245"/>
              <a:gd name="adj3" fmla="val 52979"/>
              <a:gd name="adj4" fmla="val -23751"/>
              <a:gd name="adj5" fmla="val 54293"/>
              <a:gd name="adj6" fmla="val -5173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chemeClr val="tx1"/>
                </a:solidFill>
              </a:rPr>
              <a:t>Submit</a:t>
            </a:r>
          </a:p>
          <a:p>
            <a:r>
              <a:rPr lang="en-GB" sz="2800" b="1" dirty="0">
                <a:solidFill>
                  <a:schemeClr val="tx1"/>
                </a:solidFill>
              </a:rPr>
              <a:t>(to processes)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AA403B8-C76C-A324-F785-F6C0E682BA9B}"/>
              </a:ext>
            </a:extLst>
          </p:cNvPr>
          <p:cNvGrpSpPr/>
          <p:nvPr/>
        </p:nvGrpSpPr>
        <p:grpSpPr>
          <a:xfrm>
            <a:off x="8124040" y="3008842"/>
            <a:ext cx="1704172" cy="1777041"/>
            <a:chOff x="7619999" y="3594339"/>
            <a:chExt cx="1704172" cy="1777041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A4A5CED-095A-3FB9-E63C-0099A389C200}"/>
                </a:ext>
              </a:extLst>
            </p:cNvPr>
            <p:cNvSpPr/>
            <p:nvPr/>
          </p:nvSpPr>
          <p:spPr>
            <a:xfrm>
              <a:off x="7619999" y="3594339"/>
              <a:ext cx="485955" cy="1777041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5E095E0-EC1E-77F0-C41B-383B87C7D234}"/>
                </a:ext>
              </a:extLst>
            </p:cNvPr>
            <p:cNvSpPr txBox="1"/>
            <p:nvPr/>
          </p:nvSpPr>
          <p:spPr>
            <a:xfrm>
              <a:off x="8167256" y="4221249"/>
              <a:ext cx="11569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b="1" dirty="0"/>
                <a:t>Inputs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2507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65066-7343-B70A-8E30-A4E4A89CD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UI Wireframe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A2767-CDBD-B7DD-B251-EB674AAE1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GB" noProof="0" dirty="0"/>
              <a:t>Used to show</a:t>
            </a:r>
          </a:p>
          <a:p>
            <a:pPr>
              <a:spcBef>
                <a:spcPts val="0"/>
              </a:spcBef>
            </a:pPr>
            <a:r>
              <a:rPr lang="en-GB" noProof="0" dirty="0"/>
              <a:t>Initially just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AB86EE-3A1C-586D-7050-714AFEE31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023" y="2996730"/>
            <a:ext cx="4867954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34877"/>
      </p:ext>
    </p:extLst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65066-7343-B70A-8E30-A4E4A89CD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UI Wireframe – Example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345841-97B1-4813-916A-58A6E2FAC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520700"/>
          </a:xfrm>
        </p:spPr>
        <p:txBody>
          <a:bodyPr/>
          <a:lstStyle/>
          <a:p>
            <a:r>
              <a:rPr lang="en-GB" noProof="0" dirty="0"/>
              <a:t>App Based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73316927-3CF1-4642-922A-E155DEAD19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520700"/>
          </a:xfrm>
        </p:spPr>
        <p:txBody>
          <a:bodyPr/>
          <a:lstStyle/>
          <a:p>
            <a:r>
              <a:rPr lang="en-GB" noProof="0" dirty="0"/>
              <a:t>Text Based</a:t>
            </a:r>
          </a:p>
        </p:txBody>
      </p:sp>
      <p:pic>
        <p:nvPicPr>
          <p:cNvPr id="16" name="Text - Rough">
            <a:extLst>
              <a:ext uri="{FF2B5EF4-FFF2-40B4-BE49-F238E27FC236}">
                <a16:creationId xmlns:a16="http://schemas.microsoft.com/office/drawing/2014/main" id="{C7CDA783-E37F-40A9-A1A7-793820F9D1C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85778" y="2201863"/>
            <a:ext cx="5183188" cy="3895490"/>
          </a:xfrm>
          <a:prstGeom prst="rect">
            <a:avLst/>
          </a:prstGeom>
        </p:spPr>
      </p:pic>
      <p:pic>
        <p:nvPicPr>
          <p:cNvPr id="19" name="Text">
            <a:extLst>
              <a:ext uri="{FF2B5EF4-FFF2-40B4-BE49-F238E27FC236}">
                <a16:creationId xmlns:a16="http://schemas.microsoft.com/office/drawing/2014/main" id="{259A6521-5767-43C4-B850-9BDFD790B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8296" y="2211388"/>
            <a:ext cx="5468873" cy="3833167"/>
          </a:xfrm>
          <a:prstGeom prst="rect">
            <a:avLst/>
          </a:prstGeom>
        </p:spPr>
      </p:pic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9B37AA5F-C64D-34E2-478E-828B98FDC9FF}"/>
              </a:ext>
            </a:extLst>
          </p:cNvPr>
          <p:cNvSpPr/>
          <p:nvPr/>
        </p:nvSpPr>
        <p:spPr>
          <a:xfrm>
            <a:off x="7514014" y="5796282"/>
            <a:ext cx="1398938" cy="862642"/>
          </a:xfrm>
          <a:prstGeom prst="callout2">
            <a:avLst>
              <a:gd name="adj1" fmla="val 48750"/>
              <a:gd name="adj2" fmla="val 104056"/>
              <a:gd name="adj3" fmla="val 49417"/>
              <a:gd name="adj4" fmla="val 134218"/>
              <a:gd name="adj5" fmla="val -47592"/>
              <a:gd name="adj6" fmla="val 14081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chemeClr val="tx1"/>
                </a:solidFill>
              </a:rPr>
              <a:t>Outputs</a:t>
            </a:r>
          </a:p>
        </p:txBody>
      </p:sp>
      <p:pic>
        <p:nvPicPr>
          <p:cNvPr id="26" name="GUI - Rough">
            <a:extLst>
              <a:ext uri="{FF2B5EF4-FFF2-40B4-BE49-F238E27FC236}">
                <a16:creationId xmlns:a16="http://schemas.microsoft.com/office/drawing/2014/main" id="{E966E8D7-2507-41D9-A120-AD376C63E0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1401877" y="2198028"/>
            <a:ext cx="3886538" cy="3943380"/>
          </a:xfrm>
          <a:prstGeom prst="rect">
            <a:avLst/>
          </a:prstGeom>
        </p:spPr>
      </p:pic>
      <p:pic>
        <p:nvPicPr>
          <p:cNvPr id="22" name="GUI">
            <a:extLst>
              <a:ext uri="{FF2B5EF4-FFF2-40B4-BE49-F238E27FC236}">
                <a16:creationId xmlns:a16="http://schemas.microsoft.com/office/drawing/2014/main" id="{5FC00170-16F8-4B44-9A4F-396CF3D9FB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954" y="2191840"/>
            <a:ext cx="4252770" cy="3987800"/>
          </a:xfrm>
          <a:prstGeom prst="rect">
            <a:avLst/>
          </a:prstGeom>
        </p:spPr>
      </p:pic>
      <p:sp>
        <p:nvSpPr>
          <p:cNvPr id="8" name="Callout: Bent Line with No Border 7">
            <a:extLst>
              <a:ext uri="{FF2B5EF4-FFF2-40B4-BE49-F238E27FC236}">
                <a16:creationId xmlns:a16="http://schemas.microsoft.com/office/drawing/2014/main" id="{4248902B-3E9A-0030-10FA-29ADA9837163}"/>
              </a:ext>
            </a:extLst>
          </p:cNvPr>
          <p:cNvSpPr/>
          <p:nvPr/>
        </p:nvSpPr>
        <p:spPr>
          <a:xfrm>
            <a:off x="68066" y="4656138"/>
            <a:ext cx="1543443" cy="862642"/>
          </a:xfrm>
          <a:prstGeom prst="callout2">
            <a:avLst>
              <a:gd name="adj1" fmla="val 31"/>
              <a:gd name="adj2" fmla="val 49965"/>
              <a:gd name="adj3" fmla="val -41829"/>
              <a:gd name="adj4" fmla="val 102446"/>
              <a:gd name="adj5" fmla="val -42789"/>
              <a:gd name="adj6" fmla="val 15240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chemeClr val="tx1"/>
                </a:solidFill>
              </a:rPr>
              <a:t>Submit</a:t>
            </a:r>
          </a:p>
          <a:p>
            <a:r>
              <a:rPr lang="en-GB" sz="2800" b="1" dirty="0">
                <a:solidFill>
                  <a:schemeClr val="tx1"/>
                </a:solidFill>
              </a:rPr>
              <a:t>(process)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AA403B8-C76C-A324-F785-F6C0E682BA9B}"/>
              </a:ext>
            </a:extLst>
          </p:cNvPr>
          <p:cNvGrpSpPr/>
          <p:nvPr/>
        </p:nvGrpSpPr>
        <p:grpSpPr>
          <a:xfrm>
            <a:off x="10445413" y="3058478"/>
            <a:ext cx="1394731" cy="918845"/>
            <a:chOff x="7886057" y="3608681"/>
            <a:chExt cx="1394731" cy="918845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A4A5CED-095A-3FB9-E63C-0099A389C200}"/>
                </a:ext>
              </a:extLst>
            </p:cNvPr>
            <p:cNvSpPr/>
            <p:nvPr/>
          </p:nvSpPr>
          <p:spPr>
            <a:xfrm>
              <a:off x="7886057" y="3608681"/>
              <a:ext cx="281197" cy="918845"/>
            </a:xfrm>
            <a:prstGeom prst="rightBrace">
              <a:avLst>
                <a:gd name="adj1" fmla="val 2473"/>
                <a:gd name="adj2" fmla="val 51171"/>
              </a:avLst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5E095E0-EC1E-77F0-C41B-383B87C7D234}"/>
                </a:ext>
              </a:extLst>
            </p:cNvPr>
            <p:cNvSpPr txBox="1"/>
            <p:nvPr/>
          </p:nvSpPr>
          <p:spPr>
            <a:xfrm>
              <a:off x="8123873" y="3806493"/>
              <a:ext cx="11569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b="1" dirty="0"/>
                <a:t>Inputs</a:t>
              </a:r>
            </a:p>
          </p:txBody>
        </p:sp>
      </p:grpSp>
      <p:sp>
        <p:nvSpPr>
          <p:cNvPr id="13" name="Callout: Bent Line with No Border 12">
            <a:extLst>
              <a:ext uri="{FF2B5EF4-FFF2-40B4-BE49-F238E27FC236}">
                <a16:creationId xmlns:a16="http://schemas.microsoft.com/office/drawing/2014/main" id="{A8A4E87C-764A-4485-8DED-F3971A45F538}"/>
              </a:ext>
            </a:extLst>
          </p:cNvPr>
          <p:cNvSpPr/>
          <p:nvPr/>
        </p:nvSpPr>
        <p:spPr>
          <a:xfrm>
            <a:off x="2340291" y="6190110"/>
            <a:ext cx="1005243" cy="474858"/>
          </a:xfrm>
          <a:prstGeom prst="callout2">
            <a:avLst>
              <a:gd name="adj1" fmla="val 50343"/>
              <a:gd name="adj2" fmla="val 219"/>
              <a:gd name="adj3" fmla="val 50572"/>
              <a:gd name="adj4" fmla="val -23751"/>
              <a:gd name="adj5" fmla="val -93390"/>
              <a:gd name="adj6" fmla="val -239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Label</a:t>
            </a:r>
          </a:p>
        </p:txBody>
      </p:sp>
      <p:sp>
        <p:nvSpPr>
          <p:cNvPr id="14" name="Callout: Bent Line with No Border 13">
            <a:extLst>
              <a:ext uri="{FF2B5EF4-FFF2-40B4-BE49-F238E27FC236}">
                <a16:creationId xmlns:a16="http://schemas.microsoft.com/office/drawing/2014/main" id="{84D08E55-3D43-4932-9ABD-A89CCB2D13BC}"/>
              </a:ext>
            </a:extLst>
          </p:cNvPr>
          <p:cNvSpPr/>
          <p:nvPr/>
        </p:nvSpPr>
        <p:spPr>
          <a:xfrm>
            <a:off x="4672246" y="2276428"/>
            <a:ext cx="1423754" cy="724422"/>
          </a:xfrm>
          <a:prstGeom prst="callout2">
            <a:avLst>
              <a:gd name="adj1" fmla="val 50343"/>
              <a:gd name="adj2" fmla="val 163"/>
              <a:gd name="adj3" fmla="val 51634"/>
              <a:gd name="adj4" fmla="val -16817"/>
              <a:gd name="adj5" fmla="val 127506"/>
              <a:gd name="adj6" fmla="val -3123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Text box</a:t>
            </a:r>
          </a:p>
          <a:p>
            <a:r>
              <a:rPr lang="en-GB" sz="2800" b="1" dirty="0">
                <a:solidFill>
                  <a:srgbClr val="7030A0"/>
                </a:solidFill>
              </a:rPr>
              <a:t>(input)</a:t>
            </a:r>
          </a:p>
        </p:txBody>
      </p:sp>
      <p:sp>
        <p:nvSpPr>
          <p:cNvPr id="15" name="Callout: Bent Line with No Border 14">
            <a:extLst>
              <a:ext uri="{FF2B5EF4-FFF2-40B4-BE49-F238E27FC236}">
                <a16:creationId xmlns:a16="http://schemas.microsoft.com/office/drawing/2014/main" id="{9C9F2111-EFA9-45BB-AD8F-FEB763B40BAD}"/>
              </a:ext>
            </a:extLst>
          </p:cNvPr>
          <p:cNvSpPr/>
          <p:nvPr/>
        </p:nvSpPr>
        <p:spPr>
          <a:xfrm>
            <a:off x="5123898" y="3930691"/>
            <a:ext cx="1274624" cy="474858"/>
          </a:xfrm>
          <a:prstGeom prst="callout2">
            <a:avLst>
              <a:gd name="adj1" fmla="val 50343"/>
              <a:gd name="adj2" fmla="val -302"/>
              <a:gd name="adj3" fmla="val 50171"/>
              <a:gd name="adj4" fmla="val -43858"/>
              <a:gd name="adj5" fmla="val 88274"/>
              <a:gd name="adj6" fmla="val -8323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Button</a:t>
            </a:r>
          </a:p>
        </p:txBody>
      </p:sp>
      <p:sp>
        <p:nvSpPr>
          <p:cNvPr id="17" name="Callout: Bent Line with No Border 16">
            <a:extLst>
              <a:ext uri="{FF2B5EF4-FFF2-40B4-BE49-F238E27FC236}">
                <a16:creationId xmlns:a16="http://schemas.microsoft.com/office/drawing/2014/main" id="{824CC895-7CD2-4CBF-864C-B9889CF79289}"/>
              </a:ext>
            </a:extLst>
          </p:cNvPr>
          <p:cNvSpPr/>
          <p:nvPr/>
        </p:nvSpPr>
        <p:spPr>
          <a:xfrm>
            <a:off x="4717923" y="5736827"/>
            <a:ext cx="1423754" cy="724422"/>
          </a:xfrm>
          <a:prstGeom prst="callout2">
            <a:avLst>
              <a:gd name="adj1" fmla="val 50343"/>
              <a:gd name="adj2" fmla="val 163"/>
              <a:gd name="adj3" fmla="val 51634"/>
              <a:gd name="adj4" fmla="val -16817"/>
              <a:gd name="adj5" fmla="val -29422"/>
              <a:gd name="adj6" fmla="val -2950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Text box</a:t>
            </a:r>
          </a:p>
          <a:p>
            <a:r>
              <a:rPr lang="en-GB" sz="2800" b="1" dirty="0">
                <a:solidFill>
                  <a:srgbClr val="7030A0"/>
                </a:solidFill>
              </a:rPr>
              <a:t>(output)</a:t>
            </a:r>
          </a:p>
        </p:txBody>
      </p:sp>
    </p:spTree>
    <p:extLst>
      <p:ext uri="{BB962C8B-B14F-4D97-AF65-F5344CB8AC3E}">
        <p14:creationId xmlns:p14="http://schemas.microsoft.com/office/powerpoint/2010/main" val="2376653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  <p:bldP spid="25" grpId="0" build="p"/>
      <p:bldP spid="6" grpId="0" animBg="1"/>
      <p:bldP spid="8" grpId="0" animBg="1"/>
      <p:bldP spid="13" grpId="0" animBg="1"/>
      <p:bldP spid="14" grpId="0" animBg="1"/>
      <p:bldP spid="15" grpId="0" animBg="1"/>
      <p:bldP spid="17" grpId="0" animBg="1"/>
    </p:bldLst>
  </p:timing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65066-7343-B70A-8E30-A4E4A89CD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UI Wireframe – Example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345841-97B1-4813-916A-58A6E2FAC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5207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73316927-3CF1-4642-922A-E155DEAD19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520700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16" name="Text - Rough">
            <a:extLst>
              <a:ext uri="{FF2B5EF4-FFF2-40B4-BE49-F238E27FC236}">
                <a16:creationId xmlns:a16="http://schemas.microsoft.com/office/drawing/2014/main" id="{C7CDA783-E37F-40A9-A1A7-793820F9D1C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85778" y="2201863"/>
            <a:ext cx="5183188" cy="3895490"/>
          </a:xfrm>
          <a:prstGeom prst="rect">
            <a:avLst/>
          </a:prstGeom>
        </p:spPr>
      </p:pic>
      <p:pic>
        <p:nvPicPr>
          <p:cNvPr id="26" name="GUI - Rough">
            <a:extLst>
              <a:ext uri="{FF2B5EF4-FFF2-40B4-BE49-F238E27FC236}">
                <a16:creationId xmlns:a16="http://schemas.microsoft.com/office/drawing/2014/main" id="{E966E8D7-2507-41D9-A120-AD376C63E0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1401877" y="2198028"/>
            <a:ext cx="3886538" cy="394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540475"/>
      </p:ext>
    </p:extLst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A740D69-8AEB-4008-96C4-3A8D73D31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Calculator Wireframe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72E8B36-48C7-4913-AE11-746A11B79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Create a wireframe for a simple calculator app that will only add, subtract, multiply and divide two numbers.</a:t>
            </a:r>
          </a:p>
        </p:txBody>
      </p:sp>
    </p:spTree>
    <p:extLst>
      <p:ext uri="{BB962C8B-B14F-4D97-AF65-F5344CB8AC3E}">
        <p14:creationId xmlns:p14="http://schemas.microsoft.com/office/powerpoint/2010/main" val="3622408940"/>
      </p:ext>
    </p:extLst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6745448"/>
      </p:ext>
    </p:extLst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sz="2800" noProof="0" dirty="0"/>
              <a:t>Describe, identify, and exemplify the evaluation of a solution in terms of: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GB" sz="2400" noProof="0" dirty="0"/>
              <a:t>fitness for purpose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GB" sz="2400" noProof="0" dirty="0"/>
              <a:t>efficient use of coding constructs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GB" sz="2400" noProof="0" dirty="0"/>
              <a:t>robustness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GB" sz="2400" noProof="0" dirty="0"/>
              <a:t>readability: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r>
              <a:rPr lang="en-GB" sz="1800" noProof="0" dirty="0"/>
              <a:t>internal commentary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r>
              <a:rPr lang="en-GB" sz="1800" noProof="0" dirty="0"/>
              <a:t>meaningful identifiers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r>
              <a:rPr lang="en-GB" sz="1800" noProof="0" dirty="0"/>
              <a:t>indentation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r>
              <a:rPr lang="en-GB" sz="1800" noProof="0" dirty="0"/>
              <a:t>white space</a:t>
            </a:r>
          </a:p>
        </p:txBody>
      </p:sp>
    </p:spTree>
    <p:extLst>
      <p:ext uri="{BB962C8B-B14F-4D97-AF65-F5344CB8AC3E}">
        <p14:creationId xmlns:p14="http://schemas.microsoft.com/office/powerpoint/2010/main" val="1306196538"/>
      </p:ext>
    </p:extLst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Fitness for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noProof="0" dirty="0"/>
              <a:t>Comparison of solution (code and testing) with program analysis, </a:t>
            </a:r>
            <a:r>
              <a:rPr lang="en-GB" i="1" noProof="0" dirty="0"/>
              <a:t>not the design</a:t>
            </a:r>
            <a:r>
              <a:rPr lang="en-GB" noProof="0" dirty="0"/>
              <a:t>, and expected output</a:t>
            </a:r>
          </a:p>
          <a:p>
            <a:r>
              <a:rPr lang="en-GB" noProof="0" dirty="0"/>
              <a:t>Does it do the requirements identified during analysis?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3F2792-E588-4EC0-AC56-4097D666765C}"/>
              </a:ext>
            </a:extLst>
          </p:cNvPr>
          <p:cNvSpPr txBox="1"/>
          <p:nvPr/>
        </p:nvSpPr>
        <p:spPr>
          <a:xfrm>
            <a:off x="3415249" y="6176963"/>
            <a:ext cx="5361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Assignment: Own code.  Justify it!</a:t>
            </a:r>
          </a:p>
        </p:txBody>
      </p:sp>
    </p:spTree>
    <p:extLst>
      <p:ext uri="{BB962C8B-B14F-4D97-AF65-F5344CB8AC3E}">
        <p14:creationId xmlns:p14="http://schemas.microsoft.com/office/powerpoint/2010/main" val="76282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F0AC7FB-6847-2977-D1AD-9C999557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4214-E9F2-DBFD-9FA0-CBC8C3AD2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Fitness for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B3186-500F-5CD8-A660-974428BC1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noProof="0" dirty="0"/>
              <a:t>Comparison of solution (code and testing) with program </a:t>
            </a:r>
          </a:p>
          <a:p>
            <a:endParaRPr lang="en-GB" noProof="0" dirty="0"/>
          </a:p>
          <a:p>
            <a:pPr marL="0" indent="0">
              <a:buNone/>
            </a:pPr>
            <a:endParaRPr lang="en-GB" noProof="0" dirty="0"/>
          </a:p>
          <a:p>
            <a:r>
              <a:rPr lang="en-GB" noProof="0" dirty="0"/>
              <a:t>Does it do the requirements</a:t>
            </a:r>
          </a:p>
        </p:txBody>
      </p:sp>
    </p:spTree>
    <p:extLst>
      <p:ext uri="{BB962C8B-B14F-4D97-AF65-F5344CB8AC3E}">
        <p14:creationId xmlns:p14="http://schemas.microsoft.com/office/powerpoint/2010/main" val="2121032001"/>
      </p:ext>
    </p:extLst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noProof="0" dirty="0"/>
              <a:t>Describe efficiencies or inefficiencies such as</a:t>
            </a:r>
          </a:p>
          <a:p>
            <a:pPr lvl="1"/>
            <a:r>
              <a:rPr lang="en-GB" sz="3200" noProof="0" dirty="0"/>
              <a:t>Array vs multiple variables</a:t>
            </a:r>
          </a:p>
          <a:p>
            <a:pPr lvl="1"/>
            <a:r>
              <a:rPr lang="en-GB" sz="3200" noProof="0" dirty="0"/>
              <a:t>Nested ifs (else ifs) vs individual ifs</a:t>
            </a:r>
          </a:p>
          <a:p>
            <a:pPr lvl="1"/>
            <a:r>
              <a:rPr lang="en-GB" sz="3200" noProof="0" dirty="0"/>
              <a:t>Use of a loop vs lines of repeated 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06159D-8FD4-464C-B796-BD4B0EEC3D2E}"/>
              </a:ext>
            </a:extLst>
          </p:cNvPr>
          <p:cNvSpPr txBox="1"/>
          <p:nvPr/>
        </p:nvSpPr>
        <p:spPr>
          <a:xfrm>
            <a:off x="3415249" y="6176963"/>
            <a:ext cx="5361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Assignment: Own code.  Justify it!</a:t>
            </a:r>
          </a:p>
        </p:txBody>
      </p:sp>
    </p:spTree>
    <p:extLst>
      <p:ext uri="{BB962C8B-B14F-4D97-AF65-F5344CB8AC3E}">
        <p14:creationId xmlns:p14="http://schemas.microsoft.com/office/powerpoint/2010/main" val="264673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665FCD7-4A35-EC62-1017-DE4330910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9B7C4-B858-E614-65A6-B8B901B7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B27FF-91EA-AFE4-AF3C-59381AF37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noProof="0" dirty="0"/>
              <a:t>Describe</a:t>
            </a:r>
          </a:p>
          <a:p>
            <a:pPr lvl="1">
              <a:spcAft>
                <a:spcPts val="2400"/>
              </a:spcAft>
            </a:pPr>
            <a:r>
              <a:rPr lang="en-GB" sz="3200" noProof="0" dirty="0"/>
              <a:t>Array </a:t>
            </a:r>
          </a:p>
          <a:p>
            <a:pPr lvl="1">
              <a:spcAft>
                <a:spcPts val="2400"/>
              </a:spcAft>
            </a:pPr>
            <a:r>
              <a:rPr lang="en-GB" sz="3200" noProof="0" dirty="0"/>
              <a:t>Nested ifs (else ifs) </a:t>
            </a:r>
          </a:p>
          <a:p>
            <a:pPr lvl="1">
              <a:spcAft>
                <a:spcPts val="2400"/>
              </a:spcAft>
            </a:pPr>
            <a:r>
              <a:rPr lang="en-GB" sz="3200" noProof="0" dirty="0"/>
              <a:t>Use of a loop</a:t>
            </a:r>
          </a:p>
        </p:txBody>
      </p:sp>
    </p:spTree>
    <p:extLst>
      <p:ext uri="{BB962C8B-B14F-4D97-AF65-F5344CB8AC3E}">
        <p14:creationId xmlns:p14="http://schemas.microsoft.com/office/powerpoint/2010/main" val="216236020"/>
      </p:ext>
    </p:extLst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Robustness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noProof="0" dirty="0"/>
              <a:t>Input validation (exceptional tests), or lack of it</a:t>
            </a:r>
          </a:p>
          <a:p>
            <a:r>
              <a:rPr lang="en-GB" noProof="0" dirty="0"/>
              <a:t>Potential for errors – possible to enter incorrect values?</a:t>
            </a:r>
          </a:p>
          <a:p>
            <a:r>
              <a:rPr lang="en-GB" noProof="0" dirty="0"/>
              <a:t>How it responds to unexpected data: text instead of number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F50481-8A9C-447B-8B28-EDF38B332177}"/>
              </a:ext>
            </a:extLst>
          </p:cNvPr>
          <p:cNvSpPr txBox="1"/>
          <p:nvPr/>
        </p:nvSpPr>
        <p:spPr>
          <a:xfrm>
            <a:off x="3415249" y="6176963"/>
            <a:ext cx="5361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Assignment: Own code.  Justify it!</a:t>
            </a:r>
          </a:p>
        </p:txBody>
      </p:sp>
    </p:spTree>
    <p:extLst>
      <p:ext uri="{BB962C8B-B14F-4D97-AF65-F5344CB8AC3E}">
        <p14:creationId xmlns:p14="http://schemas.microsoft.com/office/powerpoint/2010/main" val="90243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D7FB780-1215-6851-3DD0-BB91F11DC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F2B89-DE10-F072-3FA1-EE561CD9C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Robustness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8DDB0-5199-ED29-DA65-386708D00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noProof="0" dirty="0"/>
              <a:t>Input validation (exceptional tests)</a:t>
            </a:r>
          </a:p>
          <a:p>
            <a:r>
              <a:rPr lang="en-GB" noProof="0" dirty="0"/>
              <a:t>Potential for errors </a:t>
            </a:r>
          </a:p>
          <a:p>
            <a:r>
              <a:rPr lang="en-GB" noProof="0" dirty="0"/>
              <a:t>How it responds to unexpected data</a:t>
            </a:r>
          </a:p>
        </p:txBody>
      </p:sp>
    </p:spTree>
    <p:extLst>
      <p:ext uri="{BB962C8B-B14F-4D97-AF65-F5344CB8AC3E}">
        <p14:creationId xmlns:p14="http://schemas.microsoft.com/office/powerpoint/2010/main" val="3367728991"/>
      </p:ext>
    </p:extLst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Internal Commentary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noProof="0" dirty="0"/>
              <a:t>Explains what the code does</a:t>
            </a:r>
          </a:p>
          <a:p>
            <a:r>
              <a:rPr lang="en-GB" noProof="0" dirty="0"/>
              <a:t>Helps clarify complex code</a:t>
            </a:r>
          </a:p>
          <a:p>
            <a:r>
              <a:rPr lang="en-GB" noProof="0" dirty="0"/>
              <a:t>Helps others / future self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6FA60A-2AFC-4249-AF03-523EBFDEB221}"/>
              </a:ext>
            </a:extLst>
          </p:cNvPr>
          <p:cNvSpPr txBox="1"/>
          <p:nvPr/>
        </p:nvSpPr>
        <p:spPr>
          <a:xfrm>
            <a:off x="3415249" y="6176963"/>
            <a:ext cx="5361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Assignment: Own code.  Justify it!</a:t>
            </a:r>
          </a:p>
        </p:txBody>
      </p:sp>
    </p:spTree>
    <p:extLst>
      <p:ext uri="{BB962C8B-B14F-4D97-AF65-F5344CB8AC3E}">
        <p14:creationId xmlns:p14="http://schemas.microsoft.com/office/powerpoint/2010/main" val="708506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031E5A5-AB25-BA62-06B0-AA7C1F61B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DCD3A-1FE7-B355-57EE-1B4AFFBFF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Internal Commentary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6921E-94E1-267D-2F75-E5704AB17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noProof="0" dirty="0"/>
              <a:t>Explains what </a:t>
            </a:r>
          </a:p>
          <a:p>
            <a:r>
              <a:rPr lang="en-GB" noProof="0" dirty="0"/>
              <a:t>Helps clarify</a:t>
            </a:r>
          </a:p>
          <a:p>
            <a:r>
              <a:rPr lang="en-GB" noProof="0" dirty="0"/>
              <a:t>Helps others</a:t>
            </a:r>
          </a:p>
        </p:txBody>
      </p:sp>
    </p:spTree>
    <p:extLst>
      <p:ext uri="{BB962C8B-B14F-4D97-AF65-F5344CB8AC3E}">
        <p14:creationId xmlns:p14="http://schemas.microsoft.com/office/powerpoint/2010/main" val="829291701"/>
      </p:ext>
    </p:extLst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Meaningful 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noProof="0" dirty="0"/>
              <a:t>Names relate to the data</a:t>
            </a:r>
          </a:p>
          <a:p>
            <a:r>
              <a:rPr lang="en-GB" noProof="0" dirty="0"/>
              <a:t>Names indicate what they do / hold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4FEFF7-DD79-48A5-AAF5-8ED8761DE611}"/>
              </a:ext>
            </a:extLst>
          </p:cNvPr>
          <p:cNvSpPr txBox="1"/>
          <p:nvPr/>
        </p:nvSpPr>
        <p:spPr>
          <a:xfrm>
            <a:off x="3415249" y="6176963"/>
            <a:ext cx="5361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Assignment: Own code.  Justify it!</a:t>
            </a:r>
          </a:p>
        </p:txBody>
      </p:sp>
    </p:spTree>
    <p:extLst>
      <p:ext uri="{BB962C8B-B14F-4D97-AF65-F5344CB8AC3E}">
        <p14:creationId xmlns:p14="http://schemas.microsoft.com/office/powerpoint/2010/main" val="24413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ED48915-1FB6-C9A6-F1AA-919283851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B90B3-B3A3-A9F2-9310-43DDF4969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Meaningful Identifiers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C2928-E822-9527-042C-044E71272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noProof="0" dirty="0"/>
              <a:t>Names</a:t>
            </a:r>
          </a:p>
          <a:p>
            <a:r>
              <a:rPr lang="en-GB" noProof="0" dirty="0"/>
              <a:t>Names indicate what</a:t>
            </a:r>
          </a:p>
        </p:txBody>
      </p:sp>
    </p:spTree>
    <p:extLst>
      <p:ext uri="{BB962C8B-B14F-4D97-AF65-F5344CB8AC3E}">
        <p14:creationId xmlns:p14="http://schemas.microsoft.com/office/powerpoint/2010/main" val="3111852903"/>
      </p:ext>
    </p:extLst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Indentation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noProof="0" dirty="0"/>
              <a:t>Highlights structures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4420B0-6B59-41F7-B9F4-0C995052BDAE}"/>
              </a:ext>
            </a:extLst>
          </p:cNvPr>
          <p:cNvSpPr txBox="1"/>
          <p:nvPr/>
        </p:nvSpPr>
        <p:spPr>
          <a:xfrm>
            <a:off x="3415249" y="6176963"/>
            <a:ext cx="5361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Assignment: Own code.  Justify it!</a:t>
            </a:r>
          </a:p>
        </p:txBody>
      </p:sp>
    </p:spTree>
    <p:extLst>
      <p:ext uri="{BB962C8B-B14F-4D97-AF65-F5344CB8AC3E}">
        <p14:creationId xmlns:p14="http://schemas.microsoft.com/office/powerpoint/2010/main" val="3004297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5E721AE-69AA-2910-0EB6-66AA5FB6C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597C4-DE53-2774-14F8-A79CACFD5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Indentation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1C04D-998B-1732-0B11-A64334892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3028622"/>
      </p:ext>
    </p:extLst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White Space (Blank lines)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noProof="0" dirty="0"/>
              <a:t>Between structures in program</a:t>
            </a:r>
          </a:p>
          <a:p>
            <a:r>
              <a:rPr lang="en-GB" noProof="0" dirty="0"/>
              <a:t>Easier to see sections of code</a:t>
            </a:r>
          </a:p>
          <a:p>
            <a:pPr marL="0" indent="0">
              <a:buNone/>
            </a:pPr>
            <a:endParaRPr lang="en-GB" noProof="0" dirty="0"/>
          </a:p>
          <a:p>
            <a:endParaRPr lang="en-GB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80524C-60AC-4670-BCA7-8F42D2524422}"/>
              </a:ext>
            </a:extLst>
          </p:cNvPr>
          <p:cNvSpPr txBox="1"/>
          <p:nvPr/>
        </p:nvSpPr>
        <p:spPr>
          <a:xfrm>
            <a:off x="3415249" y="6176963"/>
            <a:ext cx="5361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Assignment: Own code.  Justify it!</a:t>
            </a:r>
          </a:p>
        </p:txBody>
      </p:sp>
    </p:spTree>
    <p:extLst>
      <p:ext uri="{BB962C8B-B14F-4D97-AF65-F5344CB8AC3E}">
        <p14:creationId xmlns:p14="http://schemas.microsoft.com/office/powerpoint/2010/main" val="2613263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7779B06-63D5-6FDC-FA5F-1A3B33838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BA94F-3381-C766-B0BF-762866DA3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White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19E1-E6AB-ED1B-27CF-CDF6518FD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noProof="0" dirty="0"/>
              <a:t>Between</a:t>
            </a:r>
          </a:p>
          <a:p>
            <a:r>
              <a:rPr lang="en-GB" noProof="0" dirty="0"/>
              <a:t>Easier to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262972286"/>
      </p:ext>
    </p:extLst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internal commentary</a:t>
            </a:r>
          </a:p>
        </p:txBody>
      </p:sp>
    </p:spTree>
    <p:extLst>
      <p:ext uri="{BB962C8B-B14F-4D97-AF65-F5344CB8AC3E}">
        <p14:creationId xmlns:p14="http://schemas.microsoft.com/office/powerpoint/2010/main" val="3481121380"/>
      </p:ext>
    </p:extLst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A6FFC51-96F0-8BDE-85D6-414856733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7D885-7E8B-4AF5-4B90-D52BA5564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noProof="0" dirty="0"/>
              <a:t>Special Comments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313C3E0-DC20-0524-841F-75DDDAB83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spcBef>
                <a:spcPts val="0"/>
              </a:spcBef>
              <a:buNone/>
            </a:pPr>
            <a:r>
              <a:rPr lang="en-GB" sz="32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59</a:t>
            </a:r>
            <a:r>
              <a:rPr lang="en-GB" sz="3200" noProof="0" dirty="0">
                <a:effectLst/>
                <a:latin typeface="Consolas" panose="020B0609020204030204" pitchFamily="49" charset="0"/>
              </a:rPr>
              <a:t> </a:t>
            </a:r>
            <a:r>
              <a:rPr lang="en-GB" sz="3200" noProof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GB" sz="3200" noProof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TODO</a:t>
            </a:r>
            <a:r>
              <a:rPr lang="en-GB" sz="3200" noProof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GB" sz="3200" noProof="0" dirty="0">
                <a:effectLst/>
                <a:latin typeface="Consolas" panose="020B0609020204030204" pitchFamily="49" charset="0"/>
              </a:rPr>
              <a:t> Display result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GB" sz="3200" noProof="0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endParaRPr lang="en-GB" sz="3200" noProof="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GB" sz="32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74</a:t>
            </a:r>
            <a:r>
              <a:rPr lang="en-GB" sz="3200" noProof="0" dirty="0">
                <a:latin typeface="Consolas" panose="020B0609020204030204" pitchFamily="49" charset="0"/>
              </a:rPr>
              <a:t> </a:t>
            </a:r>
            <a:r>
              <a:rPr lang="en-GB" sz="3200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BUG:</a:t>
            </a:r>
            <a:r>
              <a:rPr lang="en-GB" sz="3200" noProof="0" dirty="0">
                <a:latin typeface="Consolas" panose="020B0609020204030204" pitchFamily="49" charset="0"/>
              </a:rPr>
              <a:t> Not calculating correctly</a:t>
            </a:r>
            <a:endParaRPr lang="en-GB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A13C3B-2EA7-366D-D774-34F8C40994A5}"/>
              </a:ext>
            </a:extLst>
          </p:cNvPr>
          <p:cNvSpPr txBox="1"/>
          <p:nvPr/>
        </p:nvSpPr>
        <p:spPr>
          <a:xfrm>
            <a:off x="2558396" y="6009894"/>
            <a:ext cx="70752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lang="en-GB" sz="3600" dirty="0">
                <a:solidFill>
                  <a:srgbClr val="7030A0"/>
                </a:solidFill>
              </a:rPr>
              <a:t>Reminders of what needs to be done</a:t>
            </a:r>
          </a:p>
        </p:txBody>
      </p:sp>
      <p:sp>
        <p:nvSpPr>
          <p:cNvPr id="8" name="Callout: Bent Line with No Border 8">
            <a:extLst>
              <a:ext uri="{FF2B5EF4-FFF2-40B4-BE49-F238E27FC236}">
                <a16:creationId xmlns:a16="http://schemas.microsoft.com/office/drawing/2014/main" id="{52E24412-F286-4EF7-947F-62CCB89D4867}"/>
              </a:ext>
            </a:extLst>
          </p:cNvPr>
          <p:cNvSpPr/>
          <p:nvPr/>
        </p:nvSpPr>
        <p:spPr>
          <a:xfrm>
            <a:off x="3836636" y="4344867"/>
            <a:ext cx="5092211" cy="862642"/>
          </a:xfrm>
          <a:prstGeom prst="callout2">
            <a:avLst>
              <a:gd name="adj1" fmla="val 49740"/>
              <a:gd name="adj2" fmla="val -432"/>
              <a:gd name="adj3" fmla="val 50065"/>
              <a:gd name="adj4" fmla="val -19589"/>
              <a:gd name="adj5" fmla="val -1370"/>
              <a:gd name="adj6" fmla="val -1950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 err="1">
                <a:solidFill>
                  <a:srgbClr val="7030A0"/>
                </a:solidFill>
              </a:rPr>
              <a:t>Codetag</a:t>
            </a:r>
            <a:r>
              <a:rPr lang="en-GB" sz="2800" b="1" dirty="0">
                <a:solidFill>
                  <a:srgbClr val="7030A0"/>
                </a:solidFill>
              </a:rPr>
              <a:t>: A problem to be sorted</a:t>
            </a:r>
          </a:p>
        </p:txBody>
      </p:sp>
      <p:sp>
        <p:nvSpPr>
          <p:cNvPr id="3" name="Callout: Bent Line with No Border 8">
            <a:extLst>
              <a:ext uri="{FF2B5EF4-FFF2-40B4-BE49-F238E27FC236}">
                <a16:creationId xmlns:a16="http://schemas.microsoft.com/office/drawing/2014/main" id="{5CBC8594-D321-9C73-F94D-F271979C9D94}"/>
              </a:ext>
            </a:extLst>
          </p:cNvPr>
          <p:cNvSpPr/>
          <p:nvPr/>
        </p:nvSpPr>
        <p:spPr>
          <a:xfrm>
            <a:off x="3989164" y="2432217"/>
            <a:ext cx="5092211" cy="862642"/>
          </a:xfrm>
          <a:prstGeom prst="callout2">
            <a:avLst>
              <a:gd name="adj1" fmla="val 49740"/>
              <a:gd name="adj2" fmla="val -432"/>
              <a:gd name="adj3" fmla="val 50065"/>
              <a:gd name="adj4" fmla="val -19589"/>
              <a:gd name="adj5" fmla="val -1370"/>
              <a:gd name="adj6" fmla="val -1950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 err="1">
                <a:solidFill>
                  <a:srgbClr val="7030A0"/>
                </a:solidFill>
              </a:rPr>
              <a:t>Codetag</a:t>
            </a:r>
            <a:r>
              <a:rPr lang="en-GB" sz="2800" b="1" dirty="0">
                <a:solidFill>
                  <a:srgbClr val="7030A0"/>
                </a:solidFill>
              </a:rPr>
              <a:t>: Something to be done</a:t>
            </a:r>
          </a:p>
        </p:txBody>
      </p:sp>
    </p:spTree>
    <p:extLst>
      <p:ext uri="{BB962C8B-B14F-4D97-AF65-F5344CB8AC3E}">
        <p14:creationId xmlns:p14="http://schemas.microsoft.com/office/powerpoint/2010/main" val="2761064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13" grpId="0"/>
      <p:bldP spid="8" grpId="0" animBg="1"/>
      <p:bldP spid="3" grpId="0" animBg="1"/>
    </p:bldLst>
  </p:timing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D5802DC-8918-2DE8-E318-9C741DC3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BAC6-9CAD-5D48-0DF6-2C6917196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noProof="0" dirty="0"/>
              <a:t>Special Comments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159772-AAD2-A3B7-1846-511B1FAAE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spcBef>
                <a:spcPts val="0"/>
              </a:spcBef>
              <a:buNone/>
            </a:pPr>
            <a:r>
              <a:rPr lang="en-GB" sz="3200" noProof="0" dirty="0"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59</a:t>
            </a:r>
            <a:r>
              <a:rPr lang="en-GB" sz="3200" noProof="0" dirty="0">
                <a:effectLst/>
                <a:latin typeface="Consolas" panose="020B0609020204030204" pitchFamily="49" charset="0"/>
              </a:rPr>
              <a:t> </a:t>
            </a:r>
            <a:r>
              <a:rPr lang="en-GB" sz="3200" noProof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GB" sz="3200" noProof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TODO</a:t>
            </a:r>
            <a:r>
              <a:rPr lang="en-GB" sz="3200" noProof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GB" sz="3200" noProof="0" dirty="0">
                <a:effectLst/>
                <a:latin typeface="Consolas" panose="020B0609020204030204" pitchFamily="49" charset="0"/>
              </a:rPr>
              <a:t> Display result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GB" sz="3200" noProof="0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endParaRPr lang="en-GB" sz="3200" noProof="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GB" sz="32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74</a:t>
            </a:r>
            <a:r>
              <a:rPr lang="en-GB" sz="3200" noProof="0" dirty="0">
                <a:latin typeface="Consolas" panose="020B0609020204030204" pitchFamily="49" charset="0"/>
              </a:rPr>
              <a:t> </a:t>
            </a:r>
            <a:r>
              <a:rPr lang="en-GB" sz="3200" noProof="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 BUG:</a:t>
            </a:r>
            <a:r>
              <a:rPr lang="en-GB" sz="3200" noProof="0" dirty="0">
                <a:latin typeface="Consolas" panose="020B0609020204030204" pitchFamily="49" charset="0"/>
              </a:rPr>
              <a:t> Not calculating correctly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097185536"/>
      </p:ext>
    </p:extLst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array concatenation</a:t>
            </a:r>
          </a:p>
        </p:txBody>
      </p:sp>
    </p:spTree>
    <p:extLst>
      <p:ext uri="{BB962C8B-B14F-4D97-AF65-F5344CB8AC3E}">
        <p14:creationId xmlns:p14="http://schemas.microsoft.com/office/powerpoint/2010/main" val="1142570854"/>
      </p:ext>
    </p:extLst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text = </a:t>
            </a:r>
            <a:r>
              <a:rPr lang="en-GB" altLang="en-US" sz="40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""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40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counter </a:t>
            </a:r>
            <a:r>
              <a:rPr lang="en-GB" altLang="en-US" sz="40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40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40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 text = text + </a:t>
            </a:r>
            <a:r>
              <a:rPr lang="en-GB" sz="4000" noProof="0" dirty="0">
                <a:solidFill>
                  <a:srgbClr val="7030A0"/>
                </a:solidFill>
                <a:latin typeface="Consolas" panose="020B0609020204030204" pitchFamily="49" charset="0"/>
              </a:rPr>
              <a:t>str</a:t>
            </a:r>
            <a:r>
              <a:rPr lang="en-GB" sz="4000" noProof="0" dirty="0">
                <a:latin typeface="Consolas" panose="020B0609020204030204" pitchFamily="49" charset="0"/>
              </a:rPr>
              <a:t>(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counter)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 </a:t>
            </a:r>
            <a:r>
              <a:rPr lang="en-GB" altLang="en-US" sz="40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(text)</a:t>
            </a:r>
            <a:endParaRPr lang="en-GB" altLang="en-US" sz="4000" noProof="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Concatenate – Strings – Revision</a:t>
            </a: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711E2920-5AA5-1352-38E3-6EF38457EB69}"/>
              </a:ext>
            </a:extLst>
          </p:cNvPr>
          <p:cNvSpPr/>
          <p:nvPr/>
        </p:nvSpPr>
        <p:spPr>
          <a:xfrm>
            <a:off x="4816902" y="1936270"/>
            <a:ext cx="2072255" cy="452797"/>
          </a:xfrm>
          <a:prstGeom prst="callout2">
            <a:avLst>
              <a:gd name="adj1" fmla="val 50120"/>
              <a:gd name="adj2" fmla="val -68"/>
              <a:gd name="adj3" fmla="val 51041"/>
              <a:gd name="adj4" fmla="val -12943"/>
              <a:gd name="adj5" fmla="val 52054"/>
              <a:gd name="adj6" fmla="val -3453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Empty string</a:t>
            </a: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1CFDA728-1EA1-3654-9FAF-22E9D12C2A79}"/>
              </a:ext>
            </a:extLst>
          </p:cNvPr>
          <p:cNvSpPr/>
          <p:nvPr/>
        </p:nvSpPr>
        <p:spPr>
          <a:xfrm>
            <a:off x="3485500" y="4725480"/>
            <a:ext cx="2072255" cy="431321"/>
          </a:xfrm>
          <a:prstGeom prst="callout2">
            <a:avLst>
              <a:gd name="adj1" fmla="val 51510"/>
              <a:gd name="adj2" fmla="val 100149"/>
              <a:gd name="adj3" fmla="val 51902"/>
              <a:gd name="adj4" fmla="val 123641"/>
              <a:gd name="adj5" fmla="val -62456"/>
              <a:gd name="adj6" fmla="val 136752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Concatenate</a:t>
            </a:r>
          </a:p>
        </p:txBody>
      </p:sp>
      <p:sp>
        <p:nvSpPr>
          <p:cNvPr id="7" name="Callout: Bent Line with No Border 6">
            <a:extLst>
              <a:ext uri="{FF2B5EF4-FFF2-40B4-BE49-F238E27FC236}">
                <a16:creationId xmlns:a16="http://schemas.microsoft.com/office/drawing/2014/main" id="{553C6CBA-6305-5A16-A259-4D6280D09234}"/>
              </a:ext>
            </a:extLst>
          </p:cNvPr>
          <p:cNvSpPr/>
          <p:nvPr/>
        </p:nvSpPr>
        <p:spPr>
          <a:xfrm>
            <a:off x="8431180" y="4725479"/>
            <a:ext cx="2157445" cy="431322"/>
          </a:xfrm>
          <a:prstGeom prst="callout2">
            <a:avLst>
              <a:gd name="adj1" fmla="val 50646"/>
              <a:gd name="adj2" fmla="val -68"/>
              <a:gd name="adj3" fmla="val 51742"/>
              <a:gd name="adj4" fmla="val -14514"/>
              <a:gd name="adj5" fmla="val -39252"/>
              <a:gd name="adj6" fmla="val -2716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Cast to string</a:t>
            </a:r>
          </a:p>
        </p:txBody>
      </p:sp>
    </p:spTree>
    <p:extLst>
      <p:ext uri="{BB962C8B-B14F-4D97-AF65-F5344CB8AC3E}">
        <p14:creationId xmlns:p14="http://schemas.microsoft.com/office/powerpoint/2010/main" val="1922533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2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7" grpId="0" animBg="1"/>
    </p:bldLst>
  </p:timing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text = </a:t>
            </a:r>
            <a:r>
              <a:rPr lang="en-GB" altLang="en-US" sz="40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""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40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counter </a:t>
            </a:r>
            <a:r>
              <a:rPr lang="en-GB" altLang="en-US" sz="40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40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40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 text = text + </a:t>
            </a:r>
            <a:r>
              <a:rPr lang="en-GB" sz="4000" noProof="0" dirty="0">
                <a:solidFill>
                  <a:srgbClr val="7030A0"/>
                </a:solidFill>
                <a:latin typeface="Consolas" panose="020B0609020204030204" pitchFamily="49" charset="0"/>
              </a:rPr>
              <a:t>str</a:t>
            </a:r>
            <a:r>
              <a:rPr lang="en-GB" sz="4000" noProof="0" dirty="0">
                <a:latin typeface="Consolas" panose="020B0609020204030204" pitchFamily="49" charset="0"/>
              </a:rPr>
              <a:t>(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counter)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 </a:t>
            </a:r>
            <a:r>
              <a:rPr lang="en-GB" altLang="en-US" sz="40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(text)</a:t>
            </a:r>
            <a:endParaRPr lang="en-GB" altLang="en-US" sz="4000" noProof="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Concatenate – Strings – Revision</a:t>
            </a:r>
          </a:p>
        </p:txBody>
      </p:sp>
    </p:spTree>
    <p:extLst>
      <p:ext uri="{BB962C8B-B14F-4D97-AF65-F5344CB8AC3E}">
        <p14:creationId xmlns:p14="http://schemas.microsoft.com/office/powerpoint/2010/main" val="3538730353"/>
      </p:ext>
    </p:extLst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values = []</a:t>
            </a:r>
            <a:endParaRPr lang="en-GB" altLang="en-US" sz="4000" noProof="0" dirty="0">
              <a:solidFill>
                <a:srgbClr val="183691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40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counter </a:t>
            </a:r>
            <a:r>
              <a:rPr lang="en-GB" altLang="en-US" sz="40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40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40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 values = values + [counter]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 </a:t>
            </a:r>
            <a:r>
              <a:rPr lang="en-GB" altLang="en-US" sz="40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(values)</a:t>
            </a:r>
            <a:endParaRPr lang="en-GB" altLang="en-US" sz="4000" noProof="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Concatenate – Arrays</a:t>
            </a:r>
          </a:p>
        </p:txBody>
      </p:sp>
      <p:sp>
        <p:nvSpPr>
          <p:cNvPr id="2" name="Callout: Bent Line with No Border 1">
            <a:extLst>
              <a:ext uri="{FF2B5EF4-FFF2-40B4-BE49-F238E27FC236}">
                <a16:creationId xmlns:a16="http://schemas.microsoft.com/office/drawing/2014/main" id="{D28E4CAB-681F-0501-479E-20CE752CA307}"/>
              </a:ext>
            </a:extLst>
          </p:cNvPr>
          <p:cNvSpPr/>
          <p:nvPr/>
        </p:nvSpPr>
        <p:spPr>
          <a:xfrm>
            <a:off x="4552300" y="4687380"/>
            <a:ext cx="2072255" cy="431321"/>
          </a:xfrm>
          <a:prstGeom prst="callout2">
            <a:avLst>
              <a:gd name="adj1" fmla="val 51510"/>
              <a:gd name="adj2" fmla="val 100149"/>
              <a:gd name="adj3" fmla="val 51902"/>
              <a:gd name="adj4" fmla="val 123641"/>
              <a:gd name="adj5" fmla="val -62456"/>
              <a:gd name="adj6" fmla="val 136752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Concatenate</a:t>
            </a: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9D12044C-8BDF-2792-9AB1-684F0871E6E2}"/>
              </a:ext>
            </a:extLst>
          </p:cNvPr>
          <p:cNvSpPr/>
          <p:nvPr/>
        </p:nvSpPr>
        <p:spPr>
          <a:xfrm>
            <a:off x="8682005" y="4687910"/>
            <a:ext cx="2078407" cy="431322"/>
          </a:xfrm>
          <a:prstGeom prst="callout2">
            <a:avLst>
              <a:gd name="adj1" fmla="val 50646"/>
              <a:gd name="adj2" fmla="val -68"/>
              <a:gd name="adj3" fmla="val 51742"/>
              <a:gd name="adj4" fmla="val -14514"/>
              <a:gd name="adj5" fmla="val -39252"/>
              <a:gd name="adj6" fmla="val -2716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Cast to array</a:t>
            </a: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64C0758C-D43C-241D-7D63-5B9BAC4CC6B8}"/>
              </a:ext>
            </a:extLst>
          </p:cNvPr>
          <p:cNvSpPr/>
          <p:nvPr/>
        </p:nvSpPr>
        <p:spPr>
          <a:xfrm>
            <a:off x="5264577" y="1993420"/>
            <a:ext cx="2072255" cy="452797"/>
          </a:xfrm>
          <a:prstGeom prst="callout2">
            <a:avLst>
              <a:gd name="adj1" fmla="val 50120"/>
              <a:gd name="adj2" fmla="val -68"/>
              <a:gd name="adj3" fmla="val 51041"/>
              <a:gd name="adj4" fmla="val -12943"/>
              <a:gd name="adj5" fmla="val 52054"/>
              <a:gd name="adj6" fmla="val -3453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Empty array</a:t>
            </a:r>
          </a:p>
        </p:txBody>
      </p:sp>
    </p:spTree>
    <p:extLst>
      <p:ext uri="{BB962C8B-B14F-4D97-AF65-F5344CB8AC3E}">
        <p14:creationId xmlns:p14="http://schemas.microsoft.com/office/powerpoint/2010/main" val="338037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2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" grpId="0" animBg="1"/>
      <p:bldP spid="5" grpId="0" animBg="1"/>
      <p:bldP spid="6" grpId="0" animBg="1"/>
    </p:bldLst>
  </p:timing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values = []</a:t>
            </a:r>
            <a:endParaRPr lang="en-GB" altLang="en-US" sz="4000" noProof="0" dirty="0">
              <a:solidFill>
                <a:srgbClr val="183691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40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counter </a:t>
            </a:r>
            <a:r>
              <a:rPr lang="en-GB" altLang="en-US" sz="40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40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40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 values = values + [counter]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40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 </a:t>
            </a:r>
            <a:r>
              <a:rPr lang="en-GB" altLang="en-US" sz="40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40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(values)</a:t>
            </a:r>
            <a:endParaRPr lang="en-GB" altLang="en-US" sz="4000" noProof="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Concatenate – Arrays</a:t>
            </a:r>
          </a:p>
        </p:txBody>
      </p:sp>
    </p:spTree>
    <p:extLst>
      <p:ext uri="{BB962C8B-B14F-4D97-AF65-F5344CB8AC3E}">
        <p14:creationId xmlns:p14="http://schemas.microsoft.com/office/powerpoint/2010/main" val="950849825"/>
      </p:ext>
    </p:extLst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a standard algorithm for traversing a 1-D array</a:t>
            </a:r>
          </a:p>
        </p:txBody>
      </p:sp>
    </p:spTree>
    <p:extLst>
      <p:ext uri="{BB962C8B-B14F-4D97-AF65-F5344CB8AC3E}">
        <p14:creationId xmlns:p14="http://schemas.microsoft.com/office/powerpoint/2010/main" val="1722222535"/>
      </p:ext>
    </p:extLst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4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ages = [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11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14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13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14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12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4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4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4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age </a:t>
            </a:r>
            <a:r>
              <a:rPr lang="en-GB" altLang="en-US" sz="4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ages: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4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4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(age)</a:t>
            </a:r>
            <a:endParaRPr lang="en-GB" altLang="en-US" sz="6000" noProof="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Traversing an array – For Each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257242-E1C1-4C44-AC32-A3EA4CD1B178}"/>
              </a:ext>
            </a:extLst>
          </p:cNvPr>
          <p:cNvSpPr/>
          <p:nvPr/>
        </p:nvSpPr>
        <p:spPr>
          <a:xfrm>
            <a:off x="3144679" y="5592188"/>
            <a:ext cx="590264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Loops for each element in array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Known as a </a:t>
            </a:r>
            <a:r>
              <a:rPr lang="en-GB" sz="3200" b="1" i="1" dirty="0">
                <a:solidFill>
                  <a:srgbClr val="7030A0"/>
                </a:solidFill>
              </a:rPr>
              <a:t>For Each</a:t>
            </a:r>
            <a:r>
              <a:rPr lang="en-GB" sz="3200" dirty="0">
                <a:solidFill>
                  <a:srgbClr val="7030A0"/>
                </a:solidFill>
              </a:rPr>
              <a:t> loop</a:t>
            </a:r>
            <a:endParaRPr lang="en-GB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491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uiExpand="1" build="p"/>
    </p:bldLst>
  </p:timing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4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ages = [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11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14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13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14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sz="44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12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4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4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4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age </a:t>
            </a:r>
            <a:r>
              <a:rPr lang="en-GB" altLang="en-US" sz="4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ages:</a:t>
            </a:r>
          </a:p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GB" altLang="en-US" sz="44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44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44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(age)</a:t>
            </a:r>
            <a:endParaRPr lang="en-GB" altLang="en-US" sz="6000" noProof="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Traversing an array – </a:t>
            </a:r>
            <a:r>
              <a:rPr lang="en-GB" noProof="0"/>
              <a:t>For Each</a:t>
            </a:r>
            <a:endParaRPr lang="en-GB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166E1B-6669-4F50-B0F6-F8E1F192CBB9}"/>
              </a:ext>
            </a:extLst>
          </p:cNvPr>
          <p:cNvSpPr/>
          <p:nvPr/>
        </p:nvSpPr>
        <p:spPr>
          <a:xfrm>
            <a:off x="2286000" y="5592188"/>
            <a:ext cx="241834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Loops for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Known as                                                                 </a:t>
            </a:r>
            <a:endParaRPr lang="en-GB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830356"/>
      </p:ext>
    </p:extLst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fixed loops</a:t>
            </a:r>
          </a:p>
        </p:txBody>
      </p:sp>
    </p:spTree>
    <p:extLst>
      <p:ext uri="{BB962C8B-B14F-4D97-AF65-F5344CB8AC3E}">
        <p14:creationId xmlns:p14="http://schemas.microsoft.com/office/powerpoint/2010/main" val="3223773775"/>
      </p:ext>
    </p:extLst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D4138A-7198-4970-B917-D68D685836BD}"/>
              </a:ext>
            </a:extLst>
          </p:cNvPr>
          <p:cNvSpPr txBox="1"/>
          <p:nvPr/>
        </p:nvSpPr>
        <p:spPr>
          <a:xfrm>
            <a:off x="3507425" y="2141721"/>
            <a:ext cx="362397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7200"/>
              </a:spcAft>
            </a:pPr>
            <a:r>
              <a:rPr lang="en-GB" sz="4400" dirty="0">
                <a:effectLst/>
                <a:latin typeface="Consolas" panose="020B0609020204030204" pitchFamily="49" charset="0"/>
              </a:rPr>
              <a:t>range(1, </a:t>
            </a:r>
            <a:r>
              <a:rPr lang="en-GB" sz="4400" dirty="0">
                <a:latin typeface="Consolas" panose="020B0609020204030204" pitchFamily="49" charset="0"/>
              </a:rPr>
              <a:t>5</a:t>
            </a:r>
            <a:r>
              <a:rPr lang="en-GB" sz="4400" dirty="0"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Callout: Bent Line with No Border 7">
            <a:extLst>
              <a:ext uri="{FF2B5EF4-FFF2-40B4-BE49-F238E27FC236}">
                <a16:creationId xmlns:a16="http://schemas.microsoft.com/office/drawing/2014/main" id="{8145E81F-1949-4DFF-BEDD-AF463B4A35D1}"/>
              </a:ext>
            </a:extLst>
          </p:cNvPr>
          <p:cNvSpPr/>
          <p:nvPr/>
        </p:nvSpPr>
        <p:spPr>
          <a:xfrm>
            <a:off x="4108107" y="2853142"/>
            <a:ext cx="1796104" cy="580056"/>
          </a:xfrm>
          <a:prstGeom prst="callout2">
            <a:avLst>
              <a:gd name="adj1" fmla="val 50983"/>
              <a:gd name="adj2" fmla="val 101585"/>
              <a:gd name="adj3" fmla="val 50982"/>
              <a:gd name="adj4" fmla="val 133205"/>
              <a:gd name="adj5" fmla="val -7634"/>
              <a:gd name="adj6" fmla="val 13362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Stop value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Sequences</a:t>
            </a:r>
          </a:p>
        </p:txBody>
      </p:sp>
      <p:sp>
        <p:nvSpPr>
          <p:cNvPr id="11" name="Callout: Bent Line with No Border 9">
            <a:extLst>
              <a:ext uri="{FF2B5EF4-FFF2-40B4-BE49-F238E27FC236}">
                <a16:creationId xmlns:a16="http://schemas.microsoft.com/office/drawing/2014/main" id="{63103218-B9D4-422B-962F-7D51D458C2E6}"/>
              </a:ext>
            </a:extLst>
          </p:cNvPr>
          <p:cNvSpPr/>
          <p:nvPr/>
        </p:nvSpPr>
        <p:spPr>
          <a:xfrm>
            <a:off x="697992" y="2750855"/>
            <a:ext cx="2643085" cy="564198"/>
          </a:xfrm>
          <a:prstGeom prst="callout2">
            <a:avLst>
              <a:gd name="adj1" fmla="val 51972"/>
              <a:gd name="adj2" fmla="val 100482"/>
              <a:gd name="adj3" fmla="val 52200"/>
              <a:gd name="adj4" fmla="val 112548"/>
              <a:gd name="adj5" fmla="val 9318"/>
              <a:gd name="adj6" fmla="val 11261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range( ) function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D4138A-7198-4970-B917-D68D685836BD}"/>
              </a:ext>
            </a:extLst>
          </p:cNvPr>
          <p:cNvSpPr txBox="1"/>
          <p:nvPr/>
        </p:nvSpPr>
        <p:spPr>
          <a:xfrm>
            <a:off x="3507425" y="3653377"/>
            <a:ext cx="27095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7200"/>
              </a:spcAft>
            </a:pPr>
            <a:r>
              <a:rPr lang="en-GB" sz="4400" dirty="0">
                <a:effectLst/>
                <a:latin typeface="Consolas" panose="020B0609020204030204" pitchFamily="49" charset="0"/>
              </a:rPr>
              <a:t>range(5)</a:t>
            </a:r>
          </a:p>
        </p:txBody>
      </p:sp>
      <p:sp>
        <p:nvSpPr>
          <p:cNvPr id="15" name="Callout: Bent Line with No Border 7">
            <a:extLst>
              <a:ext uri="{FF2B5EF4-FFF2-40B4-BE49-F238E27FC236}">
                <a16:creationId xmlns:a16="http://schemas.microsoft.com/office/drawing/2014/main" id="{8145E81F-1949-4DFF-BEDD-AF463B4A35D1}"/>
              </a:ext>
            </a:extLst>
          </p:cNvPr>
          <p:cNvSpPr/>
          <p:nvPr/>
        </p:nvSpPr>
        <p:spPr>
          <a:xfrm>
            <a:off x="3303958" y="4562852"/>
            <a:ext cx="4685009" cy="515662"/>
          </a:xfrm>
          <a:prstGeom prst="callout2">
            <a:avLst>
              <a:gd name="adj1" fmla="val 17546"/>
              <a:gd name="adj2" fmla="val 48725"/>
              <a:gd name="adj3" fmla="val -33305"/>
              <a:gd name="adj4" fmla="val 48608"/>
              <a:gd name="adj5" fmla="val -51432"/>
              <a:gd name="adj6" fmla="val 4857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Stop value (always starts at 0)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31404" y="2084231"/>
            <a:ext cx="1406147" cy="8844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D4138A-7198-4970-B917-D68D685836BD}"/>
              </a:ext>
            </a:extLst>
          </p:cNvPr>
          <p:cNvSpPr txBox="1"/>
          <p:nvPr/>
        </p:nvSpPr>
        <p:spPr>
          <a:xfrm>
            <a:off x="8613724" y="2203276"/>
            <a:ext cx="27826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7200"/>
              </a:spcAft>
            </a:pPr>
            <a:r>
              <a:rPr lang="en-GB" sz="3600" dirty="0">
                <a:latin typeface="Consolas" panose="020B0609020204030204" pitchFamily="49" charset="0"/>
              </a:rPr>
              <a:t>1, 2, 3, 4</a:t>
            </a:r>
            <a:endParaRPr lang="en-GB" sz="360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6216995" y="3611581"/>
            <a:ext cx="1406147" cy="8844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D4138A-7198-4970-B917-D68D685836BD}"/>
              </a:ext>
            </a:extLst>
          </p:cNvPr>
          <p:cNvSpPr txBox="1"/>
          <p:nvPr/>
        </p:nvSpPr>
        <p:spPr>
          <a:xfrm>
            <a:off x="7760302" y="3714932"/>
            <a:ext cx="35159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7200"/>
              </a:spcAft>
            </a:pPr>
            <a:r>
              <a:rPr lang="en-GB" sz="3600" dirty="0">
                <a:latin typeface="Consolas" panose="020B0609020204030204" pitchFamily="49" charset="0"/>
              </a:rPr>
              <a:t>0, 1, 2, 3, 4</a:t>
            </a:r>
            <a:endParaRPr lang="en-GB" sz="360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7BEDD9-643E-8D32-B067-72CF257DF1E7}"/>
              </a:ext>
            </a:extLst>
          </p:cNvPr>
          <p:cNvSpPr txBox="1"/>
          <p:nvPr/>
        </p:nvSpPr>
        <p:spPr>
          <a:xfrm>
            <a:off x="3507425" y="5394510"/>
            <a:ext cx="45316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7200"/>
              </a:spcAft>
            </a:pPr>
            <a:r>
              <a:rPr lang="en-GB" sz="4400" dirty="0">
                <a:effectLst/>
                <a:latin typeface="Consolas" panose="020B0609020204030204" pitchFamily="49" charset="0"/>
              </a:rPr>
              <a:t>range(1, 7, 2)</a:t>
            </a:r>
          </a:p>
        </p:txBody>
      </p:sp>
      <p:sp>
        <p:nvSpPr>
          <p:cNvPr id="18" name="Callout: Bent Line with No Border 17">
            <a:extLst>
              <a:ext uri="{FF2B5EF4-FFF2-40B4-BE49-F238E27FC236}">
                <a16:creationId xmlns:a16="http://schemas.microsoft.com/office/drawing/2014/main" id="{9442533A-CEEC-BEC8-3290-EE44D1AD1F1B}"/>
              </a:ext>
            </a:extLst>
          </p:cNvPr>
          <p:cNvSpPr/>
          <p:nvPr/>
        </p:nvSpPr>
        <p:spPr>
          <a:xfrm>
            <a:off x="4918357" y="6156071"/>
            <a:ext cx="1878534" cy="564198"/>
          </a:xfrm>
          <a:prstGeom prst="callout2">
            <a:avLst>
              <a:gd name="adj1" fmla="val 50983"/>
              <a:gd name="adj2" fmla="val 101585"/>
              <a:gd name="adj3" fmla="val 50982"/>
              <a:gd name="adj4" fmla="val 133205"/>
              <a:gd name="adj5" fmla="val -7634"/>
              <a:gd name="adj6" fmla="val 13362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Step value</a:t>
            </a:r>
          </a:p>
        </p:txBody>
      </p:sp>
      <p:sp>
        <p:nvSpPr>
          <p:cNvPr id="19" name="Right Arrow 9">
            <a:extLst>
              <a:ext uri="{FF2B5EF4-FFF2-40B4-BE49-F238E27FC236}">
                <a16:creationId xmlns:a16="http://schemas.microsoft.com/office/drawing/2014/main" id="{3658E81E-D8DD-1D1F-7AA0-FF68ADEA4837}"/>
              </a:ext>
            </a:extLst>
          </p:cNvPr>
          <p:cNvSpPr/>
          <p:nvPr/>
        </p:nvSpPr>
        <p:spPr>
          <a:xfrm>
            <a:off x="8039082" y="5337020"/>
            <a:ext cx="1406147" cy="8844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F9B74A-B074-BF5E-9A0B-D825B3C20FAC}"/>
              </a:ext>
            </a:extLst>
          </p:cNvPr>
          <p:cNvSpPr txBox="1"/>
          <p:nvPr/>
        </p:nvSpPr>
        <p:spPr>
          <a:xfrm>
            <a:off x="9594909" y="5456065"/>
            <a:ext cx="19794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7200"/>
              </a:spcAft>
            </a:pPr>
            <a:r>
              <a:rPr lang="en-GB" sz="3600" dirty="0">
                <a:latin typeface="Consolas" panose="020B0609020204030204" pitchFamily="49" charset="0"/>
              </a:rPr>
              <a:t>1, 3, 5</a:t>
            </a:r>
            <a:endParaRPr lang="en-GB" sz="360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21" name="Callout: Bent Line with No Border 20">
            <a:extLst>
              <a:ext uri="{FF2B5EF4-FFF2-40B4-BE49-F238E27FC236}">
                <a16:creationId xmlns:a16="http://schemas.microsoft.com/office/drawing/2014/main" id="{71CD696E-F74E-1DF7-B04E-7033DA6EBB6E}"/>
              </a:ext>
            </a:extLst>
          </p:cNvPr>
          <p:cNvSpPr/>
          <p:nvPr/>
        </p:nvSpPr>
        <p:spPr>
          <a:xfrm>
            <a:off x="3111211" y="1661595"/>
            <a:ext cx="1878534" cy="564198"/>
          </a:xfrm>
          <a:prstGeom prst="callout2">
            <a:avLst>
              <a:gd name="adj1" fmla="val 50983"/>
              <a:gd name="adj2" fmla="val 101585"/>
              <a:gd name="adj3" fmla="val 50982"/>
              <a:gd name="adj4" fmla="val 133205"/>
              <a:gd name="adj5" fmla="val 106769"/>
              <a:gd name="adj6" fmla="val 132549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Start value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6907B5-2C9C-1172-4FC6-F8047F201066}"/>
              </a:ext>
            </a:extLst>
          </p:cNvPr>
          <p:cNvSpPr txBox="1"/>
          <p:nvPr/>
        </p:nvSpPr>
        <p:spPr>
          <a:xfrm>
            <a:off x="390630" y="4259802"/>
            <a:ext cx="180889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All values</a:t>
            </a:r>
          </a:p>
          <a:p>
            <a:r>
              <a:rPr lang="en-GB" sz="3200" b="1" dirty="0">
                <a:solidFill>
                  <a:srgbClr val="FF0000"/>
                </a:solidFill>
              </a:rPr>
              <a:t>integers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443786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2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8" grpId="0" animBg="1"/>
      <p:bldP spid="11" grpId="0" animBg="1"/>
      <p:bldP spid="14" grpId="0" build="p"/>
      <p:bldP spid="15" grpId="0" animBg="1"/>
      <p:bldP spid="10" grpId="0" animBg="1"/>
      <p:bldP spid="13" grpId="0" build="p"/>
      <p:bldP spid="16" grpId="0" animBg="1"/>
      <p:bldP spid="17" grpId="0" build="p"/>
      <p:bldP spid="9" grpId="0" build="p"/>
      <p:bldP spid="18" grpId="0" animBg="1"/>
      <p:bldP spid="19" grpId="0" animBg="1"/>
      <p:bldP spid="20" grpId="0" build="p"/>
      <p:bldP spid="21" grpId="0" animBg="1"/>
      <p:bldP spid="22" grpId="0"/>
    </p:bldLst>
  </p:timing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D4138A-7198-4970-B917-D68D685836BD}"/>
              </a:ext>
            </a:extLst>
          </p:cNvPr>
          <p:cNvSpPr txBox="1"/>
          <p:nvPr/>
        </p:nvSpPr>
        <p:spPr>
          <a:xfrm>
            <a:off x="3507425" y="2141721"/>
            <a:ext cx="362397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7200"/>
              </a:spcAft>
            </a:pPr>
            <a:r>
              <a:rPr lang="en-GB" sz="4400" dirty="0">
                <a:effectLst/>
                <a:latin typeface="Consolas" panose="020B0609020204030204" pitchFamily="49" charset="0"/>
              </a:rPr>
              <a:t>range(1, </a:t>
            </a:r>
            <a:r>
              <a:rPr lang="en-GB" sz="4400" dirty="0">
                <a:latin typeface="Consolas" panose="020B0609020204030204" pitchFamily="49" charset="0"/>
              </a:rPr>
              <a:t>5</a:t>
            </a:r>
            <a:r>
              <a:rPr lang="en-GB" sz="4400" dirty="0"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Sequences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D4138A-7198-4970-B917-D68D685836BD}"/>
              </a:ext>
            </a:extLst>
          </p:cNvPr>
          <p:cNvSpPr txBox="1"/>
          <p:nvPr/>
        </p:nvSpPr>
        <p:spPr>
          <a:xfrm>
            <a:off x="3507425" y="3653377"/>
            <a:ext cx="27095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7200"/>
              </a:spcAft>
            </a:pPr>
            <a:r>
              <a:rPr lang="en-GB" sz="4400">
                <a:effectLst/>
                <a:latin typeface="Consolas" panose="020B0609020204030204" pitchFamily="49" charset="0"/>
              </a:rPr>
              <a:t>range(5)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31404" y="2084231"/>
            <a:ext cx="1406147" cy="8844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D4138A-7198-4970-B917-D68D685836BD}"/>
              </a:ext>
            </a:extLst>
          </p:cNvPr>
          <p:cNvSpPr txBox="1"/>
          <p:nvPr/>
        </p:nvSpPr>
        <p:spPr>
          <a:xfrm>
            <a:off x="8613724" y="2203276"/>
            <a:ext cx="27826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7200"/>
              </a:spcAft>
            </a:pPr>
            <a:r>
              <a:rPr lang="en-GB" sz="3600" dirty="0">
                <a:latin typeface="Consolas" panose="020B0609020204030204" pitchFamily="49" charset="0"/>
              </a:rPr>
              <a:t>1, 2, 3, 4</a:t>
            </a:r>
            <a:endParaRPr lang="en-GB" sz="360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6216995" y="3611581"/>
            <a:ext cx="1406147" cy="8844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D4138A-7198-4970-B917-D68D685836BD}"/>
              </a:ext>
            </a:extLst>
          </p:cNvPr>
          <p:cNvSpPr txBox="1"/>
          <p:nvPr/>
        </p:nvSpPr>
        <p:spPr>
          <a:xfrm>
            <a:off x="7760302" y="3714932"/>
            <a:ext cx="35159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7200"/>
              </a:spcAft>
            </a:pPr>
            <a:r>
              <a:rPr lang="en-GB" sz="3600" dirty="0">
                <a:latin typeface="Consolas" panose="020B0609020204030204" pitchFamily="49" charset="0"/>
              </a:rPr>
              <a:t>0, 1, 2, 3, 4</a:t>
            </a:r>
            <a:endParaRPr lang="en-GB" sz="360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7BEDD9-643E-8D32-B067-72CF257DF1E7}"/>
              </a:ext>
            </a:extLst>
          </p:cNvPr>
          <p:cNvSpPr txBox="1"/>
          <p:nvPr/>
        </p:nvSpPr>
        <p:spPr>
          <a:xfrm>
            <a:off x="3507425" y="5394510"/>
            <a:ext cx="45316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7200"/>
              </a:spcAft>
            </a:pPr>
            <a:r>
              <a:rPr lang="en-GB" sz="4400" dirty="0">
                <a:effectLst/>
                <a:latin typeface="Consolas" panose="020B0609020204030204" pitchFamily="49" charset="0"/>
              </a:rPr>
              <a:t>range(1, 7, 2)</a:t>
            </a:r>
          </a:p>
        </p:txBody>
      </p:sp>
      <p:sp>
        <p:nvSpPr>
          <p:cNvPr id="19" name="Right Arrow 9">
            <a:extLst>
              <a:ext uri="{FF2B5EF4-FFF2-40B4-BE49-F238E27FC236}">
                <a16:creationId xmlns:a16="http://schemas.microsoft.com/office/drawing/2014/main" id="{3658E81E-D8DD-1D1F-7AA0-FF68ADEA4837}"/>
              </a:ext>
            </a:extLst>
          </p:cNvPr>
          <p:cNvSpPr/>
          <p:nvPr/>
        </p:nvSpPr>
        <p:spPr>
          <a:xfrm>
            <a:off x="8039082" y="5337020"/>
            <a:ext cx="1406147" cy="8844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822476"/>
      </p:ext>
    </p:extLst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D4138A-7198-4970-B917-D68D685836BD}"/>
              </a:ext>
            </a:extLst>
          </p:cNvPr>
          <p:cNvSpPr txBox="1"/>
          <p:nvPr/>
        </p:nvSpPr>
        <p:spPr>
          <a:xfrm>
            <a:off x="838200" y="2536460"/>
            <a:ext cx="9791700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value 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10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2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(value)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Fixed Loop – Step Example</a:t>
            </a:r>
          </a:p>
        </p:txBody>
      </p:sp>
      <p:sp>
        <p:nvSpPr>
          <p:cNvPr id="4" name="Callout: Bent Line with No Border 3">
            <a:extLst>
              <a:ext uri="{FF2B5EF4-FFF2-40B4-BE49-F238E27FC236}">
                <a16:creationId xmlns:a16="http://schemas.microsoft.com/office/drawing/2014/main" id="{76A1E863-82DB-AD5B-59E0-3AAA9503CE8B}"/>
              </a:ext>
            </a:extLst>
          </p:cNvPr>
          <p:cNvSpPr/>
          <p:nvPr/>
        </p:nvSpPr>
        <p:spPr>
          <a:xfrm>
            <a:off x="8169579" y="1937801"/>
            <a:ext cx="1264015" cy="529326"/>
          </a:xfrm>
          <a:prstGeom prst="callout2">
            <a:avLst>
              <a:gd name="adj1" fmla="val 50315"/>
              <a:gd name="adj2" fmla="val 100204"/>
              <a:gd name="adj3" fmla="val 50209"/>
              <a:gd name="adj4" fmla="val 120161"/>
              <a:gd name="adj5" fmla="val 117293"/>
              <a:gd name="adj6" fmla="val 12025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Step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4CFCA0-76F1-8009-8666-1F767214FD30}"/>
              </a:ext>
            </a:extLst>
          </p:cNvPr>
          <p:cNvSpPr/>
          <p:nvPr/>
        </p:nvSpPr>
        <p:spPr>
          <a:xfrm>
            <a:off x="2478579" y="6066411"/>
            <a:ext cx="72348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3200" i="1" dirty="0">
                <a:solidFill>
                  <a:srgbClr val="7030A0"/>
                </a:solidFill>
              </a:rPr>
              <a:t>Start</a:t>
            </a:r>
            <a:r>
              <a:rPr lang="en-GB" sz="3200" dirty="0">
                <a:solidFill>
                  <a:srgbClr val="7030A0"/>
                </a:solidFill>
              </a:rPr>
              <a:t> </a:t>
            </a:r>
            <a:r>
              <a:rPr lang="en-GB" sz="3200" b="1" dirty="0">
                <a:solidFill>
                  <a:srgbClr val="7030A0"/>
                </a:solidFill>
              </a:rPr>
              <a:t>and</a:t>
            </a:r>
            <a:r>
              <a:rPr lang="en-GB" sz="3200" dirty="0">
                <a:solidFill>
                  <a:srgbClr val="7030A0"/>
                </a:solidFill>
              </a:rPr>
              <a:t> </a:t>
            </a:r>
            <a:r>
              <a:rPr lang="en-GB" sz="3200" i="1" dirty="0">
                <a:solidFill>
                  <a:srgbClr val="7030A0"/>
                </a:solidFill>
              </a:rPr>
              <a:t>Stop </a:t>
            </a:r>
            <a:r>
              <a:rPr lang="en-GB" sz="3200" dirty="0">
                <a:solidFill>
                  <a:srgbClr val="7030A0"/>
                </a:solidFill>
              </a:rPr>
              <a:t>values required if </a:t>
            </a:r>
            <a:r>
              <a:rPr lang="en-GB" sz="3200" i="1" dirty="0">
                <a:solidFill>
                  <a:srgbClr val="7030A0"/>
                </a:solidFill>
              </a:rPr>
              <a:t>Step</a:t>
            </a:r>
            <a:r>
              <a:rPr lang="en-GB" sz="3200" dirty="0">
                <a:solidFill>
                  <a:srgbClr val="7030A0"/>
                </a:solidFill>
              </a:rPr>
              <a:t> used</a:t>
            </a:r>
            <a:endParaRPr lang="en-GB" sz="32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9C02B04F-6C01-46E9-A751-BAC732583532}"/>
              </a:ext>
            </a:extLst>
          </p:cNvPr>
          <p:cNvSpPr/>
          <p:nvPr/>
        </p:nvSpPr>
        <p:spPr>
          <a:xfrm>
            <a:off x="838200" y="2007134"/>
            <a:ext cx="2282825" cy="529326"/>
          </a:xfrm>
          <a:prstGeom prst="callout2">
            <a:avLst>
              <a:gd name="adj1" fmla="val 50315"/>
              <a:gd name="adj2" fmla="val 100204"/>
              <a:gd name="adj3" fmla="val 50209"/>
              <a:gd name="adj4" fmla="val 120161"/>
              <a:gd name="adj5" fmla="val 117293"/>
              <a:gd name="adj6" fmla="val 12025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Loop variable</a:t>
            </a:r>
          </a:p>
        </p:txBody>
      </p:sp>
    </p:spTree>
    <p:extLst>
      <p:ext uri="{BB962C8B-B14F-4D97-AF65-F5344CB8AC3E}">
        <p14:creationId xmlns:p14="http://schemas.microsoft.com/office/powerpoint/2010/main" val="2410230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4" grpId="0" animBg="1"/>
      <p:bldP spid="7" grpId="0"/>
      <p:bldP spid="6" grpId="0" animBg="1"/>
    </p:bldLst>
  </p:timing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D4138A-7198-4970-B917-D68D685836BD}"/>
              </a:ext>
            </a:extLst>
          </p:cNvPr>
          <p:cNvSpPr txBox="1"/>
          <p:nvPr/>
        </p:nvSpPr>
        <p:spPr>
          <a:xfrm>
            <a:off x="838200" y="2536460"/>
            <a:ext cx="9791700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value 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10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2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(value)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Fixed Loop – </a:t>
            </a:r>
            <a:r>
              <a:rPr lang="en-GB" dirty="0"/>
              <a:t>Step Example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83175174"/>
      </p:ext>
    </p:extLst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a standard algorithm for input validation</a:t>
            </a:r>
          </a:p>
        </p:txBody>
      </p:sp>
    </p:spTree>
    <p:extLst>
      <p:ext uri="{BB962C8B-B14F-4D97-AF65-F5344CB8AC3E}">
        <p14:creationId xmlns:p14="http://schemas.microsoft.com/office/powerpoint/2010/main" val="2668997133"/>
      </p:ext>
    </p:extLst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464800" cy="4460875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Initialise variable used in condition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GB" altLang="en-US" sz="2400" noProof="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Repeat until condition is FALSE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GB" altLang="en-US" sz="2400" noProof="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 Get user input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GB" altLang="en-US" sz="2400" noProof="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 Check user input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GB" altLang="en-US" sz="240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   Display error message, if needed</a:t>
            </a:r>
            <a:b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GB" altLang="en-US" sz="4800" noProof="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Input Validation – Input in Loop - Overview</a:t>
            </a:r>
          </a:p>
        </p:txBody>
      </p:sp>
    </p:spTree>
    <p:extLst>
      <p:ext uri="{BB962C8B-B14F-4D97-AF65-F5344CB8AC3E}">
        <p14:creationId xmlns:p14="http://schemas.microsoft.com/office/powerpoint/2010/main" val="290800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75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464800" cy="4460875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Initialise variable used in condition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GB" altLang="en-US" sz="2400" noProof="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        until condition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GB" altLang="en-US" sz="2400" noProof="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 Get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GB" altLang="en-US" sz="2400" noProof="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 Check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GB" altLang="en-US" sz="240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   Display error </a:t>
            </a:r>
            <a:b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GB" altLang="en-US" sz="4800" noProof="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Input Validation – Input in Loop - Overview</a:t>
            </a:r>
          </a:p>
        </p:txBody>
      </p:sp>
    </p:spTree>
    <p:extLst>
      <p:ext uri="{BB962C8B-B14F-4D97-AF65-F5344CB8AC3E}">
        <p14:creationId xmlns:p14="http://schemas.microsoft.com/office/powerpoint/2010/main" val="2810289383"/>
      </p:ext>
    </p:extLst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64800" cy="435133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endParaRPr lang="en-GB" altLang="en-US" sz="3600" noProof="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while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"Passengers: 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"Must be at least 1."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GB" altLang="en-US" sz="4800" noProof="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Input Validation – Input in Loop</a:t>
            </a:r>
          </a:p>
        </p:txBody>
      </p:sp>
      <p:sp>
        <p:nvSpPr>
          <p:cNvPr id="2" name="Callout: Bent Line with No Border 8">
            <a:extLst>
              <a:ext uri="{FF2B5EF4-FFF2-40B4-BE49-F238E27FC236}">
                <a16:creationId xmlns:a16="http://schemas.microsoft.com/office/drawing/2014/main" id="{A2C1AD91-92D0-7A90-D920-E2850F61D25A}"/>
              </a:ext>
            </a:extLst>
          </p:cNvPr>
          <p:cNvSpPr/>
          <p:nvPr/>
        </p:nvSpPr>
        <p:spPr>
          <a:xfrm>
            <a:off x="5762106" y="1748922"/>
            <a:ext cx="3676997" cy="862642"/>
          </a:xfrm>
          <a:prstGeom prst="callout2">
            <a:avLst>
              <a:gd name="adj1" fmla="val 49740"/>
              <a:gd name="adj2" fmla="val -893"/>
              <a:gd name="adj3" fmla="val 50231"/>
              <a:gd name="adj4" fmla="val -19072"/>
              <a:gd name="adj5" fmla="val 86578"/>
              <a:gd name="adj6" fmla="val -2932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Must be True to begin</a:t>
            </a:r>
          </a:p>
        </p:txBody>
      </p:sp>
      <p:sp>
        <p:nvSpPr>
          <p:cNvPr id="5" name="Callout: Bent Line with No Border 8">
            <a:extLst>
              <a:ext uri="{FF2B5EF4-FFF2-40B4-BE49-F238E27FC236}">
                <a16:creationId xmlns:a16="http://schemas.microsoft.com/office/drawing/2014/main" id="{252C547F-2959-F203-E437-C1AAC3F5ACDE}"/>
              </a:ext>
            </a:extLst>
          </p:cNvPr>
          <p:cNvSpPr/>
          <p:nvPr/>
        </p:nvSpPr>
        <p:spPr>
          <a:xfrm>
            <a:off x="8924081" y="2723459"/>
            <a:ext cx="2047933" cy="862642"/>
          </a:xfrm>
          <a:prstGeom prst="callout2">
            <a:avLst>
              <a:gd name="adj1" fmla="val 49740"/>
              <a:gd name="adj2" fmla="val -893"/>
              <a:gd name="adj3" fmla="val 50231"/>
              <a:gd name="adj4" fmla="val -19072"/>
              <a:gd name="adj5" fmla="val 102659"/>
              <a:gd name="adj6" fmla="val -4585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User input</a:t>
            </a:r>
          </a:p>
        </p:txBody>
      </p:sp>
      <p:sp>
        <p:nvSpPr>
          <p:cNvPr id="6" name="Callout: Bent Line with No Border 8">
            <a:extLst>
              <a:ext uri="{FF2B5EF4-FFF2-40B4-BE49-F238E27FC236}">
                <a16:creationId xmlns:a16="http://schemas.microsoft.com/office/drawing/2014/main" id="{DEC49CDC-4319-1379-6C2E-CDC29605318A}"/>
              </a:ext>
            </a:extLst>
          </p:cNvPr>
          <p:cNvSpPr/>
          <p:nvPr/>
        </p:nvSpPr>
        <p:spPr>
          <a:xfrm>
            <a:off x="7877232" y="4246437"/>
            <a:ext cx="4141630" cy="862642"/>
          </a:xfrm>
          <a:prstGeom prst="callout2">
            <a:avLst>
              <a:gd name="adj1" fmla="val 49740"/>
              <a:gd name="adj2" fmla="val -893"/>
              <a:gd name="adj3" fmla="val 50231"/>
              <a:gd name="adj4" fmla="val -12181"/>
              <a:gd name="adj5" fmla="val 103815"/>
              <a:gd name="adj6" fmla="val -1904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Error message: meaningful</a:t>
            </a:r>
          </a:p>
        </p:txBody>
      </p:sp>
      <p:sp>
        <p:nvSpPr>
          <p:cNvPr id="7" name="Callout: Bent Line with No Border 8">
            <a:extLst>
              <a:ext uri="{FF2B5EF4-FFF2-40B4-BE49-F238E27FC236}">
                <a16:creationId xmlns:a16="http://schemas.microsoft.com/office/drawing/2014/main" id="{6245E37F-3CA9-49E3-8279-0D65D41C4E66}"/>
              </a:ext>
            </a:extLst>
          </p:cNvPr>
          <p:cNvSpPr/>
          <p:nvPr/>
        </p:nvSpPr>
        <p:spPr>
          <a:xfrm>
            <a:off x="4449817" y="1154951"/>
            <a:ext cx="4474264" cy="862642"/>
          </a:xfrm>
          <a:prstGeom prst="callout2">
            <a:avLst>
              <a:gd name="adj1" fmla="val 49740"/>
              <a:gd name="adj2" fmla="val -893"/>
              <a:gd name="adj3" fmla="val 50231"/>
              <a:gd name="adj4" fmla="val -14416"/>
              <a:gd name="adj5" fmla="val 90603"/>
              <a:gd name="adj6" fmla="val -2761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Not an acceptable value</a:t>
            </a:r>
          </a:p>
        </p:txBody>
      </p:sp>
      <p:sp>
        <p:nvSpPr>
          <p:cNvPr id="8" name="An array is">
            <a:extLst>
              <a:ext uri="{FF2B5EF4-FFF2-40B4-BE49-F238E27FC236}">
                <a16:creationId xmlns:a16="http://schemas.microsoft.com/office/drawing/2014/main" id="{F8C2E59B-8A39-8FBF-D182-59B21B1C16F4}"/>
              </a:ext>
            </a:extLst>
          </p:cNvPr>
          <p:cNvSpPr txBox="1"/>
          <p:nvPr/>
        </p:nvSpPr>
        <p:spPr>
          <a:xfrm>
            <a:off x="2983893" y="6176963"/>
            <a:ext cx="6173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Conditional loop always used</a:t>
            </a:r>
          </a:p>
        </p:txBody>
      </p:sp>
    </p:spTree>
    <p:extLst>
      <p:ext uri="{BB962C8B-B14F-4D97-AF65-F5344CB8AC3E}">
        <p14:creationId xmlns:p14="http://schemas.microsoft.com/office/powerpoint/2010/main" val="1594654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1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1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" grpId="0" animBg="1"/>
      <p:bldP spid="5" grpId="0" animBg="1"/>
      <p:bldP spid="6" grpId="0" animBg="1"/>
      <p:bldP spid="7" grpId="0" animBg="1"/>
      <p:bldP spid="8" grpId="0"/>
    </p:bldLst>
  </p:timing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64800" cy="435133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endParaRPr lang="en-GB" altLang="en-US" sz="360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while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"Passengers: 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"Must be at least 1."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GB" altLang="en-US" sz="4800" noProof="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Input </a:t>
            </a:r>
            <a:r>
              <a:rPr lang="en-GB" dirty="0"/>
              <a:t>V</a:t>
            </a:r>
            <a:r>
              <a:rPr lang="en-GB" noProof="0" dirty="0" err="1"/>
              <a:t>alidation</a:t>
            </a:r>
            <a:r>
              <a:rPr lang="en-GB" noProof="0" dirty="0"/>
              <a:t> – Input in </a:t>
            </a:r>
            <a:r>
              <a:rPr lang="en-GB" dirty="0"/>
              <a:t>L</a:t>
            </a:r>
            <a:r>
              <a:rPr lang="en-GB" noProof="0" dirty="0" err="1"/>
              <a:t>oop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5220160"/>
      </p:ext>
    </p:extLst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64800" cy="435133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endParaRPr lang="en-GB" altLang="en-US" sz="3600" noProof="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while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 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or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"Passengers: 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 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or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"Must be 1 to 5."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GB" altLang="en-US" sz="4800" noProof="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Input Validation – Complex </a:t>
            </a:r>
            <a:r>
              <a:rPr lang="en-GB" dirty="0"/>
              <a:t>C</a:t>
            </a:r>
            <a:r>
              <a:rPr lang="en-GB" noProof="0" dirty="0" err="1"/>
              <a:t>ondition</a:t>
            </a:r>
            <a:endParaRPr lang="en-GB" noProof="0" dirty="0"/>
          </a:p>
        </p:txBody>
      </p:sp>
      <p:sp>
        <p:nvSpPr>
          <p:cNvPr id="2" name="Callout: Bent Line with No Border 8">
            <a:extLst>
              <a:ext uri="{FF2B5EF4-FFF2-40B4-BE49-F238E27FC236}">
                <a16:creationId xmlns:a16="http://schemas.microsoft.com/office/drawing/2014/main" id="{749B9D9E-F05C-4A42-C77F-A7DED94DFBBE}"/>
              </a:ext>
            </a:extLst>
          </p:cNvPr>
          <p:cNvSpPr/>
          <p:nvPr/>
        </p:nvSpPr>
        <p:spPr>
          <a:xfrm>
            <a:off x="6484246" y="1799772"/>
            <a:ext cx="3676997" cy="862642"/>
          </a:xfrm>
          <a:prstGeom prst="callout2">
            <a:avLst>
              <a:gd name="adj1" fmla="val 49740"/>
              <a:gd name="adj2" fmla="val -893"/>
              <a:gd name="adj3" fmla="val 50231"/>
              <a:gd name="adj4" fmla="val -19072"/>
              <a:gd name="adj5" fmla="val 86578"/>
              <a:gd name="adj6" fmla="val -2995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Must be True to begin</a:t>
            </a:r>
          </a:p>
        </p:txBody>
      </p:sp>
      <p:sp>
        <p:nvSpPr>
          <p:cNvPr id="5" name="Callout: Bent Line with No Border 8">
            <a:extLst>
              <a:ext uri="{FF2B5EF4-FFF2-40B4-BE49-F238E27FC236}">
                <a16:creationId xmlns:a16="http://schemas.microsoft.com/office/drawing/2014/main" id="{08CBE1CD-BA70-67EC-F6A8-88F13CDD8F99}"/>
              </a:ext>
            </a:extLst>
          </p:cNvPr>
          <p:cNvSpPr/>
          <p:nvPr/>
        </p:nvSpPr>
        <p:spPr>
          <a:xfrm>
            <a:off x="8968686" y="2688267"/>
            <a:ext cx="2047933" cy="862642"/>
          </a:xfrm>
          <a:prstGeom prst="callout2">
            <a:avLst>
              <a:gd name="adj1" fmla="val 49740"/>
              <a:gd name="adj2" fmla="val -893"/>
              <a:gd name="adj3" fmla="val 50231"/>
              <a:gd name="adj4" fmla="val -19072"/>
              <a:gd name="adj5" fmla="val 102659"/>
              <a:gd name="adj6" fmla="val -4585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User input</a:t>
            </a:r>
          </a:p>
        </p:txBody>
      </p:sp>
      <p:sp>
        <p:nvSpPr>
          <p:cNvPr id="6" name="Callout: Bent Line with No Border 8">
            <a:extLst>
              <a:ext uri="{FF2B5EF4-FFF2-40B4-BE49-F238E27FC236}">
                <a16:creationId xmlns:a16="http://schemas.microsoft.com/office/drawing/2014/main" id="{9613E53F-FBA9-6CE4-8278-90AA7ECE8D18}"/>
              </a:ext>
            </a:extLst>
          </p:cNvPr>
          <p:cNvSpPr/>
          <p:nvPr/>
        </p:nvSpPr>
        <p:spPr>
          <a:xfrm>
            <a:off x="9150780" y="4297769"/>
            <a:ext cx="2333105" cy="862642"/>
          </a:xfrm>
          <a:prstGeom prst="callout2">
            <a:avLst>
              <a:gd name="adj1" fmla="val 49740"/>
              <a:gd name="adj2" fmla="val -893"/>
              <a:gd name="adj3" fmla="val 50231"/>
              <a:gd name="adj4" fmla="val -19072"/>
              <a:gd name="adj5" fmla="val 98644"/>
              <a:gd name="adj6" fmla="val -3279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Error message</a:t>
            </a:r>
          </a:p>
        </p:txBody>
      </p:sp>
      <p:sp>
        <p:nvSpPr>
          <p:cNvPr id="7" name="Callout: Bent Line with No Border 8">
            <a:extLst>
              <a:ext uri="{FF2B5EF4-FFF2-40B4-BE49-F238E27FC236}">
                <a16:creationId xmlns:a16="http://schemas.microsoft.com/office/drawing/2014/main" id="{43AAE39C-87F5-4FB2-9240-B6450E562734}"/>
              </a:ext>
            </a:extLst>
          </p:cNvPr>
          <p:cNvSpPr/>
          <p:nvPr/>
        </p:nvSpPr>
        <p:spPr>
          <a:xfrm>
            <a:off x="4494422" y="1175518"/>
            <a:ext cx="4474264" cy="862642"/>
          </a:xfrm>
          <a:prstGeom prst="callout2">
            <a:avLst>
              <a:gd name="adj1" fmla="val 49740"/>
              <a:gd name="adj2" fmla="val -893"/>
              <a:gd name="adj3" fmla="val 50231"/>
              <a:gd name="adj4" fmla="val -14416"/>
              <a:gd name="adj5" fmla="val 90603"/>
              <a:gd name="adj6" fmla="val -2761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Not an acceptable value</a:t>
            </a:r>
          </a:p>
        </p:txBody>
      </p:sp>
    </p:spTree>
    <p:extLst>
      <p:ext uri="{BB962C8B-B14F-4D97-AF65-F5344CB8AC3E}">
        <p14:creationId xmlns:p14="http://schemas.microsoft.com/office/powerpoint/2010/main" val="1357015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1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" grpId="0" animBg="1"/>
      <p:bldP spid="5" grpId="0" animBg="1"/>
      <p:bldP spid="6" grpId="0" animBg="1"/>
      <p:bldP spid="7" grpId="0" animBg="1"/>
    </p:bldLst>
  </p:timing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64800" cy="435133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endParaRPr lang="en-GB" altLang="en-US" sz="360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while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 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or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"Passengers: 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1 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or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360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pax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"Must be 1 to 5."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GB" altLang="en-US" sz="4800" noProof="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Input Validation – Complex Condition</a:t>
            </a:r>
          </a:p>
        </p:txBody>
      </p:sp>
    </p:spTree>
    <p:extLst>
      <p:ext uri="{BB962C8B-B14F-4D97-AF65-F5344CB8AC3E}">
        <p14:creationId xmlns:p14="http://schemas.microsoft.com/office/powerpoint/2010/main" val="3138362847"/>
      </p:ext>
    </p:extLst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Input Validation – Simple String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D4138A-7198-4970-B917-D68D685836BD}"/>
              </a:ext>
            </a:extLst>
          </p:cNvPr>
          <p:cNvSpPr txBox="1"/>
          <p:nvPr/>
        </p:nvSpPr>
        <p:spPr>
          <a:xfrm>
            <a:off x="838199" y="1875888"/>
            <a:ext cx="1051559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fact =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""</a:t>
            </a: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 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while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fact !=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"Computing"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  fact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"Best subject? 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fact !=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"Computing"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  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"Computing is the best!"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4" name="Callout: Bent Line with No Border 8">
            <a:extLst>
              <a:ext uri="{FF2B5EF4-FFF2-40B4-BE49-F238E27FC236}">
                <a16:creationId xmlns:a16="http://schemas.microsoft.com/office/drawing/2014/main" id="{C6ADAFB5-1AD9-42B1-ADD2-1E5E095A36BF}"/>
              </a:ext>
            </a:extLst>
          </p:cNvPr>
          <p:cNvSpPr/>
          <p:nvPr/>
        </p:nvSpPr>
        <p:spPr>
          <a:xfrm>
            <a:off x="5720317" y="1880797"/>
            <a:ext cx="3676997" cy="862642"/>
          </a:xfrm>
          <a:prstGeom prst="callout2">
            <a:avLst>
              <a:gd name="adj1" fmla="val 49740"/>
              <a:gd name="adj2" fmla="val -893"/>
              <a:gd name="adj3" fmla="val 50231"/>
              <a:gd name="adj4" fmla="val -19072"/>
              <a:gd name="adj5" fmla="val 86578"/>
              <a:gd name="adj6" fmla="val -2995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Must be True to begin</a:t>
            </a:r>
          </a:p>
        </p:txBody>
      </p:sp>
      <p:sp>
        <p:nvSpPr>
          <p:cNvPr id="6" name="Callout: Bent Line with No Border 8">
            <a:extLst>
              <a:ext uri="{FF2B5EF4-FFF2-40B4-BE49-F238E27FC236}">
                <a16:creationId xmlns:a16="http://schemas.microsoft.com/office/drawing/2014/main" id="{75CF1897-1D9D-4564-B4FD-1FDE40E0C63E}"/>
              </a:ext>
            </a:extLst>
          </p:cNvPr>
          <p:cNvSpPr/>
          <p:nvPr/>
        </p:nvSpPr>
        <p:spPr>
          <a:xfrm>
            <a:off x="8968686" y="2722992"/>
            <a:ext cx="2047933" cy="862642"/>
          </a:xfrm>
          <a:prstGeom prst="callout2">
            <a:avLst>
              <a:gd name="adj1" fmla="val 49740"/>
              <a:gd name="adj2" fmla="val -893"/>
              <a:gd name="adj3" fmla="val 50231"/>
              <a:gd name="adj4" fmla="val -19072"/>
              <a:gd name="adj5" fmla="val 102659"/>
              <a:gd name="adj6" fmla="val -4585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User input</a:t>
            </a:r>
          </a:p>
        </p:txBody>
      </p:sp>
      <p:sp>
        <p:nvSpPr>
          <p:cNvPr id="7" name="Callout: Bent Line with No Border 8">
            <a:extLst>
              <a:ext uri="{FF2B5EF4-FFF2-40B4-BE49-F238E27FC236}">
                <a16:creationId xmlns:a16="http://schemas.microsoft.com/office/drawing/2014/main" id="{1132DD35-78C3-4132-A664-55E86DA2368B}"/>
              </a:ext>
            </a:extLst>
          </p:cNvPr>
          <p:cNvSpPr/>
          <p:nvPr/>
        </p:nvSpPr>
        <p:spPr>
          <a:xfrm>
            <a:off x="9463297" y="4390369"/>
            <a:ext cx="2333105" cy="862642"/>
          </a:xfrm>
          <a:prstGeom prst="callout2">
            <a:avLst>
              <a:gd name="adj1" fmla="val 49740"/>
              <a:gd name="adj2" fmla="val -893"/>
              <a:gd name="adj3" fmla="val 50231"/>
              <a:gd name="adj4" fmla="val -19072"/>
              <a:gd name="adj5" fmla="val 98644"/>
              <a:gd name="adj6" fmla="val -3279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Error message</a:t>
            </a:r>
          </a:p>
        </p:txBody>
      </p:sp>
      <p:sp>
        <p:nvSpPr>
          <p:cNvPr id="8" name="Callout: Bent Line with No Border 8">
            <a:extLst>
              <a:ext uri="{FF2B5EF4-FFF2-40B4-BE49-F238E27FC236}">
                <a16:creationId xmlns:a16="http://schemas.microsoft.com/office/drawing/2014/main" id="{303EA23D-B5C1-4330-A185-768E32AD54D2}"/>
              </a:ext>
            </a:extLst>
          </p:cNvPr>
          <p:cNvSpPr/>
          <p:nvPr/>
        </p:nvSpPr>
        <p:spPr>
          <a:xfrm>
            <a:off x="5061576" y="1233393"/>
            <a:ext cx="4474264" cy="862642"/>
          </a:xfrm>
          <a:prstGeom prst="callout2">
            <a:avLst>
              <a:gd name="adj1" fmla="val 49740"/>
              <a:gd name="adj2" fmla="val -893"/>
              <a:gd name="adj3" fmla="val 50231"/>
              <a:gd name="adj4" fmla="val -14416"/>
              <a:gd name="adj5" fmla="val 90603"/>
              <a:gd name="adj6" fmla="val -2761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Not an acceptable value</a:t>
            </a:r>
          </a:p>
        </p:txBody>
      </p:sp>
    </p:spTree>
    <p:extLst>
      <p:ext uri="{BB962C8B-B14F-4D97-AF65-F5344CB8AC3E}">
        <p14:creationId xmlns:p14="http://schemas.microsoft.com/office/powerpoint/2010/main" val="3582331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4" grpId="0" animBg="1"/>
      <p:bldP spid="6" grpId="0" animBg="1"/>
      <p:bldP spid="7" grpId="0" animBg="1"/>
      <p:bldP spid="8" grpId="0" animBg="1"/>
    </p:bldLst>
  </p:timing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Input Validation – Simple String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D4138A-7198-4970-B917-D68D685836BD}"/>
              </a:ext>
            </a:extLst>
          </p:cNvPr>
          <p:cNvSpPr txBox="1"/>
          <p:nvPr/>
        </p:nvSpPr>
        <p:spPr>
          <a:xfrm>
            <a:off x="838199" y="1875888"/>
            <a:ext cx="1051559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fact =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""</a:t>
            </a: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 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while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fact !=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"Computing"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  fact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"Best subject? 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fact !=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"Computing"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  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"Computing is the best!"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220898"/>
      </p:ext>
    </p:extLst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A4358-87EB-EC22-AB68-A4F71DBE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Task – Add Input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F97E9-EBFF-4ADB-C69E-074774012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1800"/>
              </a:spcAft>
              <a:buNone/>
            </a:pPr>
            <a:r>
              <a:rPr lang="en-GB" sz="3600" noProof="0" dirty="0">
                <a:latin typeface="Calibri" panose="020F0502020204030204" pitchFamily="34" charset="0"/>
                <a:cs typeface="Calibri" panose="020F0502020204030204" pitchFamily="34" charset="0"/>
              </a:rPr>
              <a:t>Add input validation to the following </a:t>
            </a:r>
            <a:r>
              <a:rPr lang="en-GB" sz="36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Replit</a:t>
            </a:r>
            <a:r>
              <a:rPr lang="en-GB" sz="3600" noProof="0" dirty="0">
                <a:latin typeface="Calibri" panose="020F0502020204030204" pitchFamily="34" charset="0"/>
                <a:cs typeface="Calibri" panose="020F0502020204030204" pitchFamily="34" charset="0"/>
              </a:rPr>
              <a:t> tasks:</a:t>
            </a:r>
          </a:p>
          <a:p>
            <a:pPr marL="457200" lvl="1" indent="0">
              <a:spcAft>
                <a:spcPts val="1800"/>
              </a:spcAft>
              <a:buNone/>
            </a:pPr>
            <a:r>
              <a:rPr lang="en-GB" sz="3200" noProof="0" dirty="0">
                <a:latin typeface="Calibri" panose="020F0502020204030204" pitchFamily="34" charset="0"/>
                <a:cs typeface="Calibri" panose="020F0502020204030204" pitchFamily="34" charset="0"/>
              </a:rPr>
              <a:t>N5 </a:t>
            </a:r>
            <a:r>
              <a:rPr lang="en-GB" sz="32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SDD</a:t>
            </a:r>
            <a:r>
              <a:rPr lang="en-GB" sz="3200" noProof="0" dirty="0">
                <a:latin typeface="Calibri" panose="020F0502020204030204" pitchFamily="34" charset="0"/>
                <a:cs typeface="Calibri" panose="020F0502020204030204" pitchFamily="34" charset="0"/>
              </a:rPr>
              <a:t> Ask Questions – Loops: </a:t>
            </a:r>
            <a:r>
              <a:rPr lang="en-GB" sz="3200" noProof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 1</a:t>
            </a:r>
          </a:p>
          <a:p>
            <a:pPr marL="457200" lvl="1" indent="0">
              <a:spcAft>
                <a:spcPts val="1800"/>
              </a:spcAft>
              <a:buNone/>
            </a:pPr>
            <a:r>
              <a:rPr lang="en-GB" sz="3200" noProof="0" dirty="0"/>
              <a:t>N5 </a:t>
            </a:r>
            <a:r>
              <a:rPr lang="en-GB" sz="3200" noProof="0" dirty="0" err="1"/>
              <a:t>SDD</a:t>
            </a:r>
            <a:r>
              <a:rPr lang="en-GB" sz="3200" noProof="0" dirty="0"/>
              <a:t> School Days Left – Days: </a:t>
            </a:r>
            <a:r>
              <a:rPr lang="en-GB" sz="3200" noProof="0" dirty="0">
                <a:solidFill>
                  <a:srgbClr val="FF0000"/>
                </a:solidFill>
              </a:rPr>
              <a:t>Min 0</a:t>
            </a:r>
            <a:r>
              <a:rPr lang="en-GB" sz="3200" noProof="0" dirty="0"/>
              <a:t>, </a:t>
            </a:r>
            <a:r>
              <a:rPr lang="en-GB" sz="3200" noProof="0" dirty="0">
                <a:solidFill>
                  <a:srgbClr val="7030A0"/>
                </a:solidFill>
              </a:rPr>
              <a:t>Max 190</a:t>
            </a:r>
          </a:p>
          <a:p>
            <a:pPr marL="457200" lvl="1" indent="0">
              <a:spcAft>
                <a:spcPts val="1800"/>
              </a:spcAft>
              <a:buNone/>
            </a:pPr>
            <a:r>
              <a:rPr lang="en-GB" sz="3200" noProof="0" dirty="0"/>
              <a:t>N5 </a:t>
            </a:r>
            <a:r>
              <a:rPr lang="en-GB" sz="3200" noProof="0" dirty="0" err="1"/>
              <a:t>SDD</a:t>
            </a:r>
            <a:r>
              <a:rPr lang="en-GB" sz="3200" noProof="0" dirty="0"/>
              <a:t> - Decisions </a:t>
            </a:r>
            <a:r>
              <a:rPr lang="en-GB" sz="3200" noProof="0" dirty="0" err="1"/>
              <a:t>Decisions</a:t>
            </a:r>
            <a:r>
              <a:rPr lang="en-GB" sz="3200" noProof="0" dirty="0"/>
              <a:t> – Voucher: </a:t>
            </a:r>
            <a:r>
              <a:rPr lang="en-GB" sz="3200" noProof="0" dirty="0">
                <a:solidFill>
                  <a:srgbClr val="FF0000"/>
                </a:solidFill>
              </a:rPr>
              <a:t>"yes" </a:t>
            </a:r>
            <a:r>
              <a:rPr lang="en-GB" sz="3200" noProof="0" dirty="0"/>
              <a:t>or </a:t>
            </a:r>
            <a:r>
              <a:rPr lang="en-GB" sz="3200" noProof="0" dirty="0">
                <a:solidFill>
                  <a:srgbClr val="7030A0"/>
                </a:solidFill>
              </a:rPr>
              <a:t>"no"</a:t>
            </a:r>
          </a:p>
        </p:txBody>
      </p:sp>
    </p:spTree>
    <p:extLst>
      <p:ext uri="{BB962C8B-B14F-4D97-AF65-F5344CB8AC3E}">
        <p14:creationId xmlns:p14="http://schemas.microsoft.com/office/powerpoint/2010/main" val="2494474455"/>
      </p:ext>
    </p:extLst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A4358-87EB-EC22-AB68-A4F71DBE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Task – University Degree Classifications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F97E9-EBFF-4ADB-C69E-074774012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1800"/>
              </a:spcAft>
              <a:buNone/>
            </a:pPr>
            <a:r>
              <a:rPr lang="en-GB" sz="3600" noProof="0" dirty="0">
                <a:latin typeface="Calibri" panose="020F0502020204030204" pitchFamily="34" charset="0"/>
                <a:cs typeface="Calibri" panose="020F0502020204030204" pitchFamily="34" charset="0"/>
              </a:rPr>
              <a:t>Degrees are given classifications:</a:t>
            </a:r>
          </a:p>
          <a:p>
            <a:pPr marL="457200" lvl="1" indent="0" defTabSz="942975">
              <a:spcAft>
                <a:spcPts val="600"/>
              </a:spcAft>
              <a:buNone/>
              <a:tabLst>
                <a:tab pos="2417763" algn="l"/>
              </a:tabLst>
            </a:pPr>
            <a:r>
              <a:rPr lang="en-GB" sz="3600" noProof="0" dirty="0">
                <a:solidFill>
                  <a:srgbClr val="7030A0"/>
                </a:solidFill>
                <a:latin typeface="Consolas" panose="020B0609020204030204" pitchFamily="49" charset="0"/>
              </a:rPr>
              <a:t>First</a:t>
            </a:r>
            <a:r>
              <a:rPr lang="en-GB" sz="3600" noProof="0" dirty="0">
                <a:latin typeface="Consolas" panose="020B0609020204030204" pitchFamily="49" charset="0"/>
              </a:rPr>
              <a:t>	70-100</a:t>
            </a:r>
          </a:p>
          <a:p>
            <a:pPr marL="457200" lvl="1" indent="0" defTabSz="942975">
              <a:spcAft>
                <a:spcPts val="600"/>
              </a:spcAft>
              <a:buNone/>
              <a:tabLst>
                <a:tab pos="2417763" algn="l"/>
              </a:tabLst>
            </a:pPr>
            <a:r>
              <a:rPr lang="en-GB" sz="3600" noProof="0" dirty="0">
                <a:solidFill>
                  <a:srgbClr val="7030A0"/>
                </a:solidFill>
                <a:latin typeface="Consolas" panose="020B0609020204030204" pitchFamily="49" charset="0"/>
              </a:rPr>
              <a:t>2-1	</a:t>
            </a:r>
            <a:r>
              <a:rPr lang="en-GB" sz="3600" noProof="0" dirty="0">
                <a:latin typeface="Consolas" panose="020B0609020204030204" pitchFamily="49" charset="0"/>
              </a:rPr>
              <a:t>60-69</a:t>
            </a:r>
          </a:p>
          <a:p>
            <a:pPr marL="457200" lvl="1" indent="0" defTabSz="942975">
              <a:spcAft>
                <a:spcPts val="600"/>
              </a:spcAft>
              <a:buNone/>
              <a:tabLst>
                <a:tab pos="2417763" algn="l"/>
              </a:tabLst>
            </a:pPr>
            <a:r>
              <a:rPr lang="en-GB" sz="3600" noProof="0" dirty="0">
                <a:solidFill>
                  <a:srgbClr val="7030A0"/>
                </a:solidFill>
                <a:latin typeface="Consolas" panose="020B0609020204030204" pitchFamily="49" charset="0"/>
              </a:rPr>
              <a:t>2-2</a:t>
            </a:r>
            <a:r>
              <a:rPr lang="en-GB" sz="3600" noProof="0" dirty="0">
                <a:latin typeface="Consolas" panose="020B0609020204030204" pitchFamily="49" charset="0"/>
              </a:rPr>
              <a:t>	50-59</a:t>
            </a:r>
          </a:p>
          <a:p>
            <a:pPr marL="457200" lvl="1" indent="0" defTabSz="942975">
              <a:spcAft>
                <a:spcPts val="600"/>
              </a:spcAft>
              <a:buNone/>
              <a:tabLst>
                <a:tab pos="2417763" algn="l"/>
              </a:tabLst>
            </a:pPr>
            <a:r>
              <a:rPr lang="en-GB" sz="3600" noProof="0" dirty="0">
                <a:solidFill>
                  <a:srgbClr val="7030A0"/>
                </a:solidFill>
                <a:latin typeface="Consolas" panose="020B0609020204030204" pitchFamily="49" charset="0"/>
              </a:rPr>
              <a:t>Third</a:t>
            </a:r>
            <a:r>
              <a:rPr lang="en-GB" sz="3600" noProof="0" dirty="0">
                <a:latin typeface="Consolas" panose="020B0609020204030204" pitchFamily="49" charset="0"/>
              </a:rPr>
              <a:t>	40-49</a:t>
            </a:r>
          </a:p>
          <a:p>
            <a:pPr marL="457200" lvl="1" indent="0" defTabSz="942975">
              <a:spcAft>
                <a:spcPts val="600"/>
              </a:spcAft>
              <a:buNone/>
              <a:tabLst>
                <a:tab pos="2417763" algn="l"/>
              </a:tabLst>
            </a:pPr>
            <a:r>
              <a:rPr lang="en-GB" sz="3600" noProof="0" dirty="0">
                <a:solidFill>
                  <a:srgbClr val="7030A0"/>
                </a:solidFill>
                <a:latin typeface="Consolas" panose="020B0609020204030204" pitchFamily="49" charset="0"/>
              </a:rPr>
              <a:t>Fail</a:t>
            </a:r>
            <a:r>
              <a:rPr lang="en-GB" sz="3600" noProof="0" dirty="0">
                <a:latin typeface="Consolas" panose="020B0609020204030204" pitchFamily="49" charset="0"/>
              </a:rPr>
              <a:t>	0-39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311F0-127B-E4E0-4319-0C2575076B29}"/>
              </a:ext>
            </a:extLst>
          </p:cNvPr>
          <p:cNvSpPr txBox="1"/>
          <p:nvPr/>
        </p:nvSpPr>
        <p:spPr>
          <a:xfrm>
            <a:off x="6729620" y="5157695"/>
            <a:ext cx="3736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Create a test table first!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E9D5E0-11AD-4270-AA96-4D1F1ADD7DBC}"/>
              </a:ext>
            </a:extLst>
          </p:cNvPr>
          <p:cNvSpPr txBox="1"/>
          <p:nvPr/>
        </p:nvSpPr>
        <p:spPr>
          <a:xfrm>
            <a:off x="6729620" y="3269449"/>
            <a:ext cx="318330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Assumptions</a:t>
            </a:r>
          </a:p>
          <a:p>
            <a:r>
              <a:rPr lang="en-GB" sz="3200" dirty="0"/>
              <a:t>All values integers</a:t>
            </a:r>
          </a:p>
        </p:txBody>
      </p:sp>
    </p:spTree>
    <p:extLst>
      <p:ext uri="{BB962C8B-B14F-4D97-AF65-F5344CB8AC3E}">
        <p14:creationId xmlns:p14="http://schemas.microsoft.com/office/powerpoint/2010/main" val="803508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4" grpId="0"/>
    </p:bldLst>
  </p:timing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Describe and use a standard algorithm for a running total within a loop</a:t>
            </a:r>
          </a:p>
        </p:txBody>
      </p:sp>
    </p:spTree>
    <p:extLst>
      <p:ext uri="{BB962C8B-B14F-4D97-AF65-F5344CB8AC3E}">
        <p14:creationId xmlns:p14="http://schemas.microsoft.com/office/powerpoint/2010/main" val="4163827872"/>
      </p:ext>
    </p:extLst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value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endParaRPr lang="en-GB" altLang="en-US" sz="360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 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total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endParaRPr lang="en-GB" altLang="en-US" sz="3600" noProof="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counter 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4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  <a:endParaRPr lang="en-GB" altLang="en-US" sz="360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value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"Value? 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total = total + value</a:t>
            </a:r>
            <a:endParaRPr lang="en-GB" altLang="en-US" sz="4800" noProof="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Running Total - Fixed </a:t>
            </a:r>
            <a:r>
              <a:rPr lang="en-GB" dirty="0"/>
              <a:t>L</a:t>
            </a:r>
            <a:r>
              <a:rPr lang="en-GB" noProof="0" dirty="0" err="1"/>
              <a:t>oop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26763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14664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answer = 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""</a:t>
            </a:r>
            <a:endParaRPr lang="en-GB" altLang="en-US" sz="360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 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value, total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while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answer != 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"no"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   value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"Value? 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total = total + value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  <a:endParaRPr lang="en-GB" altLang="en-US" sz="360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8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 answer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"Another value? 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altLang="en-US" sz="4800" noProof="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Running Total  - Conditional Loop</a:t>
            </a:r>
          </a:p>
        </p:txBody>
      </p:sp>
      <p:sp>
        <p:nvSpPr>
          <p:cNvPr id="2" name="Callout: Bent Line with No Border 8">
            <a:extLst>
              <a:ext uri="{FF2B5EF4-FFF2-40B4-BE49-F238E27FC236}">
                <a16:creationId xmlns:a16="http://schemas.microsoft.com/office/drawing/2014/main" id="{B495D21B-CDC4-EB46-697D-A8BED59D3EB0}"/>
              </a:ext>
            </a:extLst>
          </p:cNvPr>
          <p:cNvSpPr/>
          <p:nvPr/>
        </p:nvSpPr>
        <p:spPr>
          <a:xfrm>
            <a:off x="5228751" y="1493227"/>
            <a:ext cx="3813649" cy="394922"/>
          </a:xfrm>
          <a:prstGeom prst="callout2">
            <a:avLst>
              <a:gd name="adj1" fmla="val 49740"/>
              <a:gd name="adj2" fmla="val -893"/>
              <a:gd name="adj3" fmla="val 50231"/>
              <a:gd name="adj4" fmla="val -14416"/>
              <a:gd name="adj5" fmla="val 116330"/>
              <a:gd name="adj6" fmla="val -2690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Not an acceptable value</a:t>
            </a:r>
          </a:p>
        </p:txBody>
      </p:sp>
      <p:sp>
        <p:nvSpPr>
          <p:cNvPr id="5" name="Callout: Bent Line with No Border 8">
            <a:extLst>
              <a:ext uri="{FF2B5EF4-FFF2-40B4-BE49-F238E27FC236}">
                <a16:creationId xmlns:a16="http://schemas.microsoft.com/office/drawing/2014/main" id="{13A63945-369C-16C3-A1F4-8E56B1D22D27}"/>
              </a:ext>
            </a:extLst>
          </p:cNvPr>
          <p:cNvSpPr/>
          <p:nvPr/>
        </p:nvSpPr>
        <p:spPr>
          <a:xfrm>
            <a:off x="7329623" y="2049002"/>
            <a:ext cx="2889416" cy="817450"/>
          </a:xfrm>
          <a:prstGeom prst="callout2">
            <a:avLst>
              <a:gd name="adj1" fmla="val 50517"/>
              <a:gd name="adj2" fmla="val 60"/>
              <a:gd name="adj3" fmla="val 51008"/>
              <a:gd name="adj4" fmla="val -20496"/>
              <a:gd name="adj5" fmla="val 65031"/>
              <a:gd name="adj6" fmla="val -3839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Python shorthand (Don't use!)</a:t>
            </a:r>
          </a:p>
        </p:txBody>
      </p:sp>
    </p:spTree>
    <p:extLst>
      <p:ext uri="{BB962C8B-B14F-4D97-AF65-F5344CB8AC3E}">
        <p14:creationId xmlns:p14="http://schemas.microsoft.com/office/powerpoint/2010/main" val="83293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7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" grpId="0" animBg="1"/>
      <p:bldP spid="5" grpId="0" animBg="1"/>
    </p:bldLst>
  </p:timing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14664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answer = 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""</a:t>
            </a:r>
            <a:endParaRPr lang="en-GB" altLang="en-US" sz="360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2 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value, total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GB" altLang="en-US" sz="3600" noProof="0" dirty="0">
                <a:solidFill>
                  <a:srgbClr val="A71D5D"/>
                </a:solidFill>
                <a:latin typeface="Consolas" panose="020B0609020204030204" pitchFamily="49" charset="0"/>
              </a:rPr>
              <a:t>while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answer != 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"no"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   value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"Value? 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total = total + value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  <a:endParaRPr lang="en-GB" altLang="en-US" sz="360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0"/>
              </a:spcAft>
              <a:buNone/>
            </a:pPr>
            <a:r>
              <a:rPr lang="en-GB" altLang="en-US" sz="3600" noProof="0" dirty="0">
                <a:solidFill>
                  <a:srgbClr val="B2B2B2"/>
                </a:solidFill>
                <a:latin typeface="Consolas" panose="020B0609020204030204" pitchFamily="49" charset="0"/>
              </a:rPr>
              <a:t>8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     answer = </a:t>
            </a:r>
            <a:r>
              <a:rPr lang="en-GB" altLang="en-US" sz="3600" noProof="0" dirty="0">
                <a:solidFill>
                  <a:srgbClr val="0086B3"/>
                </a:solidFill>
                <a:latin typeface="Consolas" panose="020B0609020204030204" pitchFamily="49" charset="0"/>
              </a:rPr>
              <a:t>input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"Another value? </a:t>
            </a:r>
            <a:r>
              <a:rPr lang="en-GB" altLang="en-US" sz="3600" noProof="0" dirty="0">
                <a:solidFill>
                  <a:srgbClr val="183691"/>
                </a:solidFill>
                <a:latin typeface="Consolas" panose="020B0609020204030204" pitchFamily="49" charset="0"/>
              </a:rPr>
              <a:t>"</a:t>
            </a:r>
            <a:r>
              <a:rPr lang="en-GB" altLang="en-US" sz="3600" noProof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altLang="en-US" sz="4800" noProof="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Running Total - Conditional Loop</a:t>
            </a:r>
          </a:p>
        </p:txBody>
      </p:sp>
    </p:spTree>
    <p:extLst>
      <p:ext uri="{BB962C8B-B14F-4D97-AF65-F5344CB8AC3E}">
        <p14:creationId xmlns:p14="http://schemas.microsoft.com/office/powerpoint/2010/main" val="3598817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49F92D7F80F64B98FBA117B04E0F80" ma:contentTypeVersion="40" ma:contentTypeDescription="Create a new document." ma:contentTypeScope="" ma:versionID="fe3e59b61fa9c36d25aefe94ff9968f9">
  <xsd:schema xmlns:xsd="http://www.w3.org/2001/XMLSchema" xmlns:xs="http://www.w3.org/2001/XMLSchema" xmlns:p="http://schemas.microsoft.com/office/2006/metadata/properties" xmlns:ns3="fb00f1ab-d075-4e01-ab9b-b3f8a42839f0" xmlns:ns4="7870b3cf-1289-4874-b3fd-2340ee2bd0a7" targetNamespace="http://schemas.microsoft.com/office/2006/metadata/properties" ma:root="true" ma:fieldsID="6670ee7dcdb63f2d7da68b906cddbd7f" ns3:_="" ns4:_="">
    <xsd:import namespace="fb00f1ab-d075-4e01-ab9b-b3f8a42839f0"/>
    <xsd:import namespace="7870b3cf-1289-4874-b3fd-2340ee2bd0a7"/>
    <xsd:element name="properties">
      <xsd:complexType>
        <xsd:sequence>
          <xsd:element name="documentManagement">
            <xsd:complexType>
              <xsd:all>
                <xsd:element ref="ns3:NotebookType" minOccurs="0"/>
                <xsd:element ref="ns3:FolderType" minOccurs="0"/>
                <xsd:element ref="ns3:Owner" minOccurs="0"/>
                <xsd:element ref="ns3:DefaultSectionNames" minOccurs="0"/>
                <xsd:element ref="ns3:AppVersion" minOccurs="0"/>
                <xsd:element ref="ns3:Teachers" minOccurs="0"/>
                <xsd:element ref="ns3:Students" minOccurs="0"/>
                <xsd:element ref="ns4:SharedWithUsers" minOccurs="0"/>
                <xsd:element ref="ns4:SharedWithDetails" minOccurs="0"/>
                <xsd:element ref="ns4:SharingHintHash" minOccurs="0"/>
                <xsd:element ref="ns3:Student_Groups" minOccurs="0"/>
                <xsd:element ref="ns3:Invited_Teachers" minOccurs="0"/>
                <xsd:element ref="ns3:Invited_Students" minOccurs="0"/>
                <xsd:element ref="ns3:Self_Registration_Enabled" minOccurs="0"/>
                <xsd:element ref="ns3:Has_Teacher_Only_SectionGroup" minOccurs="0"/>
                <xsd:element ref="ns3:CultureName" minOccurs="0"/>
                <xsd:element ref="ns3:Is_Collaboration_Space_Locked" minOccurs="0"/>
                <xsd:element ref="ns3:Self_Registration_Enabled0" minOccurs="0"/>
                <xsd:element ref="ns3:Template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TeamsChannelId" minOccurs="0"/>
                <xsd:element ref="ns3:IsNotebookLocked" minOccurs="0"/>
                <xsd:element ref="ns3:Math_Settin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Distribution_Groups" minOccurs="0"/>
                <xsd:element ref="ns3:LMS_Mappings" minOccurs="0"/>
                <xsd:element ref="ns3:MediaServiceAutoKeyPoints" minOccurs="0"/>
                <xsd:element ref="ns3:MediaServiceKeyPoints" minOccurs="0"/>
                <xsd:element ref="ns3:Teams_Channel_Section_Locatio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0f1ab-d075-4e01-ab9b-b3f8a42839f0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dexed="tru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Owner" ma:index="10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efaultSectionNames" ma:index="11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AppVersion" ma:index="12" nillable="true" ma:displayName="App Version" ma:internalName="AppVersion">
      <xsd:simpleType>
        <xsd:restriction base="dms:Text"/>
      </xsd:simpleType>
    </xsd:element>
    <xsd:element name="Teachers" ma:index="13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4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8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vited_Teachers" ma:index="19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0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1" nillable="true" ma:displayName="Self_Registration_Enabled" ma:internalName="Self_Registration_Enabled">
      <xsd:simpleType>
        <xsd:restriction base="dms:Boolean"/>
      </xsd:simpleType>
    </xsd:element>
    <xsd:element name="Has_Teacher_Only_SectionGroup" ma:index="22" nillable="true" ma:displayName="Has Teacher Only SectionGroup" ma:internalName="Has_Teacher_Only_SectionGroup">
      <xsd:simpleType>
        <xsd:restriction base="dms:Boolean"/>
      </xsd:simpleType>
    </xsd:element>
    <xsd:element name="CultureName" ma:index="23" nillable="true" ma:displayName="Culture Name" ma:internalName="CultureName">
      <xsd:simpleType>
        <xsd:restriction base="dms:Text"/>
      </xsd:simpleType>
    </xsd:element>
    <xsd:element name="Is_Collaboration_Space_Locked" ma:index="24" nillable="true" ma:displayName="Is Collaboration Space Locked" ma:internalName="Is_Collaboration_Space_Locked">
      <xsd:simpleType>
        <xsd:restriction base="dms:Boolean"/>
      </xsd:simpleType>
    </xsd:element>
    <xsd:element name="Self_Registration_Enabled0" ma:index="25" nillable="true" ma:displayName="Self Registration Enabled" ma:internalName="Self_Registration_Enabled0">
      <xsd:simpleType>
        <xsd:restriction base="dms:Boolean"/>
      </xsd:simpleType>
    </xsd:element>
    <xsd:element name="Templates" ma:index="26" nillable="true" ma:displayName="Templates" ma:internalName="Templates">
      <xsd:simpleType>
        <xsd:restriction base="dms:Note">
          <xsd:maxLength value="255"/>
        </xsd:restriction>
      </xsd:simpleType>
    </xsd:element>
    <xsd:element name="MediaServiceMetadata" ma:index="27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28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29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30" nillable="true" ma:displayName="MediaServiceAutoTags" ma:internalName="MediaServiceAutoTags" ma:readOnly="true">
      <xsd:simpleType>
        <xsd:restriction base="dms:Text"/>
      </xsd:simpleType>
    </xsd:element>
    <xsd:element name="MediaServiceOCR" ma:index="3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TeamsChannelId" ma:index="32" nillable="true" ma:displayName="Teams Channel Id" ma:internalName="TeamsChannelId">
      <xsd:simpleType>
        <xsd:restriction base="dms:Text"/>
      </xsd:simpleType>
    </xsd:element>
    <xsd:element name="IsNotebookLocked" ma:index="33" nillable="true" ma:displayName="Is Notebook Locked" ma:internalName="IsNotebookLocked">
      <xsd:simpleType>
        <xsd:restriction base="dms:Boolean"/>
      </xsd:simpleType>
    </xsd:element>
    <xsd:element name="Math_Settings" ma:index="34" nillable="true" ma:displayName="Math Settings" ma:internalName="Math_Settings">
      <xsd:simpleType>
        <xsd:restriction base="dms:Text"/>
      </xsd:simpleType>
    </xsd:element>
    <xsd:element name="MediaServiceLocation" ma:index="35" nillable="true" ma:displayName="Location" ma:internalName="MediaServiceLocation" ma:readOnly="true">
      <xsd:simpleType>
        <xsd:restriction base="dms:Text"/>
      </xsd:simpleType>
    </xsd:element>
    <xsd:element name="MediaServiceGenerationTime" ma:index="3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7" nillable="true" ma:displayName="MediaServiceEventHashCode" ma:hidden="true" ma:internalName="MediaServiceEventHashCode" ma:readOnly="true">
      <xsd:simpleType>
        <xsd:restriction base="dms:Text"/>
      </xsd:simpleType>
    </xsd:element>
    <xsd:element name="Distribution_Groups" ma:index="38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9" nillable="true" ma:displayName="LMS Mappings" ma:internalName="LMS_Mappings">
      <xsd:simpleType>
        <xsd:restriction base="dms:Note">
          <xsd:maxLength value="255"/>
        </xsd:restriction>
      </xsd:simpleType>
    </xsd:element>
    <xsd:element name="MediaServiceAutoKeyPoints" ma:index="4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4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Teams_Channel_Section_Location" ma:index="42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3" nillable="true" ma:displayName="Length (seconds)" ma:internalName="MediaLengthInSeconds" ma:readOnly="true">
      <xsd:simpleType>
        <xsd:restriction base="dms:Unknown"/>
      </xsd:simpleType>
    </xsd:element>
    <xsd:element name="_activity" ma:index="44" nillable="true" ma:displayName="_activity" ma:hidden="true" ma:internalName="_activity">
      <xsd:simpleType>
        <xsd:restriction base="dms:Note"/>
      </xsd:simpleType>
    </xsd:element>
    <xsd:element name="MediaServiceObjectDetectorVersions" ma:index="4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4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4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70b3cf-1289-4874-b3fd-2340ee2bd0a7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vited_Students xmlns="fb00f1ab-d075-4e01-ab9b-b3f8a42839f0" xsi:nil="true"/>
    <Is_Collaboration_Space_Locked xmlns="fb00f1ab-d075-4e01-ab9b-b3f8a42839f0" xsi:nil="true"/>
    <Teams_Channel_Section_Location xmlns="fb00f1ab-d075-4e01-ab9b-b3f8a42839f0" xsi:nil="true"/>
    <Has_Teacher_Only_SectionGroup xmlns="fb00f1ab-d075-4e01-ab9b-b3f8a42839f0" xsi:nil="true"/>
    <CultureName xmlns="fb00f1ab-d075-4e01-ab9b-b3f8a42839f0" xsi:nil="true"/>
    <Invited_Teachers xmlns="fb00f1ab-d075-4e01-ab9b-b3f8a42839f0" xsi:nil="true"/>
    <Self_Registration_Enabled xmlns="fb00f1ab-d075-4e01-ab9b-b3f8a42839f0" xsi:nil="true"/>
    <FolderType xmlns="fb00f1ab-d075-4e01-ab9b-b3f8a42839f0" xsi:nil="true"/>
    <Teachers xmlns="fb00f1ab-d075-4e01-ab9b-b3f8a42839f0">
      <UserInfo>
        <DisplayName/>
        <AccountId xsi:nil="true"/>
        <AccountType/>
      </UserInfo>
    </Teachers>
    <AppVersion xmlns="fb00f1ab-d075-4e01-ab9b-b3f8a42839f0" xsi:nil="true"/>
    <DefaultSectionNames xmlns="fb00f1ab-d075-4e01-ab9b-b3f8a42839f0" xsi:nil="true"/>
    <Math_Settings xmlns="fb00f1ab-d075-4e01-ab9b-b3f8a42839f0" xsi:nil="true"/>
    <IsNotebookLocked xmlns="fb00f1ab-d075-4e01-ab9b-b3f8a42839f0" xsi:nil="true"/>
    <LMS_Mappings xmlns="fb00f1ab-d075-4e01-ab9b-b3f8a42839f0" xsi:nil="true"/>
    <_activity xmlns="fb00f1ab-d075-4e01-ab9b-b3f8a42839f0" xsi:nil="true"/>
    <Owner xmlns="fb00f1ab-d075-4e01-ab9b-b3f8a42839f0">
      <UserInfo>
        <DisplayName/>
        <AccountId xsi:nil="true"/>
        <AccountType/>
      </UserInfo>
    </Owner>
    <Distribution_Groups xmlns="fb00f1ab-d075-4e01-ab9b-b3f8a42839f0" xsi:nil="true"/>
    <TeamsChannelId xmlns="fb00f1ab-d075-4e01-ab9b-b3f8a42839f0" xsi:nil="true"/>
    <Self_Registration_Enabled0 xmlns="fb00f1ab-d075-4e01-ab9b-b3f8a42839f0" xsi:nil="true"/>
    <Templates xmlns="fb00f1ab-d075-4e01-ab9b-b3f8a42839f0" xsi:nil="true"/>
    <NotebookType xmlns="fb00f1ab-d075-4e01-ab9b-b3f8a42839f0" xsi:nil="true"/>
    <Students xmlns="fb00f1ab-d075-4e01-ab9b-b3f8a42839f0">
      <UserInfo>
        <DisplayName/>
        <AccountId xsi:nil="true"/>
        <AccountType/>
      </UserInfo>
    </Students>
    <Student_Groups xmlns="fb00f1ab-d075-4e01-ab9b-b3f8a42839f0">
      <UserInfo>
        <DisplayName/>
        <AccountId xsi:nil="true"/>
        <AccountType/>
      </UserInfo>
    </Student_Groups>
  </documentManagement>
</p:properties>
</file>

<file path=customXml/itemProps1.xml><?xml version="1.0" encoding="utf-8"?>
<ds:datastoreItem xmlns:ds="http://schemas.openxmlformats.org/officeDocument/2006/customXml" ds:itemID="{41D82733-D72F-482E-B6AA-2A147DEA6D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00f1ab-d075-4e01-ab9b-b3f8a42839f0"/>
    <ds:schemaRef ds:uri="7870b3cf-1289-4874-b3fd-2340ee2bd0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FEEAFB-DE97-4291-8DE1-FA13009F034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D744E4-5029-4C96-8ED3-62CEBEC220D3}">
  <ds:schemaRefs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7870b3cf-1289-4874-b3fd-2340ee2bd0a7"/>
    <ds:schemaRef ds:uri="http://purl.org/dc/dcmitype/"/>
    <ds:schemaRef ds:uri="fb00f1ab-d075-4e01-ab9b-b3f8a42839f0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14387</Words>
  <Application>Microsoft Office PowerPoint</Application>
  <PresentationFormat>Widescreen</PresentationFormat>
  <Paragraphs>3631</Paragraphs>
  <Slides>382</Slides>
  <Notes>298</Notes>
  <HiddenSlides>166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382</vt:i4>
      </vt:variant>
    </vt:vector>
  </HeadingPairs>
  <TitlesOfParts>
    <vt:vector size="387" baseType="lpstr">
      <vt:lpstr>Arial</vt:lpstr>
      <vt:lpstr>Calibri</vt:lpstr>
      <vt:lpstr>Calibri Light</vt:lpstr>
      <vt:lpstr>Consolas</vt:lpstr>
      <vt:lpstr>Office Theme</vt:lpstr>
      <vt:lpstr>N5 Computing Science</vt:lpstr>
      <vt:lpstr>Plan – N5 Year 1</vt:lpstr>
      <vt:lpstr>Implementation</vt:lpstr>
      <vt:lpstr>Thonny</vt:lpstr>
      <vt:lpstr>Sharepoint</vt:lpstr>
      <vt:lpstr>Learning Intentions</vt:lpstr>
      <vt:lpstr>Internal Commentary</vt:lpstr>
      <vt:lpstr>Internal Commentary</vt:lpstr>
      <vt:lpstr>Learning Intentions</vt:lpstr>
      <vt:lpstr>Display information</vt:lpstr>
      <vt:lpstr>Display information</vt:lpstr>
      <vt:lpstr>Learning Intentions</vt:lpstr>
      <vt:lpstr>Syntax Errors</vt:lpstr>
      <vt:lpstr>Syntax Errors</vt:lpstr>
      <vt:lpstr>Learning Intentions</vt:lpstr>
      <vt:lpstr>Data type – Character</vt:lpstr>
      <vt:lpstr>Data type – Character</vt:lpstr>
      <vt:lpstr>Data type – String</vt:lpstr>
      <vt:lpstr>Data type – String</vt:lpstr>
      <vt:lpstr>Data type – Integer</vt:lpstr>
      <vt:lpstr>Data type – Integer</vt:lpstr>
      <vt:lpstr>Data type – Real</vt:lpstr>
      <vt:lpstr>Data type – Real</vt:lpstr>
      <vt:lpstr>Data type – Boolean</vt:lpstr>
      <vt:lpstr>Data type – Boolean</vt:lpstr>
      <vt:lpstr>Data types</vt:lpstr>
      <vt:lpstr>Data types</vt:lpstr>
      <vt:lpstr>Learning Intentions</vt:lpstr>
      <vt:lpstr>What is a variable?</vt:lpstr>
      <vt:lpstr>How do they work?</vt:lpstr>
      <vt:lpstr>What is it?</vt:lpstr>
      <vt:lpstr>What is it?</vt:lpstr>
      <vt:lpstr>Assignment – variable</vt:lpstr>
      <vt:lpstr>Assignment – variable</vt:lpstr>
      <vt:lpstr>Spot the Variables</vt:lpstr>
      <vt:lpstr>Spot the Variables</vt:lpstr>
      <vt:lpstr>Spot the Numbers</vt:lpstr>
      <vt:lpstr>Spot the Numbers</vt:lpstr>
      <vt:lpstr>Trace table</vt:lpstr>
      <vt:lpstr>Trace Table</vt:lpstr>
      <vt:lpstr>Display Variables</vt:lpstr>
      <vt:lpstr>Display Variables</vt:lpstr>
      <vt:lpstr>Learning Intentions</vt:lpstr>
      <vt:lpstr>Variable names – Rules</vt:lpstr>
      <vt:lpstr>Variable names – Rules</vt:lpstr>
      <vt:lpstr>Variable names – Conventions</vt:lpstr>
      <vt:lpstr>Variable names – Conventions</vt:lpstr>
      <vt:lpstr>Learning Intentions</vt:lpstr>
      <vt:lpstr>Arithmetic Operators</vt:lpstr>
      <vt:lpstr>Arithmetic Operators</vt:lpstr>
      <vt:lpstr>Learning Intentions</vt:lpstr>
      <vt:lpstr>Execution Errors</vt:lpstr>
      <vt:lpstr>Execution Errors</vt:lpstr>
      <vt:lpstr>Learning Intentions</vt:lpstr>
      <vt:lpstr>Type Hinting</vt:lpstr>
      <vt:lpstr>Type Hinting</vt:lpstr>
      <vt:lpstr>Type Hinting</vt:lpstr>
      <vt:lpstr>Type Hinting</vt:lpstr>
      <vt:lpstr>Learning Intentions</vt:lpstr>
      <vt:lpstr>Functions - Overview</vt:lpstr>
      <vt:lpstr>Functions - Overview</vt:lpstr>
      <vt:lpstr>Function – Example</vt:lpstr>
      <vt:lpstr>Function – Example</vt:lpstr>
      <vt:lpstr>Functions – Overview (1)</vt:lpstr>
      <vt:lpstr>Functions – Overview (1)</vt:lpstr>
      <vt:lpstr>Functions – Overview (2)</vt:lpstr>
      <vt:lpstr>Functions – Overview (2)</vt:lpstr>
      <vt:lpstr>Using Functions</vt:lpstr>
      <vt:lpstr>Using Functions</vt:lpstr>
      <vt:lpstr>Learning Intentions</vt:lpstr>
      <vt:lpstr>Round (Overview)</vt:lpstr>
      <vt:lpstr>Round (Overview)</vt:lpstr>
      <vt:lpstr>round() – Example</vt:lpstr>
      <vt:lpstr>round() – Example</vt:lpstr>
      <vt:lpstr>Rounding to an Integer (Python)</vt:lpstr>
      <vt:lpstr>Rounding to an Integer (Python)</vt:lpstr>
      <vt:lpstr>Learning Intentions</vt:lpstr>
      <vt:lpstr>Joining words together</vt:lpstr>
      <vt:lpstr>Joining strings together - concatenation</vt:lpstr>
      <vt:lpstr>Concatenation Example</vt:lpstr>
      <vt:lpstr>Concatenation Example</vt:lpstr>
      <vt:lpstr>Concatenation</vt:lpstr>
      <vt:lpstr>Concatenation</vt:lpstr>
      <vt:lpstr>Learning Intentions</vt:lpstr>
      <vt:lpstr>Cast (convert) to String</vt:lpstr>
      <vt:lpstr>Cast (convert) to String</vt:lpstr>
      <vt:lpstr>str() - Example</vt:lpstr>
      <vt:lpstr>str() - Example</vt:lpstr>
      <vt:lpstr>Python Example – Casting</vt:lpstr>
      <vt:lpstr>Python Example – Casting</vt:lpstr>
      <vt:lpstr>Learning Intentions</vt:lpstr>
      <vt:lpstr>User input</vt:lpstr>
      <vt:lpstr>User input</vt:lpstr>
      <vt:lpstr>input() – Example</vt:lpstr>
      <vt:lpstr>input() – Example</vt:lpstr>
      <vt:lpstr>Python Example – input()</vt:lpstr>
      <vt:lpstr>Python Example – input()</vt:lpstr>
      <vt:lpstr>Learning Intentions</vt:lpstr>
      <vt:lpstr>Cast (convert) to Integer</vt:lpstr>
      <vt:lpstr>Cast (convert) to Integer</vt:lpstr>
      <vt:lpstr>int() - Example</vt:lpstr>
      <vt:lpstr>int() - Example</vt:lpstr>
      <vt:lpstr>Cast (convert) to Real</vt:lpstr>
      <vt:lpstr>Cast (convert) to Real</vt:lpstr>
      <vt:lpstr>float() - Example</vt:lpstr>
      <vt:lpstr>float() - Example</vt:lpstr>
      <vt:lpstr>Using Multiple Functions</vt:lpstr>
      <vt:lpstr>Using Multiple Functions</vt:lpstr>
      <vt:lpstr>input() &amp; int() - Example</vt:lpstr>
      <vt:lpstr>input() &amp; int() - Example</vt:lpstr>
      <vt:lpstr>Python Example – Functions</vt:lpstr>
      <vt:lpstr>Python Example – Functions</vt:lpstr>
      <vt:lpstr>Learning Intentions</vt:lpstr>
      <vt:lpstr>Sequences</vt:lpstr>
      <vt:lpstr>Sequences</vt:lpstr>
      <vt:lpstr>Fixed Loop – Start Value</vt:lpstr>
      <vt:lpstr>Fixed Loop – Start Value</vt:lpstr>
      <vt:lpstr>Fixed Loop – No Start Value</vt:lpstr>
      <vt:lpstr>Fixed Loop – No Start Value</vt:lpstr>
      <vt:lpstr>Learning Intentions</vt:lpstr>
      <vt:lpstr>Running total - Fixed Loop</vt:lpstr>
      <vt:lpstr>Running total - Fixed Loop</vt:lpstr>
      <vt:lpstr>Learning Intentions</vt:lpstr>
      <vt:lpstr>Learning Intentions</vt:lpstr>
      <vt:lpstr>Readability</vt:lpstr>
      <vt:lpstr>Readability</vt:lpstr>
      <vt:lpstr>Readability</vt:lpstr>
      <vt:lpstr>Readability</vt:lpstr>
      <vt:lpstr>Learning Intentions</vt:lpstr>
      <vt:lpstr>Indentation</vt:lpstr>
      <vt:lpstr>Indentation</vt:lpstr>
      <vt:lpstr>Program Layout</vt:lpstr>
      <vt:lpstr>Program Layout</vt:lpstr>
      <vt:lpstr>Learning Intentions</vt:lpstr>
      <vt:lpstr>Boolean</vt:lpstr>
      <vt:lpstr>Boolean</vt:lpstr>
      <vt:lpstr>Comparison Operators</vt:lpstr>
      <vt:lpstr>Comparison Operators</vt:lpstr>
      <vt:lpstr>True or False?</vt:lpstr>
      <vt:lpstr>True or False?</vt:lpstr>
      <vt:lpstr>Learning Intentions</vt:lpstr>
      <vt:lpstr>Decisions</vt:lpstr>
      <vt:lpstr>if – Single Selection</vt:lpstr>
      <vt:lpstr>if – Single Selection</vt:lpstr>
      <vt:lpstr>Design – if</vt:lpstr>
      <vt:lpstr>Design – if</vt:lpstr>
      <vt:lpstr>Learning Intentions</vt:lpstr>
      <vt:lpstr>Decisions</vt:lpstr>
      <vt:lpstr>if, else</vt:lpstr>
      <vt:lpstr>if, else</vt:lpstr>
      <vt:lpstr>Design – if, else</vt:lpstr>
      <vt:lpstr>Design – if, else</vt:lpstr>
      <vt:lpstr>Learning Intentions</vt:lpstr>
      <vt:lpstr>Nested if – Multiple Selection</vt:lpstr>
      <vt:lpstr>Nested if – Multiple Selection</vt:lpstr>
      <vt:lpstr>Design – Nested if</vt:lpstr>
      <vt:lpstr>Design – Nested if</vt:lpstr>
      <vt:lpstr>Learning Intentions</vt:lpstr>
      <vt:lpstr>Length – String (Overview)</vt:lpstr>
      <vt:lpstr>Length – String (Overview)</vt:lpstr>
      <vt:lpstr>len() – String – Example</vt:lpstr>
      <vt:lpstr>len() – String – Example</vt:lpstr>
      <vt:lpstr>Learning Intentions</vt:lpstr>
      <vt:lpstr>if, else if, else – Multiple Selection</vt:lpstr>
      <vt:lpstr>if, else if, else – Multiple Selection</vt:lpstr>
      <vt:lpstr>Design – if, elif, else</vt:lpstr>
      <vt:lpstr>Design – if, else if, else</vt:lpstr>
      <vt:lpstr>else if – Tip</vt:lpstr>
      <vt:lpstr>Learning Intentions</vt:lpstr>
      <vt:lpstr>AND – Logical Operator</vt:lpstr>
      <vt:lpstr>AND – Logical Operator</vt:lpstr>
      <vt:lpstr>AND – True or False?</vt:lpstr>
      <vt:lpstr>AND – True or False?</vt:lpstr>
      <vt:lpstr>OR – Logical Operator</vt:lpstr>
      <vt:lpstr>OR – Logical Operator</vt:lpstr>
      <vt:lpstr>OR – True or False?</vt:lpstr>
      <vt:lpstr>OR – True or False?</vt:lpstr>
      <vt:lpstr>NOT – Logical Operator</vt:lpstr>
      <vt:lpstr>NOT – Logical Operator</vt:lpstr>
      <vt:lpstr>NOT – True or False?</vt:lpstr>
      <vt:lpstr>NOT – True or False?</vt:lpstr>
      <vt:lpstr>Learning Intentions</vt:lpstr>
      <vt:lpstr>Example 1 – Body Temperature</vt:lpstr>
      <vt:lpstr>Example 1 – Body Temperature</vt:lpstr>
      <vt:lpstr>Example 2 – Theme Park Ride</vt:lpstr>
      <vt:lpstr>Example 2 – Theme Park Ride</vt:lpstr>
      <vt:lpstr>Task – Jockeys</vt:lpstr>
      <vt:lpstr>Task – Jockeys</vt:lpstr>
      <vt:lpstr>Learning Intentions</vt:lpstr>
      <vt:lpstr>Efficient coding (1)</vt:lpstr>
      <vt:lpstr>Efficient coding (1)</vt:lpstr>
      <vt:lpstr>Selection – if, else if, else (3 or more options)</vt:lpstr>
      <vt:lpstr>Selection – if, else if, else (3 or more options)</vt:lpstr>
      <vt:lpstr>Efficient coding (2)</vt:lpstr>
      <vt:lpstr>Efficient coding (2)</vt:lpstr>
      <vt:lpstr>Task – SQA Grades</vt:lpstr>
      <vt:lpstr>Learning Intentions</vt:lpstr>
      <vt:lpstr>Random (Overview)</vt:lpstr>
      <vt:lpstr>Random (Overview)</vt:lpstr>
      <vt:lpstr>random – Example</vt:lpstr>
      <vt:lpstr>random – Example</vt:lpstr>
      <vt:lpstr>Task – Throwing a dice</vt:lpstr>
      <vt:lpstr>Learning Intentions</vt:lpstr>
      <vt:lpstr>Error Types</vt:lpstr>
      <vt:lpstr>Error Types</vt:lpstr>
      <vt:lpstr>Normal Test Data</vt:lpstr>
      <vt:lpstr>Normal Test Data</vt:lpstr>
      <vt:lpstr>Test table – Normal</vt:lpstr>
      <vt:lpstr>Test table – Normal</vt:lpstr>
      <vt:lpstr>Learning Intentions</vt:lpstr>
      <vt:lpstr>Extreme Test Data</vt:lpstr>
      <vt:lpstr>Extreme Test Data</vt:lpstr>
      <vt:lpstr>Test table – Extreme</vt:lpstr>
      <vt:lpstr>Test table – Extreme</vt:lpstr>
      <vt:lpstr>Learning Intentions</vt:lpstr>
      <vt:lpstr>Conditional Loop</vt:lpstr>
      <vt:lpstr>Conditional Loop</vt:lpstr>
      <vt:lpstr>Conditional Loop</vt:lpstr>
      <vt:lpstr>Conditional Loop</vt:lpstr>
      <vt:lpstr>While</vt:lpstr>
      <vt:lpstr>Learning Intentions</vt:lpstr>
      <vt:lpstr>User input</vt:lpstr>
      <vt:lpstr>Input validation – Input Before Loop - Overview</vt:lpstr>
      <vt:lpstr>Input validation – Input Before Loop - Overview</vt:lpstr>
      <vt:lpstr>Input Validation – Integers – Simple</vt:lpstr>
      <vt:lpstr>Input Validation – Integers – Simple</vt:lpstr>
      <vt:lpstr>Input Validation – Integers – Complex</vt:lpstr>
      <vt:lpstr>Input Validation – Integers – Complex</vt:lpstr>
      <vt:lpstr>Input Validation – Strings – Simple</vt:lpstr>
      <vt:lpstr>Input Validation – Strings – Simple</vt:lpstr>
      <vt:lpstr>Learning Intentions</vt:lpstr>
      <vt:lpstr>Extreme Test Data</vt:lpstr>
      <vt:lpstr>Extreme Test Data</vt:lpstr>
      <vt:lpstr>Learning Intentions</vt:lpstr>
      <vt:lpstr>Exceptional Test Data</vt:lpstr>
      <vt:lpstr>Exceptional Test Data</vt:lpstr>
      <vt:lpstr>Test table – Exceptional</vt:lpstr>
      <vt:lpstr>Test table – Exceptional</vt:lpstr>
      <vt:lpstr>Conditional Loop – Testing</vt:lpstr>
      <vt:lpstr>Conditional Loop – Testing</vt:lpstr>
      <vt:lpstr>Random – Testing</vt:lpstr>
      <vt:lpstr>Random – Testing</vt:lpstr>
      <vt:lpstr>Test Table – Random Values</vt:lpstr>
      <vt:lpstr>Test Table – Random Values</vt:lpstr>
      <vt:lpstr>Learning Intentions</vt:lpstr>
      <vt:lpstr>Variables – How many are needed?</vt:lpstr>
      <vt:lpstr>Multiple variables → An array</vt:lpstr>
      <vt:lpstr>Multiple variables → An array</vt:lpstr>
      <vt:lpstr>Assignment – array</vt:lpstr>
      <vt:lpstr>Assignment – array</vt:lpstr>
      <vt:lpstr>Array elements / index</vt:lpstr>
      <vt:lpstr>Array elements / index</vt:lpstr>
      <vt:lpstr>Python Example – Access Elements</vt:lpstr>
      <vt:lpstr>Python Example – Access Elements</vt:lpstr>
      <vt:lpstr>Python Example – Replace Elements</vt:lpstr>
      <vt:lpstr>Python Example – Replace Elements</vt:lpstr>
      <vt:lpstr>Say What You See!</vt:lpstr>
      <vt:lpstr>Learning Intentions</vt:lpstr>
      <vt:lpstr>Length – Array (Overview)</vt:lpstr>
      <vt:lpstr>Length – Array (Overview)</vt:lpstr>
      <vt:lpstr>len() – Array – Example</vt:lpstr>
      <vt:lpstr>len() – Array – Example</vt:lpstr>
      <vt:lpstr>Learning Intentions</vt:lpstr>
      <vt:lpstr>Traversing an array – Data in</vt:lpstr>
      <vt:lpstr>Traversing an array – Data in</vt:lpstr>
      <vt:lpstr>Traversing an array – Data out (1)</vt:lpstr>
      <vt:lpstr>Traversing an array – Data out (1)</vt:lpstr>
      <vt:lpstr>Test data - Summary</vt:lpstr>
      <vt:lpstr>Test data - Summary</vt:lpstr>
      <vt:lpstr>Plan – N5 Year 2</vt:lpstr>
      <vt:lpstr>Plan – N5 Year 2</vt:lpstr>
      <vt:lpstr>Assessment</vt:lpstr>
      <vt:lpstr>Assessment</vt:lpstr>
      <vt:lpstr>Development methodologies</vt:lpstr>
      <vt:lpstr>Learning Intentions</vt:lpstr>
      <vt:lpstr>Development Phases</vt:lpstr>
      <vt:lpstr>Development Phases</vt:lpstr>
      <vt:lpstr>Development Phases</vt:lpstr>
      <vt:lpstr>Development Phases</vt:lpstr>
      <vt:lpstr>Phases Overview</vt:lpstr>
      <vt:lpstr>Phases Overview</vt:lpstr>
      <vt:lpstr>Phases Overview</vt:lpstr>
      <vt:lpstr>Phases Overview</vt:lpstr>
      <vt:lpstr>Iterative Process</vt:lpstr>
      <vt:lpstr>Iterative Process</vt:lpstr>
      <vt:lpstr>Analysis</vt:lpstr>
      <vt:lpstr>Learning Intentions</vt:lpstr>
      <vt:lpstr>Purpose</vt:lpstr>
      <vt:lpstr>Purpose</vt:lpstr>
      <vt:lpstr>Functional Requirements</vt:lpstr>
      <vt:lpstr>Functional Requirements</vt:lpstr>
      <vt:lpstr>Functional Requirements</vt:lpstr>
      <vt:lpstr>Functional Requirements</vt:lpstr>
      <vt:lpstr>Functional Requirements</vt:lpstr>
      <vt:lpstr>Design</vt:lpstr>
      <vt:lpstr>Learning Intentions</vt:lpstr>
      <vt:lpstr>Learning Intentions</vt:lpstr>
      <vt:lpstr>Structure Diagrams</vt:lpstr>
      <vt:lpstr>Structure Diagrams</vt:lpstr>
      <vt:lpstr>Structure Diagrams – Example 1</vt:lpstr>
      <vt:lpstr>Structure Diagrams – Example 1</vt:lpstr>
      <vt:lpstr>Structure Diagrams – Example 2</vt:lpstr>
      <vt:lpstr>Structure Diagrams – Example 2</vt:lpstr>
      <vt:lpstr>Structure Diagrams – Example 3</vt:lpstr>
      <vt:lpstr>Structure Diagrams – Example 3</vt:lpstr>
      <vt:lpstr>Structure Diagrams – Example 3</vt:lpstr>
      <vt:lpstr>Structure Diagrams – Example 3</vt:lpstr>
      <vt:lpstr>Learning Intentions</vt:lpstr>
      <vt:lpstr>Flowcharts</vt:lpstr>
      <vt:lpstr>Flowcharts</vt:lpstr>
      <vt:lpstr>Flowcharts – Example 1</vt:lpstr>
      <vt:lpstr>Flowcharts – Example 1</vt:lpstr>
      <vt:lpstr>Flowcharts – Example 2</vt:lpstr>
      <vt:lpstr>Flowcharts – Example 2</vt:lpstr>
      <vt:lpstr>Flowchart – If</vt:lpstr>
      <vt:lpstr>Flowchart – If</vt:lpstr>
      <vt:lpstr>Flowchart – Else</vt:lpstr>
      <vt:lpstr>Flowchart – Else</vt:lpstr>
      <vt:lpstr>Flowchart – Else If</vt:lpstr>
      <vt:lpstr>Flowchart – Else If</vt:lpstr>
      <vt:lpstr>Flowchart – While (Repeat … Until)</vt:lpstr>
      <vt:lpstr>Flowchart – While (Repeat … Until)</vt:lpstr>
      <vt:lpstr>Flowchart – For</vt:lpstr>
      <vt:lpstr>Flowchart – For</vt:lpstr>
      <vt:lpstr>Learning Intentions</vt:lpstr>
      <vt:lpstr>Pseudocode</vt:lpstr>
      <vt:lpstr>Pseudocode</vt:lpstr>
      <vt:lpstr>Pseudocode – Example</vt:lpstr>
      <vt:lpstr>Pseudocode – Example</vt:lpstr>
      <vt:lpstr>Learning Intentions</vt:lpstr>
      <vt:lpstr>UI Wireframe</vt:lpstr>
      <vt:lpstr>UI Wireframe</vt:lpstr>
      <vt:lpstr>UI Wireframe – Example</vt:lpstr>
      <vt:lpstr>UI Wireframe – Example</vt:lpstr>
      <vt:lpstr>Calculator Wireframe</vt:lpstr>
      <vt:lpstr>Evaluation</vt:lpstr>
      <vt:lpstr>Learning Intentions</vt:lpstr>
      <vt:lpstr>Fitness for Purpose</vt:lpstr>
      <vt:lpstr>Fitness for Purpose</vt:lpstr>
      <vt:lpstr>Efficiency</vt:lpstr>
      <vt:lpstr>Efficiency</vt:lpstr>
      <vt:lpstr>Robustness</vt:lpstr>
      <vt:lpstr>Robustness</vt:lpstr>
      <vt:lpstr>Internal Commentary</vt:lpstr>
      <vt:lpstr>Internal Commentary</vt:lpstr>
      <vt:lpstr>Meaningful Identifiers</vt:lpstr>
      <vt:lpstr>Meaningful Identifiers</vt:lpstr>
      <vt:lpstr>Indentation</vt:lpstr>
      <vt:lpstr>Indentation</vt:lpstr>
      <vt:lpstr>White Space (Blank lines)</vt:lpstr>
      <vt:lpstr>White Space</vt:lpstr>
      <vt:lpstr>Learning Intentions</vt:lpstr>
      <vt:lpstr>Special Comments</vt:lpstr>
      <vt:lpstr>Special Comments</vt:lpstr>
      <vt:lpstr>Learning Intentions</vt:lpstr>
      <vt:lpstr>Concatenate – Strings – Revision</vt:lpstr>
      <vt:lpstr>Concatenate – Strings – Revision</vt:lpstr>
      <vt:lpstr>Concatenate – Arrays</vt:lpstr>
      <vt:lpstr>Concatenate – Arrays</vt:lpstr>
      <vt:lpstr>Learning Intentions</vt:lpstr>
      <vt:lpstr>Traversing an array – For Each</vt:lpstr>
      <vt:lpstr>Traversing an array – For Each</vt:lpstr>
      <vt:lpstr>Learning Intentions</vt:lpstr>
      <vt:lpstr>Sequences</vt:lpstr>
      <vt:lpstr>Sequences</vt:lpstr>
      <vt:lpstr>Fixed Loop – Step Example</vt:lpstr>
      <vt:lpstr>Fixed Loop – Step Example</vt:lpstr>
      <vt:lpstr>Learning Intentions</vt:lpstr>
      <vt:lpstr>Input Validation – Input in Loop - Overview</vt:lpstr>
      <vt:lpstr>Input Validation – Input in Loop - Overview</vt:lpstr>
      <vt:lpstr>Input Validation – Input in Loop</vt:lpstr>
      <vt:lpstr>Input Validation – Input in Loop</vt:lpstr>
      <vt:lpstr>Input Validation – Complex Condition</vt:lpstr>
      <vt:lpstr>Input Validation – Complex Condition</vt:lpstr>
      <vt:lpstr>Input Validation – Simple String</vt:lpstr>
      <vt:lpstr>Input Validation – Simple String</vt:lpstr>
      <vt:lpstr>Task – Add Input Validation</vt:lpstr>
      <vt:lpstr>Task – University Degree Classifications</vt:lpstr>
      <vt:lpstr>Learning Intentions</vt:lpstr>
      <vt:lpstr>Running Total - Fixed Loop</vt:lpstr>
      <vt:lpstr>Running Total  - Conditional Loop</vt:lpstr>
      <vt:lpstr>Running Total - Conditional Loop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N5 Computing Science</dc:title>
  <dc:creator/>
  <cp:lastModifiedBy/>
  <cp:revision>29</cp:revision>
  <dcterms:created xsi:type="dcterms:W3CDTF">2023-06-15T12:40:24Z</dcterms:created>
  <dcterms:modified xsi:type="dcterms:W3CDTF">2026-10-30T09:33:18Z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0x0101000249F92D7F80F64B98FBA117B04E0F80</vt:lpwstr>
  </property>
</Properties>
</file>
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276" r:id="rId124"/>
    <p:sldId id="381" r:id="rId125"/>
    <p:sldId id="766" r:id="rId126"/>
    <p:sldId id="410" r:id="rId127"/>
    <p:sldId id="764" r:id="rId128"/>
    <p:sldId id="411" r:id="rId129"/>
    <p:sldId id="413" r:id="rId130"/>
    <p:sldId id="412" r:id="rId131"/>
    <p:sldId id="606" r:id="rId132"/>
    <p:sldId id="758" r:id="rId133"/>
    <p:sldId id="759" r:id="rId134"/>
    <p:sldId id="760" r:id="rId135"/>
    <p:sldId id="845" r:id="rId136"/>
    <p:sldId id="84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8" r:id="rId151"/>
    <p:sldId id="443" r:id="rId152"/>
    <p:sldId id="453" r:id="rId153"/>
    <p:sldId id="669" r:id="rId154"/>
    <p:sldId id="876" r:id="rId155"/>
    <p:sldId id="877" r:id="rId156"/>
    <p:sldId id="879" r:id="rId157"/>
    <p:sldId id="863" r:id="rId158"/>
    <p:sldId id="867" r:id="rId159"/>
    <p:sldId id="688" r:id="rId160"/>
    <p:sldId id="871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Readability 2" id="{E9F36645-FAF1-492B-AA18-6210C088FA40}">
          <p14:sldIdLst>
            <p14:sldId id="758"/>
            <p14:sldId id="759"/>
            <p14:sldId id="760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432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26318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16210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522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02/10/2026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02 October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total: int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4646017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01D82BA-D295-480F-B55C-9E399D5E8DB5}"/>
              </a:ext>
            </a:extLst>
          </p:cNvPr>
          <p:cNvSpPr/>
          <p:nvPr/>
        </p:nvSpPr>
        <p:spPr>
          <a:xfrm>
            <a:off x="4449116" y="2322095"/>
            <a:ext cx="1455821" cy="783054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29053811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49172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90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Import code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types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473349" y="53772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473349" y="3930870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473349" y="4654079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Import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904851241"/>
              </p:ext>
            </p:extLst>
          </p:nvPr>
        </p:nvGraphicFramePr>
        <p:xfrm>
          <a:off x="836613" y="2498769"/>
          <a:ext cx="4510184" cy="3960000"/>
        </p:xfrm>
        <a:graphic>
          <a:graphicData uri="http://schemas.openxmlformats.org/drawingml/2006/table">
            <a:tbl>
              <a:tblPr/>
              <a:tblGrid>
                <a:gridCol w="562395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9477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671553754"/>
              </p:ext>
            </p:extLst>
          </p:nvPr>
        </p:nvGraphicFramePr>
        <p:xfrm>
          <a:off x="6172200" y="2498769"/>
          <a:ext cx="4510184" cy="3960000"/>
        </p:xfrm>
        <a:graphic>
          <a:graphicData uri="http://schemas.openxmlformats.org/drawingml/2006/table">
            <a:tbl>
              <a:tblPr/>
              <a:tblGrid>
                <a:gridCol w="566974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943210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869755" y="4127401"/>
            <a:ext cx="477042" cy="516787"/>
          </a:xfrm>
          <a:prstGeom prst="bentArrow">
            <a:avLst>
              <a:gd name="adj1" fmla="val 29997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226841" y="4165399"/>
            <a:ext cx="577283" cy="2022876"/>
          </a:xfrm>
          <a:prstGeom prst="bentArrow">
            <a:avLst>
              <a:gd name="adj1" fmla="val 222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254122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1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471612" y="2947381"/>
            <a:ext cx="2610853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58379455"/>
              </p:ext>
            </p:extLst>
          </p:nvPr>
        </p:nvGraphicFramePr>
        <p:xfrm>
          <a:off x="836612" y="2498769"/>
          <a:ext cx="4472400" cy="3960000"/>
        </p:xfrm>
        <a:graphic>
          <a:graphicData uri="http://schemas.openxmlformats.org/drawingml/2006/table">
            <a:tbl>
              <a:tblPr/>
              <a:tblGrid>
                <a:gridCol w="548087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924313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696894451"/>
              </p:ext>
            </p:extLst>
          </p:nvPr>
        </p:nvGraphicFramePr>
        <p:xfrm>
          <a:off x="6172199" y="2498769"/>
          <a:ext cx="4472399" cy="3960000"/>
        </p:xfrm>
        <a:graphic>
          <a:graphicData uri="http://schemas.openxmlformats.org/drawingml/2006/table">
            <a:tbl>
              <a:tblPr/>
              <a:tblGrid>
                <a:gridCol w="58429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888102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If 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"Hi"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en-US" sz="3600" dirty="0">
                          <a:solidFill>
                            <a:srgbClr val="A71D5D"/>
                          </a:solidFill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n-US" altLang="en-US" sz="36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"Bye"</a:t>
                      </a:r>
                      <a:r>
                        <a:rPr lang="en-US" altLang="en-US" sz="3600" kern="12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en-US" sz="3600" dirty="0">
                          <a:solidFill>
                            <a:srgbClr val="18369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All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All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7442616" y="636584"/>
            <a:ext cx="4127304" cy="1077218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en-GB" sz="3200" dirty="0">
                <a:solidFill>
                  <a:srgbClr val="7030A0"/>
                </a:solidFill>
              </a:rPr>
              <a:t>Multiple </a:t>
            </a:r>
            <a:r>
              <a:rPr lang="en-GB" sz="3200" dirty="0">
                <a:solidFill>
                  <a:srgbClr val="FF0000"/>
                </a:solidFill>
              </a:rPr>
              <a:t>else if</a:t>
            </a:r>
            <a:r>
              <a:rPr lang="en-GB" sz="3200" dirty="0">
                <a:solidFill>
                  <a:srgbClr val="7030A0"/>
                </a:solidFill>
              </a:rPr>
              <a:t> allowed</a:t>
            </a:r>
          </a:p>
          <a:p>
            <a:pPr algn="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uiExpand="1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All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www.w3.org/XML/1998/namespace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7870b3cf-1289-4874-b3fd-2340ee2bd0a7"/>
    <ds:schemaRef ds:uri="http://schemas.microsoft.com/office/infopath/2007/PartnerControls"/>
    <ds:schemaRef ds:uri="fb00f1ab-d075-4e01-ab9b-b3f8a42839f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14387</Words>
  <Application>Microsoft Office PowerPoint</Application>
  <PresentationFormat>Widescreen</PresentationFormat>
  <Paragraphs>3631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Running total - Fixed Loop</vt:lpstr>
      <vt:lpstr>Running total - Fixed Loop</vt:lpstr>
      <vt:lpstr>Learning Intentions</vt:lpstr>
      <vt:lpstr>Learning Intentions</vt:lpstr>
      <vt:lpstr>Readability</vt:lpstr>
      <vt:lpstr>Readability</vt:lpstr>
      <vt:lpstr>Readability</vt:lpstr>
      <vt:lpstr>Readability</vt:lpstr>
      <vt:lpstr>Learning Intentions</vt:lpstr>
      <vt:lpstr>Indentation</vt:lpstr>
      <vt:lpstr>Indentation</vt:lpstr>
      <vt:lpstr>Program Layout</vt:lpstr>
      <vt:lpstr>Program Layout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</vt:lpstr>
      <vt:lpstr>if, else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2026-10-02T08:37:48Z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
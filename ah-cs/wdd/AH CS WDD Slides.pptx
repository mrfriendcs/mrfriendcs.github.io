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3"/>
  </p:notesMasterIdLst>
  <p:sldIdLst>
    <p:sldId id="262" r:id="rId5"/>
    <p:sldId id="696" r:id="rId6"/>
    <p:sldId id="424" r:id="rId7"/>
    <p:sldId id="587" r:id="rId8"/>
    <p:sldId id="651" r:id="rId9"/>
    <p:sldId id="582" r:id="rId10"/>
    <p:sldId id="438" r:id="rId11"/>
    <p:sldId id="618" r:id="rId12"/>
    <p:sldId id="590" r:id="rId13"/>
    <p:sldId id="697" r:id="rId14"/>
    <p:sldId id="620" r:id="rId15"/>
    <p:sldId id="698" r:id="rId16"/>
    <p:sldId id="726" r:id="rId17"/>
    <p:sldId id="722" r:id="rId18"/>
    <p:sldId id="699" r:id="rId19"/>
    <p:sldId id="668" r:id="rId20"/>
    <p:sldId id="727" r:id="rId21"/>
    <p:sldId id="583" r:id="rId22"/>
    <p:sldId id="592" r:id="rId23"/>
    <p:sldId id="700" r:id="rId24"/>
    <p:sldId id="593" r:id="rId25"/>
    <p:sldId id="701" r:id="rId26"/>
    <p:sldId id="581" r:id="rId27"/>
    <p:sldId id="594" r:id="rId28"/>
    <p:sldId id="702" r:id="rId29"/>
    <p:sldId id="703" r:id="rId30"/>
    <p:sldId id="704" r:id="rId31"/>
    <p:sldId id="580" r:id="rId32"/>
    <p:sldId id="724" r:id="rId33"/>
    <p:sldId id="725" r:id="rId34"/>
    <p:sldId id="597" r:id="rId35"/>
    <p:sldId id="626" r:id="rId36"/>
    <p:sldId id="598" r:id="rId37"/>
    <p:sldId id="688" r:id="rId38"/>
    <p:sldId id="737" r:id="rId39"/>
    <p:sldId id="683" r:id="rId40"/>
    <p:sldId id="718" r:id="rId41"/>
    <p:sldId id="601" r:id="rId42"/>
    <p:sldId id="705" r:id="rId43"/>
    <p:sldId id="685" r:id="rId44"/>
    <p:sldId id="706" r:id="rId45"/>
    <p:sldId id="584" r:id="rId46"/>
    <p:sldId id="604" r:id="rId47"/>
    <p:sldId id="653" r:id="rId48"/>
    <p:sldId id="719" r:id="rId49"/>
    <p:sldId id="720" r:id="rId50"/>
    <p:sldId id="652" r:id="rId51"/>
    <p:sldId id="654" r:id="rId52"/>
    <p:sldId id="655" r:id="rId53"/>
    <p:sldId id="656" r:id="rId54"/>
    <p:sldId id="695" r:id="rId55"/>
    <p:sldId id="693" r:id="rId56"/>
    <p:sldId id="707" r:id="rId57"/>
    <p:sldId id="736" r:id="rId58"/>
    <p:sldId id="599" r:id="rId59"/>
    <p:sldId id="627" r:id="rId60"/>
    <p:sldId id="602" r:id="rId61"/>
    <p:sldId id="628" r:id="rId62"/>
    <p:sldId id="723" r:id="rId63"/>
    <p:sldId id="614" r:id="rId64"/>
    <p:sldId id="635" r:id="rId65"/>
    <p:sldId id="738" r:id="rId66"/>
    <p:sldId id="739" r:id="rId67"/>
    <p:sldId id="740" r:id="rId68"/>
    <p:sldId id="741" r:id="rId69"/>
    <p:sldId id="742" r:id="rId70"/>
    <p:sldId id="743" r:id="rId71"/>
    <p:sldId id="744" r:id="rId72"/>
    <p:sldId id="745" r:id="rId73"/>
    <p:sldId id="746" r:id="rId74"/>
    <p:sldId id="577" r:id="rId75"/>
    <p:sldId id="585" r:id="rId76"/>
    <p:sldId id="748" r:id="rId77"/>
    <p:sldId id="435" r:id="rId78"/>
    <p:sldId id="637" r:id="rId79"/>
    <p:sldId id="586" r:id="rId80"/>
    <p:sldId id="638" r:id="rId81"/>
    <p:sldId id="606" r:id="rId82"/>
    <p:sldId id="728" r:id="rId83"/>
    <p:sldId id="670" r:id="rId84"/>
    <p:sldId id="729" r:id="rId85"/>
    <p:sldId id="607" r:id="rId86"/>
    <p:sldId id="639" r:id="rId87"/>
    <p:sldId id="608" r:id="rId88"/>
    <p:sldId id="640" r:id="rId89"/>
    <p:sldId id="610" r:id="rId90"/>
    <p:sldId id="641" r:id="rId91"/>
    <p:sldId id="609" r:id="rId92"/>
    <p:sldId id="642" r:id="rId93"/>
    <p:sldId id="611" r:id="rId94"/>
    <p:sldId id="643" r:id="rId95"/>
    <p:sldId id="672" r:id="rId96"/>
    <p:sldId id="673" r:id="rId97"/>
    <p:sldId id="674" r:id="rId98"/>
    <p:sldId id="675" r:id="rId99"/>
    <p:sldId id="708" r:id="rId100"/>
    <p:sldId id="676" r:id="rId101"/>
    <p:sldId id="709" r:id="rId102"/>
    <p:sldId id="605" r:id="rId103"/>
    <p:sldId id="644" r:id="rId104"/>
    <p:sldId id="682" r:id="rId105"/>
    <p:sldId id="579" r:id="rId106"/>
    <p:sldId id="615" r:id="rId107"/>
    <p:sldId id="730" r:id="rId108"/>
    <p:sldId id="690" r:id="rId109"/>
    <p:sldId id="731" r:id="rId110"/>
    <p:sldId id="658" r:id="rId111"/>
    <p:sldId id="692" r:id="rId112"/>
    <p:sldId id="657" r:id="rId113"/>
    <p:sldId id="732" r:id="rId114"/>
    <p:sldId id="660" r:id="rId115"/>
    <p:sldId id="733" r:id="rId116"/>
    <p:sldId id="662" r:id="rId117"/>
    <p:sldId id="717" r:id="rId118"/>
    <p:sldId id="661" r:id="rId119"/>
    <p:sldId id="715" r:id="rId120"/>
    <p:sldId id="616" r:id="rId121"/>
    <p:sldId id="714" r:id="rId122"/>
  </p:sldIdLst>
  <p:sldSz cx="12192000" cy="6858000"/>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CD916D4-C61B-4DE1-BA53-06CFF0F5F6D1}">
          <p14:sldIdLst>
            <p14:sldId id="262"/>
            <p14:sldId id="696"/>
            <p14:sldId id="424"/>
            <p14:sldId id="587"/>
            <p14:sldId id="651"/>
          </p14:sldIdLst>
        </p14:section>
        <p14:section name="HTML Implementation" id="{350ACDBC-9BDA-49C7-9EF4-AAF3785F20C4}">
          <p14:sldIdLst>
            <p14:sldId id="582"/>
            <p14:sldId id="438"/>
            <p14:sldId id="618"/>
            <p14:sldId id="590"/>
            <p14:sldId id="697"/>
            <p14:sldId id="620"/>
            <p14:sldId id="698"/>
            <p14:sldId id="726"/>
            <p14:sldId id="722"/>
            <p14:sldId id="699"/>
          </p14:sldIdLst>
        </p14:section>
        <p14:section name="Comments" id="{0DD34863-47C8-42D5-8E3F-D5EAF7C8354F}">
          <p14:sldIdLst>
            <p14:sldId id="668"/>
            <p14:sldId id="727"/>
          </p14:sldIdLst>
        </p14:section>
        <p14:section name="h1 &amp; p" id="{B3B6EE58-C444-44B4-B93E-2E85D3E09B5F}">
          <p14:sldIdLst>
            <p14:sldId id="583"/>
            <p14:sldId id="592"/>
            <p14:sldId id="700"/>
            <p14:sldId id="593"/>
            <p14:sldId id="701"/>
          </p14:sldIdLst>
        </p14:section>
        <p14:section name="Lists" id="{646B5BE7-1B9D-4B8D-9975-855357EB12FF}">
          <p14:sldIdLst>
            <p14:sldId id="581"/>
            <p14:sldId id="594"/>
            <p14:sldId id="702"/>
            <p14:sldId id="703"/>
            <p14:sldId id="704"/>
          </p14:sldIdLst>
        </p14:section>
        <p14:section name="Attributes" id="{31F7DD21-1094-42B4-B54F-21BF9FD745F0}">
          <p14:sldIdLst>
            <p14:sldId id="580"/>
            <p14:sldId id="724"/>
            <p14:sldId id="725"/>
            <p14:sldId id="597"/>
            <p14:sldId id="626"/>
            <p14:sldId id="598"/>
            <p14:sldId id="688"/>
          </p14:sldIdLst>
        </p14:section>
        <p14:section name="Media" id="{8808C947-B08F-4C4E-B96C-0BEC038318F3}">
          <p14:sldIdLst>
            <p14:sldId id="737"/>
            <p14:sldId id="683"/>
            <p14:sldId id="718"/>
            <p14:sldId id="601"/>
            <p14:sldId id="705"/>
            <p14:sldId id="685"/>
            <p14:sldId id="706"/>
          </p14:sldIdLst>
        </p14:section>
        <p14:section name="Links &amp; Div" id="{43E15EC7-3697-4021-8E40-B47C02043F49}">
          <p14:sldIdLst>
            <p14:sldId id="584"/>
            <p14:sldId id="604"/>
            <p14:sldId id="653"/>
            <p14:sldId id="719"/>
            <p14:sldId id="720"/>
            <p14:sldId id="652"/>
            <p14:sldId id="654"/>
            <p14:sldId id="655"/>
            <p14:sldId id="656"/>
            <p14:sldId id="695"/>
            <p14:sldId id="693"/>
            <p14:sldId id="707"/>
            <p14:sldId id="736"/>
          </p14:sldIdLst>
        </p14:section>
        <p14:section name="MIME Types" id="{1D383A19-75C5-4490-9385-A5F21A1B95C0}">
          <p14:sldIdLst>
            <p14:sldId id="599"/>
            <p14:sldId id="627"/>
            <p14:sldId id="602"/>
            <p14:sldId id="628"/>
          </p14:sldIdLst>
        </p14:section>
        <p14:section name="Element Types" id="{110A8216-82D8-46BB-80B9-872702B65082}">
          <p14:sldIdLst>
            <p14:sldId id="723"/>
            <p14:sldId id="614"/>
            <p14:sldId id="635"/>
            <p14:sldId id="738"/>
            <p14:sldId id="739"/>
            <p14:sldId id="740"/>
            <p14:sldId id="741"/>
            <p14:sldId id="742"/>
            <p14:sldId id="743"/>
            <p14:sldId id="744"/>
            <p14:sldId id="745"/>
            <p14:sldId id="746"/>
          </p14:sldIdLst>
        </p14:section>
        <p14:section name="CSS Implementation" id="{65ABD011-9DFD-41B7-AEC4-43DE6340DB7C}">
          <p14:sldIdLst>
            <p14:sldId id="577"/>
            <p14:sldId id="585"/>
          </p14:sldIdLst>
        </p14:section>
        <p14:section name="Inline Styling" id="{8C249DD8-F875-45C5-AEBD-FD52FC860D15}">
          <p14:sldIdLst>
            <p14:sldId id="748"/>
          </p14:sldIdLst>
        </p14:section>
        <p14:section name="CSS Rules" id="{2F8F3A61-27F0-4381-AD82-6A3FF017D9F5}">
          <p14:sldIdLst>
            <p14:sldId id="435"/>
            <p14:sldId id="637"/>
            <p14:sldId id="586"/>
            <p14:sldId id="638"/>
          </p14:sldIdLst>
        </p14:section>
        <p14:section name="Internal Stylesheet" id="{C5BF4741-90C6-407E-80FD-F84BF735F692}">
          <p14:sldIdLst>
            <p14:sldId id="606"/>
            <p14:sldId id="728"/>
            <p14:sldId id="670"/>
            <p14:sldId id="729"/>
          </p14:sldIdLst>
        </p14:section>
        <p14:section name="CSS Properties" id="{7E1FD482-8783-4693-A748-5D1275CF236E}">
          <p14:sldIdLst>
            <p14:sldId id="607"/>
            <p14:sldId id="639"/>
            <p14:sldId id="608"/>
            <p14:sldId id="640"/>
            <p14:sldId id="610"/>
            <p14:sldId id="641"/>
            <p14:sldId id="609"/>
            <p14:sldId id="642"/>
            <p14:sldId id="611"/>
            <p14:sldId id="643"/>
            <p14:sldId id="672"/>
            <p14:sldId id="673"/>
          </p14:sldIdLst>
        </p14:section>
        <p14:section name="Class &amp; ID" id="{A97ACADD-88C9-41E1-951F-B5C60DB5E936}">
          <p14:sldIdLst>
            <p14:sldId id="674"/>
            <p14:sldId id="675"/>
            <p14:sldId id="708"/>
            <p14:sldId id="676"/>
            <p14:sldId id="709"/>
          </p14:sldIdLst>
        </p14:section>
        <p14:section name="External Stylesheet" id="{94528133-0A6A-4CB8-8B30-A15682F1CCC7}">
          <p14:sldIdLst>
            <p14:sldId id="605"/>
            <p14:sldId id="644"/>
          </p14:sldIdLst>
        </p14:section>
        <p14:section name="Favicon" id="{AF0B2D02-80E9-4D3E-8FC6-ABB2E9CC2D45}">
          <p14:sldIdLst>
            <p14:sldId id="682"/>
          </p14:sldIdLst>
        </p14:section>
        <p14:section name="JS Implementation" id="{F5E5805E-23ED-4ABE-B983-FB1C38A50460}">
          <p14:sldIdLst>
            <p14:sldId id="579"/>
            <p14:sldId id="615"/>
            <p14:sldId id="730"/>
            <p14:sldId id="690"/>
            <p14:sldId id="731"/>
          </p14:sldIdLst>
        </p14:section>
        <p14:section name="Events" id="{1083E686-FEEA-4817-8F45-CEC37B259875}">
          <p14:sldIdLst>
            <p14:sldId id="658"/>
            <p14:sldId id="692"/>
          </p14:sldIdLst>
        </p14:section>
        <p14:section name="Using ID" id="{4FFF0F35-3232-49CE-85FD-FDB9CE94FB70}">
          <p14:sldIdLst>
            <p14:sldId id="657"/>
            <p14:sldId id="732"/>
            <p14:sldId id="660"/>
            <p14:sldId id="733"/>
          </p14:sldIdLst>
        </p14:section>
        <p14:section name="Using this" id="{DFE7B7A3-E6EC-40FD-8C31-076C92ECEAE3}">
          <p14:sldIdLst>
            <p14:sldId id="662"/>
            <p14:sldId id="717"/>
            <p14:sldId id="661"/>
            <p14:sldId id="715"/>
          </p14:sldIdLst>
        </p14:section>
        <p14:section name="External JS" id="{C1CC7B59-D93C-410A-8109-EEB25339853F}">
          <p14:sldIdLst>
            <p14:sldId id="616"/>
            <p14:sldId id="714"/>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 Friend" initials="AF" lastIdx="1" clrIdx="0">
    <p:extLst>
      <p:ext uri="{19B8F6BF-5375-455C-9EA6-DF929625EA0E}">
        <p15:presenceInfo xmlns:p15="http://schemas.microsoft.com/office/powerpoint/2012/main" userId="S-1-5-21-1186014672-3240467572-3005593719-43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83691"/>
    <a:srgbClr val="0086B3"/>
    <a:srgbClr val="A71D5D"/>
    <a:srgbClr val="B5BABF"/>
    <a:srgbClr val="660066"/>
    <a:srgbClr val="0000FF"/>
    <a:srgbClr val="BDD7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250" autoAdjust="0"/>
  </p:normalViewPr>
  <p:slideViewPr>
    <p:cSldViewPr snapToGrid="0" showGuides="1">
      <p:cViewPr varScale="1">
        <p:scale>
          <a:sx n="54" d="100"/>
          <a:sy n="54" d="100"/>
        </p:scale>
        <p:origin x="612" y="48"/>
      </p:cViewPr>
      <p:guideLst>
        <p:guide orient="horz" pos="2183"/>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commentAuthors" Target="commentAuthors.xml"/><Relationship Id="rId129" Type="http://schemas.microsoft.com/office/2016/11/relationships/changesInfo" Target="changesInfos/changesInfo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 Friend" userId="e5ed79da-d858-46d4-9eed-a7a24903f2de" providerId="ADAL" clId="{D137E394-7D65-4D4B-8544-493527FAA342}"/>
  </pc:docChgLst>
  <pc:docChgLst>
    <pc:chgData name="Al Friend" userId="e5ed79da-d858-46d4-9eed-a7a24903f2de" providerId="ADAL" clId="{ADDE55C9-7F92-4D14-8550-C32340EDAD76}"/>
  </pc:docChgLst>
  <pc:docChgLst>
    <pc:chgData name="Al Friend" userId="e5ed79da-d858-46d4-9eed-a7a24903f2de" providerId="ADAL" clId="{8E4B8AF2-7224-4D6A-B43C-3DFD3E7AA377}"/>
    <pc:docChg chg="delSld modSld modSection">
      <pc:chgData name="Al Friend" userId="e5ed79da-d858-46d4-9eed-a7a24903f2de" providerId="ADAL" clId="{8E4B8AF2-7224-4D6A-B43C-3DFD3E7AA377}" dt="2026-04-13T14:36:05.466" v="64"/>
      <pc:docMkLst>
        <pc:docMk/>
      </pc:docMkLst>
      <pc:sldChg chg="modSp">
        <pc:chgData name="Al Friend" userId="e5ed79da-d858-46d4-9eed-a7a24903f2de" providerId="ADAL" clId="{8E4B8AF2-7224-4D6A-B43C-3DFD3E7AA377}" dt="2026-04-13T12:34:41.492" v="0" actId="114"/>
        <pc:sldMkLst>
          <pc:docMk/>
          <pc:sldMk cId="3662892889" sldId="438"/>
        </pc:sldMkLst>
        <pc:spChg chg="mod">
          <ac:chgData name="Al Friend" userId="e5ed79da-d858-46d4-9eed-a7a24903f2de" providerId="ADAL" clId="{8E4B8AF2-7224-4D6A-B43C-3DFD3E7AA377}" dt="2026-04-13T12:34:41.492" v="0" actId="114"/>
          <ac:spMkLst>
            <pc:docMk/>
            <pc:sldMk cId="3662892889" sldId="438"/>
            <ac:spMk id="25" creationId="{05F5ADFE-C399-4090-C356-DD81EB05E487}"/>
          </ac:spMkLst>
        </pc:spChg>
      </pc:sldChg>
      <pc:sldChg chg="del">
        <pc:chgData name="Al Friend" userId="e5ed79da-d858-46d4-9eed-a7a24903f2de" providerId="ADAL" clId="{8E4B8AF2-7224-4D6A-B43C-3DFD3E7AA377}" dt="2026-04-13T14:02:41.371" v="20" actId="2696"/>
        <pc:sldMkLst>
          <pc:docMk/>
          <pc:sldMk cId="2278743239" sldId="578"/>
        </pc:sldMkLst>
      </pc:sldChg>
      <pc:sldChg chg="modAnim">
        <pc:chgData name="Al Friend" userId="e5ed79da-d858-46d4-9eed-a7a24903f2de" providerId="ADAL" clId="{8E4B8AF2-7224-4D6A-B43C-3DFD3E7AA377}" dt="2026-04-13T14:02:06.523" v="19"/>
        <pc:sldMkLst>
          <pc:docMk/>
          <pc:sldMk cId="3100190412" sldId="587"/>
        </pc:sldMkLst>
      </pc:sldChg>
      <pc:sldChg chg="modSp">
        <pc:chgData name="Al Friend" userId="e5ed79da-d858-46d4-9eed-a7a24903f2de" providerId="ADAL" clId="{8E4B8AF2-7224-4D6A-B43C-3DFD3E7AA377}" dt="2026-04-13T14:28:30.584" v="58" actId="6549"/>
        <pc:sldMkLst>
          <pc:docMk/>
          <pc:sldMk cId="3166914341" sldId="620"/>
        </pc:sldMkLst>
        <pc:spChg chg="mod">
          <ac:chgData name="Al Friend" userId="e5ed79da-d858-46d4-9eed-a7a24903f2de" providerId="ADAL" clId="{8E4B8AF2-7224-4D6A-B43C-3DFD3E7AA377}" dt="2026-04-13T14:28:30.584" v="58" actId="6549"/>
          <ac:spMkLst>
            <pc:docMk/>
            <pc:sldMk cId="3166914341" sldId="620"/>
            <ac:spMk id="9" creationId="{57CE272A-A610-21B9-0F6F-927DE561CD09}"/>
          </ac:spMkLst>
        </pc:spChg>
      </pc:sldChg>
      <pc:sldChg chg="modSp">
        <pc:chgData name="Al Friend" userId="e5ed79da-d858-46d4-9eed-a7a24903f2de" providerId="ADAL" clId="{8E4B8AF2-7224-4D6A-B43C-3DFD3E7AA377}" dt="2026-04-13T12:36:40.422" v="10"/>
        <pc:sldMkLst>
          <pc:docMk/>
          <pc:sldMk cId="3176792364" sldId="699"/>
        </pc:sldMkLst>
        <pc:spChg chg="mod">
          <ac:chgData name="Al Friend" userId="e5ed79da-d858-46d4-9eed-a7a24903f2de" providerId="ADAL" clId="{8E4B8AF2-7224-4D6A-B43C-3DFD3E7AA377}" dt="2026-04-13T12:36:40.422" v="10"/>
          <ac:spMkLst>
            <pc:docMk/>
            <pc:sldMk cId="3176792364" sldId="699"/>
            <ac:spMk id="3" creationId="{1E41C2BE-032B-BF28-707D-DE8622357620}"/>
          </ac:spMkLst>
        </pc:spChg>
      </pc:sldChg>
      <pc:sldChg chg="del">
        <pc:chgData name="Al Friend" userId="e5ed79da-d858-46d4-9eed-a7a24903f2de" providerId="ADAL" clId="{8E4B8AF2-7224-4D6A-B43C-3DFD3E7AA377}" dt="2026-04-13T14:02:47.913" v="22" actId="2696"/>
        <pc:sldMkLst>
          <pc:docMk/>
          <pc:sldMk cId="3735496612" sldId="721"/>
        </pc:sldMkLst>
      </pc:sldChg>
      <pc:sldChg chg="modSp modAnim">
        <pc:chgData name="Al Friend" userId="e5ed79da-d858-46d4-9eed-a7a24903f2de" providerId="ADAL" clId="{8E4B8AF2-7224-4D6A-B43C-3DFD3E7AA377}" dt="2026-04-13T14:36:05.466" v="64"/>
        <pc:sldMkLst>
          <pc:docMk/>
          <pc:sldMk cId="885332941" sldId="722"/>
        </pc:sldMkLst>
        <pc:spChg chg="mod">
          <ac:chgData name="Al Friend" userId="e5ed79da-d858-46d4-9eed-a7a24903f2de" providerId="ADAL" clId="{8E4B8AF2-7224-4D6A-B43C-3DFD3E7AA377}" dt="2026-04-13T12:36:28.451" v="9" actId="20577"/>
          <ac:spMkLst>
            <pc:docMk/>
            <pc:sldMk cId="885332941" sldId="722"/>
            <ac:spMk id="3" creationId="{08518578-400F-0399-6AC9-E40D92427D5D}"/>
          </ac:spMkLst>
        </pc:spChg>
      </pc:sldChg>
      <pc:sldChg chg="del">
        <pc:chgData name="Al Friend" userId="e5ed79da-d858-46d4-9eed-a7a24903f2de" providerId="ADAL" clId="{8E4B8AF2-7224-4D6A-B43C-3DFD3E7AA377}" dt="2026-04-13T14:02:47.943" v="23" actId="2696"/>
        <pc:sldMkLst>
          <pc:docMk/>
          <pc:sldMk cId="2484010391" sldId="734"/>
        </pc:sldMkLst>
      </pc:sldChg>
      <pc:sldChg chg="del">
        <pc:chgData name="Al Friend" userId="e5ed79da-d858-46d4-9eed-a7a24903f2de" providerId="ADAL" clId="{8E4B8AF2-7224-4D6A-B43C-3DFD3E7AA377}" dt="2026-04-13T14:02:47.909" v="21" actId="2696"/>
        <pc:sldMkLst>
          <pc:docMk/>
          <pc:sldMk cId="3365597942" sldId="73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(40%)</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(25%)</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C2AC2DB-DA7B-4EE8-A271-F42910EF38FA}">
      <dgm:prSet phldrT="[Text]"/>
      <dgm:spPr/>
      <dgm:t>
        <a:bodyPr/>
        <a:lstStyle/>
        <a:p>
          <a:r>
            <a:rPr lang="en-US" dirty="0"/>
            <a:t>WDD</a:t>
          </a:r>
        </a:p>
      </dgm:t>
    </dgm:pt>
    <dgm:pt modelId="{4DCD8EEA-C4AA-404D-A26F-F433BB0189EA}" type="parTrans" cxnId="{F4016BC7-2E72-4F45-A906-6E7F3BDA4E2F}">
      <dgm:prSet/>
      <dgm:spPr/>
      <dgm:t>
        <a:bodyPr/>
        <a:lstStyle/>
        <a:p>
          <a:endParaRPr lang="en-US"/>
        </a:p>
      </dgm:t>
    </dgm:pt>
    <dgm:pt modelId="{E3247148-B6B0-4C23-B610-041B2044E035}" type="sibTrans" cxnId="{F4016BC7-2E72-4F45-A906-6E7F3BDA4E2F}">
      <dgm:prSet/>
      <dgm:spPr/>
      <dgm:t>
        <a:bodyPr/>
        <a:lstStyle/>
        <a:p>
          <a:endParaRPr lang="en-US"/>
        </a:p>
      </dgm:t>
    </dgm:pt>
    <dgm:pt modelId="{6F17941D-CCAD-4AF8-9198-4E8B5F9AEDC2}">
      <dgm:prSet phldrT="[Text]"/>
      <dgm:spPr/>
      <dgm:t>
        <a:bodyPr/>
        <a:lstStyle/>
        <a:p>
          <a:r>
            <a:rPr lang="en-US" dirty="0"/>
            <a:t>Web Design and Development (25%)</a:t>
          </a:r>
        </a:p>
      </dgm:t>
    </dgm:pt>
    <dgm:pt modelId="{6A62EC5C-257B-4078-AC75-009164CBD245}" type="parTrans" cxnId="{9A2AE9EC-1703-4071-9D5B-2F76EC9F4AA5}">
      <dgm:prSet/>
      <dgm:spPr/>
      <dgm:t>
        <a:bodyPr/>
        <a:lstStyle/>
        <a:p>
          <a:endParaRPr lang="en-US"/>
        </a:p>
      </dgm:t>
    </dgm:pt>
    <dgm:pt modelId="{6908D1C2-C5D8-437D-AE20-3870EC3D4B13}" type="sibTrans" cxnId="{9A2AE9EC-1703-4071-9D5B-2F76EC9F4AA5}">
      <dgm:prSet/>
      <dgm:spPr/>
      <dgm:t>
        <a:bodyPr/>
        <a:lstStyle/>
        <a:p>
          <a:endParaRPr lang="en-US"/>
        </a:p>
      </dgm:t>
    </dgm:pt>
    <dgm:pt modelId="{E2BA0B41-F146-425E-9754-1E81B83EDF8B}">
      <dgm:prSet phldrT="[Text]"/>
      <dgm:spPr/>
      <dgm:t>
        <a:bodyPr/>
        <a:lstStyle/>
        <a:p>
          <a:r>
            <a:rPr lang="en-US" dirty="0"/>
            <a:t>Computer Systems (10%)</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780589F0-2154-4E4C-8595-8806E5EF917A}">
      <dgm:prSet phldrT="[Text]"/>
      <dgm:spPr/>
      <dgm:t>
        <a:bodyPr/>
        <a:lstStyle/>
        <a:p>
          <a:r>
            <a:rPr lang="en-US" dirty="0"/>
            <a:t>C/Sys</a:t>
          </a:r>
        </a:p>
      </dgm:t>
    </dgm:pt>
    <dgm:pt modelId="{F00962FA-5389-4E36-9ABB-07A219FF91D3}" type="parTrans" cxnId="{AAFC0F9A-ADA1-4827-BB1A-86C8E3CBC8EB}">
      <dgm:prSet/>
      <dgm:spPr/>
      <dgm:t>
        <a:bodyPr/>
        <a:lstStyle/>
        <a:p>
          <a:endParaRPr lang="en-US"/>
        </a:p>
      </dgm:t>
    </dgm:pt>
    <dgm:pt modelId="{DED9E408-00AC-4B08-A19D-D94226C9548F}" type="sibTrans" cxnId="{AAFC0F9A-ADA1-4827-BB1A-86C8E3CBC8EB}">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4">
        <dgm:presLayoutVars>
          <dgm:chMax val="1"/>
          <dgm:bulletEnabled val="1"/>
        </dgm:presLayoutVars>
      </dgm:prSet>
      <dgm:spPr/>
    </dgm:pt>
    <dgm:pt modelId="{19C32B8D-512E-49A1-A0E6-109384C61E4D}" type="pres">
      <dgm:prSet presAssocID="{13A3E740-D063-442F-85E3-8C13FFBDAFFB}" presName="descendantText" presStyleLbl="alignAcc1" presStyleIdx="0" presStyleCnt="4">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4">
        <dgm:presLayoutVars>
          <dgm:chMax val="1"/>
          <dgm:bulletEnabled val="1"/>
        </dgm:presLayoutVars>
      </dgm:prSet>
      <dgm:spPr/>
    </dgm:pt>
    <dgm:pt modelId="{0DFDFC6D-8604-4378-B6A3-6A6720006C95}" type="pres">
      <dgm:prSet presAssocID="{711BDD39-3FCE-427A-B0DC-2C28CEED9EDF}" presName="descendantText" presStyleLbl="alignAcc1" presStyleIdx="1" presStyleCnt="4">
        <dgm:presLayoutVars>
          <dgm:bulletEnabled val="1"/>
        </dgm:presLayoutVars>
      </dgm:prSet>
      <dgm:spPr/>
    </dgm:pt>
    <dgm:pt modelId="{8738B044-A46F-4E69-BD1E-16537D77F816}" type="pres">
      <dgm:prSet presAssocID="{56806687-EA3D-424E-8880-B9427A94FF7E}" presName="sp" presStyleCnt="0"/>
      <dgm:spPr/>
    </dgm:pt>
    <dgm:pt modelId="{D4F01D1E-88B7-466D-B76A-F726FF7DE3F8}" type="pres">
      <dgm:prSet presAssocID="{4C2AC2DB-DA7B-4EE8-A271-F42910EF38FA}" presName="composite" presStyleCnt="0"/>
      <dgm:spPr/>
    </dgm:pt>
    <dgm:pt modelId="{3451A250-69C4-4911-A975-CCB8D5F6053B}" type="pres">
      <dgm:prSet presAssocID="{4C2AC2DB-DA7B-4EE8-A271-F42910EF38FA}" presName="parentText" presStyleLbl="alignNode1" presStyleIdx="2" presStyleCnt="4">
        <dgm:presLayoutVars>
          <dgm:chMax val="1"/>
          <dgm:bulletEnabled val="1"/>
        </dgm:presLayoutVars>
      </dgm:prSet>
      <dgm:spPr/>
    </dgm:pt>
    <dgm:pt modelId="{56AFEC8A-7D45-4965-A718-64DE087BA59E}" type="pres">
      <dgm:prSet presAssocID="{4C2AC2DB-DA7B-4EE8-A271-F42910EF38FA}" presName="descendantText" presStyleLbl="alignAcc1" presStyleIdx="2" presStyleCnt="4">
        <dgm:presLayoutVars>
          <dgm:bulletEnabled val="1"/>
        </dgm:presLayoutVars>
      </dgm:prSet>
      <dgm:spPr/>
    </dgm:pt>
    <dgm:pt modelId="{E061B53C-41F2-4FB1-8AB8-871078ECF09F}" type="pres">
      <dgm:prSet presAssocID="{E3247148-B6B0-4C23-B610-041B2044E035}" presName="sp" presStyleCnt="0"/>
      <dgm:spPr/>
    </dgm:pt>
    <dgm:pt modelId="{BC0413A5-5CFC-41A1-A4D1-32D9D3A580EB}" type="pres">
      <dgm:prSet presAssocID="{780589F0-2154-4E4C-8595-8806E5EF917A}" presName="composite" presStyleCnt="0"/>
      <dgm:spPr/>
    </dgm:pt>
    <dgm:pt modelId="{056CCBB6-5CE0-4348-89C6-99FB2D3AB62B}" type="pres">
      <dgm:prSet presAssocID="{780589F0-2154-4E4C-8595-8806E5EF917A}" presName="parentText" presStyleLbl="alignNode1" presStyleIdx="3" presStyleCnt="4">
        <dgm:presLayoutVars>
          <dgm:chMax val="1"/>
          <dgm:bulletEnabled val="1"/>
        </dgm:presLayoutVars>
      </dgm:prSet>
      <dgm:spPr/>
    </dgm:pt>
    <dgm:pt modelId="{90709722-0E94-45E4-BEDD-48CB660682DD}" type="pres">
      <dgm:prSet presAssocID="{780589F0-2154-4E4C-8595-8806E5EF917A}" presName="descendantText" presStyleLbl="alignAcc1" presStyleIdx="3" presStyleCnt="4">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51AC560A-15D5-4873-A728-46FA9B3877F9}" type="presOf" srcId="{780589F0-2154-4E4C-8595-8806E5EF917A}" destId="{056CCBB6-5CE0-4348-89C6-99FB2D3AB62B}" srcOrd="0" destOrd="0" presId="urn:microsoft.com/office/officeart/2005/8/layout/chevron2"/>
    <dgm:cxn modelId="{75D9DC0C-11C7-49DD-8A71-811F74721BA7}" type="presOf" srcId="{4C2AC2DB-DA7B-4EE8-A271-F42910EF38FA}" destId="{3451A250-69C4-4911-A975-CCB8D5F6053B}" srcOrd="0" destOrd="0" presId="urn:microsoft.com/office/officeart/2005/8/layout/chevron2"/>
    <dgm:cxn modelId="{0113120F-3FE7-4154-8079-D7AA5B4E9BD0}" type="presOf" srcId="{6F17941D-CCAD-4AF8-9198-4E8B5F9AEDC2}" destId="{56AFEC8A-7D45-4965-A718-64DE087BA59E}"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465C8D34-FC72-4D1A-9E65-4F4016ABC282}" type="presOf" srcId="{13A3E740-D063-442F-85E3-8C13FFBDAFFB}" destId="{DFA48299-B840-4714-A5F6-769C74D74113}" srcOrd="0" destOrd="0" presId="urn:microsoft.com/office/officeart/2005/8/layout/chevron2"/>
    <dgm:cxn modelId="{56AEC75D-06D3-4BA4-8933-FE1A0F7AE162}" srcId="{780589F0-2154-4E4C-8595-8806E5EF917A}" destId="{E2BA0B41-F146-425E-9754-1E81B83EDF8B}" srcOrd="0" destOrd="0" parTransId="{09E005FD-F987-4EBD-9D26-CE4C06669AB5}" sibTransId="{017B98FE-F345-4459-B767-E6B696310854}"/>
    <dgm:cxn modelId="{2B7AD66F-7BCF-434E-A3B5-2F39AADE0BF7}" type="presOf" srcId="{E2BA0B41-F146-425E-9754-1E81B83EDF8B}" destId="{90709722-0E94-45E4-BEDD-48CB660682DD}" srcOrd="0" destOrd="0" presId="urn:microsoft.com/office/officeart/2005/8/layout/chevron2"/>
    <dgm:cxn modelId="{AAFC0F9A-ADA1-4827-BB1A-86C8E3CBC8EB}" srcId="{AADFB80D-C2E8-416C-B522-D5F6D93F18D7}" destId="{780589F0-2154-4E4C-8595-8806E5EF917A}" srcOrd="3" destOrd="0" parTransId="{F00962FA-5389-4E36-9ABB-07A219FF91D3}" sibTransId="{DED9E408-00AC-4B08-A19D-D94226C9548F}"/>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F4016BC7-2E72-4F45-A906-6E7F3BDA4E2F}" srcId="{AADFB80D-C2E8-416C-B522-D5F6D93F18D7}" destId="{4C2AC2DB-DA7B-4EE8-A271-F42910EF38FA}" srcOrd="2" destOrd="0" parTransId="{4DCD8EEA-C4AA-404D-A26F-F433BB0189EA}" sibTransId="{E3247148-B6B0-4C23-B610-041B2044E035}"/>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9A2AE9EC-1703-4071-9D5B-2F76EC9F4AA5}" srcId="{4C2AC2DB-DA7B-4EE8-A271-F42910EF38FA}" destId="{6F17941D-CCAD-4AF8-9198-4E8B5F9AEDC2}" srcOrd="0" destOrd="0" parTransId="{6A62EC5C-257B-4078-AC75-009164CBD245}" sibTransId="{6908D1C2-C5D8-437D-AE20-3870EC3D4B13}"/>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EAF4121D-00B1-46BD-B1F6-93EB6FBED3D3}" type="presParOf" srcId="{7EBBDEE6-A55E-47FA-9020-5BC46200AFFC}" destId="{D4F01D1E-88B7-466D-B76A-F726FF7DE3F8}" srcOrd="4" destOrd="0" presId="urn:microsoft.com/office/officeart/2005/8/layout/chevron2"/>
    <dgm:cxn modelId="{460F7729-81B3-46BB-891B-6E4175CCD089}" type="presParOf" srcId="{D4F01D1E-88B7-466D-B76A-F726FF7DE3F8}" destId="{3451A250-69C4-4911-A975-CCB8D5F6053B}" srcOrd="0" destOrd="0" presId="urn:microsoft.com/office/officeart/2005/8/layout/chevron2"/>
    <dgm:cxn modelId="{A48AB365-FFFF-4401-96B5-C1A6F80EE146}" type="presParOf" srcId="{D4F01D1E-88B7-466D-B76A-F726FF7DE3F8}" destId="{56AFEC8A-7D45-4965-A718-64DE087BA59E}" srcOrd="1" destOrd="0" presId="urn:microsoft.com/office/officeart/2005/8/layout/chevron2"/>
    <dgm:cxn modelId="{A114524B-CDF1-4D77-9C13-30CC18B34AFA}" type="presParOf" srcId="{7EBBDEE6-A55E-47FA-9020-5BC46200AFFC}" destId="{E061B53C-41F2-4FB1-8AB8-871078ECF09F}" srcOrd="5" destOrd="0" presId="urn:microsoft.com/office/officeart/2005/8/layout/chevron2"/>
    <dgm:cxn modelId="{5FCECAA4-B55F-4524-B52B-5579AFC35055}" type="presParOf" srcId="{7EBBDEE6-A55E-47FA-9020-5BC46200AFFC}" destId="{BC0413A5-5CFC-41A1-A4D1-32D9D3A580EB}" srcOrd="6" destOrd="0" presId="urn:microsoft.com/office/officeart/2005/8/layout/chevron2"/>
    <dgm:cxn modelId="{A5C36485-CCE1-4523-911E-6345AFDCF231}" type="presParOf" srcId="{BC0413A5-5CFC-41A1-A4D1-32D9D3A580EB}" destId="{056CCBB6-5CE0-4348-89C6-99FB2D3AB62B}" srcOrd="0" destOrd="0" presId="urn:microsoft.com/office/officeart/2005/8/layout/chevron2"/>
    <dgm:cxn modelId="{49CDF3A4-EBDD-472A-8CEE-35499F216772}" type="presParOf" srcId="{BC0413A5-5CFC-41A1-A4D1-32D9D3A580EB}" destId="{90709722-0E94-45E4-BEDD-48CB660682D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DFB80D-C2E8-416C-B522-D5F6D93F18D7}"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13A3E740-D063-442F-85E3-8C13FFBDAFFB}">
      <dgm:prSet phldrT="[Text]"/>
      <dgm:spPr/>
      <dgm:t>
        <a:bodyPr/>
        <a:lstStyle/>
        <a:p>
          <a:r>
            <a:rPr lang="en-US" dirty="0"/>
            <a:t>SDD</a:t>
          </a:r>
        </a:p>
      </dgm:t>
    </dgm:pt>
    <dgm:pt modelId="{055E1BD7-FB8E-4E56-9F39-EF9F6386A053}" type="parTrans" cxnId="{1B5B31EC-2D9A-481F-92B4-9BD3DD315797}">
      <dgm:prSet/>
      <dgm:spPr/>
      <dgm:t>
        <a:bodyPr/>
        <a:lstStyle/>
        <a:p>
          <a:endParaRPr lang="en-US"/>
        </a:p>
      </dgm:t>
    </dgm:pt>
    <dgm:pt modelId="{87670CDC-835B-4F9F-927F-1317C8E87F86}" type="sibTrans" cxnId="{1B5B31EC-2D9A-481F-92B4-9BD3DD315797}">
      <dgm:prSet/>
      <dgm:spPr/>
      <dgm:t>
        <a:bodyPr/>
        <a:lstStyle/>
        <a:p>
          <a:endParaRPr lang="en-US"/>
        </a:p>
      </dgm:t>
    </dgm:pt>
    <dgm:pt modelId="{AC2B0C85-A34A-449C-BDB1-A298878DE704}">
      <dgm:prSet phldrT="[Text]"/>
      <dgm:spPr/>
      <dgm:t>
        <a:bodyPr/>
        <a:lstStyle/>
        <a:p>
          <a:r>
            <a:rPr lang="en-US" dirty="0"/>
            <a:t>Software Design and Development (54%)</a:t>
          </a:r>
        </a:p>
      </dgm:t>
    </dgm:pt>
    <dgm:pt modelId="{E5225F41-044B-4F7C-A813-74912B7609F7}" type="parTrans" cxnId="{A2F04726-03B2-41D7-AC39-4EB0FD25F0DB}">
      <dgm:prSet/>
      <dgm:spPr/>
      <dgm:t>
        <a:bodyPr/>
        <a:lstStyle/>
        <a:p>
          <a:endParaRPr lang="en-US"/>
        </a:p>
      </dgm:t>
    </dgm:pt>
    <dgm:pt modelId="{C96E9F27-EE7F-4F89-BD19-DC4C6EA4193D}" type="sibTrans" cxnId="{A2F04726-03B2-41D7-AC39-4EB0FD25F0DB}">
      <dgm:prSet/>
      <dgm:spPr/>
      <dgm:t>
        <a:bodyPr/>
        <a:lstStyle/>
        <a:p>
          <a:endParaRPr lang="en-US"/>
        </a:p>
      </dgm:t>
    </dgm:pt>
    <dgm:pt modelId="{711BDD39-3FCE-427A-B0DC-2C28CEED9EDF}">
      <dgm:prSet phldrT="[Text]"/>
      <dgm:spPr/>
      <dgm:t>
        <a:bodyPr/>
        <a:lstStyle/>
        <a:p>
          <a:r>
            <a:rPr lang="en-US" dirty="0"/>
            <a:t>DDD</a:t>
          </a:r>
        </a:p>
      </dgm:t>
    </dgm:pt>
    <dgm:pt modelId="{2D0B9227-5F25-49F4-84E9-F7E211C285CA}" type="parTrans" cxnId="{07BC019F-EA5F-4290-A7F2-F044F5CF5F67}">
      <dgm:prSet/>
      <dgm:spPr/>
      <dgm:t>
        <a:bodyPr/>
        <a:lstStyle/>
        <a:p>
          <a:endParaRPr lang="en-US"/>
        </a:p>
      </dgm:t>
    </dgm:pt>
    <dgm:pt modelId="{56806687-EA3D-424E-8880-B9427A94FF7E}" type="sibTrans" cxnId="{07BC019F-EA5F-4290-A7F2-F044F5CF5F67}">
      <dgm:prSet/>
      <dgm:spPr/>
      <dgm:t>
        <a:bodyPr/>
        <a:lstStyle/>
        <a:p>
          <a:endParaRPr lang="en-US"/>
        </a:p>
      </dgm:t>
    </dgm:pt>
    <dgm:pt modelId="{856C5D97-053A-4768-924C-7BBED1694139}">
      <dgm:prSet phldrT="[Text]"/>
      <dgm:spPr/>
      <dgm:t>
        <a:bodyPr/>
        <a:lstStyle/>
        <a:p>
          <a:r>
            <a:rPr lang="en-US" dirty="0"/>
            <a:t>Database Design and Development (33%)</a:t>
          </a:r>
        </a:p>
      </dgm:t>
    </dgm:pt>
    <dgm:pt modelId="{5882EAA0-9B73-4D58-9B28-101A1A118DA7}" type="parTrans" cxnId="{5ED434D9-CD48-4632-9238-0AD1DC8B7F67}">
      <dgm:prSet/>
      <dgm:spPr/>
      <dgm:t>
        <a:bodyPr/>
        <a:lstStyle/>
        <a:p>
          <a:endParaRPr lang="en-US"/>
        </a:p>
      </dgm:t>
    </dgm:pt>
    <dgm:pt modelId="{FB282A4C-1B09-4A3E-BA59-953ECF9E16C0}" type="sibTrans" cxnId="{5ED434D9-CD48-4632-9238-0AD1DC8B7F67}">
      <dgm:prSet/>
      <dgm:spPr/>
      <dgm:t>
        <a:bodyPr/>
        <a:lstStyle/>
        <a:p>
          <a:endParaRPr lang="en-US"/>
        </a:p>
      </dgm:t>
    </dgm:pt>
    <dgm:pt modelId="{4A3955F4-B1A6-4812-98ED-2D6D02D94E35}">
      <dgm:prSet phldrT="[Text]"/>
      <dgm:spPr/>
      <dgm:t>
        <a:bodyPr/>
        <a:lstStyle/>
        <a:p>
          <a:r>
            <a:rPr lang="en-US" b="1" dirty="0"/>
            <a:t>Assignment</a:t>
          </a:r>
        </a:p>
      </dgm:t>
    </dgm:pt>
    <dgm:pt modelId="{1EF809BA-BB9B-41F6-9A35-2C78CE3A0913}" type="parTrans" cxnId="{7E5A0596-4D16-4207-B5F3-C2FD778C5412}">
      <dgm:prSet/>
      <dgm:spPr/>
      <dgm:t>
        <a:bodyPr/>
        <a:lstStyle/>
        <a:p>
          <a:endParaRPr lang="en-US"/>
        </a:p>
      </dgm:t>
    </dgm:pt>
    <dgm:pt modelId="{10EB35A1-EA5F-40EF-95CA-BDAB4D957484}" type="sibTrans" cxnId="{7E5A0596-4D16-4207-B5F3-C2FD778C5412}">
      <dgm:prSet/>
      <dgm:spPr/>
      <dgm:t>
        <a:bodyPr/>
        <a:lstStyle/>
        <a:p>
          <a:endParaRPr lang="en-US"/>
        </a:p>
      </dgm:t>
    </dgm:pt>
    <dgm:pt modelId="{E2BA0B41-F146-425E-9754-1E81B83EDF8B}">
      <dgm:prSet phldrT="[Text]"/>
      <dgm:spPr/>
      <dgm:t>
        <a:bodyPr/>
        <a:lstStyle/>
        <a:p>
          <a:r>
            <a:rPr lang="en-US" dirty="0"/>
            <a:t>Computer Systems (13%)</a:t>
          </a:r>
        </a:p>
      </dgm:t>
    </dgm:pt>
    <dgm:pt modelId="{09E005FD-F987-4EBD-9D26-CE4C06669AB5}" type="parTrans" cxnId="{56AEC75D-06D3-4BA4-8933-FE1A0F7AE162}">
      <dgm:prSet/>
      <dgm:spPr/>
      <dgm:t>
        <a:bodyPr/>
        <a:lstStyle/>
        <a:p>
          <a:endParaRPr lang="en-US"/>
        </a:p>
      </dgm:t>
    </dgm:pt>
    <dgm:pt modelId="{017B98FE-F345-4459-B767-E6B696310854}" type="sibTrans" cxnId="{56AEC75D-06D3-4BA4-8933-FE1A0F7AE162}">
      <dgm:prSet/>
      <dgm:spPr/>
      <dgm:t>
        <a:bodyPr/>
        <a:lstStyle/>
        <a:p>
          <a:endParaRPr lang="en-US"/>
        </a:p>
      </dgm:t>
    </dgm:pt>
    <dgm:pt modelId="{780589F0-2154-4E4C-8595-8806E5EF917A}">
      <dgm:prSet phldrT="[Text]"/>
      <dgm:spPr/>
      <dgm:t>
        <a:bodyPr/>
        <a:lstStyle/>
        <a:p>
          <a:r>
            <a:rPr lang="en-US" dirty="0"/>
            <a:t>C/Sys</a:t>
          </a:r>
        </a:p>
      </dgm:t>
    </dgm:pt>
    <dgm:pt modelId="{F00962FA-5389-4E36-9ABB-07A219FF91D3}" type="parTrans" cxnId="{AAFC0F9A-ADA1-4827-BB1A-86C8E3CBC8EB}">
      <dgm:prSet/>
      <dgm:spPr/>
      <dgm:t>
        <a:bodyPr/>
        <a:lstStyle/>
        <a:p>
          <a:endParaRPr lang="en-US"/>
        </a:p>
      </dgm:t>
    </dgm:pt>
    <dgm:pt modelId="{DED9E408-00AC-4B08-A19D-D94226C9548F}" type="sibTrans" cxnId="{AAFC0F9A-ADA1-4827-BB1A-86C8E3CBC8EB}">
      <dgm:prSet/>
      <dgm:spPr/>
      <dgm:t>
        <a:bodyPr/>
        <a:lstStyle/>
        <a:p>
          <a:endParaRPr lang="en-US"/>
        </a:p>
      </dgm:t>
    </dgm:pt>
    <dgm:pt modelId="{75E710BF-3292-4B3F-A454-B7E6BF72E2C7}">
      <dgm:prSet phldrT="[Text]"/>
      <dgm:spPr/>
      <dgm:t>
        <a:bodyPr/>
        <a:lstStyle/>
        <a:p>
          <a:r>
            <a:rPr lang="en-US" b="1" dirty="0"/>
            <a:t>Exam</a:t>
          </a:r>
        </a:p>
      </dgm:t>
    </dgm:pt>
    <dgm:pt modelId="{E03E4501-7796-49DD-B7C4-88D3AB91E6DB}" type="parTrans" cxnId="{F320287E-B3C2-4880-9516-FFD6695AE0E7}">
      <dgm:prSet/>
      <dgm:spPr/>
      <dgm:t>
        <a:bodyPr/>
        <a:lstStyle/>
        <a:p>
          <a:endParaRPr lang="en-US"/>
        </a:p>
      </dgm:t>
    </dgm:pt>
    <dgm:pt modelId="{7BCEDD18-C1A5-4D74-BD02-31A9F5C8DF2C}" type="sibTrans" cxnId="{F320287E-B3C2-4880-9516-FFD6695AE0E7}">
      <dgm:prSet/>
      <dgm:spPr/>
      <dgm:t>
        <a:bodyPr/>
        <a:lstStyle/>
        <a:p>
          <a:endParaRPr lang="en-US"/>
        </a:p>
      </dgm:t>
    </dgm:pt>
    <dgm:pt modelId="{9EC5D7E7-13E1-4749-A134-4C83AB922A61}">
      <dgm:prSet phldrT="[Text]"/>
      <dgm:spPr>
        <a:solidFill>
          <a:srgbClr val="FF0000"/>
        </a:solidFill>
        <a:ln>
          <a:solidFill>
            <a:srgbClr val="FF0000"/>
          </a:solidFill>
        </a:ln>
      </dgm:spPr>
      <dgm:t>
        <a:bodyPr/>
        <a:lstStyle/>
        <a:p>
          <a:endParaRPr lang="en-US" dirty="0"/>
        </a:p>
      </dgm:t>
    </dgm:pt>
    <dgm:pt modelId="{5C3B17FD-DFBE-4B56-9F97-5E041A0D5E90}" type="parTrans" cxnId="{4944EAFC-B2B0-4E7D-94E9-B17B5C2D380E}">
      <dgm:prSet/>
      <dgm:spPr/>
      <dgm:t>
        <a:bodyPr/>
        <a:lstStyle/>
        <a:p>
          <a:endParaRPr lang="en-US"/>
        </a:p>
      </dgm:t>
    </dgm:pt>
    <dgm:pt modelId="{B7023446-8BB7-45ED-9CB6-4F5FC1A1AF95}" type="sibTrans" cxnId="{4944EAFC-B2B0-4E7D-94E9-B17B5C2D380E}">
      <dgm:prSet/>
      <dgm:spPr/>
      <dgm:t>
        <a:bodyPr/>
        <a:lstStyle/>
        <a:p>
          <a:endParaRPr lang="en-US"/>
        </a:p>
      </dgm:t>
    </dgm:pt>
    <dgm:pt modelId="{4C515B8D-87D1-4362-95C3-18B42B452625}">
      <dgm:prSet phldrT="[Text]"/>
      <dgm:spPr>
        <a:solidFill>
          <a:srgbClr val="FF0000"/>
        </a:solidFill>
        <a:ln>
          <a:solidFill>
            <a:srgbClr val="FF0000"/>
          </a:solidFill>
        </a:ln>
      </dgm:spPr>
      <dgm:t>
        <a:bodyPr/>
        <a:lstStyle/>
        <a:p>
          <a:endParaRPr lang="en-US" dirty="0"/>
        </a:p>
      </dgm:t>
    </dgm:pt>
    <dgm:pt modelId="{387E11D6-6F89-470A-86BE-C608C2106AF6}" type="sibTrans" cxnId="{4AB28759-DCAB-43B1-B5BE-36D4FCDBAA0B}">
      <dgm:prSet/>
      <dgm:spPr/>
      <dgm:t>
        <a:bodyPr/>
        <a:lstStyle/>
        <a:p>
          <a:endParaRPr lang="en-US"/>
        </a:p>
      </dgm:t>
    </dgm:pt>
    <dgm:pt modelId="{3413E62F-FACB-412C-9FEF-2E9D080F65F5}" type="parTrans" cxnId="{4AB28759-DCAB-43B1-B5BE-36D4FCDBAA0B}">
      <dgm:prSet/>
      <dgm:spPr/>
      <dgm:t>
        <a:bodyPr/>
        <a:lstStyle/>
        <a:p>
          <a:endParaRPr lang="en-US"/>
        </a:p>
      </dgm:t>
    </dgm:pt>
    <dgm:pt modelId="{7EBBDEE6-A55E-47FA-9020-5BC46200AFFC}" type="pres">
      <dgm:prSet presAssocID="{AADFB80D-C2E8-416C-B522-D5F6D93F18D7}" presName="linearFlow" presStyleCnt="0">
        <dgm:presLayoutVars>
          <dgm:dir/>
          <dgm:animLvl val="lvl"/>
          <dgm:resizeHandles val="exact"/>
        </dgm:presLayoutVars>
      </dgm:prSet>
      <dgm:spPr/>
    </dgm:pt>
    <dgm:pt modelId="{C2DD6752-EEDA-4174-9D58-1EADF09490B5}" type="pres">
      <dgm:prSet presAssocID="{13A3E740-D063-442F-85E3-8C13FFBDAFFB}" presName="composite" presStyleCnt="0"/>
      <dgm:spPr/>
    </dgm:pt>
    <dgm:pt modelId="{DFA48299-B840-4714-A5F6-769C74D74113}" type="pres">
      <dgm:prSet presAssocID="{13A3E740-D063-442F-85E3-8C13FFBDAFFB}" presName="parentText" presStyleLbl="alignNode1" presStyleIdx="0" presStyleCnt="5">
        <dgm:presLayoutVars>
          <dgm:chMax val="1"/>
          <dgm:bulletEnabled val="1"/>
        </dgm:presLayoutVars>
      </dgm:prSet>
      <dgm:spPr/>
    </dgm:pt>
    <dgm:pt modelId="{19C32B8D-512E-49A1-A0E6-109384C61E4D}" type="pres">
      <dgm:prSet presAssocID="{13A3E740-D063-442F-85E3-8C13FFBDAFFB}" presName="descendantText" presStyleLbl="alignAcc1" presStyleIdx="0" presStyleCnt="5">
        <dgm:presLayoutVars>
          <dgm:bulletEnabled val="1"/>
        </dgm:presLayoutVars>
      </dgm:prSet>
      <dgm:spPr/>
    </dgm:pt>
    <dgm:pt modelId="{EB6649E3-7C43-464A-A458-4DE8A2D95277}" type="pres">
      <dgm:prSet presAssocID="{87670CDC-835B-4F9F-927F-1317C8E87F86}" presName="sp" presStyleCnt="0"/>
      <dgm:spPr/>
    </dgm:pt>
    <dgm:pt modelId="{B03EC7DE-1F17-45FD-8EC4-5657CB3CA06B}" type="pres">
      <dgm:prSet presAssocID="{711BDD39-3FCE-427A-B0DC-2C28CEED9EDF}" presName="composite" presStyleCnt="0"/>
      <dgm:spPr/>
    </dgm:pt>
    <dgm:pt modelId="{AAD30B60-88C6-4919-B6DD-9F480459E84E}" type="pres">
      <dgm:prSet presAssocID="{711BDD39-3FCE-427A-B0DC-2C28CEED9EDF}" presName="parentText" presStyleLbl="alignNode1" presStyleIdx="1" presStyleCnt="5">
        <dgm:presLayoutVars>
          <dgm:chMax val="1"/>
          <dgm:bulletEnabled val="1"/>
        </dgm:presLayoutVars>
      </dgm:prSet>
      <dgm:spPr/>
    </dgm:pt>
    <dgm:pt modelId="{0DFDFC6D-8604-4378-B6A3-6A6720006C95}" type="pres">
      <dgm:prSet presAssocID="{711BDD39-3FCE-427A-B0DC-2C28CEED9EDF}" presName="descendantText" presStyleLbl="alignAcc1" presStyleIdx="1" presStyleCnt="5">
        <dgm:presLayoutVars>
          <dgm:bulletEnabled val="1"/>
        </dgm:presLayoutVars>
      </dgm:prSet>
      <dgm:spPr/>
    </dgm:pt>
    <dgm:pt modelId="{8738B044-A46F-4E69-BD1E-16537D77F816}" type="pres">
      <dgm:prSet presAssocID="{56806687-EA3D-424E-8880-B9427A94FF7E}" presName="sp" presStyleCnt="0"/>
      <dgm:spPr/>
    </dgm:pt>
    <dgm:pt modelId="{3E2A20E0-2799-4B60-847C-0291A143F060}" type="pres">
      <dgm:prSet presAssocID="{4C515B8D-87D1-4362-95C3-18B42B452625}" presName="composite" presStyleCnt="0"/>
      <dgm:spPr/>
    </dgm:pt>
    <dgm:pt modelId="{17253025-0BE3-46B4-B2C8-BFD879D75B26}" type="pres">
      <dgm:prSet presAssocID="{4C515B8D-87D1-4362-95C3-18B42B452625}" presName="parentText" presStyleLbl="alignNode1" presStyleIdx="2" presStyleCnt="5">
        <dgm:presLayoutVars>
          <dgm:chMax val="1"/>
          <dgm:bulletEnabled val="1"/>
        </dgm:presLayoutVars>
      </dgm:prSet>
      <dgm:spPr/>
    </dgm:pt>
    <dgm:pt modelId="{B2D4CD90-7709-4B59-AC85-D09667CFC12B}" type="pres">
      <dgm:prSet presAssocID="{4C515B8D-87D1-4362-95C3-18B42B452625}" presName="descendantText" presStyleLbl="alignAcc1" presStyleIdx="2" presStyleCnt="5">
        <dgm:presLayoutVars>
          <dgm:bulletEnabled val="1"/>
        </dgm:presLayoutVars>
      </dgm:prSet>
      <dgm:spPr/>
    </dgm:pt>
    <dgm:pt modelId="{FCA35A52-5E56-41CA-AAAA-74E510180904}" type="pres">
      <dgm:prSet presAssocID="{387E11D6-6F89-470A-86BE-C608C2106AF6}" presName="sp" presStyleCnt="0"/>
      <dgm:spPr/>
    </dgm:pt>
    <dgm:pt modelId="{BC0413A5-5CFC-41A1-A4D1-32D9D3A580EB}" type="pres">
      <dgm:prSet presAssocID="{780589F0-2154-4E4C-8595-8806E5EF917A}" presName="composite" presStyleCnt="0"/>
      <dgm:spPr/>
    </dgm:pt>
    <dgm:pt modelId="{056CCBB6-5CE0-4348-89C6-99FB2D3AB62B}" type="pres">
      <dgm:prSet presAssocID="{780589F0-2154-4E4C-8595-8806E5EF917A}" presName="parentText" presStyleLbl="alignNode1" presStyleIdx="3" presStyleCnt="5">
        <dgm:presLayoutVars>
          <dgm:chMax val="1"/>
          <dgm:bulletEnabled val="1"/>
        </dgm:presLayoutVars>
      </dgm:prSet>
      <dgm:spPr/>
    </dgm:pt>
    <dgm:pt modelId="{90709722-0E94-45E4-BEDD-48CB660682DD}" type="pres">
      <dgm:prSet presAssocID="{780589F0-2154-4E4C-8595-8806E5EF917A}" presName="descendantText" presStyleLbl="alignAcc1" presStyleIdx="3" presStyleCnt="5">
        <dgm:presLayoutVars>
          <dgm:bulletEnabled val="1"/>
        </dgm:presLayoutVars>
      </dgm:prSet>
      <dgm:spPr/>
    </dgm:pt>
    <dgm:pt modelId="{13B0A0BF-E273-47AE-B262-3C6C9C4E8968}" type="pres">
      <dgm:prSet presAssocID="{DED9E408-00AC-4B08-A19D-D94226C9548F}" presName="sp" presStyleCnt="0"/>
      <dgm:spPr/>
    </dgm:pt>
    <dgm:pt modelId="{5FCAE6DF-E40E-46F3-84CF-149E85A19097}" type="pres">
      <dgm:prSet presAssocID="{9EC5D7E7-13E1-4749-A134-4C83AB922A61}" presName="composite" presStyleCnt="0"/>
      <dgm:spPr/>
    </dgm:pt>
    <dgm:pt modelId="{EB2E52AE-8FCF-47D0-B499-CFCFAF1883A9}" type="pres">
      <dgm:prSet presAssocID="{9EC5D7E7-13E1-4749-A134-4C83AB922A61}" presName="parentText" presStyleLbl="alignNode1" presStyleIdx="4" presStyleCnt="5">
        <dgm:presLayoutVars>
          <dgm:chMax val="1"/>
          <dgm:bulletEnabled val="1"/>
        </dgm:presLayoutVars>
      </dgm:prSet>
      <dgm:spPr/>
    </dgm:pt>
    <dgm:pt modelId="{C92F1771-01AA-4FF3-B7EC-0229DB7A592C}" type="pres">
      <dgm:prSet presAssocID="{9EC5D7E7-13E1-4749-A134-4C83AB922A61}" presName="descendantText" presStyleLbl="alignAcc1" presStyleIdx="4" presStyleCnt="5">
        <dgm:presLayoutVars>
          <dgm:bulletEnabled val="1"/>
        </dgm:presLayoutVars>
      </dgm:prSet>
      <dgm:spPr/>
    </dgm:pt>
  </dgm:ptLst>
  <dgm:cxnLst>
    <dgm:cxn modelId="{B5BAA509-F012-4E82-9E50-DD70E5E7F1B2}" type="presOf" srcId="{AADFB80D-C2E8-416C-B522-D5F6D93F18D7}" destId="{7EBBDEE6-A55E-47FA-9020-5BC46200AFFC}" srcOrd="0" destOrd="0" presId="urn:microsoft.com/office/officeart/2005/8/layout/chevron2"/>
    <dgm:cxn modelId="{51AC560A-15D5-4873-A728-46FA9B3877F9}" type="presOf" srcId="{780589F0-2154-4E4C-8595-8806E5EF917A}" destId="{056CCBB6-5CE0-4348-89C6-99FB2D3AB62B}" srcOrd="0" destOrd="0" presId="urn:microsoft.com/office/officeart/2005/8/layout/chevron2"/>
    <dgm:cxn modelId="{6521D611-0B51-48EB-B293-CE7ADA48FE29}" type="presOf" srcId="{711BDD39-3FCE-427A-B0DC-2C28CEED9EDF}" destId="{AAD30B60-88C6-4919-B6DD-9F480459E84E}" srcOrd="0" destOrd="0" presId="urn:microsoft.com/office/officeart/2005/8/layout/chevron2"/>
    <dgm:cxn modelId="{A2F04726-03B2-41D7-AC39-4EB0FD25F0DB}" srcId="{13A3E740-D063-442F-85E3-8C13FFBDAFFB}" destId="{AC2B0C85-A34A-449C-BDB1-A298878DE704}" srcOrd="0" destOrd="0" parTransId="{E5225F41-044B-4F7C-A813-74912B7609F7}" sibTransId="{C96E9F27-EE7F-4F89-BD19-DC4C6EA4193D}"/>
    <dgm:cxn modelId="{D49F1534-E21B-49CA-902B-89FB72311FD2}" type="presOf" srcId="{4C515B8D-87D1-4362-95C3-18B42B452625}" destId="{17253025-0BE3-46B4-B2C8-BFD879D75B26}" srcOrd="0" destOrd="0" presId="urn:microsoft.com/office/officeart/2005/8/layout/chevron2"/>
    <dgm:cxn modelId="{465C8D34-FC72-4D1A-9E65-4F4016ABC282}" type="presOf" srcId="{13A3E740-D063-442F-85E3-8C13FFBDAFFB}" destId="{DFA48299-B840-4714-A5F6-769C74D74113}" srcOrd="0" destOrd="0" presId="urn:microsoft.com/office/officeart/2005/8/layout/chevron2"/>
    <dgm:cxn modelId="{56AEC75D-06D3-4BA4-8933-FE1A0F7AE162}" srcId="{780589F0-2154-4E4C-8595-8806E5EF917A}" destId="{E2BA0B41-F146-425E-9754-1E81B83EDF8B}" srcOrd="0" destOrd="0" parTransId="{09E005FD-F987-4EBD-9D26-CE4C06669AB5}" sibTransId="{017B98FE-F345-4459-B767-E6B696310854}"/>
    <dgm:cxn modelId="{2B7AD66F-7BCF-434E-A3B5-2F39AADE0BF7}" type="presOf" srcId="{E2BA0B41-F146-425E-9754-1E81B83EDF8B}" destId="{90709722-0E94-45E4-BEDD-48CB660682DD}" srcOrd="0" destOrd="0" presId="urn:microsoft.com/office/officeart/2005/8/layout/chevron2"/>
    <dgm:cxn modelId="{5C508956-AB66-4052-8A09-9D7A16ABB973}" type="presOf" srcId="{4A3955F4-B1A6-4812-98ED-2D6D02D94E35}" destId="{B2D4CD90-7709-4B59-AC85-D09667CFC12B}" srcOrd="0" destOrd="0" presId="urn:microsoft.com/office/officeart/2005/8/layout/chevron2"/>
    <dgm:cxn modelId="{4AB28759-DCAB-43B1-B5BE-36D4FCDBAA0B}" srcId="{AADFB80D-C2E8-416C-B522-D5F6D93F18D7}" destId="{4C515B8D-87D1-4362-95C3-18B42B452625}" srcOrd="2" destOrd="0" parTransId="{3413E62F-FACB-412C-9FEF-2E9D080F65F5}" sibTransId="{387E11D6-6F89-470A-86BE-C608C2106AF6}"/>
    <dgm:cxn modelId="{F320287E-B3C2-4880-9516-FFD6695AE0E7}" srcId="{9EC5D7E7-13E1-4749-A134-4C83AB922A61}" destId="{75E710BF-3292-4B3F-A454-B7E6BF72E2C7}" srcOrd="0" destOrd="0" parTransId="{E03E4501-7796-49DD-B7C4-88D3AB91E6DB}" sibTransId="{7BCEDD18-C1A5-4D74-BD02-31A9F5C8DF2C}"/>
    <dgm:cxn modelId="{D36EDC8C-BDD1-4F1F-9AB5-8EDEF33F628F}" type="presOf" srcId="{75E710BF-3292-4B3F-A454-B7E6BF72E2C7}" destId="{C92F1771-01AA-4FF3-B7EC-0229DB7A592C}" srcOrd="0" destOrd="0" presId="urn:microsoft.com/office/officeart/2005/8/layout/chevron2"/>
    <dgm:cxn modelId="{7E5A0596-4D16-4207-B5F3-C2FD778C5412}" srcId="{4C515B8D-87D1-4362-95C3-18B42B452625}" destId="{4A3955F4-B1A6-4812-98ED-2D6D02D94E35}" srcOrd="0" destOrd="0" parTransId="{1EF809BA-BB9B-41F6-9A35-2C78CE3A0913}" sibTransId="{10EB35A1-EA5F-40EF-95CA-BDAB4D957484}"/>
    <dgm:cxn modelId="{AAFC0F9A-ADA1-4827-BB1A-86C8E3CBC8EB}" srcId="{AADFB80D-C2E8-416C-B522-D5F6D93F18D7}" destId="{780589F0-2154-4E4C-8595-8806E5EF917A}" srcOrd="3" destOrd="0" parTransId="{F00962FA-5389-4E36-9ABB-07A219FF91D3}" sibTransId="{DED9E408-00AC-4B08-A19D-D94226C9548F}"/>
    <dgm:cxn modelId="{07BC019F-EA5F-4290-A7F2-F044F5CF5F67}" srcId="{AADFB80D-C2E8-416C-B522-D5F6D93F18D7}" destId="{711BDD39-3FCE-427A-B0DC-2C28CEED9EDF}" srcOrd="1" destOrd="0" parTransId="{2D0B9227-5F25-49F4-84E9-F7E211C285CA}" sibTransId="{56806687-EA3D-424E-8880-B9427A94FF7E}"/>
    <dgm:cxn modelId="{2AB70DB2-120D-4916-A542-8BD092D58E08}" type="presOf" srcId="{AC2B0C85-A34A-449C-BDB1-A298878DE704}" destId="{19C32B8D-512E-49A1-A0E6-109384C61E4D}" srcOrd="0" destOrd="0" presId="urn:microsoft.com/office/officeart/2005/8/layout/chevron2"/>
    <dgm:cxn modelId="{95BAE2D2-7669-469D-9AF0-D651B51FCE91}" type="presOf" srcId="{9EC5D7E7-13E1-4749-A134-4C83AB922A61}" destId="{EB2E52AE-8FCF-47D0-B499-CFCFAF1883A9}" srcOrd="0" destOrd="0" presId="urn:microsoft.com/office/officeart/2005/8/layout/chevron2"/>
    <dgm:cxn modelId="{5ED434D9-CD48-4632-9238-0AD1DC8B7F67}" srcId="{711BDD39-3FCE-427A-B0DC-2C28CEED9EDF}" destId="{856C5D97-053A-4768-924C-7BBED1694139}" srcOrd="0" destOrd="0" parTransId="{5882EAA0-9B73-4D58-9B28-101A1A118DA7}" sibTransId="{FB282A4C-1B09-4A3E-BA59-953ECF9E16C0}"/>
    <dgm:cxn modelId="{37E82DE3-0EF4-4A02-AA7D-36369B21C5B2}" type="presOf" srcId="{856C5D97-053A-4768-924C-7BBED1694139}" destId="{0DFDFC6D-8604-4378-B6A3-6A6720006C95}" srcOrd="0" destOrd="0" presId="urn:microsoft.com/office/officeart/2005/8/layout/chevron2"/>
    <dgm:cxn modelId="{1B5B31EC-2D9A-481F-92B4-9BD3DD315797}" srcId="{AADFB80D-C2E8-416C-B522-D5F6D93F18D7}" destId="{13A3E740-D063-442F-85E3-8C13FFBDAFFB}" srcOrd="0" destOrd="0" parTransId="{055E1BD7-FB8E-4E56-9F39-EF9F6386A053}" sibTransId="{87670CDC-835B-4F9F-927F-1317C8E87F86}"/>
    <dgm:cxn modelId="{4944EAFC-B2B0-4E7D-94E9-B17B5C2D380E}" srcId="{AADFB80D-C2E8-416C-B522-D5F6D93F18D7}" destId="{9EC5D7E7-13E1-4749-A134-4C83AB922A61}" srcOrd="4" destOrd="0" parTransId="{5C3B17FD-DFBE-4B56-9F97-5E041A0D5E90}" sibTransId="{B7023446-8BB7-45ED-9CB6-4F5FC1A1AF95}"/>
    <dgm:cxn modelId="{2CC3E848-3291-4CD0-B317-41F5D7C45A7F}" type="presParOf" srcId="{7EBBDEE6-A55E-47FA-9020-5BC46200AFFC}" destId="{C2DD6752-EEDA-4174-9D58-1EADF09490B5}" srcOrd="0" destOrd="0" presId="urn:microsoft.com/office/officeart/2005/8/layout/chevron2"/>
    <dgm:cxn modelId="{F2611B9D-ED34-4E48-B173-7425A1C12702}" type="presParOf" srcId="{C2DD6752-EEDA-4174-9D58-1EADF09490B5}" destId="{DFA48299-B840-4714-A5F6-769C74D74113}" srcOrd="0" destOrd="0" presId="urn:microsoft.com/office/officeart/2005/8/layout/chevron2"/>
    <dgm:cxn modelId="{0339950F-F790-4C54-B5C5-7E748C166A64}" type="presParOf" srcId="{C2DD6752-EEDA-4174-9D58-1EADF09490B5}" destId="{19C32B8D-512E-49A1-A0E6-109384C61E4D}" srcOrd="1" destOrd="0" presId="urn:microsoft.com/office/officeart/2005/8/layout/chevron2"/>
    <dgm:cxn modelId="{8C3B7F65-E991-4727-96FD-4A397BC99530}" type="presParOf" srcId="{7EBBDEE6-A55E-47FA-9020-5BC46200AFFC}" destId="{EB6649E3-7C43-464A-A458-4DE8A2D95277}" srcOrd="1" destOrd="0" presId="urn:microsoft.com/office/officeart/2005/8/layout/chevron2"/>
    <dgm:cxn modelId="{67686BDB-624B-4768-B17C-649608EC595D}" type="presParOf" srcId="{7EBBDEE6-A55E-47FA-9020-5BC46200AFFC}" destId="{B03EC7DE-1F17-45FD-8EC4-5657CB3CA06B}" srcOrd="2" destOrd="0" presId="urn:microsoft.com/office/officeart/2005/8/layout/chevron2"/>
    <dgm:cxn modelId="{E384677C-5D5C-4BA0-9373-811233886715}" type="presParOf" srcId="{B03EC7DE-1F17-45FD-8EC4-5657CB3CA06B}" destId="{AAD30B60-88C6-4919-B6DD-9F480459E84E}" srcOrd="0" destOrd="0" presId="urn:microsoft.com/office/officeart/2005/8/layout/chevron2"/>
    <dgm:cxn modelId="{990050CC-88AF-4BFD-BA57-27FA9CC550C6}" type="presParOf" srcId="{B03EC7DE-1F17-45FD-8EC4-5657CB3CA06B}" destId="{0DFDFC6D-8604-4378-B6A3-6A6720006C95}" srcOrd="1" destOrd="0" presId="urn:microsoft.com/office/officeart/2005/8/layout/chevron2"/>
    <dgm:cxn modelId="{577D7B9B-111D-49E5-8B31-17247683DAAB}" type="presParOf" srcId="{7EBBDEE6-A55E-47FA-9020-5BC46200AFFC}" destId="{8738B044-A46F-4E69-BD1E-16537D77F816}" srcOrd="3" destOrd="0" presId="urn:microsoft.com/office/officeart/2005/8/layout/chevron2"/>
    <dgm:cxn modelId="{4B8D09CE-12DA-4A98-A079-57B4B36ABD66}" type="presParOf" srcId="{7EBBDEE6-A55E-47FA-9020-5BC46200AFFC}" destId="{3E2A20E0-2799-4B60-847C-0291A143F060}" srcOrd="4" destOrd="0" presId="urn:microsoft.com/office/officeart/2005/8/layout/chevron2"/>
    <dgm:cxn modelId="{DD09799F-3B55-4A21-B1D8-51D0255A8FC0}" type="presParOf" srcId="{3E2A20E0-2799-4B60-847C-0291A143F060}" destId="{17253025-0BE3-46B4-B2C8-BFD879D75B26}" srcOrd="0" destOrd="0" presId="urn:microsoft.com/office/officeart/2005/8/layout/chevron2"/>
    <dgm:cxn modelId="{B28B55D1-C1C4-4929-B387-2753095F16BC}" type="presParOf" srcId="{3E2A20E0-2799-4B60-847C-0291A143F060}" destId="{B2D4CD90-7709-4B59-AC85-D09667CFC12B}" srcOrd="1" destOrd="0" presId="urn:microsoft.com/office/officeart/2005/8/layout/chevron2"/>
    <dgm:cxn modelId="{14614803-1AE9-4484-B475-713BAB65206C}" type="presParOf" srcId="{7EBBDEE6-A55E-47FA-9020-5BC46200AFFC}" destId="{FCA35A52-5E56-41CA-AAAA-74E510180904}" srcOrd="5" destOrd="0" presId="urn:microsoft.com/office/officeart/2005/8/layout/chevron2"/>
    <dgm:cxn modelId="{5FCECAA4-B55F-4524-B52B-5579AFC35055}" type="presParOf" srcId="{7EBBDEE6-A55E-47FA-9020-5BC46200AFFC}" destId="{BC0413A5-5CFC-41A1-A4D1-32D9D3A580EB}" srcOrd="6" destOrd="0" presId="urn:microsoft.com/office/officeart/2005/8/layout/chevron2"/>
    <dgm:cxn modelId="{A5C36485-CCE1-4523-911E-6345AFDCF231}" type="presParOf" srcId="{BC0413A5-5CFC-41A1-A4D1-32D9D3A580EB}" destId="{056CCBB6-5CE0-4348-89C6-99FB2D3AB62B}" srcOrd="0" destOrd="0" presId="urn:microsoft.com/office/officeart/2005/8/layout/chevron2"/>
    <dgm:cxn modelId="{49CDF3A4-EBDD-472A-8CEE-35499F216772}" type="presParOf" srcId="{BC0413A5-5CFC-41A1-A4D1-32D9D3A580EB}" destId="{90709722-0E94-45E4-BEDD-48CB660682DD}" srcOrd="1" destOrd="0" presId="urn:microsoft.com/office/officeart/2005/8/layout/chevron2"/>
    <dgm:cxn modelId="{5DA3A105-B2B5-4570-ACCF-A2B4BFFDA4E8}" type="presParOf" srcId="{7EBBDEE6-A55E-47FA-9020-5BC46200AFFC}" destId="{13B0A0BF-E273-47AE-B262-3C6C9C4E8968}" srcOrd="7" destOrd="0" presId="urn:microsoft.com/office/officeart/2005/8/layout/chevron2"/>
    <dgm:cxn modelId="{9C5603DB-FB5F-489A-A5FC-119F4545BE24}" type="presParOf" srcId="{7EBBDEE6-A55E-47FA-9020-5BC46200AFFC}" destId="{5FCAE6DF-E40E-46F3-84CF-149E85A19097}" srcOrd="8" destOrd="0" presId="urn:microsoft.com/office/officeart/2005/8/layout/chevron2"/>
    <dgm:cxn modelId="{F75C00D0-5E0F-413E-AC94-1D55800F95C3}" type="presParOf" srcId="{5FCAE6DF-E40E-46F3-84CF-149E85A19097}" destId="{EB2E52AE-8FCF-47D0-B499-CFCFAF1883A9}" srcOrd="0" destOrd="0" presId="urn:microsoft.com/office/officeart/2005/8/layout/chevron2"/>
    <dgm:cxn modelId="{3052A6C1-D8FE-443D-9D61-8901A566CBC1}" type="presParOf" srcId="{5FCAE6DF-E40E-46F3-84CF-149E85A19097}" destId="{C92F1771-01AA-4FF3-B7EC-0229DB7A592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79747" y="180063"/>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SDD</a:t>
          </a:r>
        </a:p>
      </dsp:txBody>
      <dsp:txXfrm rot="-5400000">
        <a:off x="1" y="419726"/>
        <a:ext cx="838822" cy="359495"/>
      </dsp:txXfrm>
    </dsp:sp>
    <dsp:sp modelId="{19C32B8D-512E-49A1-A0E6-109384C61E4D}">
      <dsp:nvSpPr>
        <dsp:cNvPr id="0" name=""/>
        <dsp:cNvSpPr/>
      </dsp:nvSpPr>
      <dsp:spPr>
        <a:xfrm rot="5400000">
          <a:off x="4083797" y="-324466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Software Design and Development (40%)</a:t>
          </a:r>
        </a:p>
      </dsp:txBody>
      <dsp:txXfrm rot="-5400000">
        <a:off x="838822" y="38338"/>
        <a:ext cx="7230834" cy="702860"/>
      </dsp:txXfrm>
    </dsp:sp>
    <dsp:sp modelId="{AAD30B60-88C6-4919-B6DD-9F480459E84E}">
      <dsp:nvSpPr>
        <dsp:cNvPr id="0" name=""/>
        <dsp:cNvSpPr/>
      </dsp:nvSpPr>
      <dsp:spPr>
        <a:xfrm rot="5400000">
          <a:off x="-179747" y="1230859"/>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DDD</a:t>
          </a:r>
        </a:p>
      </dsp:txBody>
      <dsp:txXfrm rot="-5400000">
        <a:off x="1" y="1470522"/>
        <a:ext cx="838822" cy="359495"/>
      </dsp:txXfrm>
    </dsp:sp>
    <dsp:sp modelId="{0DFDFC6D-8604-4378-B6A3-6A6720006C95}">
      <dsp:nvSpPr>
        <dsp:cNvPr id="0" name=""/>
        <dsp:cNvSpPr/>
      </dsp:nvSpPr>
      <dsp:spPr>
        <a:xfrm rot="5400000">
          <a:off x="4083797" y="-2193863"/>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Database Design and Development (25%)</a:t>
          </a:r>
        </a:p>
      </dsp:txBody>
      <dsp:txXfrm rot="-5400000">
        <a:off x="838822" y="1089135"/>
        <a:ext cx="7230834" cy="702860"/>
      </dsp:txXfrm>
    </dsp:sp>
    <dsp:sp modelId="{3451A250-69C4-4911-A975-CCB8D5F6053B}">
      <dsp:nvSpPr>
        <dsp:cNvPr id="0" name=""/>
        <dsp:cNvSpPr/>
      </dsp:nvSpPr>
      <dsp:spPr>
        <a:xfrm rot="5400000">
          <a:off x="-179747" y="2281656"/>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WDD</a:t>
          </a:r>
        </a:p>
      </dsp:txBody>
      <dsp:txXfrm rot="-5400000">
        <a:off x="1" y="2521319"/>
        <a:ext cx="838822" cy="359495"/>
      </dsp:txXfrm>
    </dsp:sp>
    <dsp:sp modelId="{56AFEC8A-7D45-4965-A718-64DE087BA59E}">
      <dsp:nvSpPr>
        <dsp:cNvPr id="0" name=""/>
        <dsp:cNvSpPr/>
      </dsp:nvSpPr>
      <dsp:spPr>
        <a:xfrm rot="5400000">
          <a:off x="4083797" y="-1143067"/>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Web Design and Development (25%)</a:t>
          </a:r>
        </a:p>
      </dsp:txBody>
      <dsp:txXfrm rot="-5400000">
        <a:off x="838822" y="2139931"/>
        <a:ext cx="7230834" cy="702860"/>
      </dsp:txXfrm>
    </dsp:sp>
    <dsp:sp modelId="{056CCBB6-5CE0-4348-89C6-99FB2D3AB62B}">
      <dsp:nvSpPr>
        <dsp:cNvPr id="0" name=""/>
        <dsp:cNvSpPr/>
      </dsp:nvSpPr>
      <dsp:spPr>
        <a:xfrm rot="5400000">
          <a:off x="-179747" y="3332452"/>
          <a:ext cx="1198317" cy="8388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C/Sys</a:t>
          </a:r>
        </a:p>
      </dsp:txBody>
      <dsp:txXfrm rot="-5400000">
        <a:off x="1" y="3572115"/>
        <a:ext cx="838822" cy="359495"/>
      </dsp:txXfrm>
    </dsp:sp>
    <dsp:sp modelId="{90709722-0E94-45E4-BEDD-48CB660682DD}">
      <dsp:nvSpPr>
        <dsp:cNvPr id="0" name=""/>
        <dsp:cNvSpPr/>
      </dsp:nvSpPr>
      <dsp:spPr>
        <a:xfrm rot="5400000">
          <a:off x="4083797" y="-92270"/>
          <a:ext cx="778906" cy="72688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0472" tIns="19685" rIns="19685" bIns="19685" numCol="1" spcCol="1270" anchor="ctr" anchorCtr="0">
          <a:noAutofit/>
        </a:bodyPr>
        <a:lstStyle/>
        <a:p>
          <a:pPr marL="285750" lvl="1" indent="-285750" algn="l" defTabSz="1377950">
            <a:lnSpc>
              <a:spcPct val="90000"/>
            </a:lnSpc>
            <a:spcBef>
              <a:spcPct val="0"/>
            </a:spcBef>
            <a:spcAft>
              <a:spcPct val="15000"/>
            </a:spcAft>
            <a:buChar char="•"/>
          </a:pPr>
          <a:r>
            <a:rPr lang="en-US" sz="3100" kern="1200" dirty="0"/>
            <a:t>Computer Systems (10%)</a:t>
          </a:r>
        </a:p>
      </dsp:txBody>
      <dsp:txXfrm rot="-5400000">
        <a:off x="838822" y="3190728"/>
        <a:ext cx="7230834" cy="702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8299-B840-4714-A5F6-769C74D74113}">
      <dsp:nvSpPr>
        <dsp:cNvPr id="0" name=""/>
        <dsp:cNvSpPr/>
      </dsp:nvSpPr>
      <dsp:spPr>
        <a:xfrm rot="5400000">
          <a:off x="-144690" y="146350"/>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SDD</a:t>
          </a:r>
        </a:p>
      </dsp:txBody>
      <dsp:txXfrm rot="-5400000">
        <a:off x="1" y="339270"/>
        <a:ext cx="675222" cy="289381"/>
      </dsp:txXfrm>
    </dsp:sp>
    <dsp:sp modelId="{19C32B8D-512E-49A1-A0E6-109384C61E4D}">
      <dsp:nvSpPr>
        <dsp:cNvPr id="0" name=""/>
        <dsp:cNvSpPr/>
      </dsp:nvSpPr>
      <dsp:spPr>
        <a:xfrm rot="5400000">
          <a:off x="4077955" y="-3401073"/>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Software Design and Development (54%)</a:t>
          </a:r>
        </a:p>
      </dsp:txBody>
      <dsp:txXfrm rot="-5400000">
        <a:off x="675223" y="32266"/>
        <a:ext cx="7401850" cy="565778"/>
      </dsp:txXfrm>
    </dsp:sp>
    <dsp:sp modelId="{AAD30B60-88C6-4919-B6DD-9F480459E84E}">
      <dsp:nvSpPr>
        <dsp:cNvPr id="0" name=""/>
        <dsp:cNvSpPr/>
      </dsp:nvSpPr>
      <dsp:spPr>
        <a:xfrm rot="5400000">
          <a:off x="-144690" y="992203"/>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DDD</a:t>
          </a:r>
        </a:p>
      </dsp:txBody>
      <dsp:txXfrm rot="-5400000">
        <a:off x="1" y="1185123"/>
        <a:ext cx="675222" cy="289381"/>
      </dsp:txXfrm>
    </dsp:sp>
    <dsp:sp modelId="{0DFDFC6D-8604-4378-B6A3-6A6720006C95}">
      <dsp:nvSpPr>
        <dsp:cNvPr id="0" name=""/>
        <dsp:cNvSpPr/>
      </dsp:nvSpPr>
      <dsp:spPr>
        <a:xfrm rot="5400000">
          <a:off x="4077955" y="-2555219"/>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Database Design and Development (33%)</a:t>
          </a:r>
        </a:p>
      </dsp:txBody>
      <dsp:txXfrm rot="-5400000">
        <a:off x="675223" y="878120"/>
        <a:ext cx="7401850" cy="565778"/>
      </dsp:txXfrm>
    </dsp:sp>
    <dsp:sp modelId="{17253025-0BE3-46B4-B2C8-BFD879D75B26}">
      <dsp:nvSpPr>
        <dsp:cNvPr id="0" name=""/>
        <dsp:cNvSpPr/>
      </dsp:nvSpPr>
      <dsp:spPr>
        <a:xfrm rot="5400000">
          <a:off x="-144690" y="1838057"/>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dirty="0"/>
        </a:p>
      </dsp:txBody>
      <dsp:txXfrm rot="-5400000">
        <a:off x="1" y="2030977"/>
        <a:ext cx="675222" cy="289381"/>
      </dsp:txXfrm>
    </dsp:sp>
    <dsp:sp modelId="{B2D4CD90-7709-4B59-AC85-D09667CFC12B}">
      <dsp:nvSpPr>
        <dsp:cNvPr id="0" name=""/>
        <dsp:cNvSpPr/>
      </dsp:nvSpPr>
      <dsp:spPr>
        <a:xfrm rot="5400000">
          <a:off x="4077955" y="-1709365"/>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Assignment</a:t>
          </a:r>
        </a:p>
      </dsp:txBody>
      <dsp:txXfrm rot="-5400000">
        <a:off x="675223" y="1723974"/>
        <a:ext cx="7401850" cy="565778"/>
      </dsp:txXfrm>
    </dsp:sp>
    <dsp:sp modelId="{056CCBB6-5CE0-4348-89C6-99FB2D3AB62B}">
      <dsp:nvSpPr>
        <dsp:cNvPr id="0" name=""/>
        <dsp:cNvSpPr/>
      </dsp:nvSpPr>
      <dsp:spPr>
        <a:xfrm rot="5400000">
          <a:off x="-144690" y="2683911"/>
          <a:ext cx="964603" cy="67522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C/Sys</a:t>
          </a:r>
        </a:p>
      </dsp:txBody>
      <dsp:txXfrm rot="-5400000">
        <a:off x="1" y="2876831"/>
        <a:ext cx="675222" cy="289381"/>
      </dsp:txXfrm>
    </dsp:sp>
    <dsp:sp modelId="{90709722-0E94-45E4-BEDD-48CB660682DD}">
      <dsp:nvSpPr>
        <dsp:cNvPr id="0" name=""/>
        <dsp:cNvSpPr/>
      </dsp:nvSpPr>
      <dsp:spPr>
        <a:xfrm rot="5400000">
          <a:off x="4077955" y="-863511"/>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kern="1200" dirty="0"/>
            <a:t>Computer Systems (13%)</a:t>
          </a:r>
        </a:p>
      </dsp:txBody>
      <dsp:txXfrm rot="-5400000">
        <a:off x="675223" y="2569828"/>
        <a:ext cx="7401850" cy="565778"/>
      </dsp:txXfrm>
    </dsp:sp>
    <dsp:sp modelId="{EB2E52AE-8FCF-47D0-B499-CFCFAF1883A9}">
      <dsp:nvSpPr>
        <dsp:cNvPr id="0" name=""/>
        <dsp:cNvSpPr/>
      </dsp:nvSpPr>
      <dsp:spPr>
        <a:xfrm rot="5400000">
          <a:off x="-144690" y="3529765"/>
          <a:ext cx="964603" cy="675222"/>
        </a:xfrm>
        <a:prstGeom prst="chevron">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endParaRPr lang="en-US" sz="1900" kern="1200" dirty="0"/>
        </a:p>
      </dsp:txBody>
      <dsp:txXfrm rot="-5400000">
        <a:off x="1" y="3722685"/>
        <a:ext cx="675222" cy="289381"/>
      </dsp:txXfrm>
    </dsp:sp>
    <dsp:sp modelId="{C92F1771-01AA-4FF3-B7EC-0229DB7A592C}">
      <dsp:nvSpPr>
        <dsp:cNvPr id="0" name=""/>
        <dsp:cNvSpPr/>
      </dsp:nvSpPr>
      <dsp:spPr>
        <a:xfrm rot="5400000">
          <a:off x="4077955" y="-17657"/>
          <a:ext cx="626992" cy="7432457"/>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7584" tIns="20320" rIns="20320" bIns="20320" numCol="1" spcCol="1270" anchor="ctr" anchorCtr="0">
          <a:noAutofit/>
        </a:bodyPr>
        <a:lstStyle/>
        <a:p>
          <a:pPr marL="285750" lvl="1" indent="-285750" algn="l" defTabSz="1422400">
            <a:lnSpc>
              <a:spcPct val="90000"/>
            </a:lnSpc>
            <a:spcBef>
              <a:spcPct val="0"/>
            </a:spcBef>
            <a:spcAft>
              <a:spcPct val="15000"/>
            </a:spcAft>
            <a:buChar char="•"/>
          </a:pPr>
          <a:r>
            <a:rPr lang="en-US" sz="3200" b="1" kern="1200" dirty="0"/>
            <a:t>Exam</a:t>
          </a:r>
        </a:p>
      </dsp:txBody>
      <dsp:txXfrm rot="-5400000">
        <a:off x="675223" y="3415682"/>
        <a:ext cx="7401850" cy="56577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508"/>
          </a:xfrm>
          <a:prstGeom prst="rect">
            <a:avLst/>
          </a:prstGeom>
        </p:spPr>
        <p:txBody>
          <a:bodyPr vert="horz" lIns="99066" tIns="49533" rIns="99066" bIns="49533" rtlCol="0"/>
          <a:lstStyle>
            <a:lvl1pPr algn="l">
              <a:defRPr sz="1300"/>
            </a:lvl1pPr>
          </a:lstStyle>
          <a:p>
            <a:endParaRPr lang="en-GB"/>
          </a:p>
        </p:txBody>
      </p:sp>
      <p:sp>
        <p:nvSpPr>
          <p:cNvPr id="3" name="Date Placeholder 2"/>
          <p:cNvSpPr>
            <a:spLocks noGrp="1"/>
          </p:cNvSpPr>
          <p:nvPr>
            <p:ph type="dt" idx="1"/>
          </p:nvPr>
        </p:nvSpPr>
        <p:spPr>
          <a:xfrm>
            <a:off x="4023092" y="0"/>
            <a:ext cx="3077739" cy="513508"/>
          </a:xfrm>
          <a:prstGeom prst="rect">
            <a:avLst/>
          </a:prstGeom>
        </p:spPr>
        <p:txBody>
          <a:bodyPr vert="horz" lIns="99066" tIns="49533" rIns="99066" bIns="49533" rtlCol="0"/>
          <a:lstStyle>
            <a:lvl1pPr algn="r">
              <a:defRPr sz="1300"/>
            </a:lvl1pPr>
          </a:lstStyle>
          <a:p>
            <a:fld id="{0E35528A-819C-4AD3-BDC3-2CDCE7BEAF53}" type="datetimeFigureOut">
              <a:rPr lang="en-GB" smtClean="0"/>
              <a:t>13/04/2026</a:t>
            </a:fld>
            <a:endParaRPr lang="en-GB"/>
          </a:p>
        </p:txBody>
      </p:sp>
      <p:sp>
        <p:nvSpPr>
          <p:cNvPr id="4" name="Slide Image Placeholder 3"/>
          <p:cNvSpPr>
            <a:spLocks noGrp="1" noRot="1" noChangeAspect="1"/>
          </p:cNvSpPr>
          <p:nvPr>
            <p:ph type="sldImg" idx="2"/>
          </p:nvPr>
        </p:nvSpPr>
        <p:spPr>
          <a:xfrm>
            <a:off x="481013" y="1279525"/>
            <a:ext cx="6140450" cy="3454400"/>
          </a:xfrm>
          <a:prstGeom prst="rect">
            <a:avLst/>
          </a:prstGeom>
          <a:noFill/>
          <a:ln w="12700">
            <a:solidFill>
              <a:prstClr val="black"/>
            </a:solidFill>
          </a:ln>
        </p:spPr>
        <p:txBody>
          <a:bodyPr vert="horz" lIns="99066" tIns="49533" rIns="99066" bIns="49533" rtlCol="0" anchor="ctr"/>
          <a:lstStyle/>
          <a:p>
            <a:endParaRPr lang="en-GB"/>
          </a:p>
        </p:txBody>
      </p:sp>
      <p:sp>
        <p:nvSpPr>
          <p:cNvPr id="5" name="Notes Placeholder 4"/>
          <p:cNvSpPr>
            <a:spLocks noGrp="1"/>
          </p:cNvSpPr>
          <p:nvPr>
            <p:ph type="body" sz="quarter" idx="3"/>
          </p:nvPr>
        </p:nvSpPr>
        <p:spPr>
          <a:xfrm>
            <a:off x="710248" y="4925407"/>
            <a:ext cx="5681980" cy="4029879"/>
          </a:xfrm>
          <a:prstGeom prst="rect">
            <a:avLst/>
          </a:prstGeom>
        </p:spPr>
        <p:txBody>
          <a:bodyPr vert="horz" lIns="99066" tIns="49533" rIns="99066" bIns="4953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7739" cy="513507"/>
          </a:xfrm>
          <a:prstGeom prst="rect">
            <a:avLst/>
          </a:prstGeom>
        </p:spPr>
        <p:txBody>
          <a:bodyPr vert="horz" lIns="99066" tIns="49533" rIns="99066" bIns="49533" rtlCol="0" anchor="b"/>
          <a:lstStyle>
            <a:lvl1pPr algn="l">
              <a:defRPr sz="1300"/>
            </a:lvl1pPr>
          </a:lstStyle>
          <a:p>
            <a:endParaRPr lang="en-GB"/>
          </a:p>
        </p:txBody>
      </p:sp>
      <p:sp>
        <p:nvSpPr>
          <p:cNvPr id="7" name="Slide Number Placeholder 6"/>
          <p:cNvSpPr>
            <a:spLocks noGrp="1"/>
          </p:cNvSpPr>
          <p:nvPr>
            <p:ph type="sldNum" sz="quarter" idx="5"/>
          </p:nvPr>
        </p:nvSpPr>
        <p:spPr>
          <a:xfrm>
            <a:off x="4023092" y="9721107"/>
            <a:ext cx="3077739" cy="513507"/>
          </a:xfrm>
          <a:prstGeom prst="rect">
            <a:avLst/>
          </a:prstGeom>
        </p:spPr>
        <p:txBody>
          <a:bodyPr vert="horz" lIns="99066" tIns="49533" rIns="99066" bIns="49533" rtlCol="0" anchor="b"/>
          <a:lstStyle>
            <a:lvl1pPr algn="r">
              <a:defRPr sz="1300"/>
            </a:lvl1pPr>
          </a:lstStyle>
          <a:p>
            <a:fld id="{B71FE5B5-A979-4370-A255-218EAB36A5F4}" type="slidenum">
              <a:rPr lang="en-GB" smtClean="0"/>
              <a:t>‹#›</a:t>
            </a:fld>
            <a:endParaRPr lang="en-GB"/>
          </a:p>
        </p:txBody>
      </p:sp>
    </p:spTree>
    <p:extLst>
      <p:ext uri="{BB962C8B-B14F-4D97-AF65-F5344CB8AC3E}">
        <p14:creationId xmlns:p14="http://schemas.microsoft.com/office/powerpoint/2010/main" val="259520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CDF05-886D-C379-3B46-035136275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F52D6-6F85-D1EE-E2D5-F72B04C23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DA0F7-D51A-F480-8258-6D164AF39DF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622CDCF-EAA2-4376-794F-9257F417159E}"/>
              </a:ext>
            </a:extLst>
          </p:cNvPr>
          <p:cNvSpPr>
            <a:spLocks noGrp="1"/>
          </p:cNvSpPr>
          <p:nvPr>
            <p:ph type="sldNum" sz="quarter" idx="10"/>
          </p:nvPr>
        </p:nvSpPr>
        <p:spPr/>
        <p:txBody>
          <a:bodyPr/>
          <a:lstStyle/>
          <a:p>
            <a:fld id="{B71FE5B5-A979-4370-A255-218EAB36A5F4}" type="slidenum">
              <a:rPr lang="en-GB" smtClean="0"/>
              <a:t>2</a:t>
            </a:fld>
            <a:endParaRPr lang="en-GB"/>
          </a:p>
        </p:txBody>
      </p:sp>
    </p:spTree>
    <p:extLst>
      <p:ext uri="{BB962C8B-B14F-4D97-AF65-F5344CB8AC3E}">
        <p14:creationId xmlns:p14="http://schemas.microsoft.com/office/powerpoint/2010/main" val="2138629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71FE5B5-A979-4370-A255-218EAB36A5F4}" type="slidenum">
              <a:rPr lang="en-GB" smtClean="0"/>
              <a:t>3</a:t>
            </a:fld>
            <a:endParaRPr lang="en-GB"/>
          </a:p>
        </p:txBody>
      </p:sp>
    </p:spTree>
    <p:extLst>
      <p:ext uri="{BB962C8B-B14F-4D97-AF65-F5344CB8AC3E}">
        <p14:creationId xmlns:p14="http://schemas.microsoft.com/office/powerpoint/2010/main" val="3877183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a:t>
            </a:fld>
            <a:endParaRPr lang="en-GB"/>
          </a:p>
        </p:txBody>
      </p:sp>
    </p:spTree>
    <p:extLst>
      <p:ext uri="{BB962C8B-B14F-4D97-AF65-F5344CB8AC3E}">
        <p14:creationId xmlns:p14="http://schemas.microsoft.com/office/powerpoint/2010/main" val="1814238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a:t>
            </a:fld>
            <a:endParaRPr lang="en-GB"/>
          </a:p>
        </p:txBody>
      </p:sp>
    </p:spTree>
    <p:extLst>
      <p:ext uri="{BB962C8B-B14F-4D97-AF65-F5344CB8AC3E}">
        <p14:creationId xmlns:p14="http://schemas.microsoft.com/office/powerpoint/2010/main" val="4281979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a:t>
            </a:r>
          </a:p>
        </p:txBody>
      </p:sp>
      <p:sp>
        <p:nvSpPr>
          <p:cNvPr id="4" name="Slide Number Placeholder 3"/>
          <p:cNvSpPr>
            <a:spLocks noGrp="1"/>
          </p:cNvSpPr>
          <p:nvPr>
            <p:ph type="sldNum" sz="quarter" idx="5"/>
          </p:nvPr>
        </p:nvSpPr>
        <p:spPr/>
        <p:txBody>
          <a:bodyPr/>
          <a:lstStyle/>
          <a:p>
            <a:fld id="{B71FE5B5-A979-4370-A255-218EAB36A5F4}" type="slidenum">
              <a:rPr lang="en-GB" smtClean="0"/>
              <a:t>6</a:t>
            </a:fld>
            <a:endParaRPr lang="en-GB"/>
          </a:p>
        </p:txBody>
      </p:sp>
    </p:spTree>
    <p:extLst>
      <p:ext uri="{BB962C8B-B14F-4D97-AF65-F5344CB8AC3E}">
        <p14:creationId xmlns:p14="http://schemas.microsoft.com/office/powerpoint/2010/main" val="169267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https://www.w3.org/Style/Examples/011/firstcss</a:t>
            </a:r>
          </a:p>
        </p:txBody>
      </p:sp>
      <p:sp>
        <p:nvSpPr>
          <p:cNvPr id="4" name="Slide Number Placeholder 3"/>
          <p:cNvSpPr>
            <a:spLocks noGrp="1"/>
          </p:cNvSpPr>
          <p:nvPr>
            <p:ph type="sldNum" sz="quarter" idx="5"/>
          </p:nvPr>
        </p:nvSpPr>
        <p:spPr/>
        <p:txBody>
          <a:bodyPr/>
          <a:lstStyle/>
          <a:p>
            <a:fld id="{B71FE5B5-A979-4370-A255-218EAB36A5F4}" type="slidenum">
              <a:rPr lang="en-GB" smtClean="0"/>
              <a:t>7</a:t>
            </a:fld>
            <a:endParaRPr lang="en-GB"/>
          </a:p>
        </p:txBody>
      </p:sp>
    </p:spTree>
    <p:extLst>
      <p:ext uri="{BB962C8B-B14F-4D97-AF65-F5344CB8AC3E}">
        <p14:creationId xmlns:p14="http://schemas.microsoft.com/office/powerpoint/2010/main" val="2380417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a:t>
            </a:fld>
            <a:endParaRPr lang="en-GB"/>
          </a:p>
        </p:txBody>
      </p:sp>
    </p:spTree>
    <p:extLst>
      <p:ext uri="{BB962C8B-B14F-4D97-AF65-F5344CB8AC3E}">
        <p14:creationId xmlns:p14="http://schemas.microsoft.com/office/powerpoint/2010/main" val="1217883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https://html.spec.whatwg.org/multipage/semantics.html#the-html-element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A71D5D"/>
                </a:solidFill>
                <a:latin typeface="Consolas" panose="020B0609020204030204" pitchFamily="49" charset="0"/>
              </a:rPr>
              <a:t>&lt;!DOCTYPE</a:t>
            </a:r>
            <a:r>
              <a:rPr lang="en-US" altLang="en-US" sz="1200" dirty="0">
                <a:solidFill>
                  <a:srgbClr val="000000"/>
                </a:solidFill>
                <a:latin typeface="Consolas" panose="020B0609020204030204" pitchFamily="49" charset="0"/>
              </a:rPr>
              <a:t> html</a:t>
            </a:r>
            <a:r>
              <a:rPr lang="en-US" altLang="en-US" sz="1200" dirty="0">
                <a:solidFill>
                  <a:srgbClr val="A71D5D"/>
                </a:solidFill>
                <a:latin typeface="Consolas" panose="020B0609020204030204" pitchFamily="49" charset="0"/>
              </a:rPr>
              <a:t>&gt;</a:t>
            </a:r>
            <a:r>
              <a:rPr lang="en-GB" altLang="en-US" sz="1200" dirty="0">
                <a:solidFill>
                  <a:srgbClr val="A71D5D"/>
                </a:solidFill>
                <a:latin typeface="Consolas" panose="020B0609020204030204" pitchFamily="49" charset="0"/>
              </a:rPr>
              <a:t> = HTML 5</a:t>
            </a:r>
            <a:endParaRPr lang="en-US" altLang="en-US" sz="1200" dirty="0">
              <a:solidFill>
                <a:srgbClr val="000000"/>
              </a:solidFill>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B71FE5B5-A979-4370-A255-218EAB36A5F4}" type="slidenum">
              <a:rPr lang="en-GB" smtClean="0"/>
              <a:t>9</a:t>
            </a:fld>
            <a:endParaRPr lang="en-GB"/>
          </a:p>
        </p:txBody>
      </p:sp>
    </p:spTree>
    <p:extLst>
      <p:ext uri="{BB962C8B-B14F-4D97-AF65-F5344CB8AC3E}">
        <p14:creationId xmlns:p14="http://schemas.microsoft.com/office/powerpoint/2010/main" val="2972751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EE4E-AC6B-4C9D-A2F9-F59ADE63B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8EB70-A9B6-A04E-C969-90755CE50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E6C00-95E4-4F8D-9352-2DE63293C0A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BBFB916-5449-11A8-218E-DFFBBEDC44B4}"/>
              </a:ext>
            </a:extLst>
          </p:cNvPr>
          <p:cNvSpPr>
            <a:spLocks noGrp="1"/>
          </p:cNvSpPr>
          <p:nvPr>
            <p:ph type="sldNum" sz="quarter" idx="5"/>
          </p:nvPr>
        </p:nvSpPr>
        <p:spPr/>
        <p:txBody>
          <a:bodyPr/>
          <a:lstStyle/>
          <a:p>
            <a:fld id="{B71FE5B5-A979-4370-A255-218EAB36A5F4}" type="slidenum">
              <a:rPr lang="en-GB" smtClean="0"/>
              <a:t>10</a:t>
            </a:fld>
            <a:endParaRPr lang="en-GB"/>
          </a:p>
        </p:txBody>
      </p:sp>
    </p:spTree>
    <p:extLst>
      <p:ext uri="{BB962C8B-B14F-4D97-AF65-F5344CB8AC3E}">
        <p14:creationId xmlns:p14="http://schemas.microsoft.com/office/powerpoint/2010/main" val="267236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https://html.spec.whatwg.org/multipage/semantics.html#the-head-element</a:t>
            </a:r>
          </a:p>
          <a:p>
            <a:endParaRPr lang="en-GB" dirty="0"/>
          </a:p>
          <a:p>
            <a:r>
              <a:rPr lang="en-GB" dirty="0"/>
              <a:t>https://html.spec.whatwg.org/multipage/sections.html#the-body-element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11</a:t>
            </a:fld>
            <a:endParaRPr lang="en-GB"/>
          </a:p>
        </p:txBody>
      </p:sp>
    </p:spTree>
    <p:extLst>
      <p:ext uri="{BB962C8B-B14F-4D97-AF65-F5344CB8AC3E}">
        <p14:creationId xmlns:p14="http://schemas.microsoft.com/office/powerpoint/2010/main" val="1061550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722A8-906D-DE72-C2B9-02915DD763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93B1F-C4F3-B26F-0630-896184D62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F42518-BCDE-642F-B235-18A7E5EDE91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756B38-E934-29B5-7BFC-B69A6278E3E6}"/>
              </a:ext>
            </a:extLst>
          </p:cNvPr>
          <p:cNvSpPr>
            <a:spLocks noGrp="1"/>
          </p:cNvSpPr>
          <p:nvPr>
            <p:ph type="sldNum" sz="quarter" idx="5"/>
          </p:nvPr>
        </p:nvSpPr>
        <p:spPr/>
        <p:txBody>
          <a:bodyPr/>
          <a:lstStyle/>
          <a:p>
            <a:fld id="{B71FE5B5-A979-4370-A255-218EAB36A5F4}" type="slidenum">
              <a:rPr lang="en-GB" smtClean="0"/>
              <a:t>12</a:t>
            </a:fld>
            <a:endParaRPr lang="en-GB"/>
          </a:p>
        </p:txBody>
      </p:sp>
    </p:spTree>
    <p:extLst>
      <p:ext uri="{BB962C8B-B14F-4D97-AF65-F5344CB8AC3E}">
        <p14:creationId xmlns:p14="http://schemas.microsoft.com/office/powerpoint/2010/main" val="404284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https://html.spec.whatwg.org/multipage/semantics.html#the-meta-element</a:t>
            </a:r>
          </a:p>
          <a:p>
            <a:r>
              <a:rPr lang="en-GB" dirty="0"/>
              <a:t>Not part of N5 spec</a:t>
            </a:r>
          </a:p>
        </p:txBody>
      </p:sp>
      <p:sp>
        <p:nvSpPr>
          <p:cNvPr id="4" name="Slide Number Placeholder 3"/>
          <p:cNvSpPr>
            <a:spLocks noGrp="1"/>
          </p:cNvSpPr>
          <p:nvPr>
            <p:ph type="sldNum" sz="quarter" idx="5"/>
          </p:nvPr>
        </p:nvSpPr>
        <p:spPr/>
        <p:txBody>
          <a:bodyPr/>
          <a:lstStyle/>
          <a:p>
            <a:fld id="{B71FE5B5-A979-4370-A255-218EAB36A5F4}" type="slidenum">
              <a:rPr lang="en-GB" smtClean="0"/>
              <a:t>13</a:t>
            </a:fld>
            <a:endParaRPr lang="en-GB"/>
          </a:p>
        </p:txBody>
      </p:sp>
    </p:spTree>
    <p:extLst>
      <p:ext uri="{BB962C8B-B14F-4D97-AF65-F5344CB8AC3E}">
        <p14:creationId xmlns:p14="http://schemas.microsoft.com/office/powerpoint/2010/main" val="563065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8357B-791F-FB12-1E61-0B3B22063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0CDF8-D79C-4068-93D0-52EC2346E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89470-F538-EDC2-2B29-8EEE37076543}"/>
              </a:ext>
            </a:extLst>
          </p:cNvPr>
          <p:cNvSpPr>
            <a:spLocks noGrp="1"/>
          </p:cNvSpPr>
          <p:nvPr>
            <p:ph type="body" idx="1"/>
          </p:nvPr>
        </p:nvSpPr>
        <p:spPr/>
        <p:txBody>
          <a:bodyPr/>
          <a:lstStyle/>
          <a:p>
            <a:r>
              <a:rPr lang="en-GB" dirty="0"/>
              <a:t>https://html.spec.whatwg.org/multipage/semantics.html#the-title-element</a:t>
            </a:r>
          </a:p>
        </p:txBody>
      </p:sp>
      <p:sp>
        <p:nvSpPr>
          <p:cNvPr id="4" name="Slide Number Placeholder 3">
            <a:extLst>
              <a:ext uri="{FF2B5EF4-FFF2-40B4-BE49-F238E27FC236}">
                <a16:creationId xmlns:a16="http://schemas.microsoft.com/office/drawing/2014/main" id="{578B1830-8B67-4DE7-711D-85653333B3E6}"/>
              </a:ext>
            </a:extLst>
          </p:cNvPr>
          <p:cNvSpPr>
            <a:spLocks noGrp="1"/>
          </p:cNvSpPr>
          <p:nvPr>
            <p:ph type="sldNum" sz="quarter" idx="5"/>
          </p:nvPr>
        </p:nvSpPr>
        <p:spPr/>
        <p:txBody>
          <a:bodyPr/>
          <a:lstStyle/>
          <a:p>
            <a:fld id="{B71FE5B5-A979-4370-A255-218EAB36A5F4}" type="slidenum">
              <a:rPr lang="en-GB" smtClean="0"/>
              <a:t>14</a:t>
            </a:fld>
            <a:endParaRPr lang="en-GB"/>
          </a:p>
        </p:txBody>
      </p:sp>
    </p:spTree>
    <p:extLst>
      <p:ext uri="{BB962C8B-B14F-4D97-AF65-F5344CB8AC3E}">
        <p14:creationId xmlns:p14="http://schemas.microsoft.com/office/powerpoint/2010/main" val="34922559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945AF-74CE-BDCA-801B-43700287D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DA83B-DC7E-E30E-B1C2-0C4354BC1D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C8A98-0DBE-5149-0DE0-612689B52D20}"/>
              </a:ext>
            </a:extLst>
          </p:cNvPr>
          <p:cNvSpPr>
            <a:spLocks noGrp="1"/>
          </p:cNvSpPr>
          <p:nvPr>
            <p:ph type="body" idx="1"/>
          </p:nvPr>
        </p:nvSpPr>
        <p:spPr/>
        <p:txBody>
          <a:bodyPr/>
          <a:lstStyle/>
          <a:p>
            <a:r>
              <a:rPr lang="en-GB" dirty="0"/>
              <a:t>https://html.spec.whatwg.org/multipage/semantics.html#the-title-element</a:t>
            </a:r>
          </a:p>
        </p:txBody>
      </p:sp>
      <p:sp>
        <p:nvSpPr>
          <p:cNvPr id="4" name="Slide Number Placeholder 3">
            <a:extLst>
              <a:ext uri="{FF2B5EF4-FFF2-40B4-BE49-F238E27FC236}">
                <a16:creationId xmlns:a16="http://schemas.microsoft.com/office/drawing/2014/main" id="{324B10C7-7324-95FF-605F-F86EB6980773}"/>
              </a:ext>
            </a:extLst>
          </p:cNvPr>
          <p:cNvSpPr>
            <a:spLocks noGrp="1"/>
          </p:cNvSpPr>
          <p:nvPr>
            <p:ph type="sldNum" sz="quarter" idx="5"/>
          </p:nvPr>
        </p:nvSpPr>
        <p:spPr/>
        <p:txBody>
          <a:bodyPr/>
          <a:lstStyle/>
          <a:p>
            <a:fld id="{B71FE5B5-A979-4370-A255-218EAB36A5F4}" type="slidenum">
              <a:rPr lang="en-GB" smtClean="0"/>
              <a:t>15</a:t>
            </a:fld>
            <a:endParaRPr lang="en-GB"/>
          </a:p>
        </p:txBody>
      </p:sp>
    </p:spTree>
    <p:extLst>
      <p:ext uri="{BB962C8B-B14F-4D97-AF65-F5344CB8AC3E}">
        <p14:creationId xmlns:p14="http://schemas.microsoft.com/office/powerpoint/2010/main" val="1712188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https://www.w3.org/Style/Examples/011/firstcss</a:t>
            </a:r>
          </a:p>
        </p:txBody>
      </p:sp>
      <p:sp>
        <p:nvSpPr>
          <p:cNvPr id="4" name="Slide Number Placeholder 3"/>
          <p:cNvSpPr>
            <a:spLocks noGrp="1"/>
          </p:cNvSpPr>
          <p:nvPr>
            <p:ph type="sldNum" sz="quarter" idx="5"/>
          </p:nvPr>
        </p:nvSpPr>
        <p:spPr/>
        <p:txBody>
          <a:bodyPr/>
          <a:lstStyle/>
          <a:p>
            <a:fld id="{B71FE5B5-A979-4370-A255-218EAB36A5F4}" type="slidenum">
              <a:rPr lang="en-GB" smtClean="0"/>
              <a:t>16</a:t>
            </a:fld>
            <a:endParaRPr lang="en-GB"/>
          </a:p>
        </p:txBody>
      </p:sp>
    </p:spTree>
    <p:extLst>
      <p:ext uri="{BB962C8B-B14F-4D97-AF65-F5344CB8AC3E}">
        <p14:creationId xmlns:p14="http://schemas.microsoft.com/office/powerpoint/2010/main" val="33864291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17</a:t>
            </a:fld>
            <a:endParaRPr lang="en-GB"/>
          </a:p>
        </p:txBody>
      </p:sp>
    </p:spTree>
    <p:extLst>
      <p:ext uri="{BB962C8B-B14F-4D97-AF65-F5344CB8AC3E}">
        <p14:creationId xmlns:p14="http://schemas.microsoft.com/office/powerpoint/2010/main" val="1933491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https://html.spec.whatwg.org/multipage/sections.html#the-h1,-h2,-h3,-h4,-h5,-and-h6-elements</a:t>
            </a:r>
          </a:p>
        </p:txBody>
      </p:sp>
      <p:sp>
        <p:nvSpPr>
          <p:cNvPr id="4" name="Slide Number Placeholder 3"/>
          <p:cNvSpPr>
            <a:spLocks noGrp="1"/>
          </p:cNvSpPr>
          <p:nvPr>
            <p:ph type="sldNum" sz="quarter" idx="5"/>
          </p:nvPr>
        </p:nvSpPr>
        <p:spPr/>
        <p:txBody>
          <a:bodyPr/>
          <a:lstStyle/>
          <a:p>
            <a:fld id="{B71FE5B5-A979-4370-A255-218EAB36A5F4}" type="slidenum">
              <a:rPr lang="en-GB" smtClean="0"/>
              <a:t>19</a:t>
            </a:fld>
            <a:endParaRPr lang="en-GB"/>
          </a:p>
        </p:txBody>
      </p:sp>
    </p:spTree>
    <p:extLst>
      <p:ext uri="{BB962C8B-B14F-4D97-AF65-F5344CB8AC3E}">
        <p14:creationId xmlns:p14="http://schemas.microsoft.com/office/powerpoint/2010/main" val="1991866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76B89-DE1D-141A-E31F-D54FA42DE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9F6CB-BD15-CAA2-DDCF-4674DFDA7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CC531-0789-174F-BD89-D8787AFB00B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E37465A-63E7-3FB7-E6E9-15A0B2496188}"/>
              </a:ext>
            </a:extLst>
          </p:cNvPr>
          <p:cNvSpPr>
            <a:spLocks noGrp="1"/>
          </p:cNvSpPr>
          <p:nvPr>
            <p:ph type="sldNum" sz="quarter" idx="5"/>
          </p:nvPr>
        </p:nvSpPr>
        <p:spPr/>
        <p:txBody>
          <a:bodyPr/>
          <a:lstStyle/>
          <a:p>
            <a:fld id="{B71FE5B5-A979-4370-A255-218EAB36A5F4}" type="slidenum">
              <a:rPr lang="en-GB" smtClean="0"/>
              <a:t>20</a:t>
            </a:fld>
            <a:endParaRPr lang="en-GB"/>
          </a:p>
        </p:txBody>
      </p:sp>
    </p:spTree>
    <p:extLst>
      <p:ext uri="{BB962C8B-B14F-4D97-AF65-F5344CB8AC3E}">
        <p14:creationId xmlns:p14="http://schemas.microsoft.com/office/powerpoint/2010/main" val="3201516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https://html.spec.whatwg.org/multipage/grouping-content.html#the-p-element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21</a:t>
            </a:fld>
            <a:endParaRPr lang="en-GB"/>
          </a:p>
        </p:txBody>
      </p:sp>
    </p:spTree>
    <p:extLst>
      <p:ext uri="{BB962C8B-B14F-4D97-AF65-F5344CB8AC3E}">
        <p14:creationId xmlns:p14="http://schemas.microsoft.com/office/powerpoint/2010/main" val="31767193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D05E9-B590-B707-A990-F16D7C204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407E3-ADD8-C1FB-5C57-87240B5CF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3B19F-4D4D-6277-9F7F-D3D62161A86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5A7E889-1F27-B8FF-DF93-95DE6F5107CA}"/>
              </a:ext>
            </a:extLst>
          </p:cNvPr>
          <p:cNvSpPr>
            <a:spLocks noGrp="1"/>
          </p:cNvSpPr>
          <p:nvPr>
            <p:ph type="sldNum" sz="quarter" idx="5"/>
          </p:nvPr>
        </p:nvSpPr>
        <p:spPr/>
        <p:txBody>
          <a:bodyPr/>
          <a:lstStyle/>
          <a:p>
            <a:fld id="{B71FE5B5-A979-4370-A255-218EAB36A5F4}" type="slidenum">
              <a:rPr lang="en-GB" smtClean="0"/>
              <a:t>22</a:t>
            </a:fld>
            <a:endParaRPr lang="en-GB"/>
          </a:p>
        </p:txBody>
      </p:sp>
    </p:spTree>
    <p:extLst>
      <p:ext uri="{BB962C8B-B14F-4D97-AF65-F5344CB8AC3E}">
        <p14:creationId xmlns:p14="http://schemas.microsoft.com/office/powerpoint/2010/main" val="453883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https://html.spec.whatwg.org/multipage/grouping-content.html#the-ol-element</a:t>
            </a:r>
          </a:p>
          <a:p>
            <a:r>
              <a:rPr lang="en-GB" dirty="0"/>
              <a:t>https://html.spec.whatwg.org/multipage/grouping-content.html#the-li-element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24</a:t>
            </a:fld>
            <a:endParaRPr lang="en-GB"/>
          </a:p>
        </p:txBody>
      </p:sp>
    </p:spTree>
    <p:extLst>
      <p:ext uri="{BB962C8B-B14F-4D97-AF65-F5344CB8AC3E}">
        <p14:creationId xmlns:p14="http://schemas.microsoft.com/office/powerpoint/2010/main" val="2054366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039D2-7315-5915-38B0-AC90B4F9E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568C2-027F-C91A-439D-9F315AA449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BC536-F73C-2841-4269-D01784FB045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70FC554-A5C8-AB71-FFB9-663D9A38A20B}"/>
              </a:ext>
            </a:extLst>
          </p:cNvPr>
          <p:cNvSpPr>
            <a:spLocks noGrp="1"/>
          </p:cNvSpPr>
          <p:nvPr>
            <p:ph type="sldNum" sz="quarter" idx="5"/>
          </p:nvPr>
        </p:nvSpPr>
        <p:spPr/>
        <p:txBody>
          <a:bodyPr/>
          <a:lstStyle/>
          <a:p>
            <a:fld id="{B71FE5B5-A979-4370-A255-218EAB36A5F4}" type="slidenum">
              <a:rPr lang="en-GB" smtClean="0"/>
              <a:t>25</a:t>
            </a:fld>
            <a:endParaRPr lang="en-GB"/>
          </a:p>
        </p:txBody>
      </p:sp>
    </p:spTree>
    <p:extLst>
      <p:ext uri="{BB962C8B-B14F-4D97-AF65-F5344CB8AC3E}">
        <p14:creationId xmlns:p14="http://schemas.microsoft.com/office/powerpoint/2010/main" val="1080521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72FD0-8B1D-8A18-8F35-2C6DBDE3D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1F0A0-EA12-4EB3-D465-AFFAE503F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342CD6-F922-2152-B6F1-A9789D862BB9}"/>
              </a:ext>
            </a:extLst>
          </p:cNvPr>
          <p:cNvSpPr>
            <a:spLocks noGrp="1"/>
          </p:cNvSpPr>
          <p:nvPr>
            <p:ph type="body" idx="1"/>
          </p:nvPr>
        </p:nvSpPr>
        <p:spPr/>
        <p:txBody>
          <a:bodyPr/>
          <a:lstStyle/>
          <a:p>
            <a:r>
              <a:rPr lang="en-GB" dirty="0"/>
              <a:t>https://html.spec.whatwg.org/multipage/grouping-content.html#the-ol-element</a:t>
            </a:r>
          </a:p>
          <a:p>
            <a:endParaRPr lang="en-GB" dirty="0"/>
          </a:p>
          <a:p>
            <a:r>
              <a:rPr lang="en-GB" dirty="0"/>
              <a:t>https://html.spec.whatwg.org/multipage/grouping-content.html#the-li-element</a:t>
            </a:r>
          </a:p>
        </p:txBody>
      </p:sp>
      <p:sp>
        <p:nvSpPr>
          <p:cNvPr id="4" name="Slide Number Placeholder 3">
            <a:extLst>
              <a:ext uri="{FF2B5EF4-FFF2-40B4-BE49-F238E27FC236}">
                <a16:creationId xmlns:a16="http://schemas.microsoft.com/office/drawing/2014/main" id="{E20F67E3-A7CD-0B9E-91CE-A4A358BA1E24}"/>
              </a:ext>
            </a:extLst>
          </p:cNvPr>
          <p:cNvSpPr>
            <a:spLocks noGrp="1"/>
          </p:cNvSpPr>
          <p:nvPr>
            <p:ph type="sldNum" sz="quarter" idx="5"/>
          </p:nvPr>
        </p:nvSpPr>
        <p:spPr/>
        <p:txBody>
          <a:bodyPr/>
          <a:lstStyle/>
          <a:p>
            <a:fld id="{B71FE5B5-A979-4370-A255-218EAB36A5F4}" type="slidenum">
              <a:rPr lang="en-GB" smtClean="0"/>
              <a:t>26</a:t>
            </a:fld>
            <a:endParaRPr lang="en-GB"/>
          </a:p>
        </p:txBody>
      </p:sp>
    </p:spTree>
    <p:extLst>
      <p:ext uri="{BB962C8B-B14F-4D97-AF65-F5344CB8AC3E}">
        <p14:creationId xmlns:p14="http://schemas.microsoft.com/office/powerpoint/2010/main" val="18578041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07DD7-7FA6-3F4A-EA6A-EA26F8315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BA6A-2D0C-DB95-97F6-5714F60ADC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58195-3376-F20C-8FC2-A64491861C0B}"/>
              </a:ext>
            </a:extLst>
          </p:cNvPr>
          <p:cNvSpPr>
            <a:spLocks noGrp="1"/>
          </p:cNvSpPr>
          <p:nvPr>
            <p:ph type="body" idx="1"/>
          </p:nvPr>
        </p:nvSpPr>
        <p:spPr/>
        <p:txBody>
          <a:bodyPr/>
          <a:lstStyle/>
          <a:p>
            <a:r>
              <a:rPr lang="en-GB" dirty="0"/>
              <a:t>Use W3C HTML validator</a:t>
            </a:r>
          </a:p>
        </p:txBody>
      </p:sp>
      <p:sp>
        <p:nvSpPr>
          <p:cNvPr id="4" name="Slide Number Placeholder 3">
            <a:extLst>
              <a:ext uri="{FF2B5EF4-FFF2-40B4-BE49-F238E27FC236}">
                <a16:creationId xmlns:a16="http://schemas.microsoft.com/office/drawing/2014/main" id="{BE478A08-D6F1-67AD-A2CC-5CE979A1FD90}"/>
              </a:ext>
            </a:extLst>
          </p:cNvPr>
          <p:cNvSpPr>
            <a:spLocks noGrp="1"/>
          </p:cNvSpPr>
          <p:nvPr>
            <p:ph type="sldNum" sz="quarter" idx="5"/>
          </p:nvPr>
        </p:nvSpPr>
        <p:spPr/>
        <p:txBody>
          <a:bodyPr/>
          <a:lstStyle/>
          <a:p>
            <a:fld id="{B71FE5B5-A979-4370-A255-218EAB36A5F4}" type="slidenum">
              <a:rPr lang="en-GB" smtClean="0"/>
              <a:t>27</a:t>
            </a:fld>
            <a:endParaRPr lang="en-GB"/>
          </a:p>
        </p:txBody>
      </p:sp>
    </p:spTree>
    <p:extLst>
      <p:ext uri="{BB962C8B-B14F-4D97-AF65-F5344CB8AC3E}">
        <p14:creationId xmlns:p14="http://schemas.microsoft.com/office/powerpoint/2010/main" val="2204129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28</a:t>
            </a:fld>
            <a:endParaRPr lang="en-GB"/>
          </a:p>
        </p:txBody>
      </p:sp>
    </p:spTree>
    <p:extLst>
      <p:ext uri="{BB962C8B-B14F-4D97-AF65-F5344CB8AC3E}">
        <p14:creationId xmlns:p14="http://schemas.microsoft.com/office/powerpoint/2010/main" val="24823227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https://www.w3.org/Style/Examples/011/firstcs</a:t>
            </a:r>
          </a:p>
        </p:txBody>
      </p:sp>
      <p:sp>
        <p:nvSpPr>
          <p:cNvPr id="4" name="Slide Number Placeholder 3"/>
          <p:cNvSpPr>
            <a:spLocks noGrp="1"/>
          </p:cNvSpPr>
          <p:nvPr>
            <p:ph type="sldNum" sz="quarter" idx="5"/>
          </p:nvPr>
        </p:nvSpPr>
        <p:spPr/>
        <p:txBody>
          <a:bodyPr/>
          <a:lstStyle/>
          <a:p>
            <a:fld id="{B71FE5B5-A979-4370-A255-218EAB36A5F4}" type="slidenum">
              <a:rPr lang="en-GB" smtClean="0"/>
              <a:t>31</a:t>
            </a:fld>
            <a:endParaRPr lang="en-GB"/>
          </a:p>
        </p:txBody>
      </p:sp>
    </p:spTree>
    <p:extLst>
      <p:ext uri="{BB962C8B-B14F-4D97-AF65-F5344CB8AC3E}">
        <p14:creationId xmlns:p14="http://schemas.microsoft.com/office/powerpoint/2010/main" val="4074380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32</a:t>
            </a:fld>
            <a:endParaRPr lang="en-GB"/>
          </a:p>
        </p:txBody>
      </p:sp>
    </p:spTree>
    <p:extLst>
      <p:ext uri="{BB962C8B-B14F-4D97-AF65-F5344CB8AC3E}">
        <p14:creationId xmlns:p14="http://schemas.microsoft.com/office/powerpoint/2010/main" val="42415762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https://html.spec.whatwg.org/multipage/indices.html#attributes-3</a:t>
            </a:r>
          </a:p>
          <a:p>
            <a:r>
              <a:rPr lang="en-GB" dirty="0"/>
              <a:t>https://developer.mozilla.org/en-US/docs/Web/HTML/Attributes</a:t>
            </a:r>
          </a:p>
        </p:txBody>
      </p:sp>
      <p:sp>
        <p:nvSpPr>
          <p:cNvPr id="4" name="Slide Number Placeholder 3"/>
          <p:cNvSpPr>
            <a:spLocks noGrp="1"/>
          </p:cNvSpPr>
          <p:nvPr>
            <p:ph type="sldNum" sz="quarter" idx="5"/>
          </p:nvPr>
        </p:nvSpPr>
        <p:spPr/>
        <p:txBody>
          <a:bodyPr/>
          <a:lstStyle/>
          <a:p>
            <a:fld id="{B71FE5B5-A979-4370-A255-218EAB36A5F4}" type="slidenum">
              <a:rPr lang="en-GB" smtClean="0"/>
              <a:t>33</a:t>
            </a:fld>
            <a:endParaRPr lang="en-GB"/>
          </a:p>
        </p:txBody>
      </p:sp>
    </p:spTree>
    <p:extLst>
      <p:ext uri="{BB962C8B-B14F-4D97-AF65-F5344CB8AC3E}">
        <p14:creationId xmlns:p14="http://schemas.microsoft.com/office/powerpoint/2010/main" val="16409265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34</a:t>
            </a:fld>
            <a:endParaRPr lang="en-GB"/>
          </a:p>
        </p:txBody>
      </p:sp>
    </p:spTree>
    <p:extLst>
      <p:ext uri="{BB962C8B-B14F-4D97-AF65-F5344CB8AC3E}">
        <p14:creationId xmlns:p14="http://schemas.microsoft.com/office/powerpoint/2010/main" val="227781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https://html.spec.whatwg.org/multipage/embedded-content.html#the-img-element</a:t>
            </a:r>
          </a:p>
          <a:p>
            <a:r>
              <a:rPr lang="en-GB" dirty="0"/>
              <a:t>Add to webpage before getting image – see alt text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solidFill>
                  <a:srgbClr val="FF0000"/>
                </a:solidFill>
              </a:rPr>
              <a:t>No</a:t>
            </a:r>
            <a:r>
              <a:rPr lang="en-GB" dirty="0"/>
              <a:t> </a:t>
            </a:r>
            <a:r>
              <a:rPr lang="en-GB" dirty="0">
                <a:latin typeface="Consolas" panose="020B0609020204030204" pitchFamily="49" charset="0"/>
              </a:rPr>
              <a:t>type</a:t>
            </a:r>
            <a:r>
              <a:rPr lang="en-GB" dirty="0"/>
              <a:t> attribute!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src</a:t>
            </a:r>
            <a:r>
              <a:rPr lang="en-GB" dirty="0"/>
              <a:t>: source URL</a:t>
            </a:r>
          </a:p>
        </p:txBody>
      </p:sp>
      <p:sp>
        <p:nvSpPr>
          <p:cNvPr id="4" name="Slide Number Placeholder 3"/>
          <p:cNvSpPr>
            <a:spLocks noGrp="1"/>
          </p:cNvSpPr>
          <p:nvPr>
            <p:ph type="sldNum" sz="quarter" idx="5"/>
          </p:nvPr>
        </p:nvSpPr>
        <p:spPr/>
        <p:txBody>
          <a:bodyPr/>
          <a:lstStyle/>
          <a:p>
            <a:fld id="{B71FE5B5-A979-4370-A255-218EAB36A5F4}" type="slidenum">
              <a:rPr lang="en-GB" smtClean="0"/>
              <a:t>36</a:t>
            </a:fld>
            <a:endParaRPr lang="en-GB"/>
          </a:p>
        </p:txBody>
      </p:sp>
    </p:spTree>
    <p:extLst>
      <p:ext uri="{BB962C8B-B14F-4D97-AF65-F5344CB8AC3E}">
        <p14:creationId xmlns:p14="http://schemas.microsoft.com/office/powerpoint/2010/main" val="4950020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F95A-C85E-9BC3-6C45-844E3EDE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8DED9-9832-4BF6-C4A2-A7FBC1B242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42B5E-DC5E-D0F1-A177-541C64F279C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AD1B14D-1BB4-CAD2-0E85-28F71F528538}"/>
              </a:ext>
            </a:extLst>
          </p:cNvPr>
          <p:cNvSpPr>
            <a:spLocks noGrp="1"/>
          </p:cNvSpPr>
          <p:nvPr>
            <p:ph type="sldNum" sz="quarter" idx="5"/>
          </p:nvPr>
        </p:nvSpPr>
        <p:spPr/>
        <p:txBody>
          <a:bodyPr/>
          <a:lstStyle/>
          <a:p>
            <a:fld id="{B71FE5B5-A979-4370-A255-218EAB36A5F4}" type="slidenum">
              <a:rPr lang="en-GB" smtClean="0"/>
              <a:t>37</a:t>
            </a:fld>
            <a:endParaRPr lang="en-GB"/>
          </a:p>
        </p:txBody>
      </p:sp>
    </p:spTree>
    <p:extLst>
      <p:ext uri="{BB962C8B-B14F-4D97-AF65-F5344CB8AC3E}">
        <p14:creationId xmlns:p14="http://schemas.microsoft.com/office/powerpoint/2010/main" val="1284097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https://html.spec.whatwg.org/multipage/media.html#the-audio-element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38</a:t>
            </a:fld>
            <a:endParaRPr lang="en-GB"/>
          </a:p>
        </p:txBody>
      </p:sp>
    </p:spTree>
    <p:extLst>
      <p:ext uri="{BB962C8B-B14F-4D97-AF65-F5344CB8AC3E}">
        <p14:creationId xmlns:p14="http://schemas.microsoft.com/office/powerpoint/2010/main" val="30427415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0B41-76EF-2370-ECE4-1257BA4D0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DC00D-B1D3-4BF6-119D-242030C97A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8104A-DDE7-7A87-C9B6-E46BF2F8702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BA0E9BA-BD34-15A9-EA9D-83B7A2B602D3}"/>
              </a:ext>
            </a:extLst>
          </p:cNvPr>
          <p:cNvSpPr>
            <a:spLocks noGrp="1"/>
          </p:cNvSpPr>
          <p:nvPr>
            <p:ph type="sldNum" sz="quarter" idx="5"/>
          </p:nvPr>
        </p:nvSpPr>
        <p:spPr/>
        <p:txBody>
          <a:bodyPr/>
          <a:lstStyle/>
          <a:p>
            <a:fld id="{B71FE5B5-A979-4370-A255-218EAB36A5F4}" type="slidenum">
              <a:rPr lang="en-GB" smtClean="0"/>
              <a:t>39</a:t>
            </a:fld>
            <a:endParaRPr lang="en-GB"/>
          </a:p>
        </p:txBody>
      </p:sp>
    </p:spTree>
    <p:extLst>
      <p:ext uri="{BB962C8B-B14F-4D97-AF65-F5344CB8AC3E}">
        <p14:creationId xmlns:p14="http://schemas.microsoft.com/office/powerpoint/2010/main" val="613205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https://html.spec.whatwg.org/multipage/media.html#the-video-element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40</a:t>
            </a:fld>
            <a:endParaRPr lang="en-GB"/>
          </a:p>
        </p:txBody>
      </p:sp>
    </p:spTree>
    <p:extLst>
      <p:ext uri="{BB962C8B-B14F-4D97-AF65-F5344CB8AC3E}">
        <p14:creationId xmlns:p14="http://schemas.microsoft.com/office/powerpoint/2010/main" val="1819498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454DD-9419-3003-4853-9C6CECD0F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8B714-CB36-12AB-6224-8AC7D899E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9F90C-14DA-FEB7-EC31-681BDAD868F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B5A333D-5B82-F432-471C-CE82B1EB5F24}"/>
              </a:ext>
            </a:extLst>
          </p:cNvPr>
          <p:cNvSpPr>
            <a:spLocks noGrp="1"/>
          </p:cNvSpPr>
          <p:nvPr>
            <p:ph type="sldNum" sz="quarter" idx="5"/>
          </p:nvPr>
        </p:nvSpPr>
        <p:spPr/>
        <p:txBody>
          <a:bodyPr/>
          <a:lstStyle/>
          <a:p>
            <a:fld id="{B71FE5B5-A979-4370-A255-218EAB36A5F4}" type="slidenum">
              <a:rPr lang="en-GB" smtClean="0"/>
              <a:t>41</a:t>
            </a:fld>
            <a:endParaRPr lang="en-GB"/>
          </a:p>
        </p:txBody>
      </p:sp>
    </p:spTree>
    <p:extLst>
      <p:ext uri="{BB962C8B-B14F-4D97-AF65-F5344CB8AC3E}">
        <p14:creationId xmlns:p14="http://schemas.microsoft.com/office/powerpoint/2010/main" val="3390852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https://html.spec.whatwg.org/multipage/text-level-semantics.html#the-a-element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FFFFFF"/>
                </a:solidFill>
                <a:effectLst/>
                <a:latin typeface="Courier New" panose="02070309020205020404" pitchFamily="49" charset="0"/>
              </a:rPr>
              <a:t>target="_blank"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00000"/>
                </a:solidFill>
                <a:effectLst/>
                <a:latin typeface="CiscoSansTT"/>
              </a:rPr>
              <a:t>download="cat.gif"  the target of the link should be downloaded rather than navigated to</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43</a:t>
            </a:fld>
            <a:endParaRPr lang="en-GB"/>
          </a:p>
        </p:txBody>
      </p:sp>
    </p:spTree>
    <p:extLst>
      <p:ext uri="{BB962C8B-B14F-4D97-AF65-F5344CB8AC3E}">
        <p14:creationId xmlns:p14="http://schemas.microsoft.com/office/powerpoint/2010/main" val="413231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44</a:t>
            </a:fld>
            <a:endParaRPr lang="en-GB"/>
          </a:p>
        </p:txBody>
      </p:sp>
    </p:spTree>
    <p:extLst>
      <p:ext uri="{BB962C8B-B14F-4D97-AF65-F5344CB8AC3E}">
        <p14:creationId xmlns:p14="http://schemas.microsoft.com/office/powerpoint/2010/main" val="19397617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https://html.spec.whatwg.org/multipage/text-level-semantics.html#the-a-element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45</a:t>
            </a:fld>
            <a:endParaRPr lang="en-GB"/>
          </a:p>
        </p:txBody>
      </p:sp>
    </p:spTree>
    <p:extLst>
      <p:ext uri="{BB962C8B-B14F-4D97-AF65-F5344CB8AC3E}">
        <p14:creationId xmlns:p14="http://schemas.microsoft.com/office/powerpoint/2010/main" val="31919887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98678-78F1-AE3A-6104-542DD9578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D6FD9-C2C7-6D54-D595-B5D706D15C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E91AD-C665-87DF-AF28-BDE1DFA324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C9BA79-E381-6B33-6C4A-A07742DAC929}"/>
              </a:ext>
            </a:extLst>
          </p:cNvPr>
          <p:cNvSpPr>
            <a:spLocks noGrp="1"/>
          </p:cNvSpPr>
          <p:nvPr>
            <p:ph type="sldNum" sz="quarter" idx="5"/>
          </p:nvPr>
        </p:nvSpPr>
        <p:spPr/>
        <p:txBody>
          <a:bodyPr/>
          <a:lstStyle/>
          <a:p>
            <a:fld id="{B71FE5B5-A979-4370-A255-218EAB36A5F4}" type="slidenum">
              <a:rPr lang="en-GB" smtClean="0"/>
              <a:t>46</a:t>
            </a:fld>
            <a:endParaRPr lang="en-GB"/>
          </a:p>
        </p:txBody>
      </p:sp>
    </p:spTree>
    <p:extLst>
      <p:ext uri="{BB962C8B-B14F-4D97-AF65-F5344CB8AC3E}">
        <p14:creationId xmlns:p14="http://schemas.microsoft.com/office/powerpoint/2010/main" val="41827675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https://www.w3.org/TR/WD-html40-970917/htmlweb.html</a:t>
            </a:r>
          </a:p>
        </p:txBody>
      </p:sp>
      <p:sp>
        <p:nvSpPr>
          <p:cNvPr id="4" name="Slide Number Placeholder 3"/>
          <p:cNvSpPr>
            <a:spLocks noGrp="1"/>
          </p:cNvSpPr>
          <p:nvPr>
            <p:ph type="sldNum" sz="quarter" idx="5"/>
          </p:nvPr>
        </p:nvSpPr>
        <p:spPr/>
        <p:txBody>
          <a:bodyPr/>
          <a:lstStyle/>
          <a:p>
            <a:fld id="{B71FE5B5-A979-4370-A255-218EAB36A5F4}" type="slidenum">
              <a:rPr lang="en-GB" smtClean="0"/>
              <a:t>47</a:t>
            </a:fld>
            <a:endParaRPr lang="en-GB"/>
          </a:p>
        </p:txBody>
      </p:sp>
    </p:spTree>
    <p:extLst>
      <p:ext uri="{BB962C8B-B14F-4D97-AF65-F5344CB8AC3E}">
        <p14:creationId xmlns:p14="http://schemas.microsoft.com/office/powerpoint/2010/main" val="620952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48</a:t>
            </a:fld>
            <a:endParaRPr lang="en-GB"/>
          </a:p>
        </p:txBody>
      </p:sp>
    </p:spTree>
    <p:extLst>
      <p:ext uri="{BB962C8B-B14F-4D97-AF65-F5344CB8AC3E}">
        <p14:creationId xmlns:p14="http://schemas.microsoft.com/office/powerpoint/2010/main" val="28428760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https://www.w3.org/TR/WD-html40-970917/htmlweb.html</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Up then down: </a:t>
            </a:r>
            <a:r>
              <a:rPr lang="en-US" altLang="en-US" sz="1200" dirty="0">
                <a:solidFill>
                  <a:srgbClr val="FF0000"/>
                </a:solidFill>
                <a:latin typeface="Consolas" panose="020B0609020204030204" pitchFamily="49" charset="0"/>
              </a:rPr>
              <a:t>../</a:t>
            </a:r>
            <a:r>
              <a:rPr lang="en-US" altLang="en-US" sz="1200" dirty="0">
                <a:latin typeface="Consolas" panose="020B0609020204030204" pitchFamily="49" charset="0"/>
              </a:rPr>
              <a:t>animals/cat.html</a:t>
            </a:r>
          </a:p>
        </p:txBody>
      </p:sp>
      <p:sp>
        <p:nvSpPr>
          <p:cNvPr id="4" name="Slide Number Placeholder 3"/>
          <p:cNvSpPr>
            <a:spLocks noGrp="1"/>
          </p:cNvSpPr>
          <p:nvPr>
            <p:ph type="sldNum" sz="quarter" idx="5"/>
          </p:nvPr>
        </p:nvSpPr>
        <p:spPr/>
        <p:txBody>
          <a:bodyPr/>
          <a:lstStyle/>
          <a:p>
            <a:fld id="{B71FE5B5-A979-4370-A255-218EAB36A5F4}" type="slidenum">
              <a:rPr lang="en-GB" smtClean="0"/>
              <a:t>49</a:t>
            </a:fld>
            <a:endParaRPr lang="en-GB"/>
          </a:p>
        </p:txBody>
      </p:sp>
    </p:spTree>
    <p:extLst>
      <p:ext uri="{BB962C8B-B14F-4D97-AF65-F5344CB8AC3E}">
        <p14:creationId xmlns:p14="http://schemas.microsoft.com/office/powerpoint/2010/main" val="24999637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50</a:t>
            </a:fld>
            <a:endParaRPr lang="en-GB"/>
          </a:p>
        </p:txBody>
      </p:sp>
    </p:spTree>
    <p:extLst>
      <p:ext uri="{BB962C8B-B14F-4D97-AF65-F5344CB8AC3E}">
        <p14:creationId xmlns:p14="http://schemas.microsoft.com/office/powerpoint/2010/main" val="28435073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index.html – relative addresses for style and lamb? style.css &amp; media/lamb.jpg</a:t>
            </a:r>
          </a:p>
          <a:p>
            <a:r>
              <a:rPr lang="en-GB" dirty="0"/>
              <a:t>dogs.html – relative addresses for style and wolf? ../style.css &amp; ../media/</a:t>
            </a:r>
            <a:r>
              <a:rPr lang="en-GB"/>
              <a:t>wolf.gif</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51</a:t>
            </a:fld>
            <a:endParaRPr lang="en-GB"/>
          </a:p>
        </p:txBody>
      </p:sp>
    </p:spTree>
    <p:extLst>
      <p:ext uri="{BB962C8B-B14F-4D97-AF65-F5344CB8AC3E}">
        <p14:creationId xmlns:p14="http://schemas.microsoft.com/office/powerpoint/2010/main" val="33781706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 </a:t>
            </a:r>
          </a:p>
        </p:txBody>
      </p:sp>
      <p:sp>
        <p:nvSpPr>
          <p:cNvPr id="4" name="Slide Number Placeholder 3"/>
          <p:cNvSpPr>
            <a:spLocks noGrp="1"/>
          </p:cNvSpPr>
          <p:nvPr>
            <p:ph type="sldNum" sz="quarter" idx="5"/>
          </p:nvPr>
        </p:nvSpPr>
        <p:spPr/>
        <p:txBody>
          <a:bodyPr/>
          <a:lstStyle/>
          <a:p>
            <a:fld id="{B71FE5B5-A979-4370-A255-218EAB36A5F4}" type="slidenum">
              <a:rPr lang="en-GB" smtClean="0"/>
              <a:t>52</a:t>
            </a:fld>
            <a:endParaRPr lang="en-GB"/>
          </a:p>
        </p:txBody>
      </p:sp>
    </p:spTree>
    <p:extLst>
      <p:ext uri="{BB962C8B-B14F-4D97-AF65-F5344CB8AC3E}">
        <p14:creationId xmlns:p14="http://schemas.microsoft.com/office/powerpoint/2010/main" val="2902341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6BC43-DD7A-9D00-755C-C192529FC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7FB63-0A38-18C4-862F-452AEED99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6B3AF-8544-2D15-7F26-99709B6DA4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AC0755B-FD08-3E81-DD26-19C4EB662C92}"/>
              </a:ext>
            </a:extLst>
          </p:cNvPr>
          <p:cNvSpPr>
            <a:spLocks noGrp="1"/>
          </p:cNvSpPr>
          <p:nvPr>
            <p:ph type="sldNum" sz="quarter" idx="5"/>
          </p:nvPr>
        </p:nvSpPr>
        <p:spPr/>
        <p:txBody>
          <a:bodyPr/>
          <a:lstStyle/>
          <a:p>
            <a:fld id="{B71FE5B5-A979-4370-A255-218EAB36A5F4}" type="slidenum">
              <a:rPr lang="en-GB" smtClean="0"/>
              <a:t>53</a:t>
            </a:fld>
            <a:endParaRPr lang="en-GB"/>
          </a:p>
        </p:txBody>
      </p:sp>
    </p:spTree>
    <p:extLst>
      <p:ext uri="{BB962C8B-B14F-4D97-AF65-F5344CB8AC3E}">
        <p14:creationId xmlns:p14="http://schemas.microsoft.com/office/powerpoint/2010/main" val="4050031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https://developer.mozilla.org/en-US/docs/Web/HTTP/Basics_of_HTTP/MIME_types/Common_types</a:t>
            </a:r>
          </a:p>
        </p:txBody>
      </p:sp>
      <p:sp>
        <p:nvSpPr>
          <p:cNvPr id="4" name="Slide Number Placeholder 3"/>
          <p:cNvSpPr>
            <a:spLocks noGrp="1"/>
          </p:cNvSpPr>
          <p:nvPr>
            <p:ph type="sldNum" sz="quarter" idx="5"/>
          </p:nvPr>
        </p:nvSpPr>
        <p:spPr/>
        <p:txBody>
          <a:bodyPr/>
          <a:lstStyle/>
          <a:p>
            <a:fld id="{B71FE5B5-A979-4370-A255-218EAB36A5F4}" type="slidenum">
              <a:rPr lang="en-GB" smtClean="0"/>
              <a:t>55</a:t>
            </a:fld>
            <a:endParaRPr lang="en-GB"/>
          </a:p>
        </p:txBody>
      </p:sp>
    </p:spTree>
    <p:extLst>
      <p:ext uri="{BB962C8B-B14F-4D97-AF65-F5344CB8AC3E}">
        <p14:creationId xmlns:p14="http://schemas.microsoft.com/office/powerpoint/2010/main" val="3811868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56</a:t>
            </a:fld>
            <a:endParaRPr lang="en-GB"/>
          </a:p>
        </p:txBody>
      </p:sp>
    </p:spTree>
    <p:extLst>
      <p:ext uri="{BB962C8B-B14F-4D97-AF65-F5344CB8AC3E}">
        <p14:creationId xmlns:p14="http://schemas.microsoft.com/office/powerpoint/2010/main" val="42158862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https://developer.mozilla.org/en-US/docs/Web/HTTP/Basics_of_HTTP/MIME_types/Common_types</a:t>
            </a:r>
          </a:p>
        </p:txBody>
      </p:sp>
      <p:sp>
        <p:nvSpPr>
          <p:cNvPr id="4" name="Slide Number Placeholder 3"/>
          <p:cNvSpPr>
            <a:spLocks noGrp="1"/>
          </p:cNvSpPr>
          <p:nvPr>
            <p:ph type="sldNum" sz="quarter" idx="5"/>
          </p:nvPr>
        </p:nvSpPr>
        <p:spPr/>
        <p:txBody>
          <a:bodyPr/>
          <a:lstStyle/>
          <a:p>
            <a:fld id="{B71FE5B5-A979-4370-A255-218EAB36A5F4}" type="slidenum">
              <a:rPr lang="en-GB" smtClean="0"/>
              <a:t>57</a:t>
            </a:fld>
            <a:endParaRPr lang="en-GB"/>
          </a:p>
        </p:txBody>
      </p:sp>
    </p:spTree>
    <p:extLst>
      <p:ext uri="{BB962C8B-B14F-4D97-AF65-F5344CB8AC3E}">
        <p14:creationId xmlns:p14="http://schemas.microsoft.com/office/powerpoint/2010/main" val="23654127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58</a:t>
            </a:fld>
            <a:endParaRPr lang="en-GB"/>
          </a:p>
        </p:txBody>
      </p:sp>
    </p:spTree>
    <p:extLst>
      <p:ext uri="{BB962C8B-B14F-4D97-AF65-F5344CB8AC3E}">
        <p14:creationId xmlns:p14="http://schemas.microsoft.com/office/powerpoint/2010/main" val="40513548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https://html.spec.whatwg.org/multipage/#toc-semantics</a:t>
            </a:r>
          </a:p>
        </p:txBody>
      </p:sp>
      <p:sp>
        <p:nvSpPr>
          <p:cNvPr id="4" name="Slide Number Placeholder 3"/>
          <p:cNvSpPr>
            <a:spLocks noGrp="1"/>
          </p:cNvSpPr>
          <p:nvPr>
            <p:ph type="sldNum" sz="quarter" idx="5"/>
          </p:nvPr>
        </p:nvSpPr>
        <p:spPr/>
        <p:txBody>
          <a:bodyPr/>
          <a:lstStyle/>
          <a:p>
            <a:fld id="{B71FE5B5-A979-4370-A255-218EAB36A5F4}" type="slidenum">
              <a:rPr lang="en-GB" smtClean="0"/>
              <a:t>60</a:t>
            </a:fld>
            <a:endParaRPr lang="en-GB"/>
          </a:p>
        </p:txBody>
      </p:sp>
    </p:spTree>
    <p:extLst>
      <p:ext uri="{BB962C8B-B14F-4D97-AF65-F5344CB8AC3E}">
        <p14:creationId xmlns:p14="http://schemas.microsoft.com/office/powerpoint/2010/main" val="19509416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61</a:t>
            </a:fld>
            <a:endParaRPr lang="en-GB"/>
          </a:p>
        </p:txBody>
      </p:sp>
    </p:spTree>
    <p:extLst>
      <p:ext uri="{BB962C8B-B14F-4D97-AF65-F5344CB8AC3E}">
        <p14:creationId xmlns:p14="http://schemas.microsoft.com/office/powerpoint/2010/main" val="5685019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71</a:t>
            </a:fld>
            <a:endParaRPr lang="en-GB"/>
          </a:p>
        </p:txBody>
      </p:sp>
    </p:spTree>
    <p:extLst>
      <p:ext uri="{BB962C8B-B14F-4D97-AF65-F5344CB8AC3E}">
        <p14:creationId xmlns:p14="http://schemas.microsoft.com/office/powerpoint/2010/main" val="15275190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74</a:t>
            </a:fld>
            <a:endParaRPr lang="en-GB"/>
          </a:p>
        </p:txBody>
      </p:sp>
    </p:spTree>
    <p:extLst>
      <p:ext uri="{BB962C8B-B14F-4D97-AF65-F5344CB8AC3E}">
        <p14:creationId xmlns:p14="http://schemas.microsoft.com/office/powerpoint/2010/main" val="34465513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75</a:t>
            </a:fld>
            <a:endParaRPr lang="en-GB"/>
          </a:p>
        </p:txBody>
      </p:sp>
    </p:spTree>
    <p:extLst>
      <p:ext uri="{BB962C8B-B14F-4D97-AF65-F5344CB8AC3E}">
        <p14:creationId xmlns:p14="http://schemas.microsoft.com/office/powerpoint/2010/main" val="38436484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76</a:t>
            </a:fld>
            <a:endParaRPr lang="en-GB"/>
          </a:p>
        </p:txBody>
      </p:sp>
    </p:spTree>
    <p:extLst>
      <p:ext uri="{BB962C8B-B14F-4D97-AF65-F5344CB8AC3E}">
        <p14:creationId xmlns:p14="http://schemas.microsoft.com/office/powerpoint/2010/main" val="189267537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77</a:t>
            </a:fld>
            <a:endParaRPr lang="en-GB"/>
          </a:p>
        </p:txBody>
      </p:sp>
    </p:spTree>
    <p:extLst>
      <p:ext uri="{BB962C8B-B14F-4D97-AF65-F5344CB8AC3E}">
        <p14:creationId xmlns:p14="http://schemas.microsoft.com/office/powerpoint/2010/main" val="2365213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https://html.spec.whatwg.org/multipage/semantics.html#the-style-element</a:t>
            </a:r>
          </a:p>
          <a:p>
            <a:r>
              <a:rPr lang="en-GB" dirty="0"/>
              <a:t>https://meiert.com/en/indices/css-properties/</a:t>
            </a:r>
          </a:p>
          <a:p>
            <a:r>
              <a:rPr lang="en-GB" dirty="0"/>
              <a:t>https://www.w3.org/TR/CSS/#properties</a:t>
            </a:r>
          </a:p>
        </p:txBody>
      </p:sp>
      <p:sp>
        <p:nvSpPr>
          <p:cNvPr id="4" name="Slide Number Placeholder 3"/>
          <p:cNvSpPr>
            <a:spLocks noGrp="1"/>
          </p:cNvSpPr>
          <p:nvPr>
            <p:ph type="sldNum" sz="quarter" idx="5"/>
          </p:nvPr>
        </p:nvSpPr>
        <p:spPr/>
        <p:txBody>
          <a:bodyPr/>
          <a:lstStyle/>
          <a:p>
            <a:fld id="{B71FE5B5-A979-4370-A255-218EAB36A5F4}" type="slidenum">
              <a:rPr lang="en-GB" smtClean="0"/>
              <a:t>78</a:t>
            </a:fld>
            <a:endParaRPr lang="en-GB"/>
          </a:p>
        </p:txBody>
      </p:sp>
    </p:spTree>
    <p:extLst>
      <p:ext uri="{BB962C8B-B14F-4D97-AF65-F5344CB8AC3E}">
        <p14:creationId xmlns:p14="http://schemas.microsoft.com/office/powerpoint/2010/main" val="5464077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79</a:t>
            </a:fld>
            <a:endParaRPr lang="en-GB"/>
          </a:p>
        </p:txBody>
      </p:sp>
    </p:spTree>
    <p:extLst>
      <p:ext uri="{BB962C8B-B14F-4D97-AF65-F5344CB8AC3E}">
        <p14:creationId xmlns:p14="http://schemas.microsoft.com/office/powerpoint/2010/main" val="368716502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80</a:t>
            </a:fld>
            <a:endParaRPr lang="en-GB"/>
          </a:p>
        </p:txBody>
      </p:sp>
    </p:spTree>
    <p:extLst>
      <p:ext uri="{BB962C8B-B14F-4D97-AF65-F5344CB8AC3E}">
        <p14:creationId xmlns:p14="http://schemas.microsoft.com/office/powerpoint/2010/main" val="12042722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81</a:t>
            </a:fld>
            <a:endParaRPr lang="en-GB"/>
          </a:p>
        </p:txBody>
      </p:sp>
    </p:spTree>
    <p:extLst>
      <p:ext uri="{BB962C8B-B14F-4D97-AF65-F5344CB8AC3E}">
        <p14:creationId xmlns:p14="http://schemas.microsoft.com/office/powerpoint/2010/main" val="18457472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https://www.w3.org/TR/css-fonts-3/#font-family-prop</a:t>
            </a:r>
          </a:p>
        </p:txBody>
      </p:sp>
      <p:sp>
        <p:nvSpPr>
          <p:cNvPr id="4" name="Slide Number Placeholder 3"/>
          <p:cNvSpPr>
            <a:spLocks noGrp="1"/>
          </p:cNvSpPr>
          <p:nvPr>
            <p:ph type="sldNum" sz="quarter" idx="5"/>
          </p:nvPr>
        </p:nvSpPr>
        <p:spPr/>
        <p:txBody>
          <a:bodyPr/>
          <a:lstStyle/>
          <a:p>
            <a:fld id="{B71FE5B5-A979-4370-A255-218EAB36A5F4}" type="slidenum">
              <a:rPr lang="en-GB" smtClean="0"/>
              <a:t>82</a:t>
            </a:fld>
            <a:endParaRPr lang="en-GB"/>
          </a:p>
        </p:txBody>
      </p:sp>
    </p:spTree>
    <p:extLst>
      <p:ext uri="{BB962C8B-B14F-4D97-AF65-F5344CB8AC3E}">
        <p14:creationId xmlns:p14="http://schemas.microsoft.com/office/powerpoint/2010/main" val="39000241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83</a:t>
            </a:fld>
            <a:endParaRPr lang="en-GB"/>
          </a:p>
        </p:txBody>
      </p:sp>
    </p:spTree>
    <p:extLst>
      <p:ext uri="{BB962C8B-B14F-4D97-AF65-F5344CB8AC3E}">
        <p14:creationId xmlns:p14="http://schemas.microsoft.com/office/powerpoint/2010/main" val="31953535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https://www.w3.org/TR/css-fonts-3/#font-size-prop</a:t>
            </a:r>
          </a:p>
        </p:txBody>
      </p:sp>
      <p:sp>
        <p:nvSpPr>
          <p:cNvPr id="4" name="Slide Number Placeholder 3"/>
          <p:cNvSpPr>
            <a:spLocks noGrp="1"/>
          </p:cNvSpPr>
          <p:nvPr>
            <p:ph type="sldNum" sz="quarter" idx="5"/>
          </p:nvPr>
        </p:nvSpPr>
        <p:spPr/>
        <p:txBody>
          <a:bodyPr/>
          <a:lstStyle/>
          <a:p>
            <a:fld id="{B71FE5B5-A979-4370-A255-218EAB36A5F4}" type="slidenum">
              <a:rPr lang="en-GB" smtClean="0"/>
              <a:t>84</a:t>
            </a:fld>
            <a:endParaRPr lang="en-GB"/>
          </a:p>
        </p:txBody>
      </p:sp>
    </p:spTree>
    <p:extLst>
      <p:ext uri="{BB962C8B-B14F-4D97-AF65-F5344CB8AC3E}">
        <p14:creationId xmlns:p14="http://schemas.microsoft.com/office/powerpoint/2010/main" val="11440375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85</a:t>
            </a:fld>
            <a:endParaRPr lang="en-GB"/>
          </a:p>
        </p:txBody>
      </p:sp>
    </p:spTree>
    <p:extLst>
      <p:ext uri="{BB962C8B-B14F-4D97-AF65-F5344CB8AC3E}">
        <p14:creationId xmlns:p14="http://schemas.microsoft.com/office/powerpoint/2010/main" val="27999100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https://www.w3.org/TR/css-color-3/#color0</a:t>
            </a:r>
          </a:p>
        </p:txBody>
      </p:sp>
      <p:sp>
        <p:nvSpPr>
          <p:cNvPr id="4" name="Slide Number Placeholder 3"/>
          <p:cNvSpPr>
            <a:spLocks noGrp="1"/>
          </p:cNvSpPr>
          <p:nvPr>
            <p:ph type="sldNum" sz="quarter" idx="5"/>
          </p:nvPr>
        </p:nvSpPr>
        <p:spPr/>
        <p:txBody>
          <a:bodyPr/>
          <a:lstStyle/>
          <a:p>
            <a:fld id="{B71FE5B5-A979-4370-A255-218EAB36A5F4}" type="slidenum">
              <a:rPr lang="en-GB" smtClean="0"/>
              <a:t>86</a:t>
            </a:fld>
            <a:endParaRPr lang="en-GB"/>
          </a:p>
        </p:txBody>
      </p:sp>
    </p:spTree>
    <p:extLst>
      <p:ext uri="{BB962C8B-B14F-4D97-AF65-F5344CB8AC3E}">
        <p14:creationId xmlns:p14="http://schemas.microsoft.com/office/powerpoint/2010/main" val="32325185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87</a:t>
            </a:fld>
            <a:endParaRPr lang="en-GB"/>
          </a:p>
        </p:txBody>
      </p:sp>
    </p:spTree>
    <p:extLst>
      <p:ext uri="{BB962C8B-B14F-4D97-AF65-F5344CB8AC3E}">
        <p14:creationId xmlns:p14="http://schemas.microsoft.com/office/powerpoint/2010/main" val="12989624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https://www.w3.org/TR/css-color-3/#color0</a:t>
            </a:r>
          </a:p>
        </p:txBody>
      </p:sp>
      <p:sp>
        <p:nvSpPr>
          <p:cNvPr id="4" name="Slide Number Placeholder 3"/>
          <p:cNvSpPr>
            <a:spLocks noGrp="1"/>
          </p:cNvSpPr>
          <p:nvPr>
            <p:ph type="sldNum" sz="quarter" idx="5"/>
          </p:nvPr>
        </p:nvSpPr>
        <p:spPr/>
        <p:txBody>
          <a:bodyPr/>
          <a:lstStyle/>
          <a:p>
            <a:fld id="{B71FE5B5-A979-4370-A255-218EAB36A5F4}" type="slidenum">
              <a:rPr lang="en-GB" smtClean="0"/>
              <a:t>88</a:t>
            </a:fld>
            <a:endParaRPr lang="en-GB"/>
          </a:p>
        </p:txBody>
      </p:sp>
    </p:spTree>
    <p:extLst>
      <p:ext uri="{BB962C8B-B14F-4D97-AF65-F5344CB8AC3E}">
        <p14:creationId xmlns:p14="http://schemas.microsoft.com/office/powerpoint/2010/main" val="15261411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89</a:t>
            </a:fld>
            <a:endParaRPr lang="en-GB"/>
          </a:p>
        </p:txBody>
      </p:sp>
    </p:spTree>
    <p:extLst>
      <p:ext uri="{BB962C8B-B14F-4D97-AF65-F5344CB8AC3E}">
        <p14:creationId xmlns:p14="http://schemas.microsoft.com/office/powerpoint/2010/main" val="34427719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https://www.w3.org/TR/css-backgrounds-3/#the-background-color</a:t>
            </a:r>
          </a:p>
        </p:txBody>
      </p:sp>
      <p:sp>
        <p:nvSpPr>
          <p:cNvPr id="4" name="Slide Number Placeholder 3"/>
          <p:cNvSpPr>
            <a:spLocks noGrp="1"/>
          </p:cNvSpPr>
          <p:nvPr>
            <p:ph type="sldNum" sz="quarter" idx="5"/>
          </p:nvPr>
        </p:nvSpPr>
        <p:spPr/>
        <p:txBody>
          <a:bodyPr/>
          <a:lstStyle/>
          <a:p>
            <a:fld id="{B71FE5B5-A979-4370-A255-218EAB36A5F4}" type="slidenum">
              <a:rPr lang="en-GB" smtClean="0"/>
              <a:t>90</a:t>
            </a:fld>
            <a:endParaRPr lang="en-GB"/>
          </a:p>
        </p:txBody>
      </p:sp>
    </p:spTree>
    <p:extLst>
      <p:ext uri="{BB962C8B-B14F-4D97-AF65-F5344CB8AC3E}">
        <p14:creationId xmlns:p14="http://schemas.microsoft.com/office/powerpoint/2010/main" val="140888811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91</a:t>
            </a:fld>
            <a:endParaRPr lang="en-GB"/>
          </a:p>
        </p:txBody>
      </p:sp>
    </p:spTree>
    <p:extLst>
      <p:ext uri="{BB962C8B-B14F-4D97-AF65-F5344CB8AC3E}">
        <p14:creationId xmlns:p14="http://schemas.microsoft.com/office/powerpoint/2010/main" val="38339169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part of N5 but useful for </a:t>
            </a:r>
            <a:r>
              <a:rPr lang="en-GB"/>
              <a:t>resizing images.</a:t>
            </a:r>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92</a:t>
            </a:fld>
            <a:endParaRPr lang="en-GB"/>
          </a:p>
        </p:txBody>
      </p:sp>
    </p:spTree>
    <p:extLst>
      <p:ext uri="{BB962C8B-B14F-4D97-AF65-F5344CB8AC3E}">
        <p14:creationId xmlns:p14="http://schemas.microsoft.com/office/powerpoint/2010/main" val="18401308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93</a:t>
            </a:fld>
            <a:endParaRPr lang="en-GB"/>
          </a:p>
        </p:txBody>
      </p:sp>
    </p:spTree>
    <p:extLst>
      <p:ext uri="{BB962C8B-B14F-4D97-AF65-F5344CB8AC3E}">
        <p14:creationId xmlns:p14="http://schemas.microsoft.com/office/powerpoint/2010/main" val="26014510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94</a:t>
            </a:fld>
            <a:endParaRPr lang="en-GB"/>
          </a:p>
        </p:txBody>
      </p:sp>
    </p:spTree>
    <p:extLst>
      <p:ext uri="{BB962C8B-B14F-4D97-AF65-F5344CB8AC3E}">
        <p14:creationId xmlns:p14="http://schemas.microsoft.com/office/powerpoint/2010/main" val="10043005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95</a:t>
            </a:fld>
            <a:endParaRPr lang="en-GB"/>
          </a:p>
        </p:txBody>
      </p:sp>
    </p:spTree>
    <p:extLst>
      <p:ext uri="{BB962C8B-B14F-4D97-AF65-F5344CB8AC3E}">
        <p14:creationId xmlns:p14="http://schemas.microsoft.com/office/powerpoint/2010/main" val="25454479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96</a:t>
            </a:fld>
            <a:endParaRPr lang="en-GB"/>
          </a:p>
        </p:txBody>
      </p:sp>
    </p:spTree>
    <p:extLst>
      <p:ext uri="{BB962C8B-B14F-4D97-AF65-F5344CB8AC3E}">
        <p14:creationId xmlns:p14="http://schemas.microsoft.com/office/powerpoint/2010/main" val="424543297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97</a:t>
            </a:fld>
            <a:endParaRPr lang="en-GB"/>
          </a:p>
        </p:txBody>
      </p:sp>
    </p:spTree>
    <p:extLst>
      <p:ext uri="{BB962C8B-B14F-4D97-AF65-F5344CB8AC3E}">
        <p14:creationId xmlns:p14="http://schemas.microsoft.com/office/powerpoint/2010/main" val="308851456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98</a:t>
            </a:fld>
            <a:endParaRPr lang="en-GB"/>
          </a:p>
        </p:txBody>
      </p:sp>
    </p:spTree>
    <p:extLst>
      <p:ext uri="{BB962C8B-B14F-4D97-AF65-F5344CB8AC3E}">
        <p14:creationId xmlns:p14="http://schemas.microsoft.com/office/powerpoint/2010/main" val="6686943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https://html.spec.whatwg.org/multipage/semantics.html#the-link-element</a:t>
            </a:r>
          </a:p>
          <a:p>
            <a:endParaRPr lang="en-GB" dirty="0"/>
          </a:p>
          <a:p>
            <a:r>
              <a:rPr lang="en-GB" dirty="0" err="1"/>
              <a:t>rel</a:t>
            </a:r>
            <a:r>
              <a:rPr lang="en-GB" dirty="0"/>
              <a:t> attribute is required</a:t>
            </a:r>
          </a:p>
        </p:txBody>
      </p:sp>
      <p:sp>
        <p:nvSpPr>
          <p:cNvPr id="4" name="Slide Number Placeholder 3"/>
          <p:cNvSpPr>
            <a:spLocks noGrp="1"/>
          </p:cNvSpPr>
          <p:nvPr>
            <p:ph type="sldNum" sz="quarter" idx="5"/>
          </p:nvPr>
        </p:nvSpPr>
        <p:spPr/>
        <p:txBody>
          <a:bodyPr/>
          <a:lstStyle/>
          <a:p>
            <a:fld id="{B71FE5B5-A979-4370-A255-218EAB36A5F4}" type="slidenum">
              <a:rPr lang="en-GB" smtClean="0"/>
              <a:t>99</a:t>
            </a:fld>
            <a:endParaRPr lang="en-GB"/>
          </a:p>
        </p:txBody>
      </p:sp>
    </p:spTree>
    <p:extLst>
      <p:ext uri="{BB962C8B-B14F-4D97-AF65-F5344CB8AC3E}">
        <p14:creationId xmlns:p14="http://schemas.microsoft.com/office/powerpoint/2010/main" val="10651490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100</a:t>
            </a:fld>
            <a:endParaRPr lang="en-GB"/>
          </a:p>
        </p:txBody>
      </p:sp>
    </p:spTree>
    <p:extLst>
      <p:ext uri="{BB962C8B-B14F-4D97-AF65-F5344CB8AC3E}">
        <p14:creationId xmlns:p14="http://schemas.microsoft.com/office/powerpoint/2010/main" val="321636782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https://html.spec.whatwg.org/multipage/links.html#rel-icon</a:t>
            </a:r>
          </a:p>
        </p:txBody>
      </p:sp>
      <p:sp>
        <p:nvSpPr>
          <p:cNvPr id="4" name="Slide Number Placeholder 3"/>
          <p:cNvSpPr>
            <a:spLocks noGrp="1"/>
          </p:cNvSpPr>
          <p:nvPr>
            <p:ph type="sldNum" sz="quarter" idx="5"/>
          </p:nvPr>
        </p:nvSpPr>
        <p:spPr/>
        <p:txBody>
          <a:bodyPr/>
          <a:lstStyle/>
          <a:p>
            <a:fld id="{B71FE5B5-A979-4370-A255-218EAB36A5F4}" type="slidenum">
              <a:rPr lang="en-GB" smtClean="0"/>
              <a:t>101</a:t>
            </a:fld>
            <a:endParaRPr lang="en-GB"/>
          </a:p>
        </p:txBody>
      </p:sp>
    </p:spTree>
    <p:extLst>
      <p:ext uri="{BB962C8B-B14F-4D97-AF65-F5344CB8AC3E}">
        <p14:creationId xmlns:p14="http://schemas.microsoft.com/office/powerpoint/2010/main" val="17730794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Event handlers: https://html.spec.whatwg.org/multipage/indices.html#attributes-3</a:t>
            </a:r>
          </a:p>
        </p:txBody>
      </p:sp>
      <p:sp>
        <p:nvSpPr>
          <p:cNvPr id="4" name="Slide Number Placeholder 3"/>
          <p:cNvSpPr>
            <a:spLocks noGrp="1"/>
          </p:cNvSpPr>
          <p:nvPr>
            <p:ph type="sldNum" sz="quarter" idx="5"/>
          </p:nvPr>
        </p:nvSpPr>
        <p:spPr/>
        <p:txBody>
          <a:bodyPr/>
          <a:lstStyle/>
          <a:p>
            <a:fld id="{B71FE5B5-A979-4370-A255-218EAB36A5F4}" type="slidenum">
              <a:rPr lang="en-GB" smtClean="0"/>
              <a:t>102</a:t>
            </a:fld>
            <a:endParaRPr lang="en-GB"/>
          </a:p>
        </p:txBody>
      </p:sp>
    </p:spTree>
    <p:extLst>
      <p:ext uri="{BB962C8B-B14F-4D97-AF65-F5344CB8AC3E}">
        <p14:creationId xmlns:p14="http://schemas.microsoft.com/office/powerpoint/2010/main" val="249837885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https://html.spec.whatwg.org/multipage/scripting.html#the-script-element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103</a:t>
            </a:fld>
            <a:endParaRPr lang="en-GB"/>
          </a:p>
        </p:txBody>
      </p:sp>
    </p:spTree>
    <p:extLst>
      <p:ext uri="{BB962C8B-B14F-4D97-AF65-F5344CB8AC3E}">
        <p14:creationId xmlns:p14="http://schemas.microsoft.com/office/powerpoint/2010/main" val="94075383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104</a:t>
            </a:fld>
            <a:endParaRPr lang="en-GB"/>
          </a:p>
        </p:txBody>
      </p:sp>
    </p:spTree>
    <p:extLst>
      <p:ext uri="{BB962C8B-B14F-4D97-AF65-F5344CB8AC3E}">
        <p14:creationId xmlns:p14="http://schemas.microsoft.com/office/powerpoint/2010/main" val="236932627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https://html.spec.whatwg.org/multipage/scripting.html#the-script-element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105</a:t>
            </a:fld>
            <a:endParaRPr lang="en-GB"/>
          </a:p>
        </p:txBody>
      </p:sp>
    </p:spTree>
    <p:extLst>
      <p:ext uri="{BB962C8B-B14F-4D97-AF65-F5344CB8AC3E}">
        <p14:creationId xmlns:p14="http://schemas.microsoft.com/office/powerpoint/2010/main" val="81866505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106</a:t>
            </a:fld>
            <a:endParaRPr lang="en-GB"/>
          </a:p>
        </p:txBody>
      </p:sp>
    </p:spTree>
    <p:extLst>
      <p:ext uri="{BB962C8B-B14F-4D97-AF65-F5344CB8AC3E}">
        <p14:creationId xmlns:p14="http://schemas.microsoft.com/office/powerpoint/2010/main" val="154432111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https://html.spec.whatwg.org/multipage/indices.html#attributes-3</a:t>
            </a:r>
          </a:p>
        </p:txBody>
      </p:sp>
      <p:sp>
        <p:nvSpPr>
          <p:cNvPr id="4" name="Slide Number Placeholder 3"/>
          <p:cNvSpPr>
            <a:spLocks noGrp="1"/>
          </p:cNvSpPr>
          <p:nvPr>
            <p:ph type="sldNum" sz="quarter" idx="5"/>
          </p:nvPr>
        </p:nvSpPr>
        <p:spPr/>
        <p:txBody>
          <a:bodyPr/>
          <a:lstStyle/>
          <a:p>
            <a:fld id="{B71FE5B5-A979-4370-A255-218EAB36A5F4}" type="slidenum">
              <a:rPr lang="en-GB" smtClean="0"/>
              <a:t>107</a:t>
            </a:fld>
            <a:endParaRPr lang="en-GB"/>
          </a:p>
        </p:txBody>
      </p:sp>
    </p:spTree>
    <p:extLst>
      <p:ext uri="{BB962C8B-B14F-4D97-AF65-F5344CB8AC3E}">
        <p14:creationId xmlns:p14="http://schemas.microsoft.com/office/powerpoint/2010/main" val="284015215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108</a:t>
            </a:fld>
            <a:endParaRPr lang="en-GB"/>
          </a:p>
        </p:txBody>
      </p:sp>
    </p:spTree>
    <p:extLst>
      <p:ext uri="{BB962C8B-B14F-4D97-AF65-F5344CB8AC3E}">
        <p14:creationId xmlns:p14="http://schemas.microsoft.com/office/powerpoint/2010/main" val="331758257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https://html.spec.whatwg.org/multipage/scripting.html#the-script-element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109</a:t>
            </a:fld>
            <a:endParaRPr lang="en-GB"/>
          </a:p>
        </p:txBody>
      </p:sp>
    </p:spTree>
    <p:extLst>
      <p:ext uri="{BB962C8B-B14F-4D97-AF65-F5344CB8AC3E}">
        <p14:creationId xmlns:p14="http://schemas.microsoft.com/office/powerpoint/2010/main" val="68178356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110</a:t>
            </a:fld>
            <a:endParaRPr lang="en-GB"/>
          </a:p>
        </p:txBody>
      </p:sp>
    </p:spTree>
    <p:extLst>
      <p:ext uri="{BB962C8B-B14F-4D97-AF65-F5344CB8AC3E}">
        <p14:creationId xmlns:p14="http://schemas.microsoft.com/office/powerpoint/2010/main" val="36010744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https://www.w3schools.com/jsref/prop_style_color.asp</a:t>
            </a:r>
          </a:p>
        </p:txBody>
      </p:sp>
      <p:sp>
        <p:nvSpPr>
          <p:cNvPr id="4" name="Slide Number Placeholder 3"/>
          <p:cNvSpPr>
            <a:spLocks noGrp="1"/>
          </p:cNvSpPr>
          <p:nvPr>
            <p:ph type="sldNum" sz="quarter" idx="5"/>
          </p:nvPr>
        </p:nvSpPr>
        <p:spPr/>
        <p:txBody>
          <a:bodyPr/>
          <a:lstStyle/>
          <a:p>
            <a:fld id="{B71FE5B5-A979-4370-A255-218EAB36A5F4}" type="slidenum">
              <a:rPr lang="en-GB" smtClean="0"/>
              <a:t>111</a:t>
            </a:fld>
            <a:endParaRPr lang="en-GB"/>
          </a:p>
        </p:txBody>
      </p:sp>
    </p:spTree>
    <p:extLst>
      <p:ext uri="{BB962C8B-B14F-4D97-AF65-F5344CB8AC3E}">
        <p14:creationId xmlns:p14="http://schemas.microsoft.com/office/powerpoint/2010/main" val="74289885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https://www.w3schools.com/jsref/prop_style_color.asp</a:t>
            </a:r>
          </a:p>
        </p:txBody>
      </p:sp>
      <p:sp>
        <p:nvSpPr>
          <p:cNvPr id="4" name="Slide Number Placeholder 3"/>
          <p:cNvSpPr>
            <a:spLocks noGrp="1"/>
          </p:cNvSpPr>
          <p:nvPr>
            <p:ph type="sldNum" sz="quarter" idx="5"/>
          </p:nvPr>
        </p:nvSpPr>
        <p:spPr/>
        <p:txBody>
          <a:bodyPr/>
          <a:lstStyle/>
          <a:p>
            <a:fld id="{B71FE5B5-A979-4370-A255-218EAB36A5F4}" type="slidenum">
              <a:rPr lang="en-GB" smtClean="0"/>
              <a:t>112</a:t>
            </a:fld>
            <a:endParaRPr lang="en-GB"/>
          </a:p>
        </p:txBody>
      </p:sp>
    </p:spTree>
    <p:extLst>
      <p:ext uri="{BB962C8B-B14F-4D97-AF65-F5344CB8AC3E}">
        <p14:creationId xmlns:p14="http://schemas.microsoft.com/office/powerpoint/2010/main" val="134274420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113</a:t>
            </a:fld>
            <a:endParaRPr lang="en-GB"/>
          </a:p>
        </p:txBody>
      </p:sp>
    </p:spTree>
    <p:extLst>
      <p:ext uri="{BB962C8B-B14F-4D97-AF65-F5344CB8AC3E}">
        <p14:creationId xmlns:p14="http://schemas.microsoft.com/office/powerpoint/2010/main" val="2046553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114</a:t>
            </a:fld>
            <a:endParaRPr lang="en-GB"/>
          </a:p>
        </p:txBody>
      </p:sp>
    </p:spTree>
    <p:extLst>
      <p:ext uri="{BB962C8B-B14F-4D97-AF65-F5344CB8AC3E}">
        <p14:creationId xmlns:p14="http://schemas.microsoft.com/office/powerpoint/2010/main" val="428300290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https://www.w3schools.com/jsref/prop_style_color.asp</a:t>
            </a:r>
          </a:p>
        </p:txBody>
      </p:sp>
      <p:sp>
        <p:nvSpPr>
          <p:cNvPr id="4" name="Slide Number Placeholder 3"/>
          <p:cNvSpPr>
            <a:spLocks noGrp="1"/>
          </p:cNvSpPr>
          <p:nvPr>
            <p:ph type="sldNum" sz="quarter" idx="5"/>
          </p:nvPr>
        </p:nvSpPr>
        <p:spPr/>
        <p:txBody>
          <a:bodyPr/>
          <a:lstStyle/>
          <a:p>
            <a:fld id="{B71FE5B5-A979-4370-A255-218EAB36A5F4}" type="slidenum">
              <a:rPr lang="en-GB" smtClean="0"/>
              <a:t>115</a:t>
            </a:fld>
            <a:endParaRPr lang="en-GB"/>
          </a:p>
        </p:txBody>
      </p:sp>
    </p:spTree>
    <p:extLst>
      <p:ext uri="{BB962C8B-B14F-4D97-AF65-F5344CB8AC3E}">
        <p14:creationId xmlns:p14="http://schemas.microsoft.com/office/powerpoint/2010/main" val="127462263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116</a:t>
            </a:fld>
            <a:endParaRPr lang="en-GB"/>
          </a:p>
        </p:txBody>
      </p:sp>
    </p:spTree>
    <p:extLst>
      <p:ext uri="{BB962C8B-B14F-4D97-AF65-F5344CB8AC3E}">
        <p14:creationId xmlns:p14="http://schemas.microsoft.com/office/powerpoint/2010/main" val="98005991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https://html.spec.whatwg.org/multipage/semantics.html#the-link-element</a:t>
            </a:r>
          </a:p>
        </p:txBody>
      </p:sp>
      <p:sp>
        <p:nvSpPr>
          <p:cNvPr id="4" name="Slide Number Placeholder 3"/>
          <p:cNvSpPr>
            <a:spLocks noGrp="1"/>
          </p:cNvSpPr>
          <p:nvPr>
            <p:ph type="sldNum" sz="quarter" idx="5"/>
          </p:nvPr>
        </p:nvSpPr>
        <p:spPr/>
        <p:txBody>
          <a:bodyPr/>
          <a:lstStyle/>
          <a:p>
            <a:fld id="{B71FE5B5-A979-4370-A255-218EAB36A5F4}" type="slidenum">
              <a:rPr lang="en-GB" smtClean="0"/>
              <a:t>117</a:t>
            </a:fld>
            <a:endParaRPr lang="en-GB"/>
          </a:p>
        </p:txBody>
      </p:sp>
    </p:spTree>
    <p:extLst>
      <p:ext uri="{BB962C8B-B14F-4D97-AF65-F5344CB8AC3E}">
        <p14:creationId xmlns:p14="http://schemas.microsoft.com/office/powerpoint/2010/main" val="290629427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1FE5B5-A979-4370-A255-218EAB36A5F4}" type="slidenum">
              <a:rPr lang="en-GB" smtClean="0"/>
              <a:t>118</a:t>
            </a:fld>
            <a:endParaRPr lang="en-GB"/>
          </a:p>
        </p:txBody>
      </p:sp>
    </p:spTree>
    <p:extLst>
      <p:ext uri="{BB962C8B-B14F-4D97-AF65-F5344CB8AC3E}">
        <p14:creationId xmlns:p14="http://schemas.microsoft.com/office/powerpoint/2010/main" val="167226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60564-5510-4968-B83C-E0988A9D5B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F3D860D-1211-4E26-A35E-A80BC376E9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23C5969-3F05-4100-9F8A-DB9A82EB4B23}"/>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8879FB1B-2516-429F-B867-4823287B8D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F1741A-33DE-4C5E-8C9F-B4AD75DA464D}"/>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83201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F5E7B-67B3-496A-822C-C32976D915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BFEDAD-10D4-47B6-8F35-0155F7D63DF8}"/>
              </a:ext>
            </a:extLst>
          </p:cNvPr>
          <p:cNvSpPr>
            <a:spLocks noGrp="1"/>
          </p:cNvSpPr>
          <p:nvPr>
            <p:ph idx="1"/>
          </p:nvPr>
        </p:nvSpPr>
        <p:spPr/>
        <p:txBody>
          <a:bodyPr/>
          <a:lstStyle>
            <a:lvl1pPr>
              <a:lnSpc>
                <a:spcPct val="120000"/>
              </a:lnSpc>
              <a:spcBef>
                <a:spcPts val="0"/>
              </a:spcBef>
              <a:defRPr/>
            </a:lvl1pPr>
            <a:lvl2pPr>
              <a:lnSpc>
                <a:spcPct val="120000"/>
              </a:lnSpc>
              <a:spcBef>
                <a:spcPts val="0"/>
              </a:spcBef>
              <a:defRPr/>
            </a:lvl2pPr>
            <a:lvl3pPr>
              <a:lnSpc>
                <a:spcPct val="120000"/>
              </a:lnSpc>
              <a:spcBef>
                <a:spcPts val="0"/>
              </a:spcBef>
              <a:defRPr/>
            </a:lvl3pPr>
            <a:lvl4pPr>
              <a:lnSpc>
                <a:spcPct val="120000"/>
              </a:lnSpc>
              <a:spcBef>
                <a:spcPts val="0"/>
              </a:spcBef>
              <a:defRPr/>
            </a:lvl4pPr>
            <a:lvl5pPr>
              <a:lnSpc>
                <a:spcPct val="12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020D4F-7E43-4DFE-B626-E846C85BC6A4}"/>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ED3EDBDD-527D-4909-8BEF-723EEB3501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505016-CD99-4792-B5CE-4FC2732AB21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289727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2FA82-2BA5-4E38-B83A-773E800962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8DA602-023E-4AF2-8A02-5ED3BE4E1C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97AF83-9AAB-4395-A1CD-8B1810E80A15}"/>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929F4F5F-ED11-4FF4-8082-EF13CCF8D9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17B83B-7338-4290-BCDC-071F1F558BE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27456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38D4-5905-4C6E-BCBB-B940731141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6C15E6-8B9A-4199-90FC-6E93032700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CE19C19-84FB-4E02-8D3E-A145EF70F6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0729DE-CB61-4172-B1A0-5F570A694499}"/>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6" name="Footer Placeholder 5">
            <a:extLst>
              <a:ext uri="{FF2B5EF4-FFF2-40B4-BE49-F238E27FC236}">
                <a16:creationId xmlns:a16="http://schemas.microsoft.com/office/drawing/2014/main" id="{8FE18137-140C-4C10-9A2D-A8BEA88DAD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7788274-F0A0-4D87-9901-05DB5CB1C875}"/>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3327492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0B87-D3F8-4BAA-8DE3-3836317BC44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8ADC46-22A7-453D-BB94-D1CA48C5A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35B5B-116B-4974-BF81-F7294090D1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D89685-D393-44B4-B943-5A951A472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529B97-30F9-4234-A140-11E2C1505C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7FD1C8F-089B-4A81-946C-8404750F99B0}"/>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8" name="Footer Placeholder 7">
            <a:extLst>
              <a:ext uri="{FF2B5EF4-FFF2-40B4-BE49-F238E27FC236}">
                <a16:creationId xmlns:a16="http://schemas.microsoft.com/office/drawing/2014/main" id="{59EE9EF7-FF78-45D1-965B-99664AD00F9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441DFC4-4931-4DBE-A0A7-A1E0A15DC20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58064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7CCB-CA9F-4F77-978B-946CBCC20A9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692E69A-AA02-4CC0-9FE5-3C50B8F4E60A}"/>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4" name="Footer Placeholder 3">
            <a:extLst>
              <a:ext uri="{FF2B5EF4-FFF2-40B4-BE49-F238E27FC236}">
                <a16:creationId xmlns:a16="http://schemas.microsoft.com/office/drawing/2014/main" id="{964A0F08-87A5-4B96-B446-1337E28A93D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9B3645-39BF-4DC7-A6DC-E10EB4E4D358}"/>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559463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36AF93-0450-4C93-8AED-561C8D0B9C42}"/>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3" name="Footer Placeholder 2">
            <a:extLst>
              <a:ext uri="{FF2B5EF4-FFF2-40B4-BE49-F238E27FC236}">
                <a16:creationId xmlns:a16="http://schemas.microsoft.com/office/drawing/2014/main" id="{D2336096-32F7-4552-856B-0F42E86F0B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8B2CEA9-085F-4023-8477-F0F082AED997}"/>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470016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F9064-4077-4B58-8BD0-E8642C9064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C367D8E-F32F-4041-9FDE-C12CBB5278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761CF05-D7DF-470D-8951-656268BBB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F19F6-CB71-4073-820E-814F731641A1}"/>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6" name="Footer Placeholder 5">
            <a:extLst>
              <a:ext uri="{FF2B5EF4-FFF2-40B4-BE49-F238E27FC236}">
                <a16:creationId xmlns:a16="http://schemas.microsoft.com/office/drawing/2014/main" id="{7389668D-5D63-440F-B937-227682F00C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4DC044-699A-457B-A741-69E8543CEE3E}"/>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40363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CDCB-7EE6-4D7B-9EC9-9998298236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8A68D7-4A60-4176-AEF9-C7224992D6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CDADDFE-E588-428C-9ACE-BF6D4DC2B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DAD98-EFA3-40FD-B220-0CEFA3B04D0A}"/>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6" name="Footer Placeholder 5">
            <a:extLst>
              <a:ext uri="{FF2B5EF4-FFF2-40B4-BE49-F238E27FC236}">
                <a16:creationId xmlns:a16="http://schemas.microsoft.com/office/drawing/2014/main" id="{533492CB-8784-44CD-8BE4-F038F0DA8E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6B88F3-B6B9-4DE8-80B4-B31DCC6FF152}"/>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62670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B7571-E3AA-47DA-8A99-A8577E9EAE4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56407A-F3C5-4467-999F-12834F3D5E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BC1D0D-C52B-4D14-AEAB-FF6484676A94}"/>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34558F66-3EB8-48B5-B410-20C1141D68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E85733-F1B0-47F6-B3EA-C32A59118EA0}"/>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2204816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E78E59-2798-47E7-97DF-12EB43D4DBD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823F44B-7DC4-4852-9AAB-98C84D6912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2AEF75-C039-4933-808F-7735F4020E9A}"/>
              </a:ext>
            </a:extLst>
          </p:cNvPr>
          <p:cNvSpPr>
            <a:spLocks noGrp="1"/>
          </p:cNvSpPr>
          <p:nvPr>
            <p:ph type="dt" sz="half" idx="10"/>
          </p:nvPr>
        </p:nvSpPr>
        <p:spPr/>
        <p:txBody>
          <a:body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047011B2-1EEF-4630-AB8B-1FC4D8E1FB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B43AA0-545D-40FB-A090-776833BF596A}"/>
              </a:ext>
            </a:extLst>
          </p:cNvPr>
          <p:cNvSpPr>
            <a:spLocks noGrp="1"/>
          </p:cNvSpPr>
          <p:nvPr>
            <p:ph type="sldNum" sz="quarter" idx="12"/>
          </p:nvPr>
        </p:nvSpPr>
        <p:spPr/>
        <p:txBody>
          <a:bodyPr/>
          <a:lstStyle/>
          <a:p>
            <a:fld id="{DFB9890C-4870-410D-A143-591B2BA0A39B}" type="slidenum">
              <a:rPr lang="en-GB" smtClean="0"/>
              <a:t>‹#›</a:t>
            </a:fld>
            <a:endParaRPr lang="en-GB"/>
          </a:p>
        </p:txBody>
      </p:sp>
    </p:spTree>
    <p:extLst>
      <p:ext uri="{BB962C8B-B14F-4D97-AF65-F5344CB8AC3E}">
        <p14:creationId xmlns:p14="http://schemas.microsoft.com/office/powerpoint/2010/main" val="1977995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934EA5-96D5-44F8-8B2E-EB636C3A97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096C3A-1C2D-4B6E-9BA6-958361A91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95E72CA-E085-451A-A6D7-D31116C422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BB66F6-7471-47DA-8EED-C7BCCA53B015}" type="datetimeFigureOut">
              <a:rPr lang="en-GB" smtClean="0"/>
              <a:t>13/04/2026</a:t>
            </a:fld>
            <a:endParaRPr lang="en-GB"/>
          </a:p>
        </p:txBody>
      </p:sp>
      <p:sp>
        <p:nvSpPr>
          <p:cNvPr id="5" name="Footer Placeholder 4">
            <a:extLst>
              <a:ext uri="{FF2B5EF4-FFF2-40B4-BE49-F238E27FC236}">
                <a16:creationId xmlns:a16="http://schemas.microsoft.com/office/drawing/2014/main" id="{903CA142-8F89-49C4-92C2-0106F5541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C0D0BA0-3B07-4BE4-ACEC-E0EC87569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9890C-4870-410D-A143-591B2BA0A39B}" type="slidenum">
              <a:rPr lang="en-GB" smtClean="0"/>
              <a:t>‹#›</a:t>
            </a:fld>
            <a:endParaRPr lang="en-GB"/>
          </a:p>
        </p:txBody>
      </p:sp>
    </p:spTree>
    <p:extLst>
      <p:ext uri="{BB962C8B-B14F-4D97-AF65-F5344CB8AC3E}">
        <p14:creationId xmlns:p14="http://schemas.microsoft.com/office/powerpoint/2010/main" val="3492412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N5 Computing Science</a:t>
            </a:r>
          </a:p>
        </p:txBody>
      </p:sp>
      <p:sp>
        <p:nvSpPr>
          <p:cNvPr id="3" name="Subtitle 2"/>
          <p:cNvSpPr>
            <a:spLocks noGrp="1"/>
          </p:cNvSpPr>
          <p:nvPr>
            <p:ph type="subTitle" idx="1"/>
          </p:nvPr>
        </p:nvSpPr>
        <p:spPr/>
        <p:txBody>
          <a:bodyPr/>
          <a:lstStyle/>
          <a:p>
            <a:r>
              <a:rPr lang="en-GB" dirty="0"/>
              <a:t>Web Design and Development</a:t>
            </a:r>
          </a:p>
        </p:txBody>
      </p:sp>
    </p:spTree>
    <p:extLst>
      <p:ext uri="{BB962C8B-B14F-4D97-AF65-F5344CB8AC3E}">
        <p14:creationId xmlns:p14="http://schemas.microsoft.com/office/powerpoint/2010/main" val="1397375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E2B30-58E3-83AF-C822-0B30E9F1C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72537-E14E-16B8-EEAC-97DE98761E6A}"/>
              </a:ext>
            </a:extLst>
          </p:cNvPr>
          <p:cNvSpPr>
            <a:spLocks noGrp="1"/>
          </p:cNvSpPr>
          <p:nvPr>
            <p:ph type="title"/>
          </p:nvPr>
        </p:nvSpPr>
        <p:spPr>
          <a:xfrm>
            <a:off x="838200" y="500062"/>
            <a:ext cx="10515600" cy="1325563"/>
          </a:xfrm>
        </p:spPr>
        <p:txBody>
          <a:bodyPr/>
          <a:lstStyle/>
          <a:p>
            <a:r>
              <a:rPr lang="en-GB" dirty="0"/>
              <a:t>Plan – N5 Year 1</a:t>
            </a:r>
          </a:p>
        </p:txBody>
      </p:sp>
      <p:graphicFrame>
        <p:nvGraphicFramePr>
          <p:cNvPr id="5" name="Content Placeholder 4">
            <a:extLst>
              <a:ext uri="{FF2B5EF4-FFF2-40B4-BE49-F238E27FC236}">
                <a16:creationId xmlns:a16="http://schemas.microsoft.com/office/drawing/2014/main" id="{9989D4CB-4A08-4EE2-C4CD-E73D854CC4B1}"/>
              </a:ext>
            </a:extLst>
          </p:cNvPr>
          <p:cNvGraphicFramePr>
            <a:graphicFrameLocks noGrp="1"/>
          </p:cNvGraphicFramePr>
          <p:nvPr>
            <p:ph idx="1"/>
            <p:extLst>
              <p:ext uri="{D42A27DB-BD31-4B8C-83A1-F6EECF244321}">
                <p14:modId xmlns:p14="http://schemas.microsoft.com/office/powerpoint/2010/main" val="422280368"/>
              </p:ext>
            </p:extLst>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Arrow Connector 3">
            <a:extLst>
              <a:ext uri="{FF2B5EF4-FFF2-40B4-BE49-F238E27FC236}">
                <a16:creationId xmlns:a16="http://schemas.microsoft.com/office/drawing/2014/main" id="{CA2543E0-CE08-D181-BCD4-EA577EE9A461}"/>
              </a:ext>
            </a:extLst>
          </p:cNvPr>
          <p:cNvCxnSpPr>
            <a:cxnSpLocks/>
          </p:cNvCxnSpPr>
          <p:nvPr/>
        </p:nvCxnSpPr>
        <p:spPr>
          <a:xfrm>
            <a:off x="762000" y="4352459"/>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E845638-8574-EECF-4CD3-2EF8A3DF55BB}"/>
              </a:ext>
            </a:extLst>
          </p:cNvPr>
          <p:cNvCxnSpPr>
            <a:cxnSpLocks/>
          </p:cNvCxnSpPr>
          <p:nvPr/>
        </p:nvCxnSpPr>
        <p:spPr>
          <a:xfrm flipH="1">
            <a:off x="10393680" y="4352459"/>
            <a:ext cx="1080000" cy="0"/>
          </a:xfrm>
          <a:prstGeom prst="straightConnector1">
            <a:avLst/>
          </a:prstGeom>
          <a:ln w="762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405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2" dur="500"/>
                                        <p:tgtEl>
                                          <p:spTgt spid="5">
                                            <p:graphicEl>
                                              <a:dgm id="{19C32B8D-512E-49A1-A0E6-109384C61E4D}"/>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7" dur="500"/>
                                        <p:tgtEl>
                                          <p:spTgt spid="5">
                                            <p:graphicEl>
                                              <a:dgm id="{AAD30B60-88C6-4919-B6DD-9F480459E84E}"/>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2" dur="500"/>
                                        <p:tgtEl>
                                          <p:spTgt spid="5">
                                            <p:graphicEl>
                                              <a:dgm id="{0DFDFC6D-8604-4378-B6A3-6A6720006C95}"/>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dgm id="{3451A250-69C4-4911-A975-CCB8D5F6053B}"/>
                                            </p:graphicEl>
                                          </p:spTgt>
                                        </p:tgtEl>
                                        <p:attrNameLst>
                                          <p:attrName>style.visibility</p:attrName>
                                        </p:attrNameLst>
                                      </p:cBhvr>
                                      <p:to>
                                        <p:strVal val="visible"/>
                                      </p:to>
                                    </p:set>
                                    <p:animEffect transition="in" filter="wipe(left)">
                                      <p:cBhvr>
                                        <p:cTn id="27" dur="500"/>
                                        <p:tgtEl>
                                          <p:spTgt spid="5">
                                            <p:graphicEl>
                                              <a:dgm id="{3451A250-69C4-4911-A975-CCB8D5F6053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dgm id="{56AFEC8A-7D45-4965-A718-64DE087BA59E}"/>
                                            </p:graphicEl>
                                          </p:spTgt>
                                        </p:tgtEl>
                                        <p:attrNameLst>
                                          <p:attrName>style.visibility</p:attrName>
                                        </p:attrNameLst>
                                      </p:cBhvr>
                                      <p:to>
                                        <p:strVal val="visible"/>
                                      </p:to>
                                    </p:set>
                                    <p:animEffect transition="in" filter="wipe(left)">
                                      <p:cBhvr>
                                        <p:cTn id="32" dur="500"/>
                                        <p:tgtEl>
                                          <p:spTgt spid="5">
                                            <p:graphicEl>
                                              <a:dgm id="{56AFEC8A-7D45-4965-A718-64DE087BA59E}"/>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graphicEl>
                                              <a:dgm id="{056CCBB6-5CE0-4348-89C6-99FB2D3AB62B}"/>
                                            </p:graphicEl>
                                          </p:spTgt>
                                        </p:tgtEl>
                                        <p:attrNameLst>
                                          <p:attrName>style.visibility</p:attrName>
                                        </p:attrNameLst>
                                      </p:cBhvr>
                                      <p:to>
                                        <p:strVal val="visible"/>
                                      </p:to>
                                    </p:set>
                                    <p:animEffect transition="in" filter="wipe(left)">
                                      <p:cBhvr>
                                        <p:cTn id="37" dur="500"/>
                                        <p:tgtEl>
                                          <p:spTgt spid="5">
                                            <p:graphicEl>
                                              <a:dgm id="{056CCBB6-5CE0-4348-89C6-99FB2D3AB62B}"/>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graphicEl>
                                              <a:dgm id="{90709722-0E94-45E4-BEDD-48CB660682DD}"/>
                                            </p:graphicEl>
                                          </p:spTgt>
                                        </p:tgtEl>
                                        <p:attrNameLst>
                                          <p:attrName>style.visibility</p:attrName>
                                        </p:attrNameLst>
                                      </p:cBhvr>
                                      <p:to>
                                        <p:strVal val="visible"/>
                                      </p:to>
                                    </p:set>
                                    <p:animEffect transition="in" filter="wipe(left)">
                                      <p:cBhvr>
                                        <p:cTn id="42" dur="500"/>
                                        <p:tgtEl>
                                          <p:spTgt spid="5">
                                            <p:graphicEl>
                                              <a:dgm id="{90709722-0E94-45E4-BEDD-48CB660682DD}"/>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1500"/>
                                        <p:tgtEl>
                                          <p:spTgt spid="4"/>
                                        </p:tgtEl>
                                      </p:cBhvr>
                                    </p:animEffect>
                                  </p:childTnLst>
                                </p:cTn>
                              </p:par>
                              <p:par>
                                <p:cTn id="48" presetID="22" presetClass="entr" presetSubtype="2" fill="hold" nodeType="with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right)">
                                      <p:cBhvr>
                                        <p:cTn id="50"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 – N5 Year 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207393846"/>
              </p:ext>
            </p:extLst>
          </p:nvPr>
        </p:nvGraphicFramePr>
        <p:xfrm>
          <a:off x="2042160" y="1825625"/>
          <a:ext cx="810768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325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dgm id="{DFA48299-B840-4714-A5F6-769C74D74113}"/>
                                            </p:graphicEl>
                                          </p:spTgt>
                                        </p:tgtEl>
                                        <p:attrNameLst>
                                          <p:attrName>style.visibility</p:attrName>
                                        </p:attrNameLst>
                                      </p:cBhvr>
                                      <p:to>
                                        <p:strVal val="visible"/>
                                      </p:to>
                                    </p:set>
                                    <p:animEffect transition="in" filter="wipe(left)">
                                      <p:cBhvr>
                                        <p:cTn id="7" dur="500"/>
                                        <p:tgtEl>
                                          <p:spTgt spid="5">
                                            <p:graphicEl>
                                              <a:dgm id="{DFA48299-B840-4714-A5F6-769C74D7411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dgm id="{19C32B8D-512E-49A1-A0E6-109384C61E4D}"/>
                                            </p:graphicEl>
                                          </p:spTgt>
                                        </p:tgtEl>
                                        <p:attrNameLst>
                                          <p:attrName>style.visibility</p:attrName>
                                        </p:attrNameLst>
                                      </p:cBhvr>
                                      <p:to>
                                        <p:strVal val="visible"/>
                                      </p:to>
                                    </p:set>
                                    <p:animEffect transition="in" filter="wipe(left)">
                                      <p:cBhvr>
                                        <p:cTn id="12" dur="500"/>
                                        <p:tgtEl>
                                          <p:spTgt spid="5">
                                            <p:graphicEl>
                                              <a:dgm id="{19C32B8D-512E-49A1-A0E6-109384C61E4D}"/>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dgm id="{AAD30B60-88C6-4919-B6DD-9F480459E84E}"/>
                                            </p:graphicEl>
                                          </p:spTgt>
                                        </p:tgtEl>
                                        <p:attrNameLst>
                                          <p:attrName>style.visibility</p:attrName>
                                        </p:attrNameLst>
                                      </p:cBhvr>
                                      <p:to>
                                        <p:strVal val="visible"/>
                                      </p:to>
                                    </p:set>
                                    <p:animEffect transition="in" filter="wipe(left)">
                                      <p:cBhvr>
                                        <p:cTn id="17" dur="500"/>
                                        <p:tgtEl>
                                          <p:spTgt spid="5">
                                            <p:graphicEl>
                                              <a:dgm id="{AAD30B60-88C6-4919-B6DD-9F480459E84E}"/>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dgm id="{0DFDFC6D-8604-4378-B6A3-6A6720006C95}"/>
                                            </p:graphicEl>
                                          </p:spTgt>
                                        </p:tgtEl>
                                        <p:attrNameLst>
                                          <p:attrName>style.visibility</p:attrName>
                                        </p:attrNameLst>
                                      </p:cBhvr>
                                      <p:to>
                                        <p:strVal val="visible"/>
                                      </p:to>
                                    </p:set>
                                    <p:animEffect transition="in" filter="wipe(left)">
                                      <p:cBhvr>
                                        <p:cTn id="22" dur="500"/>
                                        <p:tgtEl>
                                          <p:spTgt spid="5">
                                            <p:graphicEl>
                                              <a:dgm id="{0DFDFC6D-8604-4378-B6A3-6A6720006C95}"/>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graphicEl>
                                              <a:dgm id="{17253025-0BE3-46B4-B2C8-BFD879D75B26}"/>
                                            </p:graphicEl>
                                          </p:spTgt>
                                        </p:tgtEl>
                                        <p:attrNameLst>
                                          <p:attrName>style.visibility</p:attrName>
                                        </p:attrNameLst>
                                      </p:cBhvr>
                                      <p:to>
                                        <p:strVal val="visible"/>
                                      </p:to>
                                    </p:set>
                                    <p:animEffect transition="in" filter="wipe(left)">
                                      <p:cBhvr>
                                        <p:cTn id="27" dur="500"/>
                                        <p:tgtEl>
                                          <p:spTgt spid="5">
                                            <p:graphicEl>
                                              <a:dgm id="{17253025-0BE3-46B4-B2C8-BFD879D75B26}"/>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graphicEl>
                                              <a:dgm id="{B2D4CD90-7709-4B59-AC85-D09667CFC12B}"/>
                                            </p:graphicEl>
                                          </p:spTgt>
                                        </p:tgtEl>
                                        <p:attrNameLst>
                                          <p:attrName>style.visibility</p:attrName>
                                        </p:attrNameLst>
                                      </p:cBhvr>
                                      <p:to>
                                        <p:strVal val="visible"/>
                                      </p:to>
                                    </p:set>
                                    <p:animEffect transition="in" filter="wipe(left)">
                                      <p:cBhvr>
                                        <p:cTn id="32" dur="500"/>
                                        <p:tgtEl>
                                          <p:spTgt spid="5">
                                            <p:graphicEl>
                                              <a:dgm id="{B2D4CD90-7709-4B59-AC85-D09667CFC12B}"/>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graphicEl>
                                              <a:dgm id="{056CCBB6-5CE0-4348-89C6-99FB2D3AB62B}"/>
                                            </p:graphicEl>
                                          </p:spTgt>
                                        </p:tgtEl>
                                        <p:attrNameLst>
                                          <p:attrName>style.visibility</p:attrName>
                                        </p:attrNameLst>
                                      </p:cBhvr>
                                      <p:to>
                                        <p:strVal val="visible"/>
                                      </p:to>
                                    </p:set>
                                    <p:animEffect transition="in" filter="wipe(left)">
                                      <p:cBhvr>
                                        <p:cTn id="37" dur="500"/>
                                        <p:tgtEl>
                                          <p:spTgt spid="5">
                                            <p:graphicEl>
                                              <a:dgm id="{056CCBB6-5CE0-4348-89C6-99FB2D3AB62B}"/>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graphicEl>
                                              <a:dgm id="{90709722-0E94-45E4-BEDD-48CB660682DD}"/>
                                            </p:graphicEl>
                                          </p:spTgt>
                                        </p:tgtEl>
                                        <p:attrNameLst>
                                          <p:attrName>style.visibility</p:attrName>
                                        </p:attrNameLst>
                                      </p:cBhvr>
                                      <p:to>
                                        <p:strVal val="visible"/>
                                      </p:to>
                                    </p:set>
                                    <p:animEffect transition="in" filter="wipe(left)">
                                      <p:cBhvr>
                                        <p:cTn id="42" dur="500"/>
                                        <p:tgtEl>
                                          <p:spTgt spid="5">
                                            <p:graphicEl>
                                              <a:dgm id="{90709722-0E94-45E4-BEDD-48CB660682DD}"/>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graphicEl>
                                              <a:dgm id="{EB2E52AE-8FCF-47D0-B499-CFCFAF1883A9}"/>
                                            </p:graphicEl>
                                          </p:spTgt>
                                        </p:tgtEl>
                                        <p:attrNameLst>
                                          <p:attrName>style.visibility</p:attrName>
                                        </p:attrNameLst>
                                      </p:cBhvr>
                                      <p:to>
                                        <p:strVal val="visible"/>
                                      </p:to>
                                    </p:set>
                                    <p:animEffect transition="in" filter="wipe(left)">
                                      <p:cBhvr>
                                        <p:cTn id="47" dur="500"/>
                                        <p:tgtEl>
                                          <p:spTgt spid="5">
                                            <p:graphicEl>
                                              <a:dgm id="{EB2E52AE-8FCF-47D0-B499-CFCFAF1883A9}"/>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graphicEl>
                                              <a:dgm id="{C92F1771-01AA-4FF3-B7EC-0229DB7A592C}"/>
                                            </p:graphicEl>
                                          </p:spTgt>
                                        </p:tgtEl>
                                        <p:attrNameLst>
                                          <p:attrName>style.visibility</p:attrName>
                                        </p:attrNameLst>
                                      </p:cBhvr>
                                      <p:to>
                                        <p:strVal val="visible"/>
                                      </p:to>
                                    </p:set>
                                    <p:animEffect transition="in" filter="wipe(left)">
                                      <p:cBhvr>
                                        <p:cTn id="52" dur="500"/>
                                        <p:tgtEl>
                                          <p:spTgt spid="5">
                                            <p:graphicEl>
                                              <a:dgm id="{C92F1771-01AA-4FF3-B7EC-0229DB7A592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Web Languages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sz="half" idx="1"/>
          </p:nvPr>
        </p:nvSpPr>
        <p:spPr>
          <a:xfrm>
            <a:off x="838200" y="1825625"/>
            <a:ext cx="7368822" cy="4351338"/>
          </a:xfrm>
        </p:spPr>
        <p:txBody>
          <a:bodyPr/>
          <a:lstStyle/>
          <a:p>
            <a:r>
              <a:rPr lang="en-GB" sz="3600" dirty="0"/>
              <a:t>Hypertext Markup Language (HTML)</a:t>
            </a:r>
          </a:p>
          <a:p>
            <a:r>
              <a:rPr lang="en-GB" sz="3600" dirty="0"/>
              <a:t>Cascading Style Sheets (CSS)</a:t>
            </a:r>
          </a:p>
          <a:p>
            <a:r>
              <a:rPr lang="en-GB" sz="3600" dirty="0"/>
              <a:t>JavaScript (JS)</a:t>
            </a:r>
          </a:p>
        </p:txBody>
      </p:sp>
      <p:sp>
        <p:nvSpPr>
          <p:cNvPr id="4" name="Content Placeholder 3">
            <a:extLst>
              <a:ext uri="{FF2B5EF4-FFF2-40B4-BE49-F238E27FC236}">
                <a16:creationId xmlns:a16="http://schemas.microsoft.com/office/drawing/2014/main" id="{9BD837D4-D082-0DE5-EA8A-25EDAA5021BE}"/>
              </a:ext>
            </a:extLst>
          </p:cNvPr>
          <p:cNvSpPr>
            <a:spLocks noGrp="1"/>
          </p:cNvSpPr>
          <p:nvPr>
            <p:ph sz="half" idx="2"/>
          </p:nvPr>
        </p:nvSpPr>
        <p:spPr>
          <a:xfrm>
            <a:off x="8297334" y="1825625"/>
            <a:ext cx="3056466" cy="4351338"/>
          </a:xfrm>
        </p:spPr>
        <p:txBody>
          <a:bodyPr>
            <a:normAutofit/>
          </a:bodyPr>
          <a:lstStyle/>
          <a:p>
            <a:r>
              <a:rPr lang="en-GB" sz="3600" dirty="0"/>
              <a:t>Content</a:t>
            </a:r>
          </a:p>
          <a:p>
            <a:r>
              <a:rPr lang="en-GB" sz="3600" dirty="0"/>
              <a:t>Style</a:t>
            </a:r>
          </a:p>
          <a:p>
            <a:r>
              <a:rPr lang="en-GB" sz="3600" dirty="0"/>
              <a:t>Behaviour</a:t>
            </a:r>
          </a:p>
        </p:txBody>
      </p:sp>
      <p:grpSp>
        <p:nvGrpSpPr>
          <p:cNvPr id="23" name="Group 22">
            <a:extLst>
              <a:ext uri="{FF2B5EF4-FFF2-40B4-BE49-F238E27FC236}">
                <a16:creationId xmlns:a16="http://schemas.microsoft.com/office/drawing/2014/main" id="{35294361-E2CF-4D39-7732-F1EF89C9F163}"/>
              </a:ext>
            </a:extLst>
          </p:cNvPr>
          <p:cNvGrpSpPr/>
          <p:nvPr/>
        </p:nvGrpSpPr>
        <p:grpSpPr>
          <a:xfrm>
            <a:off x="1169772" y="3912509"/>
            <a:ext cx="1723183" cy="2861352"/>
            <a:chOff x="1169772" y="3912509"/>
            <a:chExt cx="1723183" cy="2861352"/>
          </a:xfrm>
        </p:grpSpPr>
        <p:pic>
          <p:nvPicPr>
            <p:cNvPr id="15" name="Picture 14" descr="A picture containing player&#10;&#10;Description automatically generated">
              <a:extLst>
                <a:ext uri="{FF2B5EF4-FFF2-40B4-BE49-F238E27FC236}">
                  <a16:creationId xmlns:a16="http://schemas.microsoft.com/office/drawing/2014/main" id="{44642337-6762-67B2-621C-61B212E3D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772" y="3912509"/>
              <a:ext cx="1723183" cy="2340000"/>
            </a:xfrm>
            <a:prstGeom prst="rect">
              <a:avLst/>
            </a:prstGeom>
          </p:spPr>
        </p:pic>
        <p:sp>
          <p:nvSpPr>
            <p:cNvPr id="16" name="TextBox 15">
              <a:extLst>
                <a:ext uri="{FF2B5EF4-FFF2-40B4-BE49-F238E27FC236}">
                  <a16:creationId xmlns:a16="http://schemas.microsoft.com/office/drawing/2014/main" id="{2908306E-F4C3-06B3-2F47-A9B0483A7CEE}"/>
                </a:ext>
              </a:extLst>
            </p:cNvPr>
            <p:cNvSpPr txBox="1"/>
            <p:nvPr/>
          </p:nvSpPr>
          <p:spPr>
            <a:xfrm>
              <a:off x="1389199" y="6127530"/>
              <a:ext cx="1284327" cy="646331"/>
            </a:xfrm>
            <a:prstGeom prst="rect">
              <a:avLst/>
            </a:prstGeom>
            <a:noFill/>
          </p:spPr>
          <p:txBody>
            <a:bodyPr wrap="none" rtlCol="0">
              <a:spAutoFit/>
            </a:bodyPr>
            <a:lstStyle/>
            <a:p>
              <a:pPr algn="ctr"/>
              <a:r>
                <a:rPr lang="en-GB" sz="3600" dirty="0"/>
                <a:t>HTML</a:t>
              </a:r>
              <a:endParaRPr lang="en-GB" sz="3600" dirty="0">
                <a:solidFill>
                  <a:srgbClr val="7030A0"/>
                </a:solidFill>
                <a:latin typeface="Consolas" panose="020B0609020204030204" pitchFamily="49" charset="0"/>
              </a:endParaRPr>
            </a:p>
          </p:txBody>
        </p:sp>
      </p:grpSp>
      <p:grpSp>
        <p:nvGrpSpPr>
          <p:cNvPr id="24" name="Group 23">
            <a:extLst>
              <a:ext uri="{FF2B5EF4-FFF2-40B4-BE49-F238E27FC236}">
                <a16:creationId xmlns:a16="http://schemas.microsoft.com/office/drawing/2014/main" id="{9143DD80-6285-EF83-47A8-F59A84899FD1}"/>
              </a:ext>
            </a:extLst>
          </p:cNvPr>
          <p:cNvGrpSpPr/>
          <p:nvPr/>
        </p:nvGrpSpPr>
        <p:grpSpPr>
          <a:xfrm>
            <a:off x="4976762" y="3912509"/>
            <a:ext cx="2183611" cy="2861351"/>
            <a:chOff x="4976762" y="3912509"/>
            <a:chExt cx="2183611" cy="2861351"/>
          </a:xfrm>
        </p:grpSpPr>
        <p:pic>
          <p:nvPicPr>
            <p:cNvPr id="18" name="Picture 17" descr="A picture containing toy&#10;&#10;Description automatically generated">
              <a:extLst>
                <a:ext uri="{FF2B5EF4-FFF2-40B4-BE49-F238E27FC236}">
                  <a16:creationId xmlns:a16="http://schemas.microsoft.com/office/drawing/2014/main" id="{E28EA260-77A5-DAB4-05FF-7F0690C2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739" y="3912509"/>
              <a:ext cx="1723183" cy="2340000"/>
            </a:xfrm>
            <a:prstGeom prst="rect">
              <a:avLst/>
            </a:prstGeom>
          </p:spPr>
        </p:pic>
        <p:sp>
          <p:nvSpPr>
            <p:cNvPr id="19" name="TextBox 18">
              <a:extLst>
                <a:ext uri="{FF2B5EF4-FFF2-40B4-BE49-F238E27FC236}">
                  <a16:creationId xmlns:a16="http://schemas.microsoft.com/office/drawing/2014/main" id="{0B0BCB34-5110-DC05-2657-30A6D5781D80}"/>
                </a:ext>
              </a:extLst>
            </p:cNvPr>
            <p:cNvSpPr txBox="1"/>
            <p:nvPr/>
          </p:nvSpPr>
          <p:spPr>
            <a:xfrm>
              <a:off x="4976762" y="6127529"/>
              <a:ext cx="2183611" cy="646331"/>
            </a:xfrm>
            <a:prstGeom prst="rect">
              <a:avLst/>
            </a:prstGeom>
            <a:noFill/>
          </p:spPr>
          <p:txBody>
            <a:bodyPr wrap="none" rtlCol="0">
              <a:spAutoFit/>
            </a:bodyPr>
            <a:lstStyle/>
            <a:p>
              <a:pPr algn="ctr"/>
              <a:r>
                <a:rPr lang="en-GB" sz="3600" dirty="0" err="1"/>
                <a:t>HTML+CSS</a:t>
              </a:r>
              <a:endParaRPr lang="en-GB" sz="3600" dirty="0">
                <a:solidFill>
                  <a:srgbClr val="7030A0"/>
                </a:solidFill>
                <a:latin typeface="Consolas" panose="020B0609020204030204" pitchFamily="49" charset="0"/>
              </a:endParaRPr>
            </a:p>
          </p:txBody>
        </p:sp>
      </p:grpSp>
      <p:grpSp>
        <p:nvGrpSpPr>
          <p:cNvPr id="25" name="Group 24">
            <a:extLst>
              <a:ext uri="{FF2B5EF4-FFF2-40B4-BE49-F238E27FC236}">
                <a16:creationId xmlns:a16="http://schemas.microsoft.com/office/drawing/2014/main" id="{0CD8D141-F1E7-2F17-865F-D63074385E69}"/>
              </a:ext>
            </a:extLst>
          </p:cNvPr>
          <p:cNvGrpSpPr/>
          <p:nvPr/>
        </p:nvGrpSpPr>
        <p:grpSpPr>
          <a:xfrm>
            <a:off x="8743339" y="3912509"/>
            <a:ext cx="2771913" cy="2861350"/>
            <a:chOff x="8743339" y="3912509"/>
            <a:chExt cx="2771913" cy="2861350"/>
          </a:xfrm>
        </p:grpSpPr>
        <p:pic>
          <p:nvPicPr>
            <p:cNvPr id="21" name="Picture 20" descr="A picture containing toy&#10;&#10;Description automatically generated">
              <a:extLst>
                <a:ext uri="{FF2B5EF4-FFF2-40B4-BE49-F238E27FC236}">
                  <a16:creationId xmlns:a16="http://schemas.microsoft.com/office/drawing/2014/main" id="{CAEDD44E-7557-81F4-111F-74153FF51E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7705" y="3912509"/>
              <a:ext cx="1723183" cy="2340000"/>
            </a:xfrm>
            <a:prstGeom prst="rect">
              <a:avLst/>
            </a:prstGeom>
          </p:spPr>
        </p:pic>
        <p:sp>
          <p:nvSpPr>
            <p:cNvPr id="22" name="TextBox 21">
              <a:extLst>
                <a:ext uri="{FF2B5EF4-FFF2-40B4-BE49-F238E27FC236}">
                  <a16:creationId xmlns:a16="http://schemas.microsoft.com/office/drawing/2014/main" id="{2E2B6F3F-E70D-AAC8-262F-50A7E220BB7E}"/>
                </a:ext>
              </a:extLst>
            </p:cNvPr>
            <p:cNvSpPr txBox="1"/>
            <p:nvPr/>
          </p:nvSpPr>
          <p:spPr>
            <a:xfrm>
              <a:off x="8743339" y="6127528"/>
              <a:ext cx="2771913" cy="646331"/>
            </a:xfrm>
            <a:prstGeom prst="rect">
              <a:avLst/>
            </a:prstGeom>
            <a:noFill/>
          </p:spPr>
          <p:txBody>
            <a:bodyPr wrap="none" rtlCol="0">
              <a:spAutoFit/>
            </a:bodyPr>
            <a:lstStyle/>
            <a:p>
              <a:pPr algn="ctr"/>
              <a:r>
                <a:rPr lang="en-GB" sz="3600" dirty="0" err="1"/>
                <a:t>HTML+CSS+JS</a:t>
              </a:r>
              <a:endParaRPr lang="en-GB" sz="3600" dirty="0">
                <a:solidFill>
                  <a:srgbClr val="7030A0"/>
                </a:solidFill>
                <a:latin typeface="Consolas" panose="020B0609020204030204" pitchFamily="49" charset="0"/>
              </a:endParaRPr>
            </a:p>
          </p:txBody>
        </p:sp>
      </p:grpSp>
    </p:spTree>
    <p:extLst>
      <p:ext uri="{BB962C8B-B14F-4D97-AF65-F5344CB8AC3E}">
        <p14:creationId xmlns:p14="http://schemas.microsoft.com/office/powerpoint/2010/main" val="310019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10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ipe(left)">
                                      <p:cBhvr>
                                        <p:cTn id="27" dur="10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left)">
                                      <p:cBhvr>
                                        <p:cTn id="32" dur="10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20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20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2000"/>
                                        <p:tgtEl>
                                          <p:spTgt spid="25"/>
                                        </p:tgtEl>
                                      </p:cBhvr>
                                    </p:animEffect>
                                    <p:anim calcmode="lin" valueType="num">
                                      <p:cBhvr>
                                        <p:cTn id="48" dur="2000" fill="hold"/>
                                        <p:tgtEl>
                                          <p:spTgt spid="25"/>
                                        </p:tgtEl>
                                        <p:attrNameLst>
                                          <p:attrName>ppt_w</p:attrName>
                                        </p:attrNameLst>
                                      </p:cBhvr>
                                      <p:tavLst>
                                        <p:tav tm="0" fmla="#ppt_w*sin(2.5*pi*$)">
                                          <p:val>
                                            <p:fltVal val="0"/>
                                          </p:val>
                                        </p:tav>
                                        <p:tav tm="100000">
                                          <p:val>
                                            <p:fltVal val="1"/>
                                          </p:val>
                                        </p:tav>
                                      </p:tavLst>
                                    </p:anim>
                                    <p:anim calcmode="lin" valueType="num">
                                      <p:cBhvr>
                                        <p:cTn id="49" dur="2000" fill="hold"/>
                                        <p:tgtEl>
                                          <p:spTgt spid="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Web Languages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sz="half" idx="1"/>
          </p:nvPr>
        </p:nvSpPr>
        <p:spPr>
          <a:xfrm>
            <a:off x="838200" y="1825625"/>
            <a:ext cx="7368822" cy="4351338"/>
          </a:xfrm>
        </p:spPr>
        <p:txBody>
          <a:bodyPr/>
          <a:lstStyle/>
          <a:p>
            <a:r>
              <a:rPr lang="en-GB" sz="3600"/>
              <a:t> </a:t>
            </a:r>
            <a:endParaRPr lang="en-GB" sz="3600" dirty="0"/>
          </a:p>
          <a:p>
            <a:r>
              <a:rPr lang="en-GB" sz="3600" dirty="0"/>
              <a:t> </a:t>
            </a:r>
          </a:p>
          <a:p>
            <a:r>
              <a:rPr lang="en-GB" sz="3600" dirty="0"/>
              <a:t> </a:t>
            </a:r>
          </a:p>
        </p:txBody>
      </p:sp>
      <p:sp>
        <p:nvSpPr>
          <p:cNvPr id="4" name="Content Placeholder 3">
            <a:extLst>
              <a:ext uri="{FF2B5EF4-FFF2-40B4-BE49-F238E27FC236}">
                <a16:creationId xmlns:a16="http://schemas.microsoft.com/office/drawing/2014/main" id="{9BD837D4-D082-0DE5-EA8A-25EDAA5021BE}"/>
              </a:ext>
            </a:extLst>
          </p:cNvPr>
          <p:cNvSpPr>
            <a:spLocks noGrp="1"/>
          </p:cNvSpPr>
          <p:nvPr>
            <p:ph sz="half" idx="2"/>
          </p:nvPr>
        </p:nvSpPr>
        <p:spPr>
          <a:xfrm>
            <a:off x="8297334" y="1825625"/>
            <a:ext cx="3056466" cy="4351338"/>
          </a:xfrm>
        </p:spPr>
        <p:txBody>
          <a:bodyPr>
            <a:normAutofit/>
          </a:bodyPr>
          <a:lstStyle/>
          <a:p>
            <a:r>
              <a:rPr lang="en-GB" sz="3600" dirty="0"/>
              <a:t>Content</a:t>
            </a:r>
          </a:p>
          <a:p>
            <a:r>
              <a:rPr lang="en-GB" sz="3600" dirty="0"/>
              <a:t>Style</a:t>
            </a:r>
          </a:p>
          <a:p>
            <a:r>
              <a:rPr lang="en-GB" sz="3600" dirty="0"/>
              <a:t>Behaviour</a:t>
            </a:r>
          </a:p>
        </p:txBody>
      </p:sp>
      <p:pic>
        <p:nvPicPr>
          <p:cNvPr id="15" name="Picture 14" descr="A picture containing player&#10;&#10;Description automatically generated">
            <a:extLst>
              <a:ext uri="{FF2B5EF4-FFF2-40B4-BE49-F238E27FC236}">
                <a16:creationId xmlns:a16="http://schemas.microsoft.com/office/drawing/2014/main" id="{44642337-6762-67B2-621C-61B212E3D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9772" y="3912509"/>
            <a:ext cx="1723183" cy="2340000"/>
          </a:xfrm>
          <a:prstGeom prst="rect">
            <a:avLst/>
          </a:prstGeom>
        </p:spPr>
      </p:pic>
      <p:pic>
        <p:nvPicPr>
          <p:cNvPr id="18" name="Picture 17" descr="A picture containing toy&#10;&#10;Description automatically generated">
            <a:extLst>
              <a:ext uri="{FF2B5EF4-FFF2-40B4-BE49-F238E27FC236}">
                <a16:creationId xmlns:a16="http://schemas.microsoft.com/office/drawing/2014/main" id="{E28EA260-77A5-DAB4-05FF-7F0690C2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739" y="3912509"/>
            <a:ext cx="1723183" cy="2340000"/>
          </a:xfrm>
          <a:prstGeom prst="rect">
            <a:avLst/>
          </a:prstGeom>
        </p:spPr>
      </p:pic>
      <p:pic>
        <p:nvPicPr>
          <p:cNvPr id="21" name="Picture 20" descr="A picture containing toy&#10;&#10;Description automatically generated">
            <a:extLst>
              <a:ext uri="{FF2B5EF4-FFF2-40B4-BE49-F238E27FC236}">
                <a16:creationId xmlns:a16="http://schemas.microsoft.com/office/drawing/2014/main" id="{CAEDD44E-7557-81F4-111F-74153FF51E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7705" y="3912509"/>
            <a:ext cx="1723183" cy="2340000"/>
          </a:xfrm>
          <a:prstGeom prst="rect">
            <a:avLst/>
          </a:prstGeom>
        </p:spPr>
      </p:pic>
    </p:spTree>
    <p:extLst>
      <p:ext uri="{BB962C8B-B14F-4D97-AF65-F5344CB8AC3E}">
        <p14:creationId xmlns:p14="http://schemas.microsoft.com/office/powerpoint/2010/main" val="313318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lnSpcReduction="10000"/>
          </a:bodyPr>
          <a:lstStyle/>
          <a:p>
            <a:r>
              <a:rPr lang="en-GB" sz="3600" dirty="0"/>
              <a:t>Describe, exemplify and implement HTML code:</a:t>
            </a:r>
          </a:p>
          <a:p>
            <a:pPr lvl="1"/>
            <a:r>
              <a:rPr lang="en-GB" sz="3200" dirty="0"/>
              <a:t>html</a:t>
            </a:r>
          </a:p>
          <a:p>
            <a:pPr lvl="1"/>
            <a:r>
              <a:rPr lang="en-GB" sz="3200" dirty="0"/>
              <a:t>head</a:t>
            </a:r>
          </a:p>
          <a:p>
            <a:pPr lvl="1"/>
            <a:r>
              <a:rPr lang="en-GB" sz="3200" dirty="0"/>
              <a:t>title</a:t>
            </a:r>
          </a:p>
          <a:p>
            <a:pPr lvl="1"/>
            <a:r>
              <a:rPr lang="en-GB" sz="3200" dirty="0"/>
              <a:t>body</a:t>
            </a:r>
          </a:p>
          <a:p>
            <a:r>
              <a:rPr lang="en-GB" sz="3600" dirty="0"/>
              <a:t>Read and explain code that makes use of the above HTML.</a:t>
            </a:r>
            <a:endParaRPr lang="en-GB" dirty="0"/>
          </a:p>
        </p:txBody>
      </p:sp>
    </p:spTree>
    <p:extLst>
      <p:ext uri="{BB962C8B-B14F-4D97-AF65-F5344CB8AC3E}">
        <p14:creationId xmlns:p14="http://schemas.microsoft.com/office/powerpoint/2010/main" val="259621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Elements</a:t>
            </a: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8175044" y="2022002"/>
            <a:ext cx="2314379" cy="862642"/>
          </a:xfrm>
          <a:prstGeom prst="callout2">
            <a:avLst>
              <a:gd name="adj1" fmla="val 49217"/>
              <a:gd name="adj2" fmla="val -30"/>
              <a:gd name="adj3" fmla="val 49740"/>
              <a:gd name="adj4" fmla="val -12980"/>
              <a:gd name="adj5" fmla="val 110147"/>
              <a:gd name="adj6" fmla="val -2481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Forward slash</a:t>
            </a:r>
          </a:p>
        </p:txBody>
      </p:sp>
      <p:sp>
        <p:nvSpPr>
          <p:cNvPr id="9" name="TextBox 8">
            <a:extLst>
              <a:ext uri="{FF2B5EF4-FFF2-40B4-BE49-F238E27FC236}">
                <a16:creationId xmlns:a16="http://schemas.microsoft.com/office/drawing/2014/main" id="{F3B639B4-E5C5-8DD1-DB2C-5DF574EC16F0}"/>
              </a:ext>
            </a:extLst>
          </p:cNvPr>
          <p:cNvSpPr txBox="1"/>
          <p:nvPr/>
        </p:nvSpPr>
        <p:spPr>
          <a:xfrm>
            <a:off x="3187201" y="2929979"/>
            <a:ext cx="5782352" cy="769441"/>
          </a:xfrm>
          <a:prstGeom prst="rect">
            <a:avLst/>
          </a:prstGeom>
          <a:noFill/>
        </p:spPr>
        <p:txBody>
          <a:bodyPr wrap="none" rtlCol="0">
            <a:spAutoFit/>
          </a:bodyPr>
          <a:lstStyle/>
          <a:p>
            <a:r>
              <a:rPr lang="en-GB" sz="4400" dirty="0">
                <a:solidFill>
                  <a:srgbClr val="7030A0"/>
                </a:solidFill>
                <a:latin typeface="Consolas" panose="020B0609020204030204" pitchFamily="49" charset="0"/>
              </a:rPr>
              <a:t>&lt;</a:t>
            </a:r>
            <a:r>
              <a:rPr lang="en-GB" sz="4400" dirty="0">
                <a:solidFill>
                  <a:srgbClr val="0000FF"/>
                </a:solidFill>
                <a:latin typeface="Consolas" panose="020B0609020204030204" pitchFamily="49" charset="0"/>
              </a:rPr>
              <a:t>tag</a:t>
            </a:r>
            <a:r>
              <a:rPr lang="en-GB" sz="4400" dirty="0">
                <a:solidFill>
                  <a:srgbClr val="7030A0"/>
                </a:solidFill>
                <a:latin typeface="Consolas" panose="020B0609020204030204" pitchFamily="49" charset="0"/>
              </a:rPr>
              <a:t>&gt;</a:t>
            </a:r>
            <a:r>
              <a:rPr lang="en-GB" sz="4400" dirty="0">
                <a:latin typeface="Consolas" panose="020B0609020204030204" pitchFamily="49" charset="0"/>
              </a:rPr>
              <a:t>Content</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r>
              <a:rPr lang="en-GB" sz="4400" dirty="0">
                <a:solidFill>
                  <a:srgbClr val="0000FF"/>
                </a:solidFill>
                <a:latin typeface="Consolas" panose="020B0609020204030204" pitchFamily="49" charset="0"/>
              </a:rPr>
              <a:t>tag</a:t>
            </a:r>
            <a:r>
              <a:rPr lang="en-GB" sz="4400" dirty="0">
                <a:solidFill>
                  <a:srgbClr val="7030A0"/>
                </a:solidFill>
                <a:latin typeface="Consolas" panose="020B0609020204030204" pitchFamily="49" charset="0"/>
              </a:rPr>
              <a:t>&gt;</a:t>
            </a:r>
            <a:endParaRPr lang="en-GB" sz="4400" dirty="0">
              <a:solidFill>
                <a:srgbClr val="7030A0"/>
              </a:solidFill>
            </a:endParaRPr>
          </a:p>
        </p:txBody>
      </p:sp>
      <p:sp>
        <p:nvSpPr>
          <p:cNvPr id="13" name="Callout: Bent Line with No Border 12">
            <a:extLst>
              <a:ext uri="{FF2B5EF4-FFF2-40B4-BE49-F238E27FC236}">
                <a16:creationId xmlns:a16="http://schemas.microsoft.com/office/drawing/2014/main" id="{9FD08280-246B-F431-CC37-33C0C86742F1}"/>
              </a:ext>
            </a:extLst>
          </p:cNvPr>
          <p:cNvSpPr/>
          <p:nvPr/>
        </p:nvSpPr>
        <p:spPr>
          <a:xfrm flipH="1">
            <a:off x="368300" y="2168937"/>
            <a:ext cx="2414411"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Angle bracket</a:t>
            </a:r>
          </a:p>
        </p:txBody>
      </p:sp>
      <p:grpSp>
        <p:nvGrpSpPr>
          <p:cNvPr id="14" name="Group 13">
            <a:extLst>
              <a:ext uri="{FF2B5EF4-FFF2-40B4-BE49-F238E27FC236}">
                <a16:creationId xmlns:a16="http://schemas.microsoft.com/office/drawing/2014/main" id="{E0CEAD7D-8280-9923-1CD0-D9EECFCB98A3}"/>
              </a:ext>
            </a:extLst>
          </p:cNvPr>
          <p:cNvGrpSpPr/>
          <p:nvPr/>
        </p:nvGrpSpPr>
        <p:grpSpPr>
          <a:xfrm>
            <a:off x="3220821" y="3897529"/>
            <a:ext cx="1669564" cy="710147"/>
            <a:chOff x="8269092" y="2149231"/>
            <a:chExt cx="3751389" cy="710147"/>
          </a:xfrm>
        </p:grpSpPr>
        <p:cxnSp>
          <p:nvCxnSpPr>
            <p:cNvPr id="17" name="Straight Connector 16">
              <a:extLst>
                <a:ext uri="{FF2B5EF4-FFF2-40B4-BE49-F238E27FC236}">
                  <a16:creationId xmlns:a16="http://schemas.microsoft.com/office/drawing/2014/main" id="{DAD23AD0-2AE3-265A-E131-D974E66576BF}"/>
                </a:ext>
              </a:extLst>
            </p:cNvPr>
            <p:cNvCxnSpPr>
              <a:cxnSpLocks/>
            </p:cNvCxnSpPr>
            <p:nvPr/>
          </p:nvCxnSpPr>
          <p:spPr>
            <a:xfrm>
              <a:off x="8269096" y="2149231"/>
              <a:ext cx="37513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AF3E671-F974-7C13-9B1E-41CED983996F}"/>
                </a:ext>
              </a:extLst>
            </p:cNvPr>
            <p:cNvCxnSpPr>
              <a:cxnSpLocks/>
            </p:cNvCxnSpPr>
            <p:nvPr/>
          </p:nvCxnSpPr>
          <p:spPr>
            <a:xfrm flipV="1">
              <a:off x="10144788" y="2156158"/>
              <a:ext cx="0" cy="18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B7C0B5F-945B-B128-9CF3-E22CEDD81E76}"/>
                </a:ext>
              </a:extLst>
            </p:cNvPr>
            <p:cNvSpPr txBox="1"/>
            <p:nvPr/>
          </p:nvSpPr>
          <p:spPr>
            <a:xfrm>
              <a:off x="8269092" y="2336158"/>
              <a:ext cx="3751382" cy="523220"/>
            </a:xfrm>
            <a:prstGeom prst="rect">
              <a:avLst/>
            </a:prstGeom>
            <a:noFill/>
          </p:spPr>
          <p:txBody>
            <a:bodyPr wrap="square" rtlCol="0">
              <a:spAutoFit/>
            </a:bodyPr>
            <a:lstStyle/>
            <a:p>
              <a:pPr algn="ctr"/>
              <a:r>
                <a:rPr lang="en-GB" sz="2800" b="1" dirty="0">
                  <a:solidFill>
                    <a:srgbClr val="7030A0"/>
                  </a:solidFill>
                </a:rPr>
                <a:t>Start tag</a:t>
              </a:r>
            </a:p>
          </p:txBody>
        </p:sp>
      </p:grpSp>
      <p:grpSp>
        <p:nvGrpSpPr>
          <p:cNvPr id="20" name="Group 19">
            <a:extLst>
              <a:ext uri="{FF2B5EF4-FFF2-40B4-BE49-F238E27FC236}">
                <a16:creationId xmlns:a16="http://schemas.microsoft.com/office/drawing/2014/main" id="{AE726079-09D1-7A89-7724-A8E88E28B7A8}"/>
              </a:ext>
            </a:extLst>
          </p:cNvPr>
          <p:cNvGrpSpPr/>
          <p:nvPr/>
        </p:nvGrpSpPr>
        <p:grpSpPr>
          <a:xfrm>
            <a:off x="7134124" y="3897529"/>
            <a:ext cx="1669564" cy="710147"/>
            <a:chOff x="8269092" y="2149231"/>
            <a:chExt cx="3751389" cy="710147"/>
          </a:xfrm>
        </p:grpSpPr>
        <p:cxnSp>
          <p:nvCxnSpPr>
            <p:cNvPr id="21" name="Straight Connector 20">
              <a:extLst>
                <a:ext uri="{FF2B5EF4-FFF2-40B4-BE49-F238E27FC236}">
                  <a16:creationId xmlns:a16="http://schemas.microsoft.com/office/drawing/2014/main" id="{80A312F9-0BE1-4315-8FE7-E34A25810412}"/>
                </a:ext>
              </a:extLst>
            </p:cNvPr>
            <p:cNvCxnSpPr>
              <a:cxnSpLocks/>
            </p:cNvCxnSpPr>
            <p:nvPr/>
          </p:nvCxnSpPr>
          <p:spPr>
            <a:xfrm>
              <a:off x="8269096" y="2149231"/>
              <a:ext cx="37513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8615FB-3E41-B23C-4114-38D88C5E6789}"/>
                </a:ext>
              </a:extLst>
            </p:cNvPr>
            <p:cNvCxnSpPr>
              <a:cxnSpLocks/>
            </p:cNvCxnSpPr>
            <p:nvPr/>
          </p:nvCxnSpPr>
          <p:spPr>
            <a:xfrm flipV="1">
              <a:off x="10144788" y="2156158"/>
              <a:ext cx="0" cy="180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0632EFE-66DC-6228-2BF4-A7592BFD23C0}"/>
                </a:ext>
              </a:extLst>
            </p:cNvPr>
            <p:cNvSpPr txBox="1"/>
            <p:nvPr/>
          </p:nvSpPr>
          <p:spPr>
            <a:xfrm>
              <a:off x="8269092" y="2336158"/>
              <a:ext cx="3751382" cy="523220"/>
            </a:xfrm>
            <a:prstGeom prst="rect">
              <a:avLst/>
            </a:prstGeom>
            <a:noFill/>
          </p:spPr>
          <p:txBody>
            <a:bodyPr wrap="square" rtlCol="0">
              <a:spAutoFit/>
            </a:bodyPr>
            <a:lstStyle/>
            <a:p>
              <a:pPr algn="ctr"/>
              <a:r>
                <a:rPr lang="en-GB" sz="2800" b="1" dirty="0">
                  <a:solidFill>
                    <a:srgbClr val="7030A0"/>
                  </a:solidFill>
                </a:rPr>
                <a:t>End tag</a:t>
              </a:r>
            </a:p>
          </p:txBody>
        </p:sp>
      </p:grpSp>
      <p:sp>
        <p:nvSpPr>
          <p:cNvPr id="24" name="Callout: Bent Line with No Border 23">
            <a:extLst>
              <a:ext uri="{FF2B5EF4-FFF2-40B4-BE49-F238E27FC236}">
                <a16:creationId xmlns:a16="http://schemas.microsoft.com/office/drawing/2014/main" id="{535B09F3-DD14-0BE1-83EE-674A2D878E89}"/>
              </a:ext>
            </a:extLst>
          </p:cNvPr>
          <p:cNvSpPr/>
          <p:nvPr/>
        </p:nvSpPr>
        <p:spPr>
          <a:xfrm flipH="1">
            <a:off x="3187201" y="4794602"/>
            <a:ext cx="2414411" cy="862642"/>
          </a:xfrm>
          <a:prstGeom prst="callout2">
            <a:avLst>
              <a:gd name="adj1" fmla="val 49217"/>
              <a:gd name="adj2" fmla="val -30"/>
              <a:gd name="adj3" fmla="val 49740"/>
              <a:gd name="adj4" fmla="val -12980"/>
              <a:gd name="adj5" fmla="val -136597"/>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Displayed</a:t>
            </a:r>
          </a:p>
        </p:txBody>
      </p:sp>
      <p:sp>
        <p:nvSpPr>
          <p:cNvPr id="25" name="TextBox 24">
            <a:extLst>
              <a:ext uri="{FF2B5EF4-FFF2-40B4-BE49-F238E27FC236}">
                <a16:creationId xmlns:a16="http://schemas.microsoft.com/office/drawing/2014/main" id="{05F5ADFE-C399-4090-C356-DD81EB05E487}"/>
              </a:ext>
            </a:extLst>
          </p:cNvPr>
          <p:cNvSpPr txBox="1"/>
          <p:nvPr/>
        </p:nvSpPr>
        <p:spPr>
          <a:xfrm>
            <a:off x="1155097" y="5807488"/>
            <a:ext cx="9881872" cy="646331"/>
          </a:xfrm>
          <a:prstGeom prst="rect">
            <a:avLst/>
          </a:prstGeom>
          <a:noFill/>
        </p:spPr>
        <p:txBody>
          <a:bodyPr wrap="none" rtlCol="0">
            <a:spAutoFit/>
          </a:bodyPr>
          <a:lstStyle/>
          <a:p>
            <a:pPr algn="ctr"/>
            <a:r>
              <a:rPr lang="en-GB" sz="3600" dirty="0">
                <a:solidFill>
                  <a:srgbClr val="7030A0"/>
                </a:solidFill>
              </a:rPr>
              <a:t>The content of an element can be </a:t>
            </a:r>
            <a:r>
              <a:rPr lang="en-GB" sz="3600" i="1" dirty="0">
                <a:solidFill>
                  <a:srgbClr val="7030A0"/>
                </a:solidFill>
              </a:rPr>
              <a:t>another</a:t>
            </a:r>
            <a:r>
              <a:rPr lang="en-GB" sz="3600" dirty="0">
                <a:solidFill>
                  <a:srgbClr val="7030A0"/>
                </a:solidFill>
              </a:rPr>
              <a:t>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66289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outVertical)">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arn(outVertical)">
                                      <p:cBhvr>
                                        <p:cTn id="17" dur="1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10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wipe(left)">
                                      <p:cBhvr>
                                        <p:cTn id="37"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build="p"/>
      <p:bldP spid="13" grpId="0" animBg="1"/>
      <p:bldP spid="24" grpId="0" animBg="1"/>
      <p:bldP spid="2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Elements</a:t>
            </a:r>
          </a:p>
        </p:txBody>
      </p:sp>
      <p:sp>
        <p:nvSpPr>
          <p:cNvPr id="9" name="TextBox 8">
            <a:extLst>
              <a:ext uri="{FF2B5EF4-FFF2-40B4-BE49-F238E27FC236}">
                <a16:creationId xmlns:a16="http://schemas.microsoft.com/office/drawing/2014/main" id="{F3B639B4-E5C5-8DD1-DB2C-5DF574EC16F0}"/>
              </a:ext>
            </a:extLst>
          </p:cNvPr>
          <p:cNvSpPr txBox="1"/>
          <p:nvPr/>
        </p:nvSpPr>
        <p:spPr>
          <a:xfrm>
            <a:off x="3187201" y="2929979"/>
            <a:ext cx="5782352" cy="769441"/>
          </a:xfrm>
          <a:prstGeom prst="rect">
            <a:avLst/>
          </a:prstGeom>
          <a:noFill/>
        </p:spPr>
        <p:txBody>
          <a:bodyPr wrap="none" rtlCol="0">
            <a:spAutoFit/>
          </a:bodyPr>
          <a:lstStyle/>
          <a:p>
            <a:r>
              <a:rPr lang="en-GB" sz="4400" dirty="0">
                <a:solidFill>
                  <a:srgbClr val="7030A0"/>
                </a:solidFill>
                <a:latin typeface="Consolas" panose="020B0609020204030204" pitchFamily="49" charset="0"/>
              </a:rPr>
              <a:t>&lt;</a:t>
            </a:r>
            <a:r>
              <a:rPr lang="en-GB" sz="4400" dirty="0">
                <a:solidFill>
                  <a:srgbClr val="0000FF"/>
                </a:solidFill>
                <a:latin typeface="Consolas" panose="020B0609020204030204" pitchFamily="49" charset="0"/>
              </a:rPr>
              <a:t>tag</a:t>
            </a:r>
            <a:r>
              <a:rPr lang="en-GB" sz="4400" dirty="0">
                <a:solidFill>
                  <a:srgbClr val="7030A0"/>
                </a:solidFill>
                <a:latin typeface="Consolas" panose="020B0609020204030204" pitchFamily="49" charset="0"/>
              </a:rPr>
              <a:t>&gt;</a:t>
            </a:r>
            <a:r>
              <a:rPr lang="en-GB" sz="4400" dirty="0">
                <a:latin typeface="Consolas" panose="020B0609020204030204" pitchFamily="49" charset="0"/>
              </a:rPr>
              <a:t>Content</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r>
              <a:rPr lang="en-GB" sz="4400" dirty="0">
                <a:solidFill>
                  <a:srgbClr val="0000FF"/>
                </a:solidFill>
                <a:latin typeface="Consolas" panose="020B0609020204030204" pitchFamily="49" charset="0"/>
              </a:rPr>
              <a:t>tag</a:t>
            </a:r>
            <a:r>
              <a:rPr lang="en-GB" sz="4400" dirty="0">
                <a:solidFill>
                  <a:srgbClr val="7030A0"/>
                </a:solidFill>
                <a:latin typeface="Consolas" panose="020B0609020204030204" pitchFamily="49" charset="0"/>
              </a:rPr>
              <a:t>&gt;</a:t>
            </a:r>
            <a:endParaRPr lang="en-GB" sz="4400" dirty="0">
              <a:solidFill>
                <a:srgbClr val="7030A0"/>
              </a:solidFill>
            </a:endParaRPr>
          </a:p>
        </p:txBody>
      </p:sp>
    </p:spTree>
    <p:extLst>
      <p:ext uri="{BB962C8B-B14F-4D97-AF65-F5344CB8AC3E}">
        <p14:creationId xmlns:p14="http://schemas.microsoft.com/office/powerpoint/2010/main" val="2154278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Basic Webpage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&lt;!DOCTYPE</a:t>
            </a:r>
            <a:r>
              <a:rPr lang="en-US" altLang="en-US" sz="4000" dirty="0">
                <a:solidFill>
                  <a:srgbClr val="000000"/>
                </a:solidFill>
                <a:latin typeface="Consolas" panose="020B0609020204030204" pitchFamily="49" charset="0"/>
              </a:rPr>
              <a:t> html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&lt;html</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lang</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en-gb</a:t>
            </a:r>
            <a:r>
              <a:rPr lang="en-US" altLang="en-US" sz="4000" dirty="0">
                <a:solidFill>
                  <a:srgbClr val="183691"/>
                </a:solidFill>
                <a:latin typeface="Consolas" panose="020B0609020204030204" pitchFamily="49" charset="0"/>
              </a:rPr>
              <a:t>"</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&lt;/html&gt;</a:t>
            </a:r>
            <a:endParaRPr lang="en-US" altLang="en-US" sz="5400" dirty="0">
              <a:latin typeface="Arial" panose="020B0604020202020204" pitchFamily="34" charset="0"/>
            </a:endParaRP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6942766" y="1326836"/>
            <a:ext cx="3331790" cy="862642"/>
          </a:xfrm>
          <a:prstGeom prst="callout2">
            <a:avLst>
              <a:gd name="adj1" fmla="val 49217"/>
              <a:gd name="adj2" fmla="val -30"/>
              <a:gd name="adj3" fmla="val 49740"/>
              <a:gd name="adj4" fmla="val -12980"/>
              <a:gd name="adj5" fmla="val 95960"/>
              <a:gd name="adj6" fmla="val -3564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Info for web browser</a:t>
            </a:r>
          </a:p>
        </p:txBody>
      </p:sp>
      <p:sp>
        <p:nvSpPr>
          <p:cNvPr id="8" name="Callout: Bent Line with No Border 7">
            <a:extLst>
              <a:ext uri="{FF2B5EF4-FFF2-40B4-BE49-F238E27FC236}">
                <a16:creationId xmlns:a16="http://schemas.microsoft.com/office/drawing/2014/main" id="{A8565748-C074-FE77-934D-D3AC59B31B88}"/>
              </a:ext>
            </a:extLst>
          </p:cNvPr>
          <p:cNvSpPr/>
          <p:nvPr/>
        </p:nvSpPr>
        <p:spPr>
          <a:xfrm>
            <a:off x="4924536" y="3933825"/>
            <a:ext cx="6429264" cy="862642"/>
          </a:xfrm>
          <a:prstGeom prst="callout2">
            <a:avLst>
              <a:gd name="adj1" fmla="val 48794"/>
              <a:gd name="adj2" fmla="val -30"/>
              <a:gd name="adj3" fmla="val -56054"/>
              <a:gd name="adj4" fmla="val -15473"/>
              <a:gd name="adj5" fmla="val -56558"/>
              <a:gd name="adj6" fmla="val -2625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Webpage content goes between the tags</a:t>
            </a:r>
          </a:p>
        </p:txBody>
      </p:sp>
      <p:sp>
        <p:nvSpPr>
          <p:cNvPr id="6" name="Callout: Bent Line with No Border 5">
            <a:extLst>
              <a:ext uri="{FF2B5EF4-FFF2-40B4-BE49-F238E27FC236}">
                <a16:creationId xmlns:a16="http://schemas.microsoft.com/office/drawing/2014/main" id="{0B9706FA-D9B8-431C-954F-A958BF8962DE}"/>
              </a:ext>
            </a:extLst>
          </p:cNvPr>
          <p:cNvSpPr/>
          <p:nvPr/>
        </p:nvSpPr>
        <p:spPr>
          <a:xfrm>
            <a:off x="7511389" y="3071183"/>
            <a:ext cx="3115185" cy="862642"/>
          </a:xfrm>
          <a:prstGeom prst="callout2">
            <a:avLst>
              <a:gd name="adj1" fmla="val 49217"/>
              <a:gd name="adj2" fmla="val -30"/>
              <a:gd name="adj3" fmla="val 50972"/>
              <a:gd name="adj4" fmla="val -31589"/>
              <a:gd name="adj5" fmla="val 4612"/>
              <a:gd name="adj6" fmla="val -3805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Web page language</a:t>
            </a:r>
          </a:p>
        </p:txBody>
      </p:sp>
    </p:spTree>
    <p:extLst>
      <p:ext uri="{BB962C8B-B14F-4D97-AF65-F5344CB8AC3E}">
        <p14:creationId xmlns:p14="http://schemas.microsoft.com/office/powerpoint/2010/main" val="19883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left)">
                                      <p:cBhvr>
                                        <p:cTn id="27" dur="25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wipe(left)">
                                      <p:cBhvr>
                                        <p:cTn id="32" dur="1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8"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508D98-1755-219A-AEBD-0F29A05DF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47D3A-6C3F-0947-B19F-0FEF396E5CB8}"/>
              </a:ext>
            </a:extLst>
          </p:cNvPr>
          <p:cNvSpPr>
            <a:spLocks noGrp="1"/>
          </p:cNvSpPr>
          <p:nvPr>
            <p:ph type="title"/>
          </p:nvPr>
        </p:nvSpPr>
        <p:spPr/>
        <p:txBody>
          <a:bodyPr/>
          <a:lstStyle/>
          <a:p>
            <a:r>
              <a:rPr lang="en-GB" dirty="0"/>
              <a:t>Basic Webpage</a:t>
            </a:r>
          </a:p>
        </p:txBody>
      </p:sp>
      <p:sp>
        <p:nvSpPr>
          <p:cNvPr id="3" name="Content Placeholder 2">
            <a:extLst>
              <a:ext uri="{FF2B5EF4-FFF2-40B4-BE49-F238E27FC236}">
                <a16:creationId xmlns:a16="http://schemas.microsoft.com/office/drawing/2014/main" id="{39D6655D-58C8-D9BC-0756-DE37F4EC8DC8}"/>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&lt;!DOCTYPE</a:t>
            </a:r>
            <a:r>
              <a:rPr lang="en-US" altLang="en-US" sz="4000" dirty="0">
                <a:solidFill>
                  <a:srgbClr val="000000"/>
                </a:solidFill>
                <a:latin typeface="Consolas" panose="020B0609020204030204" pitchFamily="49" charset="0"/>
              </a:rPr>
              <a:t> html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&lt;html</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lang</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en-gb</a:t>
            </a:r>
            <a:r>
              <a:rPr lang="en-US" altLang="en-US" sz="4000" dirty="0">
                <a:solidFill>
                  <a:srgbClr val="183691"/>
                </a:solidFill>
                <a:latin typeface="Consolas" panose="020B0609020204030204" pitchFamily="49" charset="0"/>
              </a:rPr>
              <a:t>"</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&lt;/html&gt;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503851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and Body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&lt;html</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lang</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en-gb</a:t>
            </a:r>
            <a:r>
              <a:rPr lang="en-US" altLang="en-US" sz="4000" dirty="0">
                <a:solidFill>
                  <a:srgbClr val="183691"/>
                </a:solidFill>
                <a:latin typeface="Consolas" panose="020B0609020204030204" pitchFamily="49" charset="0"/>
              </a:rPr>
              <a:t>"</a:t>
            </a:r>
            <a:r>
              <a:rPr lang="en-US" altLang="en-US" sz="40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&lt;head&gt;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&lt;/head&gt;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&lt;body&gt;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6 </a:t>
            </a:r>
            <a:r>
              <a:rPr lang="en-US" altLang="en-US" sz="4000" dirty="0">
                <a:solidFill>
                  <a:srgbClr val="A71D5D"/>
                </a:solidFill>
                <a:latin typeface="Consolas" panose="020B0609020204030204" pitchFamily="49" charset="0"/>
              </a:rPr>
              <a:t>&lt;/html&gt;</a:t>
            </a:r>
            <a:endParaRPr lang="en-US" altLang="en-US" sz="5400" dirty="0">
              <a:latin typeface="Arial" panose="020B0604020202020204" pitchFamily="34" charset="0"/>
            </a:endParaRPr>
          </a:p>
        </p:txBody>
      </p:sp>
      <p:grpSp>
        <p:nvGrpSpPr>
          <p:cNvPr id="6" name="Group 5">
            <a:extLst>
              <a:ext uri="{FF2B5EF4-FFF2-40B4-BE49-F238E27FC236}">
                <a16:creationId xmlns:a16="http://schemas.microsoft.com/office/drawing/2014/main" id="{AD56F3FA-9FE3-9C0D-CE53-A04FF5567FB3}"/>
              </a:ext>
            </a:extLst>
          </p:cNvPr>
          <p:cNvGrpSpPr/>
          <p:nvPr/>
        </p:nvGrpSpPr>
        <p:grpSpPr>
          <a:xfrm>
            <a:off x="4216738" y="2661336"/>
            <a:ext cx="5937269" cy="997579"/>
            <a:chOff x="3844205" y="3151907"/>
            <a:chExt cx="5937269" cy="997579"/>
          </a:xfrm>
        </p:grpSpPr>
        <p:sp>
          <p:nvSpPr>
            <p:cNvPr id="10" name="TextBox 9">
              <a:extLst>
                <a:ext uri="{FF2B5EF4-FFF2-40B4-BE49-F238E27FC236}">
                  <a16:creationId xmlns:a16="http://schemas.microsoft.com/office/drawing/2014/main" id="{DF4BA8FF-524A-4C13-87BF-68801971FA28}"/>
                </a:ext>
              </a:extLst>
            </p:cNvPr>
            <p:cNvSpPr txBox="1"/>
            <p:nvPr/>
          </p:nvSpPr>
          <p:spPr>
            <a:xfrm>
              <a:off x="4426802" y="3327530"/>
              <a:ext cx="5354672" cy="646331"/>
            </a:xfrm>
            <a:prstGeom prst="rect">
              <a:avLst/>
            </a:prstGeom>
            <a:noFill/>
          </p:spPr>
          <p:txBody>
            <a:bodyPr wrap="none" rtlCol="0">
              <a:spAutoFit/>
            </a:bodyPr>
            <a:lstStyle/>
            <a:p>
              <a:r>
                <a:rPr lang="en-GB" sz="3600" dirty="0">
                  <a:solidFill>
                    <a:srgbClr val="7030A0"/>
                  </a:solidFill>
                </a:rPr>
                <a:t>Information about the page</a:t>
              </a:r>
              <a:endParaRPr lang="en-GB" sz="3600" dirty="0">
                <a:solidFill>
                  <a:srgbClr val="7030A0"/>
                </a:solidFill>
                <a:latin typeface="Consolas" panose="020B0609020204030204" pitchFamily="49" charset="0"/>
              </a:endParaRPr>
            </a:p>
          </p:txBody>
        </p:sp>
        <p:sp>
          <p:nvSpPr>
            <p:cNvPr id="7" name="Right Brace 6">
              <a:extLst>
                <a:ext uri="{FF2B5EF4-FFF2-40B4-BE49-F238E27FC236}">
                  <a16:creationId xmlns:a16="http://schemas.microsoft.com/office/drawing/2014/main" id="{7ECB6FE7-865C-4C6B-D8D8-D3BF1F50ED91}"/>
                </a:ext>
              </a:extLst>
            </p:cNvPr>
            <p:cNvSpPr/>
            <p:nvPr/>
          </p:nvSpPr>
          <p:spPr>
            <a:xfrm>
              <a:off x="3844205" y="3151907"/>
              <a:ext cx="372533" cy="997579"/>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645257CB-2BDB-58D5-850C-3B4CFF74A430}"/>
              </a:ext>
            </a:extLst>
          </p:cNvPr>
          <p:cNvGrpSpPr/>
          <p:nvPr/>
        </p:nvGrpSpPr>
        <p:grpSpPr>
          <a:xfrm>
            <a:off x="4216738" y="3875988"/>
            <a:ext cx="5937269" cy="997579"/>
            <a:chOff x="3844205" y="3151907"/>
            <a:chExt cx="5937269" cy="997579"/>
          </a:xfrm>
        </p:grpSpPr>
        <p:sp>
          <p:nvSpPr>
            <p:cNvPr id="9" name="TextBox 8">
              <a:extLst>
                <a:ext uri="{FF2B5EF4-FFF2-40B4-BE49-F238E27FC236}">
                  <a16:creationId xmlns:a16="http://schemas.microsoft.com/office/drawing/2014/main" id="{57CE272A-A610-21B9-0F6F-927DE561CD09}"/>
                </a:ext>
              </a:extLst>
            </p:cNvPr>
            <p:cNvSpPr txBox="1"/>
            <p:nvPr/>
          </p:nvSpPr>
          <p:spPr>
            <a:xfrm>
              <a:off x="4426802" y="3327530"/>
              <a:ext cx="5354672" cy="646331"/>
            </a:xfrm>
            <a:prstGeom prst="rect">
              <a:avLst/>
            </a:prstGeom>
            <a:noFill/>
          </p:spPr>
          <p:txBody>
            <a:bodyPr wrap="square" rtlCol="0">
              <a:spAutoFit/>
            </a:bodyPr>
            <a:lstStyle/>
            <a:p>
              <a:r>
                <a:rPr lang="en-GB" sz="3600" dirty="0">
                  <a:solidFill>
                    <a:srgbClr val="7030A0"/>
                  </a:solidFill>
                </a:rPr>
                <a:t>Information to be displayed</a:t>
              </a:r>
              <a:endParaRPr lang="en-GB" sz="3600" dirty="0">
                <a:solidFill>
                  <a:srgbClr val="7030A0"/>
                </a:solidFill>
                <a:latin typeface="Consolas" panose="020B0609020204030204" pitchFamily="49" charset="0"/>
              </a:endParaRPr>
            </a:p>
          </p:txBody>
        </p:sp>
        <p:sp>
          <p:nvSpPr>
            <p:cNvPr id="11" name="Right Brace 10">
              <a:extLst>
                <a:ext uri="{FF2B5EF4-FFF2-40B4-BE49-F238E27FC236}">
                  <a16:creationId xmlns:a16="http://schemas.microsoft.com/office/drawing/2014/main" id="{EF9E1D51-A369-884E-6487-93BB8CF5630C}"/>
                </a:ext>
              </a:extLst>
            </p:cNvPr>
            <p:cNvSpPr/>
            <p:nvPr/>
          </p:nvSpPr>
          <p:spPr>
            <a:xfrm>
              <a:off x="3844205" y="3151907"/>
              <a:ext cx="372533" cy="997579"/>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16691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10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2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wipe(left)">
                                      <p:cBhvr>
                                        <p:cTn id="26" dur="1000"/>
                                        <p:tgtEl>
                                          <p:spTgt spid="3">
                                            <p:txEl>
                                              <p:pRg st="3" end="3"/>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wipe(left)">
                                      <p:cBhvr>
                                        <p:cTn id="30" dur="10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1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wipe(left)">
                                      <p:cBhvr>
                                        <p:cTn id="4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7D80A-49F4-19B1-C6E6-E8A0B82FC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46189-27FA-66F6-8DA2-3AA81F6F31ED}"/>
              </a:ext>
            </a:extLst>
          </p:cNvPr>
          <p:cNvSpPr>
            <a:spLocks noGrp="1"/>
          </p:cNvSpPr>
          <p:nvPr>
            <p:ph type="title"/>
          </p:nvPr>
        </p:nvSpPr>
        <p:spPr/>
        <p:txBody>
          <a:bodyPr/>
          <a:lstStyle/>
          <a:p>
            <a:r>
              <a:rPr lang="en-GB" dirty="0"/>
              <a:t>Head and Body</a:t>
            </a:r>
          </a:p>
        </p:txBody>
      </p:sp>
      <p:sp>
        <p:nvSpPr>
          <p:cNvPr id="3" name="Content Placeholder 2">
            <a:extLst>
              <a:ext uri="{FF2B5EF4-FFF2-40B4-BE49-F238E27FC236}">
                <a16:creationId xmlns:a16="http://schemas.microsoft.com/office/drawing/2014/main" id="{F7AE7B05-8122-4131-6F8D-DAA0647F8833}"/>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&lt;html</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lang</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a:t>
            </a:r>
            <a:r>
              <a:rPr lang="en-US" altLang="en-US" sz="4000" dirty="0" err="1">
                <a:solidFill>
                  <a:srgbClr val="183691"/>
                </a:solidFill>
                <a:latin typeface="Consolas" panose="020B0609020204030204" pitchFamily="49" charset="0"/>
              </a:rPr>
              <a:t>en-gb</a:t>
            </a:r>
            <a:r>
              <a:rPr lang="en-US" altLang="en-US" sz="4000" dirty="0">
                <a:solidFill>
                  <a:srgbClr val="183691"/>
                </a:solidFill>
                <a:latin typeface="Consolas" panose="020B0609020204030204" pitchFamily="49" charset="0"/>
              </a:rPr>
              <a:t>"</a:t>
            </a:r>
            <a:r>
              <a:rPr lang="en-US" altLang="en-US" sz="40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&lt;head&gt;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&lt;/head&gt;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&lt;body&gt;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6 </a:t>
            </a:r>
            <a:r>
              <a:rPr lang="en-US" altLang="en-US" sz="4000" dirty="0">
                <a:solidFill>
                  <a:srgbClr val="A71D5D"/>
                </a:solidFill>
                <a:latin typeface="Consolas" panose="020B0609020204030204" pitchFamily="49" charset="0"/>
              </a:rPr>
              <a:t>&lt;/html&gt;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4568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21E73-87ED-4DFC-B27E-5C4EE62E5022}"/>
              </a:ext>
            </a:extLst>
          </p:cNvPr>
          <p:cNvSpPr>
            <a:spLocks noGrp="1"/>
          </p:cNvSpPr>
          <p:nvPr>
            <p:ph type="title"/>
          </p:nvPr>
        </p:nvSpPr>
        <p:spPr/>
        <p:txBody>
          <a:bodyPr/>
          <a:lstStyle/>
          <a:p>
            <a:r>
              <a:rPr lang="en-GB" dirty="0"/>
              <a:t>Head - Meta</a:t>
            </a:r>
          </a:p>
        </p:txBody>
      </p:sp>
      <p:sp>
        <p:nvSpPr>
          <p:cNvPr id="4" name="Content Placeholder 3">
            <a:extLst>
              <a:ext uri="{FF2B5EF4-FFF2-40B4-BE49-F238E27FC236}">
                <a16:creationId xmlns:a16="http://schemas.microsoft.com/office/drawing/2014/main" id="{5BC5F89B-0DE1-4E16-BB8C-3F9E307C8F7C}"/>
              </a:ext>
            </a:extLst>
          </p:cNvPr>
          <p:cNvSpPr>
            <a:spLocks noGrp="1"/>
          </p:cNvSpPr>
          <p:nvPr>
            <p:ph idx="1"/>
          </p:nvPr>
        </p:nvSpPr>
        <p:spPr>
          <a:xfrm>
            <a:off x="838200" y="1825625"/>
            <a:ext cx="11049000" cy="4351338"/>
          </a:xfrm>
        </p:spPr>
        <p:txBody>
          <a:bodyPr>
            <a:normAutofit lnSpcReduction="10000"/>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a:t>
            </a:r>
            <a:r>
              <a:rPr lang="en-US" altLang="en-US" sz="4000" dirty="0">
                <a:solidFill>
                  <a:srgbClr val="A71D5D"/>
                </a:solidFill>
                <a:latin typeface="Consolas" panose="020B0609020204030204" pitchFamily="49" charset="0"/>
              </a:rPr>
              <a:t> &lt;head&gt;</a:t>
            </a:r>
          </a:p>
          <a:p>
            <a:pPr marL="0" lvl="0" indent="0" eaLnBrk="0" fontAlgn="base" hangingPunct="0">
              <a:lnSpc>
                <a:spcPct val="100000"/>
              </a:lnSpc>
              <a:spcBef>
                <a:spcPct val="0"/>
              </a:spcBef>
              <a:spcAft>
                <a:spcPct val="0"/>
              </a:spcAft>
              <a:buNone/>
            </a:pPr>
            <a:r>
              <a:rPr lang="en-GB" sz="4000" dirty="0">
                <a:solidFill>
                  <a:srgbClr val="B2B2B2"/>
                </a:solidFill>
                <a:latin typeface="Consolas" panose="020B0609020204030204" pitchFamily="49" charset="0"/>
              </a:rPr>
              <a:t>2</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&lt;meta</a:t>
            </a:r>
            <a:r>
              <a:rPr lang="en-GB" sz="4000" dirty="0">
                <a:latin typeface="Consolas" panose="020B0609020204030204" pitchFamily="49" charset="0"/>
              </a:rPr>
              <a:t> charset="UTF-8"</a:t>
            </a:r>
            <a:r>
              <a:rPr lang="en-GB" sz="40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GB" sz="4000" dirty="0">
                <a:solidFill>
                  <a:srgbClr val="B2B2B2"/>
                </a:solidFill>
                <a:latin typeface="Consolas" panose="020B0609020204030204" pitchFamily="49" charset="0"/>
              </a:rPr>
              <a:t>3</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&lt;meta</a:t>
            </a:r>
            <a:r>
              <a:rPr lang="en-GB" sz="4000" dirty="0">
                <a:latin typeface="Consolas" panose="020B0609020204030204" pitchFamily="49" charset="0"/>
              </a:rPr>
              <a:t> name="description" </a:t>
            </a:r>
          </a:p>
          <a:p>
            <a:pPr marL="0" lvl="0" indent="0" eaLnBrk="0" fontAlgn="base" hangingPunct="0">
              <a:lnSpc>
                <a:spcPct val="100000"/>
              </a:lnSpc>
              <a:spcBef>
                <a:spcPct val="0"/>
              </a:spcBef>
              <a:spcAft>
                <a:spcPct val="0"/>
              </a:spcAft>
              <a:buNone/>
            </a:pPr>
            <a:r>
              <a:rPr lang="en-GB" sz="4000" dirty="0">
                <a:latin typeface="Consolas" panose="020B0609020204030204" pitchFamily="49" charset="0"/>
              </a:rPr>
              <a:t>            content="Cat pics"</a:t>
            </a:r>
            <a:r>
              <a:rPr lang="en-GB" sz="40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GB" sz="4000" dirty="0">
                <a:solidFill>
                  <a:srgbClr val="B2B2B2"/>
                </a:solidFill>
                <a:latin typeface="Consolas" panose="020B0609020204030204" pitchFamily="49" charset="0"/>
              </a:rPr>
              <a:t>4</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&lt;meta</a:t>
            </a:r>
            <a:r>
              <a:rPr lang="en-GB" sz="4000" dirty="0">
                <a:latin typeface="Consolas" panose="020B0609020204030204" pitchFamily="49" charset="0"/>
              </a:rPr>
              <a:t> name="author" </a:t>
            </a:r>
          </a:p>
          <a:p>
            <a:pPr marL="0" lvl="0" indent="0" eaLnBrk="0" fontAlgn="base" hangingPunct="0">
              <a:lnSpc>
                <a:spcPct val="100000"/>
              </a:lnSpc>
              <a:spcBef>
                <a:spcPct val="0"/>
              </a:spcBef>
              <a:spcAft>
                <a:spcPct val="0"/>
              </a:spcAft>
              <a:buNone/>
            </a:pPr>
            <a:r>
              <a:rPr lang="en-GB" sz="4000" dirty="0">
                <a:latin typeface="Consolas" panose="020B0609020204030204" pitchFamily="49" charset="0"/>
              </a:rPr>
              <a:t>            content="Garfield"</a:t>
            </a:r>
            <a:r>
              <a:rPr lang="en-GB" sz="4000" dirty="0">
                <a:solidFill>
                  <a:srgbClr val="A71D5D"/>
                </a:solidFill>
                <a:latin typeface="Consolas" panose="020B0609020204030204" pitchFamily="49" charset="0"/>
              </a:rPr>
              <a:t>&gt;</a:t>
            </a:r>
            <a:endParaRPr lang="en-US" altLang="en-US" sz="4000"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a:t>
            </a:r>
            <a:r>
              <a:rPr lang="en-US" altLang="en-US" sz="4000" dirty="0">
                <a:solidFill>
                  <a:srgbClr val="A71D5D"/>
                </a:solidFill>
                <a:latin typeface="Consolas" panose="020B0609020204030204" pitchFamily="49" charset="0"/>
              </a:rPr>
              <a:t> &lt;/head&gt;</a:t>
            </a:r>
            <a:endParaRPr lang="en-GB" sz="4000" dirty="0">
              <a:latin typeface="Consolas" panose="020B0609020204030204" pitchFamily="49" charset="0"/>
            </a:endParaRPr>
          </a:p>
        </p:txBody>
      </p:sp>
      <p:sp>
        <p:nvSpPr>
          <p:cNvPr id="5" name="TextBox 4">
            <a:extLst>
              <a:ext uri="{FF2B5EF4-FFF2-40B4-BE49-F238E27FC236}">
                <a16:creationId xmlns:a16="http://schemas.microsoft.com/office/drawing/2014/main" id="{4EC9B7F7-BF15-4F0B-AA7B-76851AE81E77}"/>
              </a:ext>
            </a:extLst>
          </p:cNvPr>
          <p:cNvSpPr txBox="1"/>
          <p:nvPr/>
        </p:nvSpPr>
        <p:spPr>
          <a:xfrm>
            <a:off x="3344995" y="5988734"/>
            <a:ext cx="5502019" cy="646331"/>
          </a:xfrm>
          <a:prstGeom prst="rect">
            <a:avLst/>
          </a:prstGeom>
          <a:noFill/>
        </p:spPr>
        <p:txBody>
          <a:bodyPr wrap="none" rtlCol="0">
            <a:spAutoFit/>
          </a:bodyPr>
          <a:lstStyle/>
          <a:p>
            <a:pPr algn="ctr"/>
            <a:r>
              <a:rPr lang="en-GB" sz="3600" dirty="0">
                <a:solidFill>
                  <a:srgbClr val="7030A0"/>
                </a:solidFill>
              </a:rPr>
              <a:t>Information about the page</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642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0A3E1-4D15-3F0A-75F9-3F3973FD84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37492-1FF5-509B-8C03-0048FE2E058C}"/>
              </a:ext>
            </a:extLst>
          </p:cNvPr>
          <p:cNvSpPr>
            <a:spLocks noGrp="1"/>
          </p:cNvSpPr>
          <p:nvPr>
            <p:ph type="title"/>
          </p:nvPr>
        </p:nvSpPr>
        <p:spPr/>
        <p:txBody>
          <a:bodyPr/>
          <a:lstStyle/>
          <a:p>
            <a:r>
              <a:rPr lang="en-GB" dirty="0"/>
              <a:t>Head - Title	</a:t>
            </a:r>
          </a:p>
        </p:txBody>
      </p:sp>
      <p:sp>
        <p:nvSpPr>
          <p:cNvPr id="3" name="Content Placeholder 2">
            <a:extLst>
              <a:ext uri="{FF2B5EF4-FFF2-40B4-BE49-F238E27FC236}">
                <a16:creationId xmlns:a16="http://schemas.microsoft.com/office/drawing/2014/main" id="{08518578-400F-0399-6AC9-E40D92427D5D}"/>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&lt;head&gt;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&lt;title&gt;</a:t>
            </a:r>
            <a:r>
              <a:rPr lang="en-US" altLang="en-US" sz="4000" dirty="0">
                <a:solidFill>
                  <a:srgbClr val="000000"/>
                </a:solidFill>
                <a:latin typeface="Consolas" panose="020B0609020204030204" pitchFamily="49" charset="0"/>
              </a:rPr>
              <a:t>My first page</a:t>
            </a:r>
            <a:r>
              <a:rPr lang="en-US" altLang="en-US" sz="4000" dirty="0">
                <a:solidFill>
                  <a:srgbClr val="A71D5D"/>
                </a:solidFill>
                <a:latin typeface="Consolas" panose="020B0609020204030204" pitchFamily="49" charset="0"/>
              </a:rPr>
              <a:t>&lt;/title&gt;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&lt;/head&gt;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5" name="TextBox 4">
            <a:extLst>
              <a:ext uri="{FF2B5EF4-FFF2-40B4-BE49-F238E27FC236}">
                <a16:creationId xmlns:a16="http://schemas.microsoft.com/office/drawing/2014/main" id="{339F1A49-1F70-0B39-A704-AFFFF6FD6A9B}"/>
              </a:ext>
            </a:extLst>
          </p:cNvPr>
          <p:cNvSpPr txBox="1"/>
          <p:nvPr/>
        </p:nvSpPr>
        <p:spPr>
          <a:xfrm>
            <a:off x="930194" y="4787354"/>
            <a:ext cx="10331611" cy="646331"/>
          </a:xfrm>
          <a:prstGeom prst="rect">
            <a:avLst/>
          </a:prstGeom>
          <a:noFill/>
        </p:spPr>
        <p:txBody>
          <a:bodyPr wrap="none" rtlCol="0">
            <a:spAutoFit/>
          </a:bodyPr>
          <a:lstStyle/>
          <a:p>
            <a:pPr algn="ctr"/>
            <a:r>
              <a:rPr lang="en-GB" sz="3600" dirty="0">
                <a:solidFill>
                  <a:srgbClr val="7030A0"/>
                </a:solidFill>
              </a:rPr>
              <a:t>The content is displayed on the page tab, not the page</a:t>
            </a:r>
            <a:endParaRPr lang="en-GB" sz="3600" dirty="0">
              <a:solidFill>
                <a:srgbClr val="7030A0"/>
              </a:solidFill>
              <a:latin typeface="Consolas" panose="020B0609020204030204" pitchFamily="49" charset="0"/>
            </a:endParaRPr>
          </a:p>
        </p:txBody>
      </p:sp>
      <p:sp>
        <p:nvSpPr>
          <p:cNvPr id="12" name="TextBox 11">
            <a:extLst>
              <a:ext uri="{FF2B5EF4-FFF2-40B4-BE49-F238E27FC236}">
                <a16:creationId xmlns:a16="http://schemas.microsoft.com/office/drawing/2014/main" id="{8EFC5F6C-27B2-F4DB-1C14-902BB43887D9}"/>
              </a:ext>
            </a:extLst>
          </p:cNvPr>
          <p:cNvSpPr txBox="1"/>
          <p:nvPr/>
        </p:nvSpPr>
        <p:spPr>
          <a:xfrm>
            <a:off x="1295146" y="5824319"/>
            <a:ext cx="9601731" cy="646331"/>
          </a:xfrm>
          <a:prstGeom prst="rect">
            <a:avLst/>
          </a:prstGeom>
          <a:noFill/>
        </p:spPr>
        <p:txBody>
          <a:bodyPr wrap="none" rtlCol="0">
            <a:spAutoFit/>
          </a:bodyPr>
          <a:lstStyle/>
          <a:p>
            <a:pPr algn="ctr"/>
            <a:r>
              <a:rPr lang="en-GB" sz="3600" dirty="0">
                <a:solidFill>
                  <a:srgbClr val="7030A0"/>
                </a:solidFill>
              </a:rPr>
              <a:t>The</a:t>
            </a:r>
            <a:r>
              <a:rPr lang="en-GB" sz="3600" dirty="0"/>
              <a:t> </a:t>
            </a:r>
            <a:r>
              <a:rPr lang="en-GB" sz="3600" dirty="0">
                <a:solidFill>
                  <a:srgbClr val="A71D5D"/>
                </a:solidFill>
                <a:latin typeface="Consolas" panose="020B0609020204030204" pitchFamily="49" charset="0"/>
              </a:rPr>
              <a:t>title</a:t>
            </a:r>
            <a:r>
              <a:rPr lang="en-GB" sz="3600" dirty="0"/>
              <a:t> </a:t>
            </a:r>
            <a:r>
              <a:rPr lang="en-GB" sz="3600" dirty="0">
                <a:solidFill>
                  <a:srgbClr val="7030A0"/>
                </a:solidFill>
              </a:rPr>
              <a:t>element is a </a:t>
            </a:r>
            <a:r>
              <a:rPr lang="en-GB" sz="3600" i="1" dirty="0">
                <a:solidFill>
                  <a:srgbClr val="FF0000"/>
                </a:solidFill>
              </a:rPr>
              <a:t>child</a:t>
            </a:r>
            <a:r>
              <a:rPr lang="en-GB" sz="3600" dirty="0"/>
              <a:t> </a:t>
            </a:r>
            <a:r>
              <a:rPr lang="en-GB" sz="3600" dirty="0">
                <a:solidFill>
                  <a:srgbClr val="7030A0"/>
                </a:solidFill>
              </a:rPr>
              <a:t>of the </a:t>
            </a:r>
            <a:r>
              <a:rPr lang="en-GB" sz="3600" dirty="0">
                <a:solidFill>
                  <a:srgbClr val="A71D5D"/>
                </a:solidFill>
                <a:latin typeface="Consolas" panose="020B0609020204030204" pitchFamily="49" charset="0"/>
              </a:rPr>
              <a:t>head</a:t>
            </a:r>
            <a:r>
              <a:rPr lang="en-GB" sz="3600" dirty="0"/>
              <a:t> </a:t>
            </a:r>
            <a:r>
              <a:rPr lang="en-GB" sz="3600" dirty="0">
                <a:solidFill>
                  <a:srgbClr val="7030A0"/>
                </a:solidFill>
              </a:rPr>
              <a:t>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88533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20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wipe(left)">
                                      <p:cBhvr>
                                        <p:cTn id="2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P spid="12"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649B39-625F-CDB8-2BAF-F3FE9F6B6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4191C-62B7-7D22-23B8-FEA739CFC0E6}"/>
              </a:ext>
            </a:extLst>
          </p:cNvPr>
          <p:cNvSpPr>
            <a:spLocks noGrp="1"/>
          </p:cNvSpPr>
          <p:nvPr>
            <p:ph type="title"/>
          </p:nvPr>
        </p:nvSpPr>
        <p:spPr/>
        <p:txBody>
          <a:bodyPr/>
          <a:lstStyle/>
          <a:p>
            <a:r>
              <a:rPr lang="en-GB" dirty="0"/>
              <a:t>Head - Title	</a:t>
            </a:r>
          </a:p>
        </p:txBody>
      </p:sp>
      <p:sp>
        <p:nvSpPr>
          <p:cNvPr id="3" name="Content Placeholder 2">
            <a:extLst>
              <a:ext uri="{FF2B5EF4-FFF2-40B4-BE49-F238E27FC236}">
                <a16:creationId xmlns:a16="http://schemas.microsoft.com/office/drawing/2014/main" id="{1E41C2BE-032B-BF28-707D-DE862235762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&lt;head&gt;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&lt;title&gt;</a:t>
            </a:r>
            <a:r>
              <a:rPr lang="en-US" altLang="en-US" sz="4000" dirty="0">
                <a:solidFill>
                  <a:srgbClr val="000000"/>
                </a:solidFill>
                <a:latin typeface="Consolas" panose="020B0609020204030204" pitchFamily="49" charset="0"/>
              </a:rPr>
              <a:t>My first page</a:t>
            </a:r>
            <a:r>
              <a:rPr lang="en-US" altLang="en-US" sz="4000" dirty="0">
                <a:solidFill>
                  <a:srgbClr val="A71D5D"/>
                </a:solidFill>
                <a:latin typeface="Consolas" panose="020B0609020204030204" pitchFamily="49" charset="0"/>
              </a:rPr>
              <a:t>&lt;/title&gt;</a:t>
            </a: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&lt;/head&gt;</a:t>
            </a:r>
            <a:br>
              <a:rPr lang="en-US" altLang="en-US" sz="4000" dirty="0">
                <a:solidFill>
                  <a:srgbClr val="000000"/>
                </a:solidFill>
                <a:latin typeface="Consolas" panose="020B0609020204030204" pitchFamily="49" charset="0"/>
              </a:rPr>
            </a:br>
            <a:endParaRPr lang="en-US" altLang="en-US" sz="5400" dirty="0">
              <a:latin typeface="Arial" panose="020B0604020202020204" pitchFamily="34" charset="0"/>
            </a:endParaRPr>
          </a:p>
        </p:txBody>
      </p:sp>
      <p:sp>
        <p:nvSpPr>
          <p:cNvPr id="5" name="TextBox 4">
            <a:extLst>
              <a:ext uri="{FF2B5EF4-FFF2-40B4-BE49-F238E27FC236}">
                <a16:creationId xmlns:a16="http://schemas.microsoft.com/office/drawing/2014/main" id="{E1910919-FCCF-E0BE-2C5B-481E0D4AA93F}"/>
              </a:ext>
            </a:extLst>
          </p:cNvPr>
          <p:cNvSpPr txBox="1"/>
          <p:nvPr/>
        </p:nvSpPr>
        <p:spPr>
          <a:xfrm>
            <a:off x="930194" y="4787354"/>
            <a:ext cx="6005618" cy="646331"/>
          </a:xfrm>
          <a:prstGeom prst="rect">
            <a:avLst/>
          </a:prstGeom>
          <a:noFill/>
        </p:spPr>
        <p:txBody>
          <a:bodyPr wrap="none" rtlCol="0">
            <a:spAutoFit/>
          </a:bodyPr>
          <a:lstStyle/>
          <a:p>
            <a:r>
              <a:rPr lang="en-GB" sz="3600" dirty="0">
                <a:solidFill>
                  <a:srgbClr val="7030A0"/>
                </a:solidFill>
              </a:rPr>
              <a:t>The content is displayed on the</a:t>
            </a:r>
            <a:endParaRPr lang="en-GB" sz="3600" dirty="0">
              <a:solidFill>
                <a:srgbClr val="7030A0"/>
              </a:solidFill>
              <a:latin typeface="Consolas" panose="020B0609020204030204" pitchFamily="49" charset="0"/>
            </a:endParaRPr>
          </a:p>
        </p:txBody>
      </p:sp>
      <p:sp>
        <p:nvSpPr>
          <p:cNvPr id="12" name="TextBox 11">
            <a:extLst>
              <a:ext uri="{FF2B5EF4-FFF2-40B4-BE49-F238E27FC236}">
                <a16:creationId xmlns:a16="http://schemas.microsoft.com/office/drawing/2014/main" id="{F3FBFFF3-4943-2093-BCE2-E5C9764D5AE2}"/>
              </a:ext>
            </a:extLst>
          </p:cNvPr>
          <p:cNvSpPr txBox="1"/>
          <p:nvPr/>
        </p:nvSpPr>
        <p:spPr>
          <a:xfrm>
            <a:off x="1034663" y="5824319"/>
            <a:ext cx="10122708" cy="646331"/>
          </a:xfrm>
          <a:prstGeom prst="rect">
            <a:avLst/>
          </a:prstGeom>
          <a:noFill/>
        </p:spPr>
        <p:txBody>
          <a:bodyPr wrap="none" rtlCol="0">
            <a:spAutoFit/>
          </a:bodyPr>
          <a:lstStyle/>
          <a:p>
            <a:pPr algn="ctr"/>
            <a:r>
              <a:rPr lang="en-GB" sz="3600" dirty="0"/>
              <a:t>The </a:t>
            </a:r>
            <a:r>
              <a:rPr lang="en-GB" sz="3600" dirty="0">
                <a:latin typeface="Consolas" panose="020B0609020204030204" pitchFamily="49" charset="0"/>
              </a:rPr>
              <a:t>     </a:t>
            </a:r>
            <a:r>
              <a:rPr lang="en-GB" sz="3600" dirty="0"/>
              <a:t> element is a </a:t>
            </a:r>
            <a:r>
              <a:rPr lang="en-GB" sz="3600" i="1" dirty="0"/>
              <a:t>           </a:t>
            </a:r>
            <a:r>
              <a:rPr lang="en-GB" sz="3600" dirty="0"/>
              <a:t> of the </a:t>
            </a:r>
            <a:r>
              <a:rPr lang="en-GB" sz="3600" dirty="0">
                <a:solidFill>
                  <a:srgbClr val="A71D5D"/>
                </a:solidFill>
                <a:latin typeface="Consolas" panose="020B0609020204030204" pitchFamily="49" charset="0"/>
              </a:rPr>
              <a:t>head</a:t>
            </a:r>
            <a:r>
              <a:rPr lang="en-GB" sz="3600" dirty="0"/>
              <a:t>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176792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Comments</a:t>
            </a: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6990517" y="1136092"/>
            <a:ext cx="3233690" cy="862642"/>
          </a:xfrm>
          <a:prstGeom prst="callout2">
            <a:avLst>
              <a:gd name="adj1" fmla="val 49217"/>
              <a:gd name="adj2" fmla="val -30"/>
              <a:gd name="adj3" fmla="val 49740"/>
              <a:gd name="adj4" fmla="val -12980"/>
              <a:gd name="adj5" fmla="val 113844"/>
              <a:gd name="adj6" fmla="val -2604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Single line comment</a:t>
            </a:r>
          </a:p>
        </p:txBody>
      </p:sp>
      <p:sp>
        <p:nvSpPr>
          <p:cNvPr id="9" name="TextBox 8">
            <a:extLst>
              <a:ext uri="{FF2B5EF4-FFF2-40B4-BE49-F238E27FC236}">
                <a16:creationId xmlns:a16="http://schemas.microsoft.com/office/drawing/2014/main" id="{F3B639B4-E5C5-8DD1-DB2C-5DF574EC16F0}"/>
              </a:ext>
            </a:extLst>
          </p:cNvPr>
          <p:cNvSpPr txBox="1"/>
          <p:nvPr/>
        </p:nvSpPr>
        <p:spPr>
          <a:xfrm>
            <a:off x="2504125" y="2043468"/>
            <a:ext cx="5782352" cy="769441"/>
          </a:xfrm>
          <a:prstGeom prst="rect">
            <a:avLst/>
          </a:prstGeom>
          <a:noFill/>
        </p:spPr>
        <p:txBody>
          <a:bodyPr wrap="none" rtlCol="0">
            <a:spAutoFit/>
          </a:bodyPr>
          <a:lstStyle/>
          <a:p>
            <a:r>
              <a:rPr lang="en-US" altLang="en-US" sz="4400" dirty="0">
                <a:solidFill>
                  <a:srgbClr val="B2B2B2"/>
                </a:solidFill>
                <a:latin typeface="Consolas" panose="020B0609020204030204" pitchFamily="49" charset="0"/>
              </a:rPr>
              <a:t>1 </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r>
              <a:rPr lang="en-GB" sz="4400" dirty="0">
                <a:solidFill>
                  <a:srgbClr val="0000FF"/>
                </a:solidFill>
                <a:latin typeface="Consolas" panose="020B0609020204030204" pitchFamily="49" charset="0"/>
              </a:rPr>
              <a:t> Comment </a:t>
            </a:r>
            <a:r>
              <a:rPr lang="en-GB" sz="4400" dirty="0">
                <a:solidFill>
                  <a:srgbClr val="FF0000"/>
                </a:solidFill>
                <a:latin typeface="Consolas" panose="020B0609020204030204" pitchFamily="49" charset="0"/>
              </a:rPr>
              <a:t>--</a:t>
            </a:r>
            <a:r>
              <a:rPr lang="en-GB" sz="4400" dirty="0">
                <a:solidFill>
                  <a:srgbClr val="7030A0"/>
                </a:solidFill>
                <a:latin typeface="Consolas" panose="020B0609020204030204" pitchFamily="49" charset="0"/>
              </a:rPr>
              <a:t>&gt;</a:t>
            </a:r>
            <a:endParaRPr lang="en-GB" sz="4400" dirty="0">
              <a:solidFill>
                <a:srgbClr val="7030A0"/>
              </a:solidFill>
            </a:endParaRPr>
          </a:p>
        </p:txBody>
      </p:sp>
      <p:sp>
        <p:nvSpPr>
          <p:cNvPr id="16" name="TextBox 15">
            <a:extLst>
              <a:ext uri="{FF2B5EF4-FFF2-40B4-BE49-F238E27FC236}">
                <a16:creationId xmlns:a16="http://schemas.microsoft.com/office/drawing/2014/main" id="{F4918470-EB76-45D1-B4CD-960C3376CE78}"/>
              </a:ext>
            </a:extLst>
          </p:cNvPr>
          <p:cNvSpPr txBox="1"/>
          <p:nvPr/>
        </p:nvSpPr>
        <p:spPr>
          <a:xfrm>
            <a:off x="2504125" y="3165689"/>
            <a:ext cx="3294492" cy="2800767"/>
          </a:xfrm>
          <a:prstGeom prst="rect">
            <a:avLst/>
          </a:prstGeom>
          <a:noFill/>
        </p:spPr>
        <p:txBody>
          <a:bodyPr wrap="none" rtlCol="0">
            <a:spAutoFit/>
          </a:bodyPr>
          <a:lstStyle/>
          <a:p>
            <a:r>
              <a:rPr lang="en-US" altLang="en-US" sz="4400" dirty="0">
                <a:solidFill>
                  <a:srgbClr val="B2B2B2"/>
                </a:solidFill>
                <a:latin typeface="Consolas" panose="020B0609020204030204" pitchFamily="49" charset="0"/>
              </a:rPr>
              <a:t>2 </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p>
          <a:p>
            <a:r>
              <a:rPr lang="en-US" sz="4400" dirty="0">
                <a:solidFill>
                  <a:srgbClr val="B2B2B2"/>
                </a:solidFill>
                <a:latin typeface="Consolas" panose="020B0609020204030204" pitchFamily="49" charset="0"/>
              </a:rPr>
              <a:t>3</a:t>
            </a:r>
            <a:r>
              <a:rPr lang="en-GB" sz="4400" dirty="0">
                <a:solidFill>
                  <a:srgbClr val="0000FF"/>
                </a:solidFill>
                <a:latin typeface="Consolas" panose="020B0609020204030204" pitchFamily="49" charset="0"/>
              </a:rPr>
              <a:t>  Comment</a:t>
            </a:r>
          </a:p>
          <a:p>
            <a:r>
              <a:rPr lang="en-US" sz="4400" dirty="0">
                <a:solidFill>
                  <a:srgbClr val="B2B2B2"/>
                </a:solidFill>
                <a:latin typeface="Consolas" panose="020B0609020204030204" pitchFamily="49" charset="0"/>
              </a:rPr>
              <a:t>4</a:t>
            </a:r>
            <a:r>
              <a:rPr lang="en-GB" sz="4400" dirty="0">
                <a:solidFill>
                  <a:srgbClr val="0000FF"/>
                </a:solidFill>
                <a:latin typeface="Consolas" panose="020B0609020204030204" pitchFamily="49" charset="0"/>
              </a:rPr>
              <a:t>  Comment</a:t>
            </a:r>
          </a:p>
          <a:p>
            <a:r>
              <a:rPr lang="en-US" altLang="en-US" sz="4400" dirty="0">
                <a:solidFill>
                  <a:srgbClr val="B2B2B2"/>
                </a:solidFill>
                <a:latin typeface="Consolas" panose="020B0609020204030204" pitchFamily="49" charset="0"/>
              </a:rPr>
              <a:t>5 </a:t>
            </a:r>
            <a:r>
              <a:rPr lang="en-GB" sz="4400" dirty="0">
                <a:solidFill>
                  <a:srgbClr val="FF0000"/>
                </a:solidFill>
                <a:latin typeface="Consolas" panose="020B0609020204030204" pitchFamily="49" charset="0"/>
              </a:rPr>
              <a:t>--</a:t>
            </a:r>
            <a:r>
              <a:rPr lang="en-GB" sz="4400" dirty="0">
                <a:solidFill>
                  <a:srgbClr val="7030A0"/>
                </a:solidFill>
                <a:latin typeface="Consolas" panose="020B0609020204030204" pitchFamily="49" charset="0"/>
              </a:rPr>
              <a:t>&gt;</a:t>
            </a:r>
            <a:endParaRPr lang="en-GB" sz="4400" dirty="0">
              <a:solidFill>
                <a:srgbClr val="7030A0"/>
              </a:solidFill>
            </a:endParaRPr>
          </a:p>
        </p:txBody>
      </p:sp>
      <p:sp>
        <p:nvSpPr>
          <p:cNvPr id="26" name="Callout: Bent Line with No Border 25">
            <a:extLst>
              <a:ext uri="{FF2B5EF4-FFF2-40B4-BE49-F238E27FC236}">
                <a16:creationId xmlns:a16="http://schemas.microsoft.com/office/drawing/2014/main" id="{85960A6D-F115-45F2-8011-33EEE35AF6EB}"/>
              </a:ext>
            </a:extLst>
          </p:cNvPr>
          <p:cNvSpPr/>
          <p:nvPr/>
        </p:nvSpPr>
        <p:spPr>
          <a:xfrm>
            <a:off x="6120308" y="3024651"/>
            <a:ext cx="3088407" cy="862642"/>
          </a:xfrm>
          <a:prstGeom prst="callout2">
            <a:avLst>
              <a:gd name="adj1" fmla="val 49217"/>
              <a:gd name="adj2" fmla="val -30"/>
              <a:gd name="adj3" fmla="val 49740"/>
              <a:gd name="adj4" fmla="val -12980"/>
              <a:gd name="adj5" fmla="val 116309"/>
              <a:gd name="adj6" fmla="val -233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Multiline comment</a:t>
            </a:r>
          </a:p>
        </p:txBody>
      </p:sp>
      <p:sp>
        <p:nvSpPr>
          <p:cNvPr id="27" name="TextBox 26">
            <a:extLst>
              <a:ext uri="{FF2B5EF4-FFF2-40B4-BE49-F238E27FC236}">
                <a16:creationId xmlns:a16="http://schemas.microsoft.com/office/drawing/2014/main" id="{9093D7F2-CA72-4F66-A626-CAA4603DF486}"/>
              </a:ext>
            </a:extLst>
          </p:cNvPr>
          <p:cNvSpPr txBox="1"/>
          <p:nvPr/>
        </p:nvSpPr>
        <p:spPr>
          <a:xfrm>
            <a:off x="3328543" y="5996070"/>
            <a:ext cx="5534913" cy="646331"/>
          </a:xfrm>
          <a:prstGeom prst="rect">
            <a:avLst/>
          </a:prstGeom>
          <a:noFill/>
        </p:spPr>
        <p:txBody>
          <a:bodyPr wrap="none" rtlCol="0">
            <a:spAutoFit/>
          </a:bodyPr>
          <a:lstStyle/>
          <a:p>
            <a:pPr algn="ctr"/>
            <a:r>
              <a:rPr lang="en-GB" sz="3600" dirty="0">
                <a:solidFill>
                  <a:srgbClr val="7030A0"/>
                </a:solidFill>
              </a:rPr>
              <a:t>Comments are not displayed</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5367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wipe(left)">
                                      <p:cBhvr>
                                        <p:cTn id="12" dur="1000"/>
                                        <p:tgtEl>
                                          <p:spTgt spid="16">
                                            <p:txEl>
                                              <p:pRg st="0" end="0"/>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6">
                                            <p:txEl>
                                              <p:pRg st="1" end="1"/>
                                            </p:txEl>
                                          </p:spTgt>
                                        </p:tgtEl>
                                        <p:attrNameLst>
                                          <p:attrName>style.visibility</p:attrName>
                                        </p:attrNameLst>
                                      </p:cBhvr>
                                      <p:to>
                                        <p:strVal val="visible"/>
                                      </p:to>
                                    </p:set>
                                    <p:animEffect transition="in" filter="wipe(left)">
                                      <p:cBhvr>
                                        <p:cTn id="16" dur="1500"/>
                                        <p:tgtEl>
                                          <p:spTgt spid="16">
                                            <p:txEl>
                                              <p:pRg st="1" end="1"/>
                                            </p:txEl>
                                          </p:spTgt>
                                        </p:tgtEl>
                                      </p:cBhvr>
                                    </p:animEffect>
                                  </p:childTnLst>
                                </p:cTn>
                              </p:par>
                            </p:childTnLst>
                          </p:cTn>
                        </p:par>
                        <p:par>
                          <p:cTn id="17" fill="hold">
                            <p:stCondLst>
                              <p:cond delay="2500"/>
                            </p:stCondLst>
                            <p:childTnLst>
                              <p:par>
                                <p:cTn id="18" presetID="22" presetClass="entr" presetSubtype="8" fill="hold" grpId="0" nodeType="afterEffect">
                                  <p:stCondLst>
                                    <p:cond delay="0"/>
                                  </p:stCondLst>
                                  <p:childTnLst>
                                    <p:set>
                                      <p:cBhvr>
                                        <p:cTn id="19" dur="1" fill="hold">
                                          <p:stCondLst>
                                            <p:cond delay="0"/>
                                          </p:stCondLst>
                                        </p:cTn>
                                        <p:tgtEl>
                                          <p:spTgt spid="16">
                                            <p:txEl>
                                              <p:pRg st="2" end="2"/>
                                            </p:txEl>
                                          </p:spTgt>
                                        </p:tgtEl>
                                        <p:attrNameLst>
                                          <p:attrName>style.visibility</p:attrName>
                                        </p:attrNameLst>
                                      </p:cBhvr>
                                      <p:to>
                                        <p:strVal val="visible"/>
                                      </p:to>
                                    </p:set>
                                    <p:animEffect transition="in" filter="wipe(left)">
                                      <p:cBhvr>
                                        <p:cTn id="20" dur="1500"/>
                                        <p:tgtEl>
                                          <p:spTgt spid="16">
                                            <p:txEl>
                                              <p:pRg st="2" end="2"/>
                                            </p:txEl>
                                          </p:spTgt>
                                        </p:tgtEl>
                                      </p:cBhvr>
                                    </p:animEffect>
                                  </p:childTnLst>
                                </p:cTn>
                              </p:par>
                            </p:childTnLst>
                          </p:cTn>
                        </p:par>
                        <p:par>
                          <p:cTn id="21" fill="hold">
                            <p:stCondLst>
                              <p:cond delay="4000"/>
                            </p:stCondLst>
                            <p:childTnLst>
                              <p:par>
                                <p:cTn id="22" presetID="22" presetClass="entr" presetSubtype="8" fill="hold" grpId="0" nodeType="afterEffect">
                                  <p:stCondLst>
                                    <p:cond delay="0"/>
                                  </p:stCondLst>
                                  <p:childTnLst>
                                    <p:set>
                                      <p:cBhvr>
                                        <p:cTn id="23" dur="1" fill="hold">
                                          <p:stCondLst>
                                            <p:cond delay="0"/>
                                          </p:stCondLst>
                                        </p:cTn>
                                        <p:tgtEl>
                                          <p:spTgt spid="16">
                                            <p:txEl>
                                              <p:pRg st="3" end="3"/>
                                            </p:txEl>
                                          </p:spTgt>
                                        </p:tgtEl>
                                        <p:attrNameLst>
                                          <p:attrName>style.visibility</p:attrName>
                                        </p:attrNameLst>
                                      </p:cBhvr>
                                      <p:to>
                                        <p:strVal val="visible"/>
                                      </p:to>
                                    </p:set>
                                    <p:animEffect transition="in" filter="wipe(left)">
                                      <p:cBhvr>
                                        <p:cTn id="24" dur="1000"/>
                                        <p:tgtEl>
                                          <p:spTgt spid="1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10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1000"/>
                                        <p:tgtEl>
                                          <p:spTgt spid="2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wipe(left)">
                                      <p:cBhvr>
                                        <p:cTn id="39" dur="20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build="p"/>
      <p:bldP spid="16" grpId="0" uiExpand="1" build="p"/>
      <p:bldP spid="26" grpId="0" animBg="1"/>
      <p:bldP spid="27"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Comments</a:t>
            </a:r>
          </a:p>
        </p:txBody>
      </p:sp>
      <p:sp>
        <p:nvSpPr>
          <p:cNvPr id="9" name="TextBox 8">
            <a:extLst>
              <a:ext uri="{FF2B5EF4-FFF2-40B4-BE49-F238E27FC236}">
                <a16:creationId xmlns:a16="http://schemas.microsoft.com/office/drawing/2014/main" id="{F3B639B4-E5C5-8DD1-DB2C-5DF574EC16F0}"/>
              </a:ext>
            </a:extLst>
          </p:cNvPr>
          <p:cNvSpPr txBox="1"/>
          <p:nvPr/>
        </p:nvSpPr>
        <p:spPr>
          <a:xfrm>
            <a:off x="2504125" y="2043468"/>
            <a:ext cx="5782352" cy="769441"/>
          </a:xfrm>
          <a:prstGeom prst="rect">
            <a:avLst/>
          </a:prstGeom>
          <a:noFill/>
        </p:spPr>
        <p:txBody>
          <a:bodyPr wrap="none" rtlCol="0">
            <a:spAutoFit/>
          </a:bodyPr>
          <a:lstStyle/>
          <a:p>
            <a:r>
              <a:rPr lang="en-US" altLang="en-US" sz="4400" dirty="0">
                <a:solidFill>
                  <a:srgbClr val="B2B2B2"/>
                </a:solidFill>
                <a:latin typeface="Consolas" panose="020B0609020204030204" pitchFamily="49" charset="0"/>
              </a:rPr>
              <a:t>1 </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r>
              <a:rPr lang="en-GB" sz="4400" dirty="0">
                <a:solidFill>
                  <a:srgbClr val="0000FF"/>
                </a:solidFill>
                <a:latin typeface="Consolas" panose="020B0609020204030204" pitchFamily="49" charset="0"/>
              </a:rPr>
              <a:t> Comment </a:t>
            </a:r>
            <a:r>
              <a:rPr lang="en-GB" sz="4400" dirty="0">
                <a:solidFill>
                  <a:srgbClr val="FF0000"/>
                </a:solidFill>
                <a:latin typeface="Consolas" panose="020B0609020204030204" pitchFamily="49" charset="0"/>
              </a:rPr>
              <a:t>--</a:t>
            </a:r>
            <a:r>
              <a:rPr lang="en-GB" sz="4400" dirty="0">
                <a:solidFill>
                  <a:srgbClr val="7030A0"/>
                </a:solidFill>
                <a:latin typeface="Consolas" panose="020B0609020204030204" pitchFamily="49" charset="0"/>
              </a:rPr>
              <a:t>&gt;</a:t>
            </a:r>
            <a:endParaRPr lang="en-GB" sz="4400" dirty="0">
              <a:solidFill>
                <a:srgbClr val="7030A0"/>
              </a:solidFill>
            </a:endParaRPr>
          </a:p>
        </p:txBody>
      </p:sp>
      <p:sp>
        <p:nvSpPr>
          <p:cNvPr id="16" name="TextBox 15">
            <a:extLst>
              <a:ext uri="{FF2B5EF4-FFF2-40B4-BE49-F238E27FC236}">
                <a16:creationId xmlns:a16="http://schemas.microsoft.com/office/drawing/2014/main" id="{F4918470-EB76-45D1-B4CD-960C3376CE78}"/>
              </a:ext>
            </a:extLst>
          </p:cNvPr>
          <p:cNvSpPr txBox="1"/>
          <p:nvPr/>
        </p:nvSpPr>
        <p:spPr>
          <a:xfrm>
            <a:off x="2504125" y="3165689"/>
            <a:ext cx="3294492" cy="2800767"/>
          </a:xfrm>
          <a:prstGeom prst="rect">
            <a:avLst/>
          </a:prstGeom>
          <a:noFill/>
        </p:spPr>
        <p:txBody>
          <a:bodyPr wrap="none" rtlCol="0">
            <a:spAutoFit/>
          </a:bodyPr>
          <a:lstStyle/>
          <a:p>
            <a:r>
              <a:rPr lang="en-US" altLang="en-US" sz="4400" dirty="0">
                <a:solidFill>
                  <a:srgbClr val="B2B2B2"/>
                </a:solidFill>
                <a:latin typeface="Consolas" panose="020B0609020204030204" pitchFamily="49" charset="0"/>
              </a:rPr>
              <a:t>2 </a:t>
            </a:r>
            <a:r>
              <a:rPr lang="en-GB" sz="4400" dirty="0">
                <a:solidFill>
                  <a:srgbClr val="7030A0"/>
                </a:solidFill>
                <a:latin typeface="Consolas" panose="020B0609020204030204" pitchFamily="49" charset="0"/>
              </a:rPr>
              <a:t>&lt;</a:t>
            </a:r>
            <a:r>
              <a:rPr lang="en-GB" sz="4400" dirty="0">
                <a:solidFill>
                  <a:srgbClr val="FF0000"/>
                </a:solidFill>
                <a:latin typeface="Consolas" panose="020B0609020204030204" pitchFamily="49" charset="0"/>
              </a:rPr>
              <a:t>!–-</a:t>
            </a:r>
          </a:p>
          <a:p>
            <a:r>
              <a:rPr lang="en-US" sz="4400" dirty="0">
                <a:solidFill>
                  <a:srgbClr val="B2B2B2"/>
                </a:solidFill>
                <a:latin typeface="Consolas" panose="020B0609020204030204" pitchFamily="49" charset="0"/>
              </a:rPr>
              <a:t>3</a:t>
            </a:r>
            <a:r>
              <a:rPr lang="en-GB" sz="4400" dirty="0">
                <a:solidFill>
                  <a:srgbClr val="0000FF"/>
                </a:solidFill>
                <a:latin typeface="Consolas" panose="020B0609020204030204" pitchFamily="49" charset="0"/>
              </a:rPr>
              <a:t>  Comment</a:t>
            </a:r>
          </a:p>
          <a:p>
            <a:r>
              <a:rPr lang="en-US" sz="4400" dirty="0">
                <a:solidFill>
                  <a:srgbClr val="B2B2B2"/>
                </a:solidFill>
                <a:latin typeface="Consolas" panose="020B0609020204030204" pitchFamily="49" charset="0"/>
              </a:rPr>
              <a:t>4</a:t>
            </a:r>
            <a:r>
              <a:rPr lang="en-GB" sz="4400" dirty="0">
                <a:solidFill>
                  <a:srgbClr val="0000FF"/>
                </a:solidFill>
                <a:latin typeface="Consolas" panose="020B0609020204030204" pitchFamily="49" charset="0"/>
              </a:rPr>
              <a:t>  Comment</a:t>
            </a:r>
          </a:p>
          <a:p>
            <a:r>
              <a:rPr lang="en-US" altLang="en-US" sz="4400" dirty="0">
                <a:solidFill>
                  <a:srgbClr val="B2B2B2"/>
                </a:solidFill>
                <a:latin typeface="Consolas" panose="020B0609020204030204" pitchFamily="49" charset="0"/>
              </a:rPr>
              <a:t>5 </a:t>
            </a:r>
            <a:r>
              <a:rPr lang="en-GB" sz="4400" dirty="0">
                <a:solidFill>
                  <a:srgbClr val="FF0000"/>
                </a:solidFill>
                <a:latin typeface="Consolas" panose="020B0609020204030204" pitchFamily="49" charset="0"/>
              </a:rPr>
              <a:t>--</a:t>
            </a:r>
            <a:r>
              <a:rPr lang="en-GB" sz="4400" dirty="0">
                <a:solidFill>
                  <a:srgbClr val="7030A0"/>
                </a:solidFill>
                <a:latin typeface="Consolas" panose="020B0609020204030204" pitchFamily="49" charset="0"/>
              </a:rPr>
              <a:t>&gt;</a:t>
            </a:r>
            <a:endParaRPr lang="en-GB" sz="4400" dirty="0">
              <a:solidFill>
                <a:srgbClr val="7030A0"/>
              </a:solidFill>
            </a:endParaRPr>
          </a:p>
        </p:txBody>
      </p:sp>
    </p:spTree>
    <p:extLst>
      <p:ext uri="{BB962C8B-B14F-4D97-AF65-F5344CB8AC3E}">
        <p14:creationId xmlns:p14="http://schemas.microsoft.com/office/powerpoint/2010/main" val="3926580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exemplify and implement HTML code:</a:t>
            </a:r>
          </a:p>
          <a:p>
            <a:pPr lvl="1"/>
            <a:r>
              <a:rPr lang="en-GB" sz="3200" dirty="0"/>
              <a:t>heading</a:t>
            </a:r>
          </a:p>
          <a:p>
            <a:pPr lvl="1"/>
            <a:r>
              <a:rPr lang="en-GB" sz="3200" dirty="0"/>
              <a:t>paragraph</a:t>
            </a:r>
          </a:p>
          <a:p>
            <a:r>
              <a:rPr lang="en-GB" sz="3600" dirty="0"/>
              <a:t>Read and explain code that makes use of the above HTML.</a:t>
            </a:r>
          </a:p>
        </p:txBody>
      </p:sp>
    </p:spTree>
    <p:extLst>
      <p:ext uri="{BB962C8B-B14F-4D97-AF65-F5344CB8AC3E}">
        <p14:creationId xmlns:p14="http://schemas.microsoft.com/office/powerpoint/2010/main" val="334572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2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Headings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&lt;body&gt;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&lt;h1&gt;</a:t>
            </a:r>
            <a:r>
              <a:rPr lang="en-US" altLang="en-US" sz="4000" dirty="0">
                <a:solidFill>
                  <a:srgbClr val="000000"/>
                </a:solidFill>
                <a:latin typeface="Consolas" panose="020B0609020204030204" pitchFamily="49" charset="0"/>
              </a:rPr>
              <a:t>My first heading</a:t>
            </a:r>
            <a:r>
              <a:rPr lang="en-US" altLang="en-US" sz="4000" dirty="0">
                <a:solidFill>
                  <a:srgbClr val="A71D5D"/>
                </a:solidFill>
                <a:latin typeface="Consolas" panose="020B0609020204030204" pitchFamily="49" charset="0"/>
              </a:rPr>
              <a:t>&lt;/h1&gt;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&lt;/body&gt;</a:t>
            </a:r>
            <a:endParaRPr lang="en-GB" sz="4000" dirty="0">
              <a:latin typeface="Consolas" panose="020B0609020204030204" pitchFamily="49" charset="0"/>
            </a:endParaRPr>
          </a:p>
        </p:txBody>
      </p:sp>
      <p:sp>
        <p:nvSpPr>
          <p:cNvPr id="5" name="TextBox 4">
            <a:extLst>
              <a:ext uri="{FF2B5EF4-FFF2-40B4-BE49-F238E27FC236}">
                <a16:creationId xmlns:a16="http://schemas.microsoft.com/office/drawing/2014/main" id="{D718B0E1-C787-6B66-7A6B-8AEFFD5A627C}"/>
              </a:ext>
            </a:extLst>
          </p:cNvPr>
          <p:cNvSpPr txBox="1"/>
          <p:nvPr/>
        </p:nvSpPr>
        <p:spPr>
          <a:xfrm>
            <a:off x="2587763" y="4787354"/>
            <a:ext cx="7016473" cy="646331"/>
          </a:xfrm>
          <a:prstGeom prst="rect">
            <a:avLst/>
          </a:prstGeom>
          <a:noFill/>
        </p:spPr>
        <p:txBody>
          <a:bodyPr wrap="none" rtlCol="0">
            <a:spAutoFit/>
          </a:bodyPr>
          <a:lstStyle/>
          <a:p>
            <a:pPr algn="ctr"/>
            <a:r>
              <a:rPr lang="en-GB" sz="3600" dirty="0">
                <a:solidFill>
                  <a:srgbClr val="7030A0"/>
                </a:solidFill>
              </a:rPr>
              <a:t>The content is displayed on the page</a:t>
            </a:r>
            <a:endParaRPr lang="en-GB" sz="3600" dirty="0">
              <a:solidFill>
                <a:srgbClr val="7030A0"/>
              </a:solidFill>
              <a:latin typeface="Consolas" panose="020B0609020204030204" pitchFamily="49" charset="0"/>
            </a:endParaRPr>
          </a:p>
        </p:txBody>
      </p:sp>
      <p:sp>
        <p:nvSpPr>
          <p:cNvPr id="12" name="TextBox 11">
            <a:extLst>
              <a:ext uri="{FF2B5EF4-FFF2-40B4-BE49-F238E27FC236}">
                <a16:creationId xmlns:a16="http://schemas.microsoft.com/office/drawing/2014/main" id="{C162C72F-3D0C-5FDC-1DB1-10726EE94C61}"/>
              </a:ext>
            </a:extLst>
          </p:cNvPr>
          <p:cNvSpPr txBox="1"/>
          <p:nvPr/>
        </p:nvSpPr>
        <p:spPr>
          <a:xfrm>
            <a:off x="976509" y="5824319"/>
            <a:ext cx="10239021" cy="646331"/>
          </a:xfrm>
          <a:prstGeom prst="rect">
            <a:avLst/>
          </a:prstGeom>
          <a:noFill/>
        </p:spPr>
        <p:txBody>
          <a:bodyPr wrap="none" rtlCol="0">
            <a:spAutoFit/>
          </a:bodyPr>
          <a:lstStyle/>
          <a:p>
            <a:pPr algn="ctr"/>
            <a:r>
              <a:rPr lang="en-GB" sz="3600" dirty="0">
                <a:solidFill>
                  <a:srgbClr val="7030A0"/>
                </a:solidFill>
              </a:rPr>
              <a:t>There are six levels of headings: </a:t>
            </a:r>
            <a:r>
              <a:rPr lang="en-GB" sz="3600" dirty="0">
                <a:solidFill>
                  <a:srgbClr val="FF0000"/>
                </a:solidFill>
                <a:latin typeface="Consolas" panose="020B0609020204030204" pitchFamily="49" charset="0"/>
              </a:rPr>
              <a:t>h1</a:t>
            </a:r>
            <a:r>
              <a:rPr lang="en-GB" sz="3600" dirty="0">
                <a:solidFill>
                  <a:srgbClr val="FF0000"/>
                </a:solidFill>
              </a:rPr>
              <a:t>, h2, h3, h4, h5, </a:t>
            </a:r>
            <a:r>
              <a:rPr lang="en-GB" sz="3600" dirty="0">
                <a:solidFill>
                  <a:srgbClr val="FF0000"/>
                </a:solidFill>
                <a:latin typeface="Consolas" panose="020B0609020204030204" pitchFamily="49" charset="0"/>
              </a:rPr>
              <a:t>h6</a:t>
            </a:r>
          </a:p>
        </p:txBody>
      </p:sp>
      <p:sp>
        <p:nvSpPr>
          <p:cNvPr id="6" name="Callout: Bent Line with No Border 5">
            <a:extLst>
              <a:ext uri="{FF2B5EF4-FFF2-40B4-BE49-F238E27FC236}">
                <a16:creationId xmlns:a16="http://schemas.microsoft.com/office/drawing/2014/main" id="{835B736A-ED89-5403-0C44-5B209A576FBE}"/>
              </a:ext>
            </a:extLst>
          </p:cNvPr>
          <p:cNvSpPr/>
          <p:nvPr/>
        </p:nvSpPr>
        <p:spPr>
          <a:xfrm>
            <a:off x="9157321" y="1825625"/>
            <a:ext cx="2153761" cy="862642"/>
          </a:xfrm>
          <a:prstGeom prst="callout2">
            <a:avLst>
              <a:gd name="adj1" fmla="val 49217"/>
              <a:gd name="adj2" fmla="val -30"/>
              <a:gd name="adj3" fmla="val 49841"/>
              <a:gd name="adj4" fmla="val -25644"/>
              <a:gd name="adj5" fmla="val 100594"/>
              <a:gd name="adj6" fmla="val -3473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Heading (h1)</a:t>
            </a:r>
          </a:p>
        </p:txBody>
      </p:sp>
    </p:spTree>
    <p:extLst>
      <p:ext uri="{BB962C8B-B14F-4D97-AF65-F5344CB8AC3E}">
        <p14:creationId xmlns:p14="http://schemas.microsoft.com/office/powerpoint/2010/main" val="42302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left)">
                                      <p:cBhvr>
                                        <p:cTn id="27" dur="2000"/>
                                        <p:tgtEl>
                                          <p:spTgt spid="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wipe(left)">
                                      <p:cBhvr>
                                        <p:cTn id="32"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P spid="12" grpId="0" build="p"/>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7E2E3C-0E96-8A9E-EA4F-14EF05E94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ADFE3-5B57-4F31-7D75-A9263363195D}"/>
              </a:ext>
            </a:extLst>
          </p:cNvPr>
          <p:cNvSpPr>
            <a:spLocks noGrp="1"/>
          </p:cNvSpPr>
          <p:nvPr>
            <p:ph type="title"/>
          </p:nvPr>
        </p:nvSpPr>
        <p:spPr/>
        <p:txBody>
          <a:bodyPr/>
          <a:lstStyle/>
          <a:p>
            <a:r>
              <a:rPr lang="en-GB" dirty="0"/>
              <a:t>Body – Headings	</a:t>
            </a:r>
          </a:p>
        </p:txBody>
      </p:sp>
      <p:sp>
        <p:nvSpPr>
          <p:cNvPr id="3" name="Content Placeholder 2">
            <a:extLst>
              <a:ext uri="{FF2B5EF4-FFF2-40B4-BE49-F238E27FC236}">
                <a16:creationId xmlns:a16="http://schemas.microsoft.com/office/drawing/2014/main" id="{BE5DCA96-8BA3-0A4C-DA7D-72FACF046397}"/>
              </a:ext>
            </a:extLst>
          </p:cNvPr>
          <p:cNvSpPr>
            <a:spLocks noGrp="1"/>
          </p:cNvSpPr>
          <p:nvPr>
            <p:ph idx="1"/>
          </p:nvPr>
        </p:nvSpPr>
        <p:spPr/>
        <p:txBody>
          <a:bodyPr>
            <a:norm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&lt;body&gt;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000000"/>
                </a:solidFill>
                <a:latin typeface="Consolas" panose="020B0609020204030204" pitchFamily="49" charset="0"/>
              </a:rPr>
              <a:t>  </a:t>
            </a:r>
            <a:r>
              <a:rPr lang="en-US" altLang="en-US" sz="4000" dirty="0">
                <a:solidFill>
                  <a:srgbClr val="A71D5D"/>
                </a:solidFill>
                <a:latin typeface="Consolas" panose="020B0609020204030204" pitchFamily="49" charset="0"/>
              </a:rPr>
              <a:t>&lt;h1&gt;</a:t>
            </a:r>
            <a:r>
              <a:rPr lang="en-US" altLang="en-US" sz="4000" dirty="0">
                <a:solidFill>
                  <a:srgbClr val="000000"/>
                </a:solidFill>
                <a:latin typeface="Consolas" panose="020B0609020204030204" pitchFamily="49" charset="0"/>
              </a:rPr>
              <a:t>My first heading</a:t>
            </a:r>
            <a:r>
              <a:rPr lang="en-US" altLang="en-US" sz="4000" dirty="0">
                <a:solidFill>
                  <a:srgbClr val="A71D5D"/>
                </a:solidFill>
                <a:latin typeface="Consolas" panose="020B0609020204030204" pitchFamily="49" charset="0"/>
              </a:rPr>
              <a:t>&lt;/h1&gt;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&lt;/body&gt;</a:t>
            </a:r>
            <a:endParaRPr lang="en-GB" sz="4000" dirty="0">
              <a:latin typeface="Consolas" panose="020B0609020204030204" pitchFamily="49" charset="0"/>
            </a:endParaRPr>
          </a:p>
        </p:txBody>
      </p:sp>
      <p:sp>
        <p:nvSpPr>
          <p:cNvPr id="5" name="TextBox 4">
            <a:extLst>
              <a:ext uri="{FF2B5EF4-FFF2-40B4-BE49-F238E27FC236}">
                <a16:creationId xmlns:a16="http://schemas.microsoft.com/office/drawing/2014/main" id="{4A86B28F-F7E2-67B4-237A-5B428829ED7D}"/>
              </a:ext>
            </a:extLst>
          </p:cNvPr>
          <p:cNvSpPr txBox="1"/>
          <p:nvPr/>
        </p:nvSpPr>
        <p:spPr>
          <a:xfrm>
            <a:off x="2587763" y="4787354"/>
            <a:ext cx="7016473" cy="646331"/>
          </a:xfrm>
          <a:prstGeom prst="rect">
            <a:avLst/>
          </a:prstGeom>
          <a:noFill/>
        </p:spPr>
        <p:txBody>
          <a:bodyPr wrap="none" rtlCol="0">
            <a:spAutoFit/>
          </a:bodyPr>
          <a:lstStyle/>
          <a:p>
            <a:r>
              <a:rPr lang="en-GB" sz="3600" dirty="0">
                <a:solidFill>
                  <a:srgbClr val="7030A0"/>
                </a:solidFill>
              </a:rPr>
              <a:t>The content is displayed on the page</a:t>
            </a:r>
            <a:endParaRPr lang="en-GB" sz="3600" dirty="0">
              <a:solidFill>
                <a:srgbClr val="7030A0"/>
              </a:solidFill>
              <a:latin typeface="Consolas" panose="020B0609020204030204" pitchFamily="49" charset="0"/>
            </a:endParaRPr>
          </a:p>
        </p:txBody>
      </p:sp>
      <p:sp>
        <p:nvSpPr>
          <p:cNvPr id="12" name="TextBox 11">
            <a:extLst>
              <a:ext uri="{FF2B5EF4-FFF2-40B4-BE49-F238E27FC236}">
                <a16:creationId xmlns:a16="http://schemas.microsoft.com/office/drawing/2014/main" id="{A7BB9C64-0E8A-9C84-11D3-6909F8B082B5}"/>
              </a:ext>
            </a:extLst>
          </p:cNvPr>
          <p:cNvSpPr txBox="1"/>
          <p:nvPr/>
        </p:nvSpPr>
        <p:spPr>
          <a:xfrm>
            <a:off x="838200" y="5839765"/>
            <a:ext cx="6119304" cy="646331"/>
          </a:xfrm>
          <a:prstGeom prst="rect">
            <a:avLst/>
          </a:prstGeom>
          <a:noFill/>
        </p:spPr>
        <p:txBody>
          <a:bodyPr wrap="none" rtlCol="0">
            <a:spAutoFit/>
          </a:bodyPr>
          <a:lstStyle/>
          <a:p>
            <a:r>
              <a:rPr lang="en-GB" sz="3600" dirty="0">
                <a:solidFill>
                  <a:srgbClr val="7030A0"/>
                </a:solidFill>
              </a:rPr>
              <a:t>There are six levels of headings:</a:t>
            </a:r>
            <a:endParaRPr lang="en-GB" sz="36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651859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Paragraph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&lt;h1&gt;</a:t>
            </a:r>
            <a:r>
              <a:rPr lang="en-US" altLang="en-US" sz="4000" dirty="0">
                <a:solidFill>
                  <a:srgbClr val="000000"/>
                </a:solidFill>
                <a:latin typeface="Consolas" panose="020B0609020204030204" pitchFamily="49" charset="0"/>
              </a:rPr>
              <a:t>My first heading</a:t>
            </a:r>
            <a:r>
              <a:rPr lang="en-US" altLang="en-US" sz="4000" dirty="0">
                <a:solidFill>
                  <a:srgbClr val="A71D5D"/>
                </a:solidFill>
                <a:latin typeface="Consolas" panose="020B0609020204030204" pitchFamily="49" charset="0"/>
              </a:rPr>
              <a:t>&lt;/h1&gt;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&lt;p&gt;</a:t>
            </a:r>
            <a:r>
              <a:rPr lang="en-US" altLang="en-US" sz="4000" dirty="0">
                <a:solidFill>
                  <a:srgbClr val="000000"/>
                </a:solidFill>
                <a:latin typeface="Consolas" panose="020B0609020204030204" pitchFamily="49" charset="0"/>
              </a:rPr>
              <a:t>My first paragraph</a:t>
            </a:r>
            <a:r>
              <a:rPr lang="en-US" altLang="en-US" sz="4000" dirty="0">
                <a:solidFill>
                  <a:srgbClr val="A71D5D"/>
                </a:solidFill>
                <a:latin typeface="Consolas" panose="020B0609020204030204" pitchFamily="49" charset="0"/>
              </a:rPr>
              <a:t>&lt;/p&gt;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&lt;/body&gt;</a:t>
            </a:r>
            <a:endParaRPr lang="en-GB" sz="4000" dirty="0">
              <a:latin typeface="Consolas" panose="020B0609020204030204" pitchFamily="49" charset="0"/>
            </a:endParaRPr>
          </a:p>
        </p:txBody>
      </p:sp>
      <p:sp>
        <p:nvSpPr>
          <p:cNvPr id="5" name="TextBox 4">
            <a:extLst>
              <a:ext uri="{FF2B5EF4-FFF2-40B4-BE49-F238E27FC236}">
                <a16:creationId xmlns:a16="http://schemas.microsoft.com/office/drawing/2014/main" id="{D718B0E1-C787-6B66-7A6B-8AEFFD5A627C}"/>
              </a:ext>
            </a:extLst>
          </p:cNvPr>
          <p:cNvSpPr txBox="1"/>
          <p:nvPr/>
        </p:nvSpPr>
        <p:spPr>
          <a:xfrm>
            <a:off x="2587763" y="5846544"/>
            <a:ext cx="7016473" cy="646331"/>
          </a:xfrm>
          <a:prstGeom prst="rect">
            <a:avLst/>
          </a:prstGeom>
          <a:noFill/>
        </p:spPr>
        <p:txBody>
          <a:bodyPr wrap="none" rtlCol="0">
            <a:spAutoFit/>
          </a:bodyPr>
          <a:lstStyle/>
          <a:p>
            <a:pPr algn="ctr"/>
            <a:r>
              <a:rPr lang="en-GB" sz="3600" dirty="0">
                <a:solidFill>
                  <a:srgbClr val="7030A0"/>
                </a:solidFill>
              </a:rPr>
              <a:t>The content is displayed on the page</a:t>
            </a:r>
            <a:endParaRPr lang="en-GB" sz="3600" dirty="0">
              <a:solidFill>
                <a:srgbClr val="7030A0"/>
              </a:solidFill>
              <a:latin typeface="Consolas" panose="020B0609020204030204" pitchFamily="49" charset="0"/>
            </a:endParaRPr>
          </a:p>
        </p:txBody>
      </p:sp>
      <p:sp>
        <p:nvSpPr>
          <p:cNvPr id="6" name="Callout: Bent Line with No Border 5">
            <a:extLst>
              <a:ext uri="{FF2B5EF4-FFF2-40B4-BE49-F238E27FC236}">
                <a16:creationId xmlns:a16="http://schemas.microsoft.com/office/drawing/2014/main" id="{970BB452-0F48-795C-8B8B-A8CBB641ED53}"/>
              </a:ext>
            </a:extLst>
          </p:cNvPr>
          <p:cNvSpPr/>
          <p:nvPr/>
        </p:nvSpPr>
        <p:spPr>
          <a:xfrm flipH="1">
            <a:off x="5517455" y="3429000"/>
            <a:ext cx="2267645" cy="862642"/>
          </a:xfrm>
          <a:prstGeom prst="callout2">
            <a:avLst>
              <a:gd name="adj1" fmla="val 49217"/>
              <a:gd name="adj2" fmla="val -30"/>
              <a:gd name="adj3" fmla="val 49841"/>
              <a:gd name="adj4" fmla="val -25644"/>
              <a:gd name="adj5" fmla="val -12767"/>
              <a:gd name="adj6" fmla="val -3305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Paragraph (p)</a:t>
            </a:r>
          </a:p>
        </p:txBody>
      </p:sp>
    </p:spTree>
    <p:extLst>
      <p:ext uri="{BB962C8B-B14F-4D97-AF65-F5344CB8AC3E}">
        <p14:creationId xmlns:p14="http://schemas.microsoft.com/office/powerpoint/2010/main" val="31080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ipe(left)">
                                      <p:cBhvr>
                                        <p:cTn id="2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1474595-6DAC-4526-FE7B-03797C0DA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7D27E-F3E2-6DAE-DA0D-74A32E9E4599}"/>
              </a:ext>
            </a:extLst>
          </p:cNvPr>
          <p:cNvSpPr>
            <a:spLocks noGrp="1"/>
          </p:cNvSpPr>
          <p:nvPr>
            <p:ph type="title"/>
          </p:nvPr>
        </p:nvSpPr>
        <p:spPr/>
        <p:txBody>
          <a:bodyPr/>
          <a:lstStyle/>
          <a:p>
            <a:r>
              <a:rPr lang="en-GB" dirty="0"/>
              <a:t>Body – Paragraph	</a:t>
            </a:r>
          </a:p>
        </p:txBody>
      </p:sp>
      <p:sp>
        <p:nvSpPr>
          <p:cNvPr id="3" name="Content Placeholder 2">
            <a:extLst>
              <a:ext uri="{FF2B5EF4-FFF2-40B4-BE49-F238E27FC236}">
                <a16:creationId xmlns:a16="http://schemas.microsoft.com/office/drawing/2014/main" id="{6B4213D3-326A-0CA6-3C37-3A1ED58F72F0}"/>
              </a:ext>
            </a:extLst>
          </p:cNvPr>
          <p:cNvSpPr>
            <a:spLocks noGrp="1"/>
          </p:cNvSpPr>
          <p:nvPr>
            <p:ph idx="1"/>
          </p:nvPr>
        </p:nvSpPr>
        <p:spPr/>
        <p:txBody>
          <a:bodyPr>
            <a:norm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&lt;h1&gt;</a:t>
            </a:r>
            <a:r>
              <a:rPr lang="en-US" altLang="en-US" sz="4000" dirty="0">
                <a:solidFill>
                  <a:srgbClr val="000000"/>
                </a:solidFill>
                <a:latin typeface="Consolas" panose="020B0609020204030204" pitchFamily="49" charset="0"/>
              </a:rPr>
              <a:t>My first heading</a:t>
            </a:r>
            <a:r>
              <a:rPr lang="en-US" altLang="en-US" sz="4000" dirty="0">
                <a:solidFill>
                  <a:srgbClr val="A71D5D"/>
                </a:solidFill>
                <a:latin typeface="Consolas" panose="020B0609020204030204" pitchFamily="49" charset="0"/>
              </a:rPr>
              <a:t>&lt;/h1&gt;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&lt;p&gt;</a:t>
            </a:r>
            <a:r>
              <a:rPr lang="en-US" altLang="en-US" sz="4000" dirty="0">
                <a:solidFill>
                  <a:srgbClr val="000000"/>
                </a:solidFill>
                <a:latin typeface="Consolas" panose="020B0609020204030204" pitchFamily="49" charset="0"/>
              </a:rPr>
              <a:t>My first paragraph</a:t>
            </a:r>
            <a:r>
              <a:rPr lang="en-US" altLang="en-US" sz="4000" dirty="0">
                <a:solidFill>
                  <a:srgbClr val="A71D5D"/>
                </a:solidFill>
                <a:latin typeface="Consolas" panose="020B0609020204030204" pitchFamily="49" charset="0"/>
              </a:rPr>
              <a:t>&lt;/p&gt;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&lt;/body&gt;</a:t>
            </a:r>
            <a:endParaRPr lang="en-GB" sz="4000" dirty="0">
              <a:latin typeface="Consolas" panose="020B0609020204030204" pitchFamily="49" charset="0"/>
            </a:endParaRPr>
          </a:p>
        </p:txBody>
      </p:sp>
      <p:sp>
        <p:nvSpPr>
          <p:cNvPr id="5" name="TextBox 4">
            <a:extLst>
              <a:ext uri="{FF2B5EF4-FFF2-40B4-BE49-F238E27FC236}">
                <a16:creationId xmlns:a16="http://schemas.microsoft.com/office/drawing/2014/main" id="{B3128622-01D5-8498-C606-BCFF5DCD560A}"/>
              </a:ext>
            </a:extLst>
          </p:cNvPr>
          <p:cNvSpPr txBox="1"/>
          <p:nvPr/>
        </p:nvSpPr>
        <p:spPr>
          <a:xfrm>
            <a:off x="2587763" y="5846544"/>
            <a:ext cx="7016473" cy="646331"/>
          </a:xfrm>
          <a:prstGeom prst="rect">
            <a:avLst/>
          </a:prstGeom>
          <a:noFill/>
        </p:spPr>
        <p:txBody>
          <a:bodyPr wrap="none" rtlCol="0">
            <a:spAutoFit/>
          </a:bodyPr>
          <a:lstStyle/>
          <a:p>
            <a:pPr algn="ctr"/>
            <a:r>
              <a:rPr lang="en-GB" sz="3600" dirty="0">
                <a:solidFill>
                  <a:srgbClr val="7030A0"/>
                </a:solidFill>
              </a:rPr>
              <a:t>The content is displayed on the page</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88110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exemplify and implement HTML code:</a:t>
            </a:r>
          </a:p>
          <a:p>
            <a:pPr lvl="1"/>
            <a:r>
              <a:rPr lang="en-GB" sz="3200" dirty="0"/>
              <a:t>ordered lists</a:t>
            </a:r>
          </a:p>
          <a:p>
            <a:pPr lvl="1"/>
            <a:r>
              <a:rPr lang="en-GB" sz="3200" dirty="0"/>
              <a:t>unordered lists</a:t>
            </a:r>
          </a:p>
          <a:p>
            <a:pPr lvl="1"/>
            <a:r>
              <a:rPr lang="en-GB" sz="3200" dirty="0"/>
              <a:t>list items</a:t>
            </a:r>
          </a:p>
          <a:p>
            <a:r>
              <a:rPr lang="en-GB" sz="3600" dirty="0"/>
              <a:t>Read and explain code that makes use of the above HTML.</a:t>
            </a:r>
            <a:endParaRPr lang="en-GB" dirty="0"/>
          </a:p>
        </p:txBody>
      </p:sp>
    </p:spTree>
    <p:extLst>
      <p:ext uri="{BB962C8B-B14F-4D97-AF65-F5344CB8AC3E}">
        <p14:creationId xmlns:p14="http://schemas.microsoft.com/office/powerpoint/2010/main" val="82281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Ordered List (Numbers)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a:t>
            </a:r>
            <a:r>
              <a:rPr lang="en-US" altLang="en-US" sz="4000" dirty="0" err="1">
                <a:solidFill>
                  <a:srgbClr val="A71D5D"/>
                </a:solidFill>
                <a:latin typeface="Consolas" panose="020B0609020204030204" pitchFamily="49" charset="0"/>
              </a:rPr>
              <a:t>ol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 list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Another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a:t>
            </a:r>
            <a:r>
              <a:rPr lang="en-US" altLang="en-US" sz="4000" dirty="0" err="1">
                <a:solidFill>
                  <a:srgbClr val="A71D5D"/>
                </a:solidFill>
                <a:latin typeface="Consolas" panose="020B0609020204030204" pitchFamily="49" charset="0"/>
              </a:rPr>
              <a:t>ol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US" altLang="en-US" sz="5400" dirty="0">
              <a:latin typeface="Arial" panose="020B0604020202020204" pitchFamily="34" charset="0"/>
            </a:endParaRPr>
          </a:p>
        </p:txBody>
      </p:sp>
      <p:sp>
        <p:nvSpPr>
          <p:cNvPr id="5" name="Callout: Bent Line with No Border 4">
            <a:extLst>
              <a:ext uri="{FF2B5EF4-FFF2-40B4-BE49-F238E27FC236}">
                <a16:creationId xmlns:a16="http://schemas.microsoft.com/office/drawing/2014/main" id="{57B5653E-D38F-AD79-1858-5A96C345C7CA}"/>
              </a:ext>
            </a:extLst>
          </p:cNvPr>
          <p:cNvSpPr/>
          <p:nvPr/>
        </p:nvSpPr>
        <p:spPr>
          <a:xfrm>
            <a:off x="4158555" y="1259367"/>
            <a:ext cx="2610545" cy="862642"/>
          </a:xfrm>
          <a:prstGeom prst="callout2">
            <a:avLst>
              <a:gd name="adj1" fmla="val 49217"/>
              <a:gd name="adj2" fmla="val -30"/>
              <a:gd name="adj3" fmla="val 49841"/>
              <a:gd name="adj4" fmla="val -25644"/>
              <a:gd name="adj5" fmla="val 78511"/>
              <a:gd name="adj6" fmla="val -3980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Ordered list (</a:t>
            </a:r>
            <a:r>
              <a:rPr lang="en-GB" sz="2800" b="1" dirty="0" err="1">
                <a:solidFill>
                  <a:srgbClr val="7030A0"/>
                </a:solidFill>
              </a:rPr>
              <a:t>ol</a:t>
            </a:r>
            <a:r>
              <a:rPr lang="en-GB" sz="2800" b="1" dirty="0">
                <a:solidFill>
                  <a:srgbClr val="7030A0"/>
                </a:solidFill>
              </a:rPr>
              <a:t>)</a:t>
            </a:r>
          </a:p>
        </p:txBody>
      </p:sp>
      <p:sp>
        <p:nvSpPr>
          <p:cNvPr id="6" name="Callout: Bent Line with No Border 5">
            <a:extLst>
              <a:ext uri="{FF2B5EF4-FFF2-40B4-BE49-F238E27FC236}">
                <a16:creationId xmlns:a16="http://schemas.microsoft.com/office/drawing/2014/main" id="{8841E77A-B891-7CFE-1B08-41D63E6827E7}"/>
              </a:ext>
            </a:extLst>
          </p:cNvPr>
          <p:cNvSpPr/>
          <p:nvPr/>
        </p:nvSpPr>
        <p:spPr>
          <a:xfrm>
            <a:off x="9200039" y="3717925"/>
            <a:ext cx="2153761" cy="862642"/>
          </a:xfrm>
          <a:prstGeom prst="callout2">
            <a:avLst>
              <a:gd name="adj1" fmla="val 49217"/>
              <a:gd name="adj2" fmla="val -30"/>
              <a:gd name="adj3" fmla="val 49841"/>
              <a:gd name="adj4" fmla="val -25644"/>
              <a:gd name="adj5" fmla="val -11295"/>
              <a:gd name="adj6" fmla="val -3767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List item (li)</a:t>
            </a:r>
          </a:p>
        </p:txBody>
      </p:sp>
      <p:sp>
        <p:nvSpPr>
          <p:cNvPr id="7" name="TextBox 6">
            <a:extLst>
              <a:ext uri="{FF2B5EF4-FFF2-40B4-BE49-F238E27FC236}">
                <a16:creationId xmlns:a16="http://schemas.microsoft.com/office/drawing/2014/main" id="{80230E19-D62F-47E5-887D-7F68027F8C5B}"/>
              </a:ext>
            </a:extLst>
          </p:cNvPr>
          <p:cNvSpPr txBox="1"/>
          <p:nvPr/>
        </p:nvSpPr>
        <p:spPr>
          <a:xfrm>
            <a:off x="3829165" y="5846544"/>
            <a:ext cx="4533678" cy="646331"/>
          </a:xfrm>
          <a:prstGeom prst="rect">
            <a:avLst/>
          </a:prstGeom>
          <a:noFill/>
        </p:spPr>
        <p:txBody>
          <a:bodyPr wrap="none" rtlCol="0">
            <a:spAutoFit/>
          </a:bodyPr>
          <a:lstStyle/>
          <a:p>
            <a:pPr algn="ctr"/>
            <a:r>
              <a:rPr lang="en-GB" sz="3600" dirty="0">
                <a:solidFill>
                  <a:srgbClr val="7030A0"/>
                </a:solidFill>
              </a:rPr>
              <a:t>List to be done in order</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68838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wipe(left)">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wipe(left)">
                                      <p:cBhvr>
                                        <p:cTn id="4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846DFA-5834-99A9-7491-2A76CDB6F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75C94-109A-A534-7858-FD3F2E6265DD}"/>
              </a:ext>
            </a:extLst>
          </p:cNvPr>
          <p:cNvSpPr>
            <a:spLocks noGrp="1"/>
          </p:cNvSpPr>
          <p:nvPr>
            <p:ph type="title"/>
          </p:nvPr>
        </p:nvSpPr>
        <p:spPr/>
        <p:txBody>
          <a:bodyPr/>
          <a:lstStyle/>
          <a:p>
            <a:r>
              <a:rPr lang="en-GB" dirty="0"/>
              <a:t>Body – Ordered List (Numbers)	</a:t>
            </a:r>
          </a:p>
        </p:txBody>
      </p:sp>
      <p:sp>
        <p:nvSpPr>
          <p:cNvPr id="3" name="Content Placeholder 2">
            <a:extLst>
              <a:ext uri="{FF2B5EF4-FFF2-40B4-BE49-F238E27FC236}">
                <a16:creationId xmlns:a16="http://schemas.microsoft.com/office/drawing/2014/main" id="{9E856256-A93B-3C9A-4707-EC6B25CA6634}"/>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a:t>
            </a:r>
            <a:r>
              <a:rPr lang="en-US" altLang="en-US" sz="4000" dirty="0" err="1">
                <a:solidFill>
                  <a:srgbClr val="A71D5D"/>
                </a:solidFill>
                <a:latin typeface="Consolas" panose="020B0609020204030204" pitchFamily="49" charset="0"/>
              </a:rPr>
              <a:t>ol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 list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Another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a:t>
            </a:r>
            <a:r>
              <a:rPr lang="en-US" altLang="en-US" sz="4000" dirty="0" err="1">
                <a:solidFill>
                  <a:srgbClr val="A71D5D"/>
                </a:solidFill>
                <a:latin typeface="Consolas" panose="020B0609020204030204" pitchFamily="49" charset="0"/>
              </a:rPr>
              <a:t>ol</a:t>
            </a:r>
            <a:r>
              <a:rPr lang="en-US" altLang="en-US" sz="4000" dirty="0">
                <a:solidFill>
                  <a:srgbClr val="A71D5D"/>
                </a:solidFill>
                <a:latin typeface="Consolas" panose="020B0609020204030204" pitchFamily="49" charset="0"/>
              </a:rPr>
              <a:t>&gt;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58558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8AD5-9570-32EC-1FB1-B1A9FD604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7BBC8-2850-1A25-C1D6-EEF061FAEC8F}"/>
              </a:ext>
            </a:extLst>
          </p:cNvPr>
          <p:cNvSpPr>
            <a:spLocks noGrp="1"/>
          </p:cNvSpPr>
          <p:nvPr>
            <p:ph type="title"/>
          </p:nvPr>
        </p:nvSpPr>
        <p:spPr/>
        <p:txBody>
          <a:bodyPr/>
          <a:lstStyle/>
          <a:p>
            <a:r>
              <a:rPr lang="en-GB" dirty="0"/>
              <a:t>Body – Unordered List (Bullet Points)	</a:t>
            </a:r>
          </a:p>
        </p:txBody>
      </p:sp>
      <p:sp>
        <p:nvSpPr>
          <p:cNvPr id="3" name="Content Placeholder 2">
            <a:extLst>
              <a:ext uri="{FF2B5EF4-FFF2-40B4-BE49-F238E27FC236}">
                <a16:creationId xmlns:a16="http://schemas.microsoft.com/office/drawing/2014/main" id="{0FE956FC-C93B-D24C-2356-B1E2CD9E87CA}"/>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5BABF"/>
                </a:solidFill>
                <a:latin typeface="Consolas" panose="020B0609020204030204" pitchFamily="49" charset="0"/>
              </a:rPr>
              <a:t>1</a:t>
            </a:r>
            <a:r>
              <a:rPr lang="en-US" altLang="en-US" sz="4000" dirty="0">
                <a:solidFill>
                  <a:srgbClr val="B2B2B2"/>
                </a:solidFill>
                <a:latin typeface="Consolas" panose="020B0609020204030204" pitchFamily="49" charset="0"/>
              </a:rPr>
              <a:t>   </a:t>
            </a:r>
            <a:r>
              <a:rPr lang="en-US" altLang="en-US" sz="4000" dirty="0">
                <a:solidFill>
                  <a:srgbClr val="A71D5D"/>
                </a:solidFill>
                <a:latin typeface="Consolas" panose="020B0609020204030204" pitchFamily="49" charset="0"/>
              </a:rPr>
              <a:t>&lt;ul&gt;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 list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Another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&lt;/ul&gt;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US" altLang="en-US" sz="5400" dirty="0">
              <a:latin typeface="Arial" panose="020B0604020202020204" pitchFamily="34" charset="0"/>
            </a:endParaRPr>
          </a:p>
        </p:txBody>
      </p:sp>
      <p:sp>
        <p:nvSpPr>
          <p:cNvPr id="5" name="Callout: Bent Line with No Border 4">
            <a:extLst>
              <a:ext uri="{FF2B5EF4-FFF2-40B4-BE49-F238E27FC236}">
                <a16:creationId xmlns:a16="http://schemas.microsoft.com/office/drawing/2014/main" id="{8C4BB0F4-B3D8-5E8A-8AAC-D6AAF7EFC265}"/>
              </a:ext>
            </a:extLst>
          </p:cNvPr>
          <p:cNvSpPr/>
          <p:nvPr/>
        </p:nvSpPr>
        <p:spPr>
          <a:xfrm>
            <a:off x="4158555" y="1259367"/>
            <a:ext cx="2953445" cy="862642"/>
          </a:xfrm>
          <a:prstGeom prst="callout2">
            <a:avLst>
              <a:gd name="adj1" fmla="val 49217"/>
              <a:gd name="adj2" fmla="val -30"/>
              <a:gd name="adj3" fmla="val 49841"/>
              <a:gd name="adj4" fmla="val -25644"/>
              <a:gd name="adj5" fmla="val 81455"/>
              <a:gd name="adj6" fmla="val -3593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Unordered list (</a:t>
            </a:r>
            <a:r>
              <a:rPr lang="en-GB" sz="2800" b="1" dirty="0" err="1">
                <a:solidFill>
                  <a:srgbClr val="7030A0"/>
                </a:solidFill>
              </a:rPr>
              <a:t>ul</a:t>
            </a:r>
            <a:r>
              <a:rPr lang="en-GB" sz="2800" b="1" dirty="0">
                <a:solidFill>
                  <a:srgbClr val="7030A0"/>
                </a:solidFill>
              </a:rPr>
              <a:t>)</a:t>
            </a:r>
          </a:p>
        </p:txBody>
      </p:sp>
      <p:sp>
        <p:nvSpPr>
          <p:cNvPr id="6" name="Callout: Bent Line with No Border 5">
            <a:extLst>
              <a:ext uri="{FF2B5EF4-FFF2-40B4-BE49-F238E27FC236}">
                <a16:creationId xmlns:a16="http://schemas.microsoft.com/office/drawing/2014/main" id="{966A1E52-22E4-39E5-0112-D9CE31121BCA}"/>
              </a:ext>
            </a:extLst>
          </p:cNvPr>
          <p:cNvSpPr/>
          <p:nvPr/>
        </p:nvSpPr>
        <p:spPr>
          <a:xfrm>
            <a:off x="9200039" y="3717925"/>
            <a:ext cx="2153761" cy="862642"/>
          </a:xfrm>
          <a:prstGeom prst="callout2">
            <a:avLst>
              <a:gd name="adj1" fmla="val 49217"/>
              <a:gd name="adj2" fmla="val -30"/>
              <a:gd name="adj3" fmla="val 49841"/>
              <a:gd name="adj4" fmla="val -25644"/>
              <a:gd name="adj5" fmla="val -11295"/>
              <a:gd name="adj6" fmla="val -3767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List item (li)</a:t>
            </a:r>
          </a:p>
        </p:txBody>
      </p:sp>
      <p:sp>
        <p:nvSpPr>
          <p:cNvPr id="7" name="TextBox 6">
            <a:extLst>
              <a:ext uri="{FF2B5EF4-FFF2-40B4-BE49-F238E27FC236}">
                <a16:creationId xmlns:a16="http://schemas.microsoft.com/office/drawing/2014/main" id="{C31E0BA4-5F52-426A-B1C6-6EDA37363139}"/>
              </a:ext>
            </a:extLst>
          </p:cNvPr>
          <p:cNvSpPr txBox="1"/>
          <p:nvPr/>
        </p:nvSpPr>
        <p:spPr>
          <a:xfrm>
            <a:off x="3314570" y="5846544"/>
            <a:ext cx="5562870" cy="646331"/>
          </a:xfrm>
          <a:prstGeom prst="rect">
            <a:avLst/>
          </a:prstGeom>
          <a:noFill/>
        </p:spPr>
        <p:txBody>
          <a:bodyPr wrap="none" rtlCol="0">
            <a:spAutoFit/>
          </a:bodyPr>
          <a:lstStyle/>
          <a:p>
            <a:pPr algn="ctr"/>
            <a:r>
              <a:rPr lang="en-GB" sz="3600" dirty="0">
                <a:solidFill>
                  <a:srgbClr val="7030A0"/>
                </a:solidFill>
              </a:rPr>
              <a:t>List can be done in any order</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423889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1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wipe(left)">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wipe(left)">
                                      <p:cBhvr>
                                        <p:cTn id="4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6B2291-BD46-28D9-B75E-548C54B32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093FC-8206-5C93-E28E-323CF91A7B48}"/>
              </a:ext>
            </a:extLst>
          </p:cNvPr>
          <p:cNvSpPr>
            <a:spLocks noGrp="1"/>
          </p:cNvSpPr>
          <p:nvPr>
            <p:ph type="title"/>
          </p:nvPr>
        </p:nvSpPr>
        <p:spPr/>
        <p:txBody>
          <a:bodyPr/>
          <a:lstStyle/>
          <a:p>
            <a:r>
              <a:rPr lang="en-GB" dirty="0"/>
              <a:t>Body – Unordered List (Bullet Points)	</a:t>
            </a:r>
          </a:p>
        </p:txBody>
      </p:sp>
      <p:sp>
        <p:nvSpPr>
          <p:cNvPr id="3" name="Content Placeholder 2">
            <a:extLst>
              <a:ext uri="{FF2B5EF4-FFF2-40B4-BE49-F238E27FC236}">
                <a16:creationId xmlns:a16="http://schemas.microsoft.com/office/drawing/2014/main" id="{D4AF1C00-BB20-0266-0E3B-C8C7831E86D0}"/>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&lt;ul&gt;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 list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&lt;li&gt;</a:t>
            </a:r>
            <a:r>
              <a:rPr lang="en-US" altLang="en-US" sz="4000" dirty="0">
                <a:solidFill>
                  <a:srgbClr val="000000"/>
                </a:solidFill>
                <a:latin typeface="Consolas" panose="020B0609020204030204" pitchFamily="49" charset="0"/>
              </a:rPr>
              <a:t>Another item</a:t>
            </a:r>
            <a:r>
              <a:rPr lang="en-US" altLang="en-US" sz="4000" dirty="0">
                <a:solidFill>
                  <a:srgbClr val="A71D5D"/>
                </a:solidFill>
                <a:latin typeface="Consolas" panose="020B0609020204030204" pitchFamily="49" charset="0"/>
              </a:rPr>
              <a:t>&lt;/li&gt;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&lt;/ul&gt;</a:t>
            </a:r>
            <a:endParaRPr lang="en-US" altLang="en-US" sz="4000"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3617555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exemplify and implement HTML code:</a:t>
            </a:r>
          </a:p>
          <a:p>
            <a:pPr lvl="1"/>
            <a:r>
              <a:rPr lang="en-GB" sz="3200" dirty="0"/>
              <a:t>images</a:t>
            </a:r>
          </a:p>
          <a:p>
            <a:pPr lvl="1"/>
            <a:r>
              <a:rPr lang="en-GB" sz="3200" dirty="0"/>
              <a:t>audio</a:t>
            </a:r>
          </a:p>
          <a:p>
            <a:pPr lvl="1"/>
            <a:r>
              <a:rPr lang="en-GB" sz="3200" dirty="0"/>
              <a:t>video</a:t>
            </a:r>
          </a:p>
          <a:p>
            <a:r>
              <a:rPr lang="en-GB" sz="3600" dirty="0"/>
              <a:t>Read and explain code that makes use of the above HTML.</a:t>
            </a:r>
            <a:endParaRPr lang="en-GB" dirty="0"/>
          </a:p>
        </p:txBody>
      </p:sp>
    </p:spTree>
    <p:extLst>
      <p:ext uri="{BB962C8B-B14F-4D97-AF65-F5344CB8AC3E}">
        <p14:creationId xmlns:p14="http://schemas.microsoft.com/office/powerpoint/2010/main" val="22322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8C43D2A-294C-69BD-67E0-FF7876B8D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9437" y="2471737"/>
            <a:ext cx="5953125"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056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049014-3B9C-B76A-4345-A6DF0513875D}"/>
              </a:ext>
            </a:extLst>
          </p:cNvPr>
          <p:cNvSpPr txBox="1"/>
          <p:nvPr/>
        </p:nvSpPr>
        <p:spPr>
          <a:xfrm>
            <a:off x="1729740" y="2136338"/>
            <a:ext cx="8732519" cy="2585323"/>
          </a:xfrm>
          <a:prstGeom prst="rect">
            <a:avLst/>
          </a:prstGeom>
          <a:noFill/>
        </p:spPr>
        <p:txBody>
          <a:bodyPr wrap="square">
            <a:spAutoFit/>
          </a:bodyPr>
          <a:lstStyle/>
          <a:p>
            <a:pPr algn="l">
              <a:buFont typeface="Arial" panose="020B0604020202020204" pitchFamily="34" charset="0"/>
              <a:buChar char="•"/>
            </a:pPr>
            <a:r>
              <a:rPr lang="en-GB" b="1" i="0" dirty="0">
                <a:effectLst/>
                <a:latin typeface="CiscoSansTT"/>
              </a:rPr>
              <a:t>global attributes</a:t>
            </a:r>
            <a:r>
              <a:rPr lang="en-GB" b="0" i="0" dirty="0">
                <a:effectLst/>
                <a:latin typeface="CiscoSansTT"/>
              </a:rPr>
              <a:t>, which can be applied to any HTML element. They are useful for a wide range of purposes, such as assigning unique identifiers, adding classes for styling, or providing additional information about an element. Examples include </a:t>
            </a:r>
            <a:r>
              <a:rPr lang="en-GB" b="0" i="0" dirty="0">
                <a:effectLst/>
                <a:latin typeface="Courier New" panose="02070309020205020404" pitchFamily="49" charset="0"/>
              </a:rPr>
              <a:t>id</a:t>
            </a:r>
            <a:r>
              <a:rPr lang="en-GB" b="0" i="0" dirty="0">
                <a:effectLst/>
                <a:latin typeface="CiscoSansTT"/>
              </a:rPr>
              <a:t>, </a:t>
            </a:r>
            <a:r>
              <a:rPr lang="en-GB" b="0" i="0" dirty="0">
                <a:effectLst/>
                <a:latin typeface="Courier New" panose="02070309020205020404" pitchFamily="49" charset="0"/>
              </a:rPr>
              <a:t>class</a:t>
            </a:r>
            <a:r>
              <a:rPr lang="en-GB" b="0" i="0" dirty="0">
                <a:effectLst/>
                <a:latin typeface="CiscoSansTT"/>
              </a:rPr>
              <a:t>, </a:t>
            </a:r>
            <a:r>
              <a:rPr lang="en-GB" b="0" i="0" dirty="0">
                <a:effectLst/>
                <a:latin typeface="Courier New" panose="02070309020205020404" pitchFamily="49" charset="0"/>
              </a:rPr>
              <a:t>style</a:t>
            </a:r>
            <a:r>
              <a:rPr lang="en-GB" b="0" i="0" dirty="0">
                <a:effectLst/>
                <a:latin typeface="CiscoSansTT"/>
              </a:rPr>
              <a:t>, and </a:t>
            </a:r>
            <a:r>
              <a:rPr lang="en-GB" b="0" i="0" dirty="0">
                <a:effectLst/>
                <a:latin typeface="Courier New" panose="02070309020205020404" pitchFamily="49" charset="0"/>
              </a:rPr>
              <a:t>title</a:t>
            </a:r>
            <a:r>
              <a:rPr lang="en-GB" b="0" i="0" dirty="0">
                <a:effectLst/>
                <a:latin typeface="CiscoSansTT"/>
              </a:rPr>
              <a:t>.</a:t>
            </a:r>
          </a:p>
          <a:p>
            <a:pPr algn="l">
              <a:buFont typeface="Arial" panose="020B0604020202020204" pitchFamily="34" charset="0"/>
              <a:buChar char="•"/>
            </a:pPr>
            <a:r>
              <a:rPr lang="en-GB" b="1" i="0" dirty="0">
                <a:effectLst/>
                <a:latin typeface="CiscoSansTT"/>
              </a:rPr>
              <a:t>element-specific attributes</a:t>
            </a:r>
            <a:r>
              <a:rPr lang="en-GB" b="0" i="0" dirty="0">
                <a:effectLst/>
                <a:latin typeface="CiscoSansTT"/>
              </a:rPr>
              <a:t>, which are specific to particular HTML elements and cannot be used with all elements. They provide functionality or modify the </a:t>
            </a:r>
            <a:r>
              <a:rPr lang="en-GB" b="0" i="0" dirty="0" err="1">
                <a:effectLst/>
                <a:latin typeface="CiscoSansTT"/>
              </a:rPr>
              <a:t>behavior</a:t>
            </a:r>
            <a:r>
              <a:rPr lang="en-GB" b="0" i="0" dirty="0">
                <a:effectLst/>
                <a:latin typeface="CiscoSansTT"/>
              </a:rPr>
              <a:t> of specific elements, making them essential for proper usage of those elements. Examples include </a:t>
            </a:r>
            <a:r>
              <a:rPr lang="en-GB" b="0" i="0" dirty="0" err="1">
                <a:effectLst/>
                <a:latin typeface="Courier New" panose="02070309020205020404" pitchFamily="49" charset="0"/>
              </a:rPr>
              <a:t>href</a:t>
            </a:r>
            <a:r>
              <a:rPr lang="en-GB" b="0" i="0" dirty="0">
                <a:effectLst/>
                <a:latin typeface="CiscoSansTT"/>
              </a:rPr>
              <a:t> (specific to </a:t>
            </a:r>
            <a:r>
              <a:rPr lang="en-GB" b="0" i="0" dirty="0">
                <a:effectLst/>
                <a:latin typeface="Courier New" panose="02070309020205020404" pitchFamily="49" charset="0"/>
              </a:rPr>
              <a:t>&lt;a&gt;</a:t>
            </a:r>
            <a:r>
              <a:rPr lang="en-GB" b="0" i="0" dirty="0">
                <a:effectLst/>
                <a:latin typeface="CiscoSansTT"/>
              </a:rPr>
              <a:t> elements), </a:t>
            </a:r>
            <a:r>
              <a:rPr lang="en-GB" b="0" i="0" dirty="0" err="1">
                <a:effectLst/>
                <a:latin typeface="Courier New" panose="02070309020205020404" pitchFamily="49" charset="0"/>
              </a:rPr>
              <a:t>src</a:t>
            </a:r>
            <a:r>
              <a:rPr lang="en-GB" b="0" i="0" dirty="0">
                <a:effectLst/>
                <a:latin typeface="CiscoSansTT"/>
              </a:rPr>
              <a:t> (specific to </a:t>
            </a:r>
            <a:r>
              <a:rPr lang="en-GB" b="0" i="0" dirty="0">
                <a:effectLst/>
                <a:latin typeface="Courier New" panose="02070309020205020404" pitchFamily="49" charset="0"/>
              </a:rPr>
              <a:t>&lt;</a:t>
            </a:r>
            <a:r>
              <a:rPr lang="en-GB" b="0" i="0" dirty="0" err="1">
                <a:effectLst/>
                <a:latin typeface="Courier New" panose="02070309020205020404" pitchFamily="49" charset="0"/>
              </a:rPr>
              <a:t>img</a:t>
            </a:r>
            <a:r>
              <a:rPr lang="en-GB" b="0" i="0" dirty="0">
                <a:effectLst/>
                <a:latin typeface="Courier New" panose="02070309020205020404" pitchFamily="49" charset="0"/>
              </a:rPr>
              <a:t>&gt;</a:t>
            </a:r>
            <a:r>
              <a:rPr lang="en-GB" b="0" i="0" dirty="0">
                <a:effectLst/>
                <a:latin typeface="CiscoSansTT"/>
              </a:rPr>
              <a:t> and media elements), and </a:t>
            </a:r>
            <a:r>
              <a:rPr lang="en-GB" b="0" i="0" dirty="0">
                <a:effectLst/>
                <a:latin typeface="Courier New" panose="02070309020205020404" pitchFamily="49" charset="0"/>
              </a:rPr>
              <a:t>type</a:t>
            </a:r>
            <a:r>
              <a:rPr lang="en-GB" b="0" i="0" dirty="0">
                <a:effectLst/>
                <a:latin typeface="CiscoSansTT"/>
              </a:rPr>
              <a:t> (specific to </a:t>
            </a:r>
            <a:r>
              <a:rPr lang="en-GB" b="0" i="0" dirty="0">
                <a:effectLst/>
                <a:latin typeface="Courier New" panose="02070309020205020404" pitchFamily="49" charset="0"/>
              </a:rPr>
              <a:t>&lt;input&gt;</a:t>
            </a:r>
            <a:r>
              <a:rPr lang="en-GB" b="0" i="0" dirty="0">
                <a:effectLst/>
                <a:latin typeface="CiscoSansTT"/>
              </a:rPr>
              <a:t> elements).</a:t>
            </a:r>
          </a:p>
        </p:txBody>
      </p:sp>
    </p:spTree>
    <p:extLst>
      <p:ext uri="{BB962C8B-B14F-4D97-AF65-F5344CB8AC3E}">
        <p14:creationId xmlns:p14="http://schemas.microsoft.com/office/powerpoint/2010/main" val="1179807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Element Attributes</a:t>
            </a: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8047411" y="2024967"/>
            <a:ext cx="2699612" cy="862642"/>
          </a:xfrm>
          <a:prstGeom prst="callout2">
            <a:avLst>
              <a:gd name="adj1" fmla="val 49217"/>
              <a:gd name="adj2" fmla="val -30"/>
              <a:gd name="adj3" fmla="val 49740"/>
              <a:gd name="adj4" fmla="val -12980"/>
              <a:gd name="adj5" fmla="val 110147"/>
              <a:gd name="adj6" fmla="val -2481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Quote marks</a:t>
            </a:r>
          </a:p>
        </p:txBody>
      </p:sp>
      <p:sp>
        <p:nvSpPr>
          <p:cNvPr id="9" name="TextBox 8">
            <a:extLst>
              <a:ext uri="{FF2B5EF4-FFF2-40B4-BE49-F238E27FC236}">
                <a16:creationId xmlns:a16="http://schemas.microsoft.com/office/drawing/2014/main" id="{F3B639B4-E5C5-8DD1-DB2C-5DF574EC16F0}"/>
              </a:ext>
            </a:extLst>
          </p:cNvPr>
          <p:cNvSpPr txBox="1"/>
          <p:nvPr/>
        </p:nvSpPr>
        <p:spPr>
          <a:xfrm>
            <a:off x="2427367" y="2908469"/>
            <a:ext cx="7337265" cy="769441"/>
          </a:xfrm>
          <a:prstGeom prst="rect">
            <a:avLst/>
          </a:prstGeom>
          <a:noFill/>
        </p:spPr>
        <p:txBody>
          <a:bodyPr wrap="none" rtlCol="0">
            <a:spAutoFit/>
          </a:bodyPr>
          <a:lstStyle/>
          <a:p>
            <a:r>
              <a:rPr lang="en-GB" sz="4400" dirty="0">
                <a:latin typeface="Consolas" panose="020B0609020204030204" pitchFamily="49" charset="0"/>
              </a:rPr>
              <a:t>&lt;tag </a:t>
            </a:r>
            <a:r>
              <a:rPr lang="en-GB" sz="4400" dirty="0">
                <a:solidFill>
                  <a:srgbClr val="FF0000"/>
                </a:solidFill>
                <a:latin typeface="Consolas" panose="020B0609020204030204" pitchFamily="49" charset="0"/>
              </a:rPr>
              <a:t>attribute</a:t>
            </a:r>
            <a:r>
              <a:rPr lang="en-GB" sz="4400" dirty="0">
                <a:solidFill>
                  <a:srgbClr val="0000FF"/>
                </a:solidFill>
                <a:latin typeface="Consolas" panose="020B0609020204030204" pitchFamily="49" charset="0"/>
              </a:rPr>
              <a:t>=</a:t>
            </a:r>
            <a:r>
              <a:rPr lang="en-GB" sz="4400" dirty="0">
                <a:solidFill>
                  <a:srgbClr val="FF0000"/>
                </a:solidFill>
                <a:latin typeface="Consolas" panose="020B0609020204030204" pitchFamily="49" charset="0"/>
              </a:rPr>
              <a:t>"value"</a:t>
            </a:r>
            <a:r>
              <a:rPr lang="en-GB" sz="4400" dirty="0">
                <a:latin typeface="Consolas" panose="020B0609020204030204" pitchFamily="49" charset="0"/>
              </a:rPr>
              <a:t>&gt;</a:t>
            </a:r>
            <a:endParaRPr lang="en-GB" sz="4400" dirty="0"/>
          </a:p>
        </p:txBody>
      </p:sp>
      <p:sp>
        <p:nvSpPr>
          <p:cNvPr id="24" name="Callout: Bent Line with No Border 23">
            <a:extLst>
              <a:ext uri="{FF2B5EF4-FFF2-40B4-BE49-F238E27FC236}">
                <a16:creationId xmlns:a16="http://schemas.microsoft.com/office/drawing/2014/main" id="{535B09F3-DD14-0BE1-83EE-674A2D878E89}"/>
              </a:ext>
            </a:extLst>
          </p:cNvPr>
          <p:cNvSpPr/>
          <p:nvPr/>
        </p:nvSpPr>
        <p:spPr>
          <a:xfrm flipH="1">
            <a:off x="4267757" y="3799299"/>
            <a:ext cx="2414411"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Equals sign</a:t>
            </a:r>
          </a:p>
        </p:txBody>
      </p:sp>
      <p:sp>
        <p:nvSpPr>
          <p:cNvPr id="25" name="TextBox 24">
            <a:extLst>
              <a:ext uri="{FF2B5EF4-FFF2-40B4-BE49-F238E27FC236}">
                <a16:creationId xmlns:a16="http://schemas.microsoft.com/office/drawing/2014/main" id="{05F5ADFE-C399-4090-C356-DD81EB05E487}"/>
              </a:ext>
            </a:extLst>
          </p:cNvPr>
          <p:cNvSpPr txBox="1"/>
          <p:nvPr/>
        </p:nvSpPr>
        <p:spPr>
          <a:xfrm>
            <a:off x="2409381" y="5292546"/>
            <a:ext cx="7373236" cy="1200329"/>
          </a:xfrm>
          <a:prstGeom prst="rect">
            <a:avLst/>
          </a:prstGeom>
          <a:noFill/>
        </p:spPr>
        <p:txBody>
          <a:bodyPr wrap="none" rtlCol="0">
            <a:spAutoFit/>
          </a:bodyPr>
          <a:lstStyle/>
          <a:p>
            <a:pPr algn="ctr"/>
            <a:r>
              <a:rPr lang="en-GB" sz="3600" dirty="0">
                <a:solidFill>
                  <a:srgbClr val="7030A0"/>
                </a:solidFill>
              </a:rPr>
              <a:t>Attributes are specified in the start tag</a:t>
            </a:r>
          </a:p>
          <a:p>
            <a:pPr algn="ctr"/>
            <a:r>
              <a:rPr lang="en-GB" sz="3600" dirty="0">
                <a:solidFill>
                  <a:srgbClr val="7030A0"/>
                </a:solidFill>
              </a:rPr>
              <a:t>Multiple attributes allowed</a:t>
            </a:r>
          </a:p>
        </p:txBody>
      </p:sp>
      <p:sp>
        <p:nvSpPr>
          <p:cNvPr id="3" name="Callout: Bent Line with No Border 2">
            <a:extLst>
              <a:ext uri="{FF2B5EF4-FFF2-40B4-BE49-F238E27FC236}">
                <a16:creationId xmlns:a16="http://schemas.microsoft.com/office/drawing/2014/main" id="{6AC83DB9-334E-9410-DC7B-BAFBADB65822}"/>
              </a:ext>
            </a:extLst>
          </p:cNvPr>
          <p:cNvSpPr/>
          <p:nvPr/>
        </p:nvSpPr>
        <p:spPr>
          <a:xfrm flipH="1">
            <a:off x="976744" y="2066685"/>
            <a:ext cx="1529964"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Start tag</a:t>
            </a:r>
          </a:p>
        </p:txBody>
      </p:sp>
    </p:spTree>
    <p:extLst>
      <p:ext uri="{BB962C8B-B14F-4D97-AF65-F5344CB8AC3E}">
        <p14:creationId xmlns:p14="http://schemas.microsoft.com/office/powerpoint/2010/main" val="334414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10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wipe(left)">
                                      <p:cBhvr>
                                        <p:cTn id="27" dur="20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xEl>
                                              <p:pRg st="1" end="1"/>
                                            </p:txEl>
                                          </p:spTgt>
                                        </p:tgtEl>
                                        <p:attrNameLst>
                                          <p:attrName>style.visibility</p:attrName>
                                        </p:attrNameLst>
                                      </p:cBhvr>
                                      <p:to>
                                        <p:strVal val="visible"/>
                                      </p:to>
                                    </p:set>
                                    <p:animEffect transition="in" filter="wipe(left)">
                                      <p:cBhvr>
                                        <p:cTn id="32" dur="20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build="p"/>
      <p:bldP spid="24" grpId="0" animBg="1"/>
      <p:bldP spid="25" grpId="0" build="p"/>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Element Attributes</a:t>
            </a:r>
          </a:p>
        </p:txBody>
      </p:sp>
      <p:sp>
        <p:nvSpPr>
          <p:cNvPr id="9" name="TextBox 8">
            <a:extLst>
              <a:ext uri="{FF2B5EF4-FFF2-40B4-BE49-F238E27FC236}">
                <a16:creationId xmlns:a16="http://schemas.microsoft.com/office/drawing/2014/main" id="{F3B639B4-E5C5-8DD1-DB2C-5DF574EC16F0}"/>
              </a:ext>
            </a:extLst>
          </p:cNvPr>
          <p:cNvSpPr txBox="1"/>
          <p:nvPr/>
        </p:nvSpPr>
        <p:spPr>
          <a:xfrm>
            <a:off x="2427367" y="2908469"/>
            <a:ext cx="7337265" cy="769441"/>
          </a:xfrm>
          <a:prstGeom prst="rect">
            <a:avLst/>
          </a:prstGeom>
          <a:noFill/>
        </p:spPr>
        <p:txBody>
          <a:bodyPr wrap="none" rtlCol="0">
            <a:spAutoFit/>
          </a:bodyPr>
          <a:lstStyle/>
          <a:p>
            <a:r>
              <a:rPr lang="en-GB" sz="4400" dirty="0">
                <a:latin typeface="Consolas" panose="020B0609020204030204" pitchFamily="49" charset="0"/>
              </a:rPr>
              <a:t>&lt;tag </a:t>
            </a:r>
            <a:r>
              <a:rPr lang="en-GB" sz="4400" dirty="0">
                <a:solidFill>
                  <a:srgbClr val="FF0000"/>
                </a:solidFill>
                <a:latin typeface="Consolas" panose="020B0609020204030204" pitchFamily="49" charset="0"/>
              </a:rPr>
              <a:t>attribute</a:t>
            </a:r>
            <a:r>
              <a:rPr lang="en-GB" sz="4400" dirty="0">
                <a:solidFill>
                  <a:srgbClr val="0000FF"/>
                </a:solidFill>
                <a:latin typeface="Consolas" panose="020B0609020204030204" pitchFamily="49" charset="0"/>
              </a:rPr>
              <a:t>=</a:t>
            </a:r>
            <a:r>
              <a:rPr lang="en-GB" sz="4400" dirty="0">
                <a:solidFill>
                  <a:srgbClr val="FF0000"/>
                </a:solidFill>
                <a:latin typeface="Consolas" panose="020B0609020204030204" pitchFamily="49" charset="0"/>
              </a:rPr>
              <a:t>"value"</a:t>
            </a:r>
            <a:r>
              <a:rPr lang="en-GB" sz="4400" dirty="0">
                <a:latin typeface="Consolas" panose="020B0609020204030204" pitchFamily="49" charset="0"/>
              </a:rPr>
              <a:t>&gt;</a:t>
            </a:r>
            <a:endParaRPr lang="en-GB" sz="4400" dirty="0"/>
          </a:p>
        </p:txBody>
      </p:sp>
    </p:spTree>
    <p:extLst>
      <p:ext uri="{BB962C8B-B14F-4D97-AF65-F5344CB8AC3E}">
        <p14:creationId xmlns:p14="http://schemas.microsoft.com/office/powerpoint/2010/main" val="469857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Attributes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sz="half" idx="1"/>
          </p:nvPr>
        </p:nvSpPr>
        <p:spPr>
          <a:xfrm>
            <a:off x="838200" y="1825625"/>
            <a:ext cx="3387811" cy="4351338"/>
          </a:xfrm>
        </p:spPr>
        <p:txBody>
          <a:bodyPr>
            <a:normAutofit/>
          </a:bodyPr>
          <a:lstStyle/>
          <a:p>
            <a:r>
              <a:rPr lang="en-GB" sz="3200" dirty="0" err="1">
                <a:latin typeface="Consolas" panose="020B0609020204030204" pitchFamily="49" charset="0"/>
              </a:rPr>
              <a:t>src</a:t>
            </a:r>
            <a:endParaRPr lang="en-GB" sz="3200" dirty="0">
              <a:latin typeface="Consolas" panose="020B0609020204030204" pitchFamily="49" charset="0"/>
            </a:endParaRPr>
          </a:p>
          <a:p>
            <a:r>
              <a:rPr lang="en-GB" sz="3200" dirty="0" err="1">
                <a:latin typeface="Consolas" panose="020B0609020204030204" pitchFamily="49" charset="0"/>
              </a:rPr>
              <a:t>rel</a:t>
            </a:r>
            <a:endParaRPr lang="en-GB" sz="3200" dirty="0">
              <a:latin typeface="Consolas" panose="020B0609020204030204" pitchFamily="49" charset="0"/>
            </a:endParaRPr>
          </a:p>
          <a:p>
            <a:r>
              <a:rPr lang="en-GB" sz="3200" dirty="0">
                <a:latin typeface="Consolas" panose="020B0609020204030204" pitchFamily="49" charset="0"/>
              </a:rPr>
              <a:t>alt</a:t>
            </a:r>
          </a:p>
          <a:p>
            <a:r>
              <a:rPr lang="en-GB" sz="3200" dirty="0" err="1">
                <a:latin typeface="Consolas" panose="020B0609020204030204" pitchFamily="49" charset="0"/>
              </a:rPr>
              <a:t>href</a:t>
            </a:r>
            <a:endParaRPr lang="en-GB" sz="3200" dirty="0">
              <a:latin typeface="Consolas" panose="020B0609020204030204" pitchFamily="49" charset="0"/>
            </a:endParaRPr>
          </a:p>
          <a:p>
            <a:r>
              <a:rPr lang="en-GB" sz="3200" dirty="0">
                <a:latin typeface="Consolas" panose="020B0609020204030204" pitchFamily="49" charset="0"/>
              </a:rPr>
              <a:t>type</a:t>
            </a:r>
          </a:p>
          <a:p>
            <a:r>
              <a:rPr lang="en-GB" sz="3200" dirty="0">
                <a:latin typeface="Consolas" panose="020B0609020204030204" pitchFamily="49" charset="0"/>
              </a:rPr>
              <a:t>class</a:t>
            </a:r>
          </a:p>
          <a:p>
            <a:r>
              <a:rPr lang="en-GB" sz="3200" dirty="0">
                <a:latin typeface="Consolas" panose="020B0609020204030204" pitchFamily="49" charset="0"/>
              </a:rPr>
              <a:t>id</a:t>
            </a:r>
            <a:endParaRPr lang="en-GB" sz="4000" dirty="0"/>
          </a:p>
        </p:txBody>
      </p:sp>
      <p:sp>
        <p:nvSpPr>
          <p:cNvPr id="4" name="Content Placeholder 3">
            <a:extLst>
              <a:ext uri="{FF2B5EF4-FFF2-40B4-BE49-F238E27FC236}">
                <a16:creationId xmlns:a16="http://schemas.microsoft.com/office/drawing/2014/main" id="{9BD837D4-D082-0DE5-EA8A-25EDAA5021BE}"/>
              </a:ext>
            </a:extLst>
          </p:cNvPr>
          <p:cNvSpPr>
            <a:spLocks noGrp="1"/>
          </p:cNvSpPr>
          <p:nvPr>
            <p:ph sz="half" idx="2"/>
          </p:nvPr>
        </p:nvSpPr>
        <p:spPr>
          <a:xfrm>
            <a:off x="4226011" y="1825625"/>
            <a:ext cx="7127789" cy="4351338"/>
          </a:xfrm>
        </p:spPr>
        <p:txBody>
          <a:bodyPr>
            <a:noAutofit/>
          </a:bodyPr>
          <a:lstStyle/>
          <a:p>
            <a:r>
              <a:rPr lang="en-GB" sz="3200" dirty="0"/>
              <a:t>Address of resource (absolute / relative)</a:t>
            </a:r>
          </a:p>
          <a:p>
            <a:r>
              <a:rPr lang="en-GB" sz="3200" dirty="0"/>
              <a:t>Relationship between files</a:t>
            </a:r>
          </a:p>
          <a:p>
            <a:r>
              <a:rPr lang="en-GB" sz="3200" dirty="0"/>
              <a:t>Alternative text (screen reader)</a:t>
            </a:r>
          </a:p>
          <a:p>
            <a:r>
              <a:rPr lang="en-GB" sz="3200" dirty="0"/>
              <a:t>Link address (absolute / relative)</a:t>
            </a:r>
          </a:p>
          <a:p>
            <a:r>
              <a:rPr lang="en-GB" sz="3200" dirty="0"/>
              <a:t>MIME type</a:t>
            </a:r>
          </a:p>
          <a:p>
            <a:r>
              <a:rPr lang="en-GB" sz="3200" dirty="0"/>
              <a:t>Name of class</a:t>
            </a:r>
          </a:p>
          <a:p>
            <a:r>
              <a:rPr lang="en-GB" sz="3200" dirty="0"/>
              <a:t>Name of ID</a:t>
            </a:r>
          </a:p>
          <a:p>
            <a:endParaRPr lang="en-GB" sz="3200" dirty="0"/>
          </a:p>
        </p:txBody>
      </p:sp>
    </p:spTree>
    <p:extLst>
      <p:ext uri="{BB962C8B-B14F-4D97-AF65-F5344CB8AC3E}">
        <p14:creationId xmlns:p14="http://schemas.microsoft.com/office/powerpoint/2010/main" val="315086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wipe(left)">
                                      <p:cBhvr>
                                        <p:cTn id="11" dur="1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1000"/>
                                        <p:tgtEl>
                                          <p:spTgt spid="3">
                                            <p:txEl>
                                              <p:pRg st="1" end="1"/>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wipe(left)">
                                      <p:cBhvr>
                                        <p:cTn id="20" dur="15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1000"/>
                                        <p:tgtEl>
                                          <p:spTgt spid="3">
                                            <p:txEl>
                                              <p:pRg st="2" end="2"/>
                                            </p:txEl>
                                          </p:spTgt>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wipe(left)">
                                      <p:cBhvr>
                                        <p:cTn id="29" dur="1500"/>
                                        <p:tgtEl>
                                          <p:spTgt spid="4">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wipe(left)">
                                      <p:cBhvr>
                                        <p:cTn id="34" dur="1000"/>
                                        <p:tgtEl>
                                          <p:spTgt spid="3">
                                            <p:txEl>
                                              <p:pRg st="3" end="3"/>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
                                            <p:txEl>
                                              <p:pRg st="3" end="3"/>
                                            </p:txEl>
                                          </p:spTgt>
                                        </p:tgtEl>
                                        <p:attrNameLst>
                                          <p:attrName>style.visibility</p:attrName>
                                        </p:attrNameLst>
                                      </p:cBhvr>
                                      <p:to>
                                        <p:strVal val="visible"/>
                                      </p:to>
                                    </p:set>
                                    <p:animEffect transition="in" filter="wipe(left)">
                                      <p:cBhvr>
                                        <p:cTn id="38" dur="1500"/>
                                        <p:tgtEl>
                                          <p:spTgt spid="4">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wipe(left)">
                                      <p:cBhvr>
                                        <p:cTn id="43" dur="1000"/>
                                        <p:tgtEl>
                                          <p:spTgt spid="3">
                                            <p:txEl>
                                              <p:pRg st="4" end="4"/>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animEffect transition="in" filter="wipe(left)">
                                      <p:cBhvr>
                                        <p:cTn id="47" dur="1500"/>
                                        <p:tgtEl>
                                          <p:spTgt spid="4">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5" end="5"/>
                                            </p:txEl>
                                          </p:spTgt>
                                        </p:tgtEl>
                                        <p:attrNameLst>
                                          <p:attrName>style.visibility</p:attrName>
                                        </p:attrNameLst>
                                      </p:cBhvr>
                                      <p:to>
                                        <p:strVal val="visible"/>
                                      </p:to>
                                    </p:set>
                                    <p:animEffect transition="in" filter="wipe(left)">
                                      <p:cBhvr>
                                        <p:cTn id="52" dur="1000"/>
                                        <p:tgtEl>
                                          <p:spTgt spid="3">
                                            <p:txEl>
                                              <p:pRg st="5" end="5"/>
                                            </p:txEl>
                                          </p:spTgt>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4">
                                            <p:txEl>
                                              <p:pRg st="5" end="5"/>
                                            </p:txEl>
                                          </p:spTgt>
                                        </p:tgtEl>
                                        <p:attrNameLst>
                                          <p:attrName>style.visibility</p:attrName>
                                        </p:attrNameLst>
                                      </p:cBhvr>
                                      <p:to>
                                        <p:strVal val="visible"/>
                                      </p:to>
                                    </p:set>
                                    <p:animEffect transition="in" filter="wipe(left)">
                                      <p:cBhvr>
                                        <p:cTn id="56" dur="1500"/>
                                        <p:tgtEl>
                                          <p:spTgt spid="4">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wipe(left)">
                                      <p:cBhvr>
                                        <p:cTn id="61" dur="1000"/>
                                        <p:tgtEl>
                                          <p:spTgt spid="3">
                                            <p:txEl>
                                              <p:pRg st="6" end="6"/>
                                            </p:txEl>
                                          </p:spTgt>
                                        </p:tgtEl>
                                      </p:cBhvr>
                                    </p:animEffec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4">
                                            <p:txEl>
                                              <p:pRg st="6" end="6"/>
                                            </p:txEl>
                                          </p:spTgt>
                                        </p:tgtEl>
                                        <p:attrNameLst>
                                          <p:attrName>style.visibility</p:attrName>
                                        </p:attrNameLst>
                                      </p:cBhvr>
                                      <p:to>
                                        <p:strVal val="visible"/>
                                      </p:to>
                                    </p:set>
                                    <p:animEffect transition="in" filter="wipe(left)">
                                      <p:cBhvr>
                                        <p:cTn id="65" dur="1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Attributes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sz="half" idx="1"/>
          </p:nvPr>
        </p:nvSpPr>
        <p:spPr>
          <a:xfrm>
            <a:off x="838200" y="1825625"/>
            <a:ext cx="3387811" cy="4351338"/>
          </a:xfrm>
        </p:spPr>
        <p:txBody>
          <a:bodyPr>
            <a:normAutofit/>
          </a:bodyPr>
          <a:lstStyle/>
          <a:p>
            <a:r>
              <a:rPr lang="en-GB" sz="3200" dirty="0">
                <a:latin typeface="Consolas" panose="020B0609020204030204" pitchFamily="49" charset="0"/>
              </a:rPr>
              <a:t> </a:t>
            </a:r>
          </a:p>
          <a:p>
            <a:r>
              <a:rPr lang="en-GB" sz="3200" dirty="0">
                <a:latin typeface="Consolas" panose="020B0609020204030204" pitchFamily="49" charset="0"/>
              </a:rPr>
              <a:t> </a:t>
            </a:r>
          </a:p>
          <a:p>
            <a:r>
              <a:rPr lang="en-GB" sz="3200" dirty="0">
                <a:latin typeface="Consolas" panose="020B0609020204030204" pitchFamily="49" charset="0"/>
              </a:rPr>
              <a:t> </a:t>
            </a:r>
          </a:p>
          <a:p>
            <a:r>
              <a:rPr lang="en-GB" sz="3200" dirty="0">
                <a:latin typeface="Consolas" panose="020B0609020204030204" pitchFamily="49" charset="0"/>
              </a:rPr>
              <a:t> </a:t>
            </a:r>
          </a:p>
          <a:p>
            <a:r>
              <a:rPr lang="en-GB" sz="3200" dirty="0">
                <a:latin typeface="Consolas" panose="020B0609020204030204" pitchFamily="49" charset="0"/>
              </a:rPr>
              <a:t> </a:t>
            </a:r>
          </a:p>
          <a:p>
            <a:r>
              <a:rPr lang="en-GB" sz="3200" dirty="0">
                <a:latin typeface="Consolas" panose="020B0609020204030204" pitchFamily="49" charset="0"/>
              </a:rPr>
              <a:t> </a:t>
            </a:r>
          </a:p>
          <a:p>
            <a:r>
              <a:rPr lang="en-GB" sz="3200" dirty="0">
                <a:latin typeface="Consolas" panose="020B0609020204030204" pitchFamily="49" charset="0"/>
              </a:rPr>
              <a:t> </a:t>
            </a:r>
            <a:endParaRPr lang="en-GB" sz="4000" dirty="0"/>
          </a:p>
        </p:txBody>
      </p:sp>
      <p:sp>
        <p:nvSpPr>
          <p:cNvPr id="4" name="Content Placeholder 3">
            <a:extLst>
              <a:ext uri="{FF2B5EF4-FFF2-40B4-BE49-F238E27FC236}">
                <a16:creationId xmlns:a16="http://schemas.microsoft.com/office/drawing/2014/main" id="{9BD837D4-D082-0DE5-EA8A-25EDAA5021BE}"/>
              </a:ext>
            </a:extLst>
          </p:cNvPr>
          <p:cNvSpPr>
            <a:spLocks noGrp="1"/>
          </p:cNvSpPr>
          <p:nvPr>
            <p:ph sz="half" idx="2"/>
          </p:nvPr>
        </p:nvSpPr>
        <p:spPr>
          <a:xfrm>
            <a:off x="4226011" y="1825625"/>
            <a:ext cx="7127789" cy="4351338"/>
          </a:xfrm>
        </p:spPr>
        <p:txBody>
          <a:bodyPr>
            <a:noAutofit/>
          </a:bodyPr>
          <a:lstStyle/>
          <a:p>
            <a:r>
              <a:rPr lang="en-GB" sz="3200" dirty="0"/>
              <a:t>Address of resource (absolute / relative)</a:t>
            </a:r>
          </a:p>
          <a:p>
            <a:r>
              <a:rPr lang="en-GB" sz="3200" dirty="0"/>
              <a:t>Relationship between files</a:t>
            </a:r>
          </a:p>
          <a:p>
            <a:r>
              <a:rPr lang="en-GB" sz="3200" dirty="0"/>
              <a:t>MIME type</a:t>
            </a:r>
          </a:p>
          <a:p>
            <a:r>
              <a:rPr lang="en-GB" sz="3200" dirty="0"/>
              <a:t>Alternative text (screen reader)</a:t>
            </a:r>
          </a:p>
          <a:p>
            <a:r>
              <a:rPr lang="en-GB" sz="3200" dirty="0"/>
              <a:t>Link address (absolute / relative)</a:t>
            </a:r>
          </a:p>
          <a:p>
            <a:r>
              <a:rPr lang="en-GB" sz="3200" dirty="0"/>
              <a:t>Name of class</a:t>
            </a:r>
          </a:p>
          <a:p>
            <a:r>
              <a:rPr lang="en-GB" sz="3200" dirty="0"/>
              <a:t>Name of ID</a:t>
            </a:r>
          </a:p>
        </p:txBody>
      </p:sp>
    </p:spTree>
    <p:extLst>
      <p:ext uri="{BB962C8B-B14F-4D97-AF65-F5344CB8AC3E}">
        <p14:creationId xmlns:p14="http://schemas.microsoft.com/office/powerpoint/2010/main" val="3493409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A8CEB5-1FB2-36AF-74FB-FB39F8996991}"/>
              </a:ext>
            </a:extLst>
          </p:cNvPr>
          <p:cNvSpPr txBox="1"/>
          <p:nvPr/>
        </p:nvSpPr>
        <p:spPr>
          <a:xfrm>
            <a:off x="823912" y="1720840"/>
            <a:ext cx="10544175" cy="3416320"/>
          </a:xfrm>
          <a:prstGeom prst="rect">
            <a:avLst/>
          </a:prstGeom>
          <a:noFill/>
        </p:spPr>
        <p:txBody>
          <a:bodyPr wrap="square">
            <a:spAutoFit/>
          </a:bodyPr>
          <a:lstStyle/>
          <a:p>
            <a:pPr algn="l">
              <a:buFont typeface="Arial" panose="020B0604020202020204" pitchFamily="34" charset="0"/>
              <a:buChar char="•"/>
            </a:pPr>
            <a:r>
              <a:rPr lang="en-GB" i="0" dirty="0" err="1">
                <a:effectLst/>
                <a:latin typeface="Arial" panose="020B0604020202020204" pitchFamily="34" charset="0"/>
                <a:cs typeface="Arial" panose="020B0604020202020204" pitchFamily="34" charset="0"/>
              </a:rPr>
              <a:t>src</a:t>
            </a:r>
            <a:r>
              <a:rPr lang="en-GB" i="0" dirty="0">
                <a:effectLst/>
                <a:latin typeface="Arial" panose="020B0604020202020204" pitchFamily="34" charset="0"/>
                <a:cs typeface="Arial" panose="020B0604020202020204" pitchFamily="34" charset="0"/>
              </a:rPr>
              <a:t> for specifying the URL of the media file</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controls for displaying built-in media controls</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width and height for specifying the dimensions of the player</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autoplay for automatically playing the media when the page loads</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loop for looping playback</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preload for buffering the media file</a:t>
            </a:r>
          </a:p>
          <a:p>
            <a:pPr algn="l">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To ensure cross-browser compatibility, it's recommended to provide multiple formats of the same media file, such as MP4 and </a:t>
            </a:r>
            <a:r>
              <a:rPr lang="en-GB" i="0" dirty="0" err="1">
                <a:effectLst/>
                <a:latin typeface="Arial" panose="020B0604020202020204" pitchFamily="34" charset="0"/>
                <a:cs typeface="Arial" panose="020B0604020202020204" pitchFamily="34" charset="0"/>
              </a:rPr>
              <a:t>WebM</a:t>
            </a:r>
            <a:r>
              <a:rPr lang="en-GB" i="0" dirty="0">
                <a:effectLst/>
                <a:latin typeface="Arial" panose="020B0604020202020204" pitchFamily="34" charset="0"/>
                <a:cs typeface="Arial" panose="020B0604020202020204" pitchFamily="34" charset="0"/>
              </a:rPr>
              <a:t> for video, and MP3 and Ogg for audio.</a:t>
            </a: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This can be achieved using the &lt;source&gt; element within the &lt;video&gt; and &lt;audio&gt; elements.</a:t>
            </a:r>
          </a:p>
          <a:p>
            <a:pPr algn="l">
              <a:buFont typeface="Arial" panose="020B0604020202020204" pitchFamily="34" charset="0"/>
              <a:buChar char="•"/>
            </a:pPr>
            <a:endParaRPr lang="en-GB" dirty="0">
              <a:latin typeface="Arial" panose="020B0604020202020204" pitchFamily="34" charset="0"/>
              <a:cs typeface="Arial" panose="020B0604020202020204" pitchFamily="34" charset="0"/>
            </a:endParaRPr>
          </a:p>
          <a:p>
            <a:pPr algn="l">
              <a:buFont typeface="Arial" panose="020B0604020202020204" pitchFamily="34" charset="0"/>
              <a:buChar char="•"/>
            </a:pPr>
            <a:r>
              <a:rPr lang="en-GB" i="0" dirty="0">
                <a:effectLst/>
                <a:latin typeface="Arial" panose="020B0604020202020204" pitchFamily="34" charset="0"/>
                <a:cs typeface="Arial" panose="020B0604020202020204" pitchFamily="34" charset="0"/>
              </a:rPr>
              <a:t>&lt;video poster="web-dev-picture.jpg" controls&gt;</a:t>
            </a:r>
          </a:p>
        </p:txBody>
      </p:sp>
    </p:spTree>
    <p:extLst>
      <p:ext uri="{BB962C8B-B14F-4D97-AF65-F5344CB8AC3E}">
        <p14:creationId xmlns:p14="http://schemas.microsoft.com/office/powerpoint/2010/main" val="3215554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Image</a:t>
            </a:r>
          </a:p>
        </p:txBody>
      </p:sp>
      <p:sp>
        <p:nvSpPr>
          <p:cNvPr id="9" name="TextBox 8">
            <a:extLst>
              <a:ext uri="{FF2B5EF4-FFF2-40B4-BE49-F238E27FC236}">
                <a16:creationId xmlns:a16="http://schemas.microsoft.com/office/drawing/2014/main" id="{F3B639B4-E5C5-8DD1-DB2C-5DF574EC16F0}"/>
              </a:ext>
            </a:extLst>
          </p:cNvPr>
          <p:cNvSpPr txBox="1"/>
          <p:nvPr/>
        </p:nvSpPr>
        <p:spPr>
          <a:xfrm>
            <a:off x="405981" y="2029678"/>
            <a:ext cx="11380038" cy="3477875"/>
          </a:xfrm>
          <a:prstGeom prst="rect">
            <a:avLst/>
          </a:prstGeom>
          <a:noFill/>
        </p:spPr>
        <p:txBody>
          <a:bodyPr wrap="none" rtlCol="0">
            <a:spAutoFit/>
          </a:bodyPr>
          <a:lstStyle/>
          <a:p>
            <a:r>
              <a:rPr lang="en-US" altLang="en-US" sz="4400" dirty="0">
                <a:solidFill>
                  <a:srgbClr val="A71D5D"/>
                </a:solidFill>
                <a:latin typeface="Consolas" panose="020B0609020204030204" pitchFamily="49" charset="0"/>
              </a:rPr>
              <a:t>&lt;picture&gt;</a:t>
            </a:r>
          </a:p>
          <a:p>
            <a:endParaRPr lang="en-US" altLang="en-US" sz="4400" dirty="0">
              <a:solidFill>
                <a:srgbClr val="A71D5D"/>
              </a:solidFill>
              <a:latin typeface="Consolas" panose="020B0609020204030204" pitchFamily="49" charset="0"/>
            </a:endParaRPr>
          </a:p>
          <a:p>
            <a:r>
              <a:rPr lang="en-US" altLang="en-US" sz="4400" dirty="0">
                <a:solidFill>
                  <a:srgbClr val="A71D5D"/>
                </a:solidFill>
                <a:latin typeface="Consolas" panose="020B0609020204030204" pitchFamily="49" charset="0"/>
              </a:rPr>
              <a:t>&lt;</a:t>
            </a:r>
            <a:r>
              <a:rPr lang="en-US" altLang="en-US" sz="4400" dirty="0" err="1">
                <a:solidFill>
                  <a:srgbClr val="A71D5D"/>
                </a:solidFill>
                <a:latin typeface="Consolas" panose="020B0609020204030204" pitchFamily="49" charset="0"/>
              </a:rPr>
              <a:t>img</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"cat.png"</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alt</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 on mat"</a:t>
            </a:r>
            <a:r>
              <a:rPr lang="en-US" altLang="en-US" sz="4400" dirty="0">
                <a:solidFill>
                  <a:srgbClr val="A71D5D"/>
                </a:solidFill>
                <a:latin typeface="Consolas" panose="020B0609020204030204" pitchFamily="49" charset="0"/>
              </a:rPr>
              <a:t>&gt;</a:t>
            </a:r>
          </a:p>
          <a:p>
            <a:endParaRPr lang="en-US" altLang="en-US" sz="4400" dirty="0">
              <a:solidFill>
                <a:srgbClr val="A71D5D"/>
              </a:solidFill>
              <a:latin typeface="Consolas" panose="020B0609020204030204" pitchFamily="49" charset="0"/>
            </a:endParaRPr>
          </a:p>
          <a:p>
            <a:r>
              <a:rPr lang="en-US" altLang="en-US" sz="4400" dirty="0">
                <a:solidFill>
                  <a:srgbClr val="A71D5D"/>
                </a:solidFill>
                <a:latin typeface="Consolas" panose="020B0609020204030204" pitchFamily="49" charset="0"/>
              </a:rPr>
              <a:t>&lt;/picture&gt;</a:t>
            </a:r>
            <a:endParaRPr lang="en-GB" sz="4400" dirty="0"/>
          </a:p>
        </p:txBody>
      </p:sp>
      <p:sp>
        <p:nvSpPr>
          <p:cNvPr id="13" name="Callout: Bent Line with No Border 12">
            <a:extLst>
              <a:ext uri="{FF2B5EF4-FFF2-40B4-BE49-F238E27FC236}">
                <a16:creationId xmlns:a16="http://schemas.microsoft.com/office/drawing/2014/main" id="{9FD08280-246B-F431-CC37-33C0C86742F1}"/>
              </a:ext>
            </a:extLst>
          </p:cNvPr>
          <p:cNvSpPr/>
          <p:nvPr/>
        </p:nvSpPr>
        <p:spPr>
          <a:xfrm>
            <a:off x="5741317" y="2271735"/>
            <a:ext cx="1660284" cy="862642"/>
          </a:xfrm>
          <a:prstGeom prst="callout2">
            <a:avLst>
              <a:gd name="adj1" fmla="val 49769"/>
              <a:gd name="adj2" fmla="val 400"/>
              <a:gd name="adj3" fmla="val 50078"/>
              <a:gd name="adj4" fmla="val -26360"/>
              <a:gd name="adj5" fmla="val 149062"/>
              <a:gd name="adj6" fmla="val -5870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File name</a:t>
            </a:r>
          </a:p>
        </p:txBody>
      </p:sp>
      <p:sp>
        <p:nvSpPr>
          <p:cNvPr id="25" name="TextBox 24">
            <a:extLst>
              <a:ext uri="{FF2B5EF4-FFF2-40B4-BE49-F238E27FC236}">
                <a16:creationId xmlns:a16="http://schemas.microsoft.com/office/drawing/2014/main" id="{05F5ADFE-C399-4090-C356-DD81EB05E487}"/>
              </a:ext>
            </a:extLst>
          </p:cNvPr>
          <p:cNvSpPr txBox="1"/>
          <p:nvPr/>
        </p:nvSpPr>
        <p:spPr>
          <a:xfrm>
            <a:off x="3407069" y="5846544"/>
            <a:ext cx="5377882" cy="646331"/>
          </a:xfrm>
          <a:prstGeom prst="rect">
            <a:avLst/>
          </a:prstGeom>
          <a:noFill/>
        </p:spPr>
        <p:txBody>
          <a:bodyPr wrap="none" rtlCol="0">
            <a:spAutoFit/>
          </a:bodyPr>
          <a:lstStyle/>
          <a:p>
            <a:pPr algn="ctr"/>
            <a:r>
              <a:rPr lang="en-GB" sz="3600" dirty="0">
                <a:solidFill>
                  <a:srgbClr val="7030A0"/>
                </a:solidFill>
              </a:rPr>
              <a:t>Only start tag: </a:t>
            </a:r>
            <a:r>
              <a:rPr lang="en-GB" sz="3600" i="1" dirty="0">
                <a:solidFill>
                  <a:srgbClr val="FF0000"/>
                </a:solidFill>
              </a:rPr>
              <a:t>Void element</a:t>
            </a:r>
            <a:endParaRPr lang="en-GB" sz="3600" i="1" dirty="0">
              <a:solidFill>
                <a:srgbClr val="FF0000"/>
              </a:solidFill>
              <a:latin typeface="Consolas" panose="020B0609020204030204" pitchFamily="49" charset="0"/>
            </a:endParaRPr>
          </a:p>
        </p:txBody>
      </p:sp>
      <p:sp>
        <p:nvSpPr>
          <p:cNvPr id="7" name="Callout: Bent Line with No Border 6">
            <a:extLst>
              <a:ext uri="{FF2B5EF4-FFF2-40B4-BE49-F238E27FC236}">
                <a16:creationId xmlns:a16="http://schemas.microsoft.com/office/drawing/2014/main" id="{1342D735-268B-473E-915A-328FF6C9A167}"/>
              </a:ext>
            </a:extLst>
          </p:cNvPr>
          <p:cNvSpPr/>
          <p:nvPr/>
        </p:nvSpPr>
        <p:spPr>
          <a:xfrm flipH="1">
            <a:off x="5270818" y="4239075"/>
            <a:ext cx="3292926" cy="862642"/>
          </a:xfrm>
          <a:prstGeom prst="callout2">
            <a:avLst>
              <a:gd name="adj1" fmla="val 49217"/>
              <a:gd name="adj2" fmla="val -30"/>
              <a:gd name="adj3" fmla="val 49740"/>
              <a:gd name="adj4" fmla="val -12980"/>
              <a:gd name="adj5" fmla="val -22910"/>
              <a:gd name="adj6" fmla="val -2262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Description of image</a:t>
            </a:r>
          </a:p>
        </p:txBody>
      </p:sp>
      <p:sp>
        <p:nvSpPr>
          <p:cNvPr id="5" name="Callout: Bent Line with No Border 4">
            <a:extLst>
              <a:ext uri="{FF2B5EF4-FFF2-40B4-BE49-F238E27FC236}">
                <a16:creationId xmlns:a16="http://schemas.microsoft.com/office/drawing/2014/main" id="{49F32B99-3A38-C7B0-6D33-FBC0A6D02794}"/>
              </a:ext>
            </a:extLst>
          </p:cNvPr>
          <p:cNvSpPr/>
          <p:nvPr/>
        </p:nvSpPr>
        <p:spPr>
          <a:xfrm>
            <a:off x="4239057" y="1259366"/>
            <a:ext cx="1660284" cy="862642"/>
          </a:xfrm>
          <a:prstGeom prst="callout2">
            <a:avLst>
              <a:gd name="adj1" fmla="val 49217"/>
              <a:gd name="adj2" fmla="val -30"/>
              <a:gd name="adj3" fmla="val 50078"/>
              <a:gd name="adj4" fmla="val -26360"/>
              <a:gd name="adj5" fmla="val 106917"/>
              <a:gd name="adj6" fmla="val -6533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Optional</a:t>
            </a:r>
          </a:p>
        </p:txBody>
      </p:sp>
    </p:spTree>
    <p:extLst>
      <p:ext uri="{BB962C8B-B14F-4D97-AF65-F5344CB8AC3E}">
        <p14:creationId xmlns:p14="http://schemas.microsoft.com/office/powerpoint/2010/main" val="201841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left)">
                                      <p:cBhvr>
                                        <p:cTn id="12" dur="20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wipe(left)">
                                      <p:cBhvr>
                                        <p:cTn id="17" dur="20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
                                            <p:txEl>
                                              <p:pRg st="0" end="0"/>
                                            </p:txEl>
                                          </p:spTgt>
                                        </p:tgtEl>
                                        <p:attrNameLst>
                                          <p:attrName>style.visibility</p:attrName>
                                        </p:attrNameLst>
                                      </p:cBhvr>
                                      <p:to>
                                        <p:strVal val="visible"/>
                                      </p:to>
                                    </p:set>
                                    <p:animEffect transition="in" filter="wipe(left)">
                                      <p:cBhvr>
                                        <p:cTn id="32" dur="2000"/>
                                        <p:tgtEl>
                                          <p:spTgt spid="2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3" grpId="0" animBg="1"/>
      <p:bldP spid="25" grpId="0" build="p"/>
      <p:bldP spid="7"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77E92D-0432-E852-7753-0DA726C9B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2E8D5-F074-EB3B-A468-267139BB33FA}"/>
              </a:ext>
            </a:extLst>
          </p:cNvPr>
          <p:cNvSpPr>
            <a:spLocks noGrp="1"/>
          </p:cNvSpPr>
          <p:nvPr>
            <p:ph type="title"/>
          </p:nvPr>
        </p:nvSpPr>
        <p:spPr/>
        <p:txBody>
          <a:bodyPr/>
          <a:lstStyle/>
          <a:p>
            <a:r>
              <a:rPr lang="en-GB" dirty="0"/>
              <a:t>Body – Image</a:t>
            </a:r>
          </a:p>
        </p:txBody>
      </p:sp>
      <p:sp>
        <p:nvSpPr>
          <p:cNvPr id="9" name="TextBox 8">
            <a:extLst>
              <a:ext uri="{FF2B5EF4-FFF2-40B4-BE49-F238E27FC236}">
                <a16:creationId xmlns:a16="http://schemas.microsoft.com/office/drawing/2014/main" id="{9F8FC4B3-93F3-C5F5-620E-E343292CCFCC}"/>
              </a:ext>
            </a:extLst>
          </p:cNvPr>
          <p:cNvSpPr txBox="1"/>
          <p:nvPr/>
        </p:nvSpPr>
        <p:spPr>
          <a:xfrm>
            <a:off x="405981" y="2029678"/>
            <a:ext cx="11380038" cy="3477875"/>
          </a:xfrm>
          <a:prstGeom prst="rect">
            <a:avLst/>
          </a:prstGeom>
          <a:noFill/>
        </p:spPr>
        <p:txBody>
          <a:bodyPr wrap="none" rtlCol="0">
            <a:spAutoFit/>
          </a:bodyPr>
          <a:lstStyle/>
          <a:p>
            <a:r>
              <a:rPr lang="en-US" altLang="en-US" sz="4400" dirty="0">
                <a:solidFill>
                  <a:srgbClr val="A71D5D"/>
                </a:solidFill>
                <a:latin typeface="Consolas" panose="020B0609020204030204" pitchFamily="49" charset="0"/>
              </a:rPr>
              <a:t>&lt;picture&gt;</a:t>
            </a:r>
          </a:p>
          <a:p>
            <a:endParaRPr lang="en-US" altLang="en-US" sz="4400" dirty="0">
              <a:solidFill>
                <a:srgbClr val="A71D5D"/>
              </a:solidFill>
              <a:latin typeface="Consolas" panose="020B0609020204030204" pitchFamily="49" charset="0"/>
            </a:endParaRPr>
          </a:p>
          <a:p>
            <a:r>
              <a:rPr lang="en-US" altLang="en-US" sz="4400" dirty="0">
                <a:solidFill>
                  <a:srgbClr val="A71D5D"/>
                </a:solidFill>
                <a:latin typeface="Consolas" panose="020B0609020204030204" pitchFamily="49" charset="0"/>
              </a:rPr>
              <a:t>&lt;</a:t>
            </a:r>
            <a:r>
              <a:rPr lang="en-US" altLang="en-US" sz="4400" dirty="0" err="1">
                <a:solidFill>
                  <a:srgbClr val="A71D5D"/>
                </a:solidFill>
                <a:latin typeface="Consolas" panose="020B0609020204030204" pitchFamily="49" charset="0"/>
              </a:rPr>
              <a:t>img</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"cat.png"</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alt</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 on mat"</a:t>
            </a:r>
            <a:r>
              <a:rPr lang="en-US" altLang="en-US" sz="4400" dirty="0">
                <a:solidFill>
                  <a:srgbClr val="A71D5D"/>
                </a:solidFill>
                <a:latin typeface="Consolas" panose="020B0609020204030204" pitchFamily="49" charset="0"/>
              </a:rPr>
              <a:t>&gt;</a:t>
            </a:r>
          </a:p>
          <a:p>
            <a:endParaRPr lang="en-US" altLang="en-US" sz="4400" dirty="0">
              <a:solidFill>
                <a:srgbClr val="A71D5D"/>
              </a:solidFill>
              <a:latin typeface="Consolas" panose="020B0609020204030204" pitchFamily="49" charset="0"/>
            </a:endParaRPr>
          </a:p>
          <a:p>
            <a:r>
              <a:rPr lang="en-US" altLang="en-US" sz="4400" dirty="0">
                <a:solidFill>
                  <a:srgbClr val="A71D5D"/>
                </a:solidFill>
                <a:latin typeface="Consolas" panose="020B0609020204030204" pitchFamily="49" charset="0"/>
              </a:rPr>
              <a:t>&lt;/picture&gt;</a:t>
            </a:r>
            <a:endParaRPr lang="en-GB" sz="4400" dirty="0"/>
          </a:p>
        </p:txBody>
      </p:sp>
    </p:spTree>
    <p:extLst>
      <p:ext uri="{BB962C8B-B14F-4D97-AF65-F5344CB8AC3E}">
        <p14:creationId xmlns:p14="http://schemas.microsoft.com/office/powerpoint/2010/main" val="4287617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left)">
                                      <p:cBhvr>
                                        <p:cTn id="12" dur="20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wipe(left)">
                                      <p:cBhvr>
                                        <p:cTn id="17" dur="20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Audio</a:t>
            </a:r>
          </a:p>
        </p:txBody>
      </p:sp>
      <p:sp>
        <p:nvSpPr>
          <p:cNvPr id="9" name="TextBox 8">
            <a:extLst>
              <a:ext uri="{FF2B5EF4-FFF2-40B4-BE49-F238E27FC236}">
                <a16:creationId xmlns:a16="http://schemas.microsoft.com/office/drawing/2014/main" id="{F3B639B4-E5C5-8DD1-DB2C-5DF574EC16F0}"/>
              </a:ext>
            </a:extLst>
          </p:cNvPr>
          <p:cNvSpPr txBox="1"/>
          <p:nvPr/>
        </p:nvSpPr>
        <p:spPr>
          <a:xfrm>
            <a:off x="1338929" y="2553330"/>
            <a:ext cx="9514143" cy="2123658"/>
          </a:xfrm>
          <a:prstGeom prst="rect">
            <a:avLst/>
          </a:prstGeom>
          <a:noFill/>
        </p:spPr>
        <p:txBody>
          <a:bodyPr wrap="none" rtlCol="0">
            <a:spAutoFit/>
          </a:bodyPr>
          <a:lstStyle/>
          <a:p>
            <a:r>
              <a:rPr lang="en-US" altLang="en-US" sz="4400" dirty="0">
                <a:solidFill>
                  <a:srgbClr val="A71D5D"/>
                </a:solidFill>
                <a:latin typeface="Consolas" panose="020B0609020204030204" pitchFamily="49" charset="0"/>
              </a:rPr>
              <a:t>&lt;audio</a:t>
            </a:r>
            <a:r>
              <a:rPr lang="en-US" altLang="en-US" sz="4400" dirty="0">
                <a:solidFill>
                  <a:srgbClr val="000000"/>
                </a:solidFill>
                <a:latin typeface="Consolas" panose="020B0609020204030204" pitchFamily="49" charset="0"/>
              </a:rPr>
              <a:t> controls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"cat.wav"</a:t>
            </a:r>
            <a:r>
              <a:rPr lang="en-US" altLang="en-US" sz="4400" dirty="0">
                <a:solidFill>
                  <a:srgbClr val="A71D5D"/>
                </a:solidFill>
                <a:latin typeface="Consolas" panose="020B0609020204030204" pitchFamily="49" charset="0"/>
              </a:rPr>
              <a:t>&gt;</a:t>
            </a:r>
            <a:endParaRPr lang="en-US" altLang="en-US" sz="4400" dirty="0">
              <a:solidFill>
                <a:srgbClr val="000000"/>
              </a:solidFill>
              <a:latin typeface="Consolas" panose="020B0609020204030204" pitchFamily="49" charset="0"/>
            </a:endParaRPr>
          </a:p>
          <a:p>
            <a:r>
              <a:rPr lang="en-US" altLang="en-US" sz="4400" dirty="0">
                <a:solidFill>
                  <a:srgbClr val="000000"/>
                </a:solidFill>
                <a:latin typeface="Consolas" panose="020B0609020204030204" pitchFamily="49" charset="0"/>
              </a:rPr>
              <a:t>    </a:t>
            </a:r>
            <a:r>
              <a:rPr lang="en-US" altLang="en-US" sz="4400" dirty="0">
                <a:latin typeface="Consolas" panose="020B0609020204030204" pitchFamily="49" charset="0"/>
              </a:rPr>
              <a:t>No audio player available</a:t>
            </a:r>
          </a:p>
          <a:p>
            <a:r>
              <a:rPr lang="en-US" altLang="en-US" sz="4400" dirty="0">
                <a:solidFill>
                  <a:srgbClr val="A71D5D"/>
                </a:solidFill>
                <a:latin typeface="Consolas" panose="020B0609020204030204" pitchFamily="49" charset="0"/>
              </a:rPr>
              <a:t>&lt;/audio&gt;</a:t>
            </a:r>
            <a:endParaRPr lang="en-GB" sz="4400" dirty="0">
              <a:solidFill>
                <a:srgbClr val="A71D5D"/>
              </a:solidFill>
            </a:endParaRPr>
          </a:p>
        </p:txBody>
      </p:sp>
      <p:sp>
        <p:nvSpPr>
          <p:cNvPr id="13" name="Callout: Bent Line with No Border 12">
            <a:extLst>
              <a:ext uri="{FF2B5EF4-FFF2-40B4-BE49-F238E27FC236}">
                <a16:creationId xmlns:a16="http://schemas.microsoft.com/office/drawing/2014/main" id="{9FD08280-246B-F431-CC37-33C0C86742F1}"/>
              </a:ext>
            </a:extLst>
          </p:cNvPr>
          <p:cNvSpPr/>
          <p:nvPr/>
        </p:nvSpPr>
        <p:spPr>
          <a:xfrm flipH="1">
            <a:off x="450962" y="1690688"/>
            <a:ext cx="2817481"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Boolean attribute</a:t>
            </a:r>
          </a:p>
        </p:txBody>
      </p:sp>
      <p:sp>
        <p:nvSpPr>
          <p:cNvPr id="25" name="TextBox 24">
            <a:extLst>
              <a:ext uri="{FF2B5EF4-FFF2-40B4-BE49-F238E27FC236}">
                <a16:creationId xmlns:a16="http://schemas.microsoft.com/office/drawing/2014/main" id="{05F5ADFE-C399-4090-C356-DD81EB05E487}"/>
              </a:ext>
            </a:extLst>
          </p:cNvPr>
          <p:cNvSpPr txBox="1"/>
          <p:nvPr/>
        </p:nvSpPr>
        <p:spPr>
          <a:xfrm>
            <a:off x="2867657" y="5846544"/>
            <a:ext cx="6456704" cy="646331"/>
          </a:xfrm>
          <a:prstGeom prst="rect">
            <a:avLst/>
          </a:prstGeom>
          <a:noFill/>
        </p:spPr>
        <p:txBody>
          <a:bodyPr wrap="none" rtlCol="0">
            <a:spAutoFit/>
          </a:bodyPr>
          <a:lstStyle/>
          <a:p>
            <a:pPr algn="ctr"/>
            <a:r>
              <a:rPr lang="en-GB" sz="3600" dirty="0">
                <a:solidFill>
                  <a:srgbClr val="7030A0"/>
                </a:solidFill>
              </a:rPr>
              <a:t>Boolean attribute </a:t>
            </a:r>
            <a:r>
              <a:rPr lang="en-GB" sz="3600" dirty="0">
                <a:solidFill>
                  <a:srgbClr val="FF0000"/>
                </a:solidFill>
                <a:latin typeface="Consolas" panose="020B0609020204030204" pitchFamily="49" charset="0"/>
              </a:rPr>
              <a:t>TRUE</a:t>
            </a:r>
            <a:r>
              <a:rPr lang="en-GB" sz="3600" dirty="0">
                <a:solidFill>
                  <a:srgbClr val="7030A0"/>
                </a:solidFill>
              </a:rPr>
              <a:t> if present</a:t>
            </a:r>
            <a:endParaRPr lang="en-GB" sz="3600" dirty="0">
              <a:solidFill>
                <a:srgbClr val="7030A0"/>
              </a:solidFill>
              <a:latin typeface="Consolas" panose="020B0609020204030204" pitchFamily="49" charset="0"/>
            </a:endParaRPr>
          </a:p>
        </p:txBody>
      </p:sp>
      <p:sp>
        <p:nvSpPr>
          <p:cNvPr id="3" name="Callout: Bent Line with No Border 2">
            <a:extLst>
              <a:ext uri="{FF2B5EF4-FFF2-40B4-BE49-F238E27FC236}">
                <a16:creationId xmlns:a16="http://schemas.microsoft.com/office/drawing/2014/main" id="{3E3CB916-EC6A-94CC-FEC7-964D87472488}"/>
              </a:ext>
            </a:extLst>
          </p:cNvPr>
          <p:cNvSpPr/>
          <p:nvPr/>
        </p:nvSpPr>
        <p:spPr>
          <a:xfrm>
            <a:off x="6726988" y="4155224"/>
            <a:ext cx="3122558" cy="862642"/>
          </a:xfrm>
          <a:prstGeom prst="callout2">
            <a:avLst>
              <a:gd name="adj1" fmla="val 49217"/>
              <a:gd name="adj2" fmla="val -30"/>
              <a:gd name="adj3" fmla="val 49740"/>
              <a:gd name="adj4" fmla="val -12980"/>
              <a:gd name="adj5" fmla="val -23643"/>
              <a:gd name="adj6" fmla="val -129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Hopefully not seen!</a:t>
            </a:r>
          </a:p>
        </p:txBody>
      </p:sp>
      <p:sp>
        <p:nvSpPr>
          <p:cNvPr id="7" name="Callout: Bent Line with No Border 6">
            <a:extLst>
              <a:ext uri="{FF2B5EF4-FFF2-40B4-BE49-F238E27FC236}">
                <a16:creationId xmlns:a16="http://schemas.microsoft.com/office/drawing/2014/main" id="{4E553067-C61A-4778-9A94-484A2AF5AA51}"/>
              </a:ext>
            </a:extLst>
          </p:cNvPr>
          <p:cNvSpPr/>
          <p:nvPr/>
        </p:nvSpPr>
        <p:spPr>
          <a:xfrm>
            <a:off x="9029050" y="1690688"/>
            <a:ext cx="2414411"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File name</a:t>
            </a:r>
          </a:p>
        </p:txBody>
      </p:sp>
    </p:spTree>
    <p:extLst>
      <p:ext uri="{BB962C8B-B14F-4D97-AF65-F5344CB8AC3E}">
        <p14:creationId xmlns:p14="http://schemas.microsoft.com/office/powerpoint/2010/main" val="385745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1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wipe(left)">
                                      <p:cBhvr>
                                        <p:cTn id="37"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3" grpId="0" animBg="1"/>
      <p:bldP spid="25" grpId="0" build="p"/>
      <p:bldP spid="3"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4CB98A-65E2-54BF-8CF2-2FE7B98E3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5DFC2-D559-4490-9C07-5F6FD9455C25}"/>
              </a:ext>
            </a:extLst>
          </p:cNvPr>
          <p:cNvSpPr>
            <a:spLocks noGrp="1"/>
          </p:cNvSpPr>
          <p:nvPr>
            <p:ph type="title"/>
          </p:nvPr>
        </p:nvSpPr>
        <p:spPr/>
        <p:txBody>
          <a:bodyPr/>
          <a:lstStyle/>
          <a:p>
            <a:r>
              <a:rPr lang="en-GB" dirty="0"/>
              <a:t>Body – Audio</a:t>
            </a:r>
          </a:p>
        </p:txBody>
      </p:sp>
      <p:sp>
        <p:nvSpPr>
          <p:cNvPr id="9" name="TextBox 8">
            <a:extLst>
              <a:ext uri="{FF2B5EF4-FFF2-40B4-BE49-F238E27FC236}">
                <a16:creationId xmlns:a16="http://schemas.microsoft.com/office/drawing/2014/main" id="{4F9E32E5-07F6-2AAB-9FC5-F1D83771553E}"/>
              </a:ext>
            </a:extLst>
          </p:cNvPr>
          <p:cNvSpPr txBox="1"/>
          <p:nvPr/>
        </p:nvSpPr>
        <p:spPr>
          <a:xfrm>
            <a:off x="1338929" y="2553330"/>
            <a:ext cx="9514143" cy="2123658"/>
          </a:xfrm>
          <a:prstGeom prst="rect">
            <a:avLst/>
          </a:prstGeom>
          <a:noFill/>
        </p:spPr>
        <p:txBody>
          <a:bodyPr wrap="none" rtlCol="0">
            <a:spAutoFit/>
          </a:bodyPr>
          <a:lstStyle/>
          <a:p>
            <a:r>
              <a:rPr lang="en-US" altLang="en-US" sz="4400" dirty="0">
                <a:solidFill>
                  <a:srgbClr val="A71D5D"/>
                </a:solidFill>
                <a:latin typeface="Consolas" panose="020B0609020204030204" pitchFamily="49" charset="0"/>
              </a:rPr>
              <a:t>&lt;audio</a:t>
            </a:r>
            <a:r>
              <a:rPr lang="en-US" altLang="en-US" sz="4400" dirty="0">
                <a:solidFill>
                  <a:srgbClr val="000000"/>
                </a:solidFill>
                <a:latin typeface="Consolas" panose="020B0609020204030204" pitchFamily="49" charset="0"/>
              </a:rPr>
              <a:t> controls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"cat.wav"</a:t>
            </a:r>
            <a:r>
              <a:rPr lang="en-US" altLang="en-US" sz="4400" dirty="0">
                <a:solidFill>
                  <a:srgbClr val="A71D5D"/>
                </a:solidFill>
                <a:latin typeface="Consolas" panose="020B0609020204030204" pitchFamily="49" charset="0"/>
              </a:rPr>
              <a:t>&gt;</a:t>
            </a:r>
            <a:br>
              <a:rPr lang="en-US" altLang="en-US" sz="4400" dirty="0">
                <a:solidFill>
                  <a:srgbClr val="000000"/>
                </a:solidFill>
                <a:latin typeface="Consolas" panose="020B0609020204030204" pitchFamily="49" charset="0"/>
              </a:rPr>
            </a:br>
            <a:r>
              <a:rPr lang="en-US" altLang="en-US" sz="4400" dirty="0">
                <a:solidFill>
                  <a:srgbClr val="000000"/>
                </a:solidFill>
                <a:latin typeface="Consolas" panose="020B0609020204030204" pitchFamily="49" charset="0"/>
              </a:rPr>
              <a:t>    </a:t>
            </a:r>
            <a:r>
              <a:rPr lang="en-US" altLang="en-US" sz="4400" dirty="0">
                <a:solidFill>
                  <a:srgbClr val="183691"/>
                </a:solidFill>
                <a:latin typeface="Consolas" panose="020B0609020204030204" pitchFamily="49" charset="0"/>
              </a:rPr>
              <a:t>No audio player available</a:t>
            </a:r>
            <a:br>
              <a:rPr lang="en-US" altLang="en-US" sz="4400" dirty="0">
                <a:solidFill>
                  <a:srgbClr val="000000"/>
                </a:solidFill>
                <a:latin typeface="Consolas" panose="020B0609020204030204" pitchFamily="49" charset="0"/>
              </a:rPr>
            </a:br>
            <a:r>
              <a:rPr lang="en-US" altLang="en-US" sz="4400" dirty="0">
                <a:solidFill>
                  <a:srgbClr val="A71D5D"/>
                </a:solidFill>
                <a:latin typeface="Consolas" panose="020B0609020204030204" pitchFamily="49" charset="0"/>
              </a:rPr>
              <a:t>&lt;/audio&gt;</a:t>
            </a:r>
            <a:endParaRPr lang="en-GB" sz="4400" dirty="0">
              <a:solidFill>
                <a:srgbClr val="A71D5D"/>
              </a:solidFill>
            </a:endParaRPr>
          </a:p>
        </p:txBody>
      </p:sp>
    </p:spTree>
    <p:extLst>
      <p:ext uri="{BB962C8B-B14F-4D97-AF65-F5344CB8AC3E}">
        <p14:creationId xmlns:p14="http://schemas.microsoft.com/office/powerpoint/2010/main" val="30105996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Video</a:t>
            </a:r>
          </a:p>
        </p:txBody>
      </p:sp>
      <p:sp>
        <p:nvSpPr>
          <p:cNvPr id="9" name="TextBox 8">
            <a:extLst>
              <a:ext uri="{FF2B5EF4-FFF2-40B4-BE49-F238E27FC236}">
                <a16:creationId xmlns:a16="http://schemas.microsoft.com/office/drawing/2014/main" id="{F3B639B4-E5C5-8DD1-DB2C-5DF574EC16F0}"/>
              </a:ext>
            </a:extLst>
          </p:cNvPr>
          <p:cNvSpPr txBox="1"/>
          <p:nvPr/>
        </p:nvSpPr>
        <p:spPr>
          <a:xfrm>
            <a:off x="1338929" y="2553330"/>
            <a:ext cx="9514143" cy="2123658"/>
          </a:xfrm>
          <a:prstGeom prst="rect">
            <a:avLst/>
          </a:prstGeom>
          <a:noFill/>
        </p:spPr>
        <p:txBody>
          <a:bodyPr wrap="none" rtlCol="0">
            <a:spAutoFit/>
          </a:bodyPr>
          <a:lstStyle/>
          <a:p>
            <a:r>
              <a:rPr lang="en-GB" sz="4400" dirty="0">
                <a:solidFill>
                  <a:srgbClr val="A71D5D"/>
                </a:solidFill>
                <a:latin typeface="Consolas" panose="020B0609020204030204" pitchFamily="49" charset="0"/>
              </a:rPr>
              <a:t>&lt;video</a:t>
            </a:r>
            <a:r>
              <a:rPr lang="en-GB" sz="4400" dirty="0">
                <a:solidFill>
                  <a:srgbClr val="0000FF"/>
                </a:solidFill>
                <a:latin typeface="Consolas" panose="020B0609020204030204" pitchFamily="49" charset="0"/>
              </a:rPr>
              <a:t> </a:t>
            </a:r>
            <a:r>
              <a:rPr lang="en-GB" sz="4400" dirty="0">
                <a:latin typeface="Consolas" panose="020B0609020204030204" pitchFamily="49" charset="0"/>
              </a:rPr>
              <a:t>controls</a:t>
            </a:r>
            <a:r>
              <a:rPr lang="en-GB" sz="4400" dirty="0">
                <a:solidFill>
                  <a:srgbClr val="FF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"cat.mp4"</a:t>
            </a:r>
            <a:r>
              <a:rPr lang="en-GB" sz="4400" dirty="0">
                <a:solidFill>
                  <a:srgbClr val="A71D5D"/>
                </a:solidFill>
                <a:latin typeface="Consolas" panose="020B0609020204030204" pitchFamily="49" charset="0"/>
              </a:rPr>
              <a:t>&gt;</a:t>
            </a:r>
          </a:p>
          <a:p>
            <a:r>
              <a:rPr lang="en-GB" sz="4400" dirty="0">
                <a:latin typeface="Consolas" panose="020B0609020204030204" pitchFamily="49" charset="0"/>
              </a:rPr>
              <a:t>    No video player available</a:t>
            </a:r>
          </a:p>
          <a:p>
            <a:r>
              <a:rPr lang="en-GB" sz="4400" dirty="0">
                <a:solidFill>
                  <a:srgbClr val="A71D5D"/>
                </a:solidFill>
                <a:latin typeface="Consolas" panose="020B0609020204030204" pitchFamily="49" charset="0"/>
              </a:rPr>
              <a:t>&lt;/video&gt;</a:t>
            </a:r>
            <a:endParaRPr lang="en-GB" sz="4400" dirty="0">
              <a:solidFill>
                <a:srgbClr val="A71D5D"/>
              </a:solidFill>
            </a:endParaRPr>
          </a:p>
        </p:txBody>
      </p:sp>
      <p:sp>
        <p:nvSpPr>
          <p:cNvPr id="13" name="Callout: Bent Line with No Border 12">
            <a:extLst>
              <a:ext uri="{FF2B5EF4-FFF2-40B4-BE49-F238E27FC236}">
                <a16:creationId xmlns:a16="http://schemas.microsoft.com/office/drawing/2014/main" id="{9FD08280-246B-F431-CC37-33C0C86742F1}"/>
              </a:ext>
            </a:extLst>
          </p:cNvPr>
          <p:cNvSpPr/>
          <p:nvPr/>
        </p:nvSpPr>
        <p:spPr>
          <a:xfrm flipH="1">
            <a:off x="454675" y="1690688"/>
            <a:ext cx="2817481"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Boolean attribute</a:t>
            </a:r>
          </a:p>
        </p:txBody>
      </p:sp>
      <p:sp>
        <p:nvSpPr>
          <p:cNvPr id="25" name="TextBox 24">
            <a:extLst>
              <a:ext uri="{FF2B5EF4-FFF2-40B4-BE49-F238E27FC236}">
                <a16:creationId xmlns:a16="http://schemas.microsoft.com/office/drawing/2014/main" id="{05F5ADFE-C399-4090-C356-DD81EB05E487}"/>
              </a:ext>
            </a:extLst>
          </p:cNvPr>
          <p:cNvSpPr txBox="1"/>
          <p:nvPr/>
        </p:nvSpPr>
        <p:spPr>
          <a:xfrm>
            <a:off x="2867657" y="5846544"/>
            <a:ext cx="6456704" cy="646331"/>
          </a:xfrm>
          <a:prstGeom prst="rect">
            <a:avLst/>
          </a:prstGeom>
          <a:noFill/>
        </p:spPr>
        <p:txBody>
          <a:bodyPr wrap="none" rtlCol="0">
            <a:spAutoFit/>
          </a:bodyPr>
          <a:lstStyle/>
          <a:p>
            <a:pPr algn="ctr"/>
            <a:r>
              <a:rPr lang="en-GB" sz="3600" dirty="0">
                <a:solidFill>
                  <a:srgbClr val="7030A0"/>
                </a:solidFill>
              </a:rPr>
              <a:t>Boolean attribute </a:t>
            </a:r>
            <a:r>
              <a:rPr lang="en-GB" sz="3600" dirty="0">
                <a:solidFill>
                  <a:srgbClr val="FF0000"/>
                </a:solidFill>
                <a:latin typeface="Consolas" panose="020B0609020204030204" pitchFamily="49" charset="0"/>
              </a:rPr>
              <a:t>TRUE</a:t>
            </a:r>
            <a:r>
              <a:rPr lang="en-GB" sz="3600" dirty="0">
                <a:solidFill>
                  <a:srgbClr val="7030A0"/>
                </a:solidFill>
              </a:rPr>
              <a:t> if present</a:t>
            </a:r>
            <a:endParaRPr lang="en-GB" sz="3600" dirty="0">
              <a:solidFill>
                <a:srgbClr val="7030A0"/>
              </a:solidFill>
              <a:latin typeface="Consolas" panose="020B0609020204030204" pitchFamily="49" charset="0"/>
            </a:endParaRPr>
          </a:p>
        </p:txBody>
      </p:sp>
      <p:sp>
        <p:nvSpPr>
          <p:cNvPr id="3" name="Callout: Bent Line with No Border 2">
            <a:extLst>
              <a:ext uri="{FF2B5EF4-FFF2-40B4-BE49-F238E27FC236}">
                <a16:creationId xmlns:a16="http://schemas.microsoft.com/office/drawing/2014/main" id="{3E3CB916-EC6A-94CC-FEC7-964D87472488}"/>
              </a:ext>
            </a:extLst>
          </p:cNvPr>
          <p:cNvSpPr/>
          <p:nvPr/>
        </p:nvSpPr>
        <p:spPr>
          <a:xfrm>
            <a:off x="6721789" y="4155224"/>
            <a:ext cx="3017627" cy="862642"/>
          </a:xfrm>
          <a:prstGeom prst="callout2">
            <a:avLst>
              <a:gd name="adj1" fmla="val 49217"/>
              <a:gd name="adj2" fmla="val -30"/>
              <a:gd name="adj3" fmla="val 49740"/>
              <a:gd name="adj4" fmla="val -12980"/>
              <a:gd name="adj5" fmla="val -23643"/>
              <a:gd name="adj6" fmla="val -1292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Hopefully not seen</a:t>
            </a:r>
          </a:p>
        </p:txBody>
      </p:sp>
      <p:sp>
        <p:nvSpPr>
          <p:cNvPr id="7" name="Callout: Bent Line with No Border 6">
            <a:extLst>
              <a:ext uri="{FF2B5EF4-FFF2-40B4-BE49-F238E27FC236}">
                <a16:creationId xmlns:a16="http://schemas.microsoft.com/office/drawing/2014/main" id="{4E553067-C61A-4778-9A94-484A2AF5AA51}"/>
              </a:ext>
            </a:extLst>
          </p:cNvPr>
          <p:cNvSpPr/>
          <p:nvPr/>
        </p:nvSpPr>
        <p:spPr>
          <a:xfrm>
            <a:off x="9029050" y="1690688"/>
            <a:ext cx="2414411"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File name</a:t>
            </a:r>
          </a:p>
        </p:txBody>
      </p:sp>
    </p:spTree>
    <p:extLst>
      <p:ext uri="{BB962C8B-B14F-4D97-AF65-F5344CB8AC3E}">
        <p14:creationId xmlns:p14="http://schemas.microsoft.com/office/powerpoint/2010/main" val="58252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1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1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wipe(left)">
                                      <p:cBhvr>
                                        <p:cTn id="37"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3" grpId="0" animBg="1"/>
      <p:bldP spid="25" grpId="0" build="p"/>
      <p:bldP spid="3"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67CF93-0D4B-C8C0-E650-D85202FB5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D43C2-8278-0E24-F1F9-755486FDC3EE}"/>
              </a:ext>
            </a:extLst>
          </p:cNvPr>
          <p:cNvSpPr>
            <a:spLocks noGrp="1"/>
          </p:cNvSpPr>
          <p:nvPr>
            <p:ph type="title"/>
          </p:nvPr>
        </p:nvSpPr>
        <p:spPr/>
        <p:txBody>
          <a:bodyPr/>
          <a:lstStyle/>
          <a:p>
            <a:r>
              <a:rPr lang="en-GB" dirty="0"/>
              <a:t>Body – Video</a:t>
            </a:r>
          </a:p>
        </p:txBody>
      </p:sp>
      <p:sp>
        <p:nvSpPr>
          <p:cNvPr id="9" name="TextBox 8">
            <a:extLst>
              <a:ext uri="{FF2B5EF4-FFF2-40B4-BE49-F238E27FC236}">
                <a16:creationId xmlns:a16="http://schemas.microsoft.com/office/drawing/2014/main" id="{37023E8A-C83E-2BAB-A5E9-CFABAF46E5DD}"/>
              </a:ext>
            </a:extLst>
          </p:cNvPr>
          <p:cNvSpPr txBox="1"/>
          <p:nvPr/>
        </p:nvSpPr>
        <p:spPr>
          <a:xfrm>
            <a:off x="1338929" y="2553330"/>
            <a:ext cx="9514143" cy="2123658"/>
          </a:xfrm>
          <a:prstGeom prst="rect">
            <a:avLst/>
          </a:prstGeom>
          <a:noFill/>
        </p:spPr>
        <p:txBody>
          <a:bodyPr wrap="none" rtlCol="0">
            <a:spAutoFit/>
          </a:bodyPr>
          <a:lstStyle/>
          <a:p>
            <a:r>
              <a:rPr lang="en-GB" sz="4400" dirty="0">
                <a:solidFill>
                  <a:srgbClr val="A71D5D"/>
                </a:solidFill>
                <a:latin typeface="Consolas" panose="020B0609020204030204" pitchFamily="49" charset="0"/>
              </a:rPr>
              <a:t>&lt;video</a:t>
            </a:r>
            <a:r>
              <a:rPr lang="en-GB" sz="4400" dirty="0">
                <a:solidFill>
                  <a:srgbClr val="0000FF"/>
                </a:solidFill>
                <a:latin typeface="Consolas" panose="020B0609020204030204" pitchFamily="49" charset="0"/>
              </a:rPr>
              <a:t> </a:t>
            </a:r>
            <a:r>
              <a:rPr lang="en-GB" sz="4400" dirty="0">
                <a:latin typeface="Consolas" panose="020B0609020204030204" pitchFamily="49" charset="0"/>
              </a:rPr>
              <a:t>controls</a:t>
            </a:r>
            <a:r>
              <a:rPr lang="en-GB" sz="4400" dirty="0">
                <a:solidFill>
                  <a:srgbClr val="FF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"cat.mp4"</a:t>
            </a:r>
            <a:r>
              <a:rPr lang="en-GB" sz="4400" dirty="0">
                <a:solidFill>
                  <a:srgbClr val="A71D5D"/>
                </a:solidFill>
                <a:latin typeface="Consolas" panose="020B0609020204030204" pitchFamily="49" charset="0"/>
              </a:rPr>
              <a:t>&gt;</a:t>
            </a:r>
          </a:p>
          <a:p>
            <a:r>
              <a:rPr lang="en-GB" sz="4400" dirty="0">
                <a:latin typeface="Consolas" panose="020B0609020204030204" pitchFamily="49" charset="0"/>
              </a:rPr>
              <a:t>    No video player available</a:t>
            </a:r>
          </a:p>
          <a:p>
            <a:r>
              <a:rPr lang="en-GB" sz="4400" dirty="0">
                <a:solidFill>
                  <a:srgbClr val="A71D5D"/>
                </a:solidFill>
                <a:latin typeface="Consolas" panose="020B0609020204030204" pitchFamily="49" charset="0"/>
              </a:rPr>
              <a:t>&lt;/video&gt;</a:t>
            </a:r>
            <a:endParaRPr lang="en-GB" sz="4400" dirty="0">
              <a:solidFill>
                <a:srgbClr val="A71D5D"/>
              </a:solidFill>
            </a:endParaRPr>
          </a:p>
        </p:txBody>
      </p:sp>
    </p:spTree>
    <p:extLst>
      <p:ext uri="{BB962C8B-B14F-4D97-AF65-F5344CB8AC3E}">
        <p14:creationId xmlns:p14="http://schemas.microsoft.com/office/powerpoint/2010/main" val="11382507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lnSpcReduction="10000"/>
          </a:bodyPr>
          <a:lstStyle/>
          <a:p>
            <a:r>
              <a:rPr lang="en-GB" sz="3600" dirty="0"/>
              <a:t>Describe, exemplify and implement HTML code:</a:t>
            </a:r>
          </a:p>
          <a:p>
            <a:pPr lvl="1"/>
            <a:r>
              <a:rPr lang="en-GB" sz="3200" dirty="0"/>
              <a:t>link</a:t>
            </a:r>
          </a:p>
          <a:p>
            <a:pPr lvl="1"/>
            <a:r>
              <a:rPr lang="en-GB" sz="3200" dirty="0"/>
              <a:t>anchor</a:t>
            </a:r>
          </a:p>
          <a:p>
            <a:r>
              <a:rPr lang="en-GB" sz="3600" dirty="0"/>
              <a:t>Describe and implement hyperlinks (internal and external), relative and absolute addressing.</a:t>
            </a:r>
          </a:p>
          <a:p>
            <a:r>
              <a:rPr lang="en-GB" sz="3600" dirty="0"/>
              <a:t>Read and explain code that makes use of the above HTML.</a:t>
            </a:r>
            <a:endParaRPr lang="en-GB" dirty="0"/>
          </a:p>
        </p:txBody>
      </p:sp>
    </p:spTree>
    <p:extLst>
      <p:ext uri="{BB962C8B-B14F-4D97-AF65-F5344CB8AC3E}">
        <p14:creationId xmlns:p14="http://schemas.microsoft.com/office/powerpoint/2010/main" val="291789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20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Anchor (Hyperlink) – Inline Example</a:t>
            </a:r>
          </a:p>
        </p:txBody>
      </p:sp>
      <p:sp>
        <p:nvSpPr>
          <p:cNvPr id="9" name="TextBox 8">
            <a:extLst>
              <a:ext uri="{FF2B5EF4-FFF2-40B4-BE49-F238E27FC236}">
                <a16:creationId xmlns:a16="http://schemas.microsoft.com/office/drawing/2014/main" id="{F3B639B4-E5C5-8DD1-DB2C-5DF574EC16F0}"/>
              </a:ext>
            </a:extLst>
          </p:cNvPr>
          <p:cNvSpPr txBox="1"/>
          <p:nvPr/>
        </p:nvSpPr>
        <p:spPr>
          <a:xfrm>
            <a:off x="836768" y="2491439"/>
            <a:ext cx="10447091" cy="769441"/>
          </a:xfrm>
          <a:prstGeom prst="rect">
            <a:avLst/>
          </a:prstGeom>
          <a:noFill/>
        </p:spPr>
        <p:txBody>
          <a:bodyPr wrap="none" rtlCol="0">
            <a:spAutoFit/>
          </a:bodyPr>
          <a:lstStyle/>
          <a:p>
            <a:pPr lvl="0" eaLnBrk="0" fontAlgn="base" hangingPunct="0">
              <a:spcBef>
                <a:spcPct val="0"/>
              </a:spcBef>
              <a:spcAft>
                <a:spcPct val="0"/>
              </a:spcAft>
            </a:pPr>
            <a:r>
              <a:rPr lang="en-US" altLang="en-US" sz="4400" dirty="0">
                <a:solidFill>
                  <a:srgbClr val="A71D5D"/>
                </a:solidFill>
                <a:latin typeface="Consolas" panose="020B0609020204030204" pitchFamily="49" charset="0"/>
              </a:rPr>
              <a:t>&lt;a</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href</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"cat.html"</a:t>
            </a:r>
            <a:r>
              <a:rPr lang="en-US" altLang="en-US" sz="4400" dirty="0">
                <a:solidFill>
                  <a:srgbClr val="A71D5D"/>
                </a:solidFill>
                <a:latin typeface="Consolas" panose="020B0609020204030204" pitchFamily="49" charset="0"/>
              </a:rPr>
              <a:t>&gt;</a:t>
            </a:r>
            <a:r>
              <a:rPr lang="en-US" altLang="en-US" sz="4400" dirty="0">
                <a:solidFill>
                  <a:srgbClr val="000000"/>
                </a:solidFill>
                <a:latin typeface="Consolas" panose="020B0609020204030204" pitchFamily="49" charset="0"/>
              </a:rPr>
              <a:t>Click here</a:t>
            </a:r>
            <a:r>
              <a:rPr lang="en-US" altLang="en-US" sz="4400" dirty="0">
                <a:solidFill>
                  <a:srgbClr val="A71D5D"/>
                </a:solidFill>
                <a:latin typeface="Consolas" panose="020B0609020204030204" pitchFamily="49" charset="0"/>
              </a:rPr>
              <a:t>&lt;/a&gt;</a:t>
            </a:r>
            <a:endParaRPr lang="en-US" altLang="en-US" sz="6000" dirty="0">
              <a:latin typeface="Arial" panose="020B0604020202020204" pitchFamily="34" charset="0"/>
            </a:endParaRPr>
          </a:p>
        </p:txBody>
      </p:sp>
      <p:sp>
        <p:nvSpPr>
          <p:cNvPr id="3" name="Callout: Bent Line with No Border 2">
            <a:extLst>
              <a:ext uri="{FF2B5EF4-FFF2-40B4-BE49-F238E27FC236}">
                <a16:creationId xmlns:a16="http://schemas.microsoft.com/office/drawing/2014/main" id="{792D4BAF-FFFF-18CA-9398-B042225845BE}"/>
              </a:ext>
            </a:extLst>
          </p:cNvPr>
          <p:cNvSpPr/>
          <p:nvPr/>
        </p:nvSpPr>
        <p:spPr>
          <a:xfrm flipH="1">
            <a:off x="672348" y="3560784"/>
            <a:ext cx="3663337"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Link destination – URL</a:t>
            </a:r>
          </a:p>
        </p:txBody>
      </p:sp>
      <p:sp>
        <p:nvSpPr>
          <p:cNvPr id="4" name="Callout: Bent Line with No Border 3">
            <a:extLst>
              <a:ext uri="{FF2B5EF4-FFF2-40B4-BE49-F238E27FC236}">
                <a16:creationId xmlns:a16="http://schemas.microsoft.com/office/drawing/2014/main" id="{2749EB41-301D-1D28-D4C1-8A77734207BE}"/>
              </a:ext>
            </a:extLst>
          </p:cNvPr>
          <p:cNvSpPr/>
          <p:nvPr/>
        </p:nvSpPr>
        <p:spPr>
          <a:xfrm flipH="1">
            <a:off x="4979456" y="4183150"/>
            <a:ext cx="3084099" cy="862642"/>
          </a:xfrm>
          <a:prstGeom prst="callout2">
            <a:avLst>
              <a:gd name="adj1" fmla="val 49217"/>
              <a:gd name="adj2" fmla="val -30"/>
              <a:gd name="adj3" fmla="val 49740"/>
              <a:gd name="adj4" fmla="val -12980"/>
              <a:gd name="adj5" fmla="val -104719"/>
              <a:gd name="adj6" fmla="val -1292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Displayed on page</a:t>
            </a:r>
          </a:p>
        </p:txBody>
      </p:sp>
      <p:sp>
        <p:nvSpPr>
          <p:cNvPr id="6" name="TextBox 5">
            <a:extLst>
              <a:ext uri="{FF2B5EF4-FFF2-40B4-BE49-F238E27FC236}">
                <a16:creationId xmlns:a16="http://schemas.microsoft.com/office/drawing/2014/main" id="{AF347FD5-EC45-46A4-93D2-A9780619285C}"/>
              </a:ext>
            </a:extLst>
          </p:cNvPr>
          <p:cNvSpPr txBox="1"/>
          <p:nvPr/>
        </p:nvSpPr>
        <p:spPr>
          <a:xfrm>
            <a:off x="836768" y="5846544"/>
            <a:ext cx="10518522" cy="646331"/>
          </a:xfrm>
          <a:prstGeom prst="rect">
            <a:avLst/>
          </a:prstGeom>
          <a:noFill/>
        </p:spPr>
        <p:txBody>
          <a:bodyPr wrap="none" rtlCol="0">
            <a:spAutoFit/>
          </a:bodyPr>
          <a:lstStyle/>
          <a:p>
            <a:pPr algn="ctr"/>
            <a:r>
              <a:rPr lang="en-GB" sz="3600" dirty="0">
                <a:solidFill>
                  <a:srgbClr val="7030A0"/>
                </a:solidFill>
              </a:rPr>
              <a:t>An anchor element is often a </a:t>
            </a:r>
            <a:r>
              <a:rPr lang="en-GB" sz="3600" i="1" dirty="0">
                <a:solidFill>
                  <a:srgbClr val="FF0000"/>
                </a:solidFill>
              </a:rPr>
              <a:t>child</a:t>
            </a:r>
            <a:r>
              <a:rPr lang="en-GB" sz="3600" dirty="0">
                <a:solidFill>
                  <a:srgbClr val="7030A0"/>
                </a:solidFill>
              </a:rPr>
              <a:t> of a </a:t>
            </a:r>
            <a:r>
              <a:rPr lang="en-GB" sz="3600" dirty="0">
                <a:solidFill>
                  <a:srgbClr val="A71D5D"/>
                </a:solidFill>
                <a:latin typeface="Consolas" panose="020B0609020204030204" pitchFamily="49" charset="0"/>
              </a:rPr>
              <a:t>p</a:t>
            </a:r>
            <a:r>
              <a:rPr lang="en-GB" sz="3600" dirty="0">
                <a:solidFill>
                  <a:srgbClr val="7030A0"/>
                </a:solidFill>
              </a:rPr>
              <a:t> or </a:t>
            </a:r>
            <a:r>
              <a:rPr lang="en-GB" sz="3600" dirty="0">
                <a:solidFill>
                  <a:srgbClr val="A71D5D"/>
                </a:solidFill>
                <a:latin typeface="Consolas" panose="020B0609020204030204" pitchFamily="49" charset="0"/>
              </a:rPr>
              <a:t>li</a:t>
            </a:r>
            <a:r>
              <a:rPr lang="en-GB" sz="3600" dirty="0">
                <a:solidFill>
                  <a:srgbClr val="7030A0"/>
                </a:solidFill>
              </a:rPr>
              <a:t>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66807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3" grpId="0" animBg="1"/>
      <p:bldP spid="4" grpId="0" animBg="1"/>
      <p:bldP spid="6"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Anchor (Hyperlink) – Inline Example</a:t>
            </a:r>
          </a:p>
        </p:txBody>
      </p:sp>
      <p:sp>
        <p:nvSpPr>
          <p:cNvPr id="9" name="TextBox 8">
            <a:extLst>
              <a:ext uri="{FF2B5EF4-FFF2-40B4-BE49-F238E27FC236}">
                <a16:creationId xmlns:a16="http://schemas.microsoft.com/office/drawing/2014/main" id="{F3B639B4-E5C5-8DD1-DB2C-5DF574EC16F0}"/>
              </a:ext>
            </a:extLst>
          </p:cNvPr>
          <p:cNvSpPr txBox="1"/>
          <p:nvPr/>
        </p:nvSpPr>
        <p:spPr>
          <a:xfrm>
            <a:off x="836768" y="2491439"/>
            <a:ext cx="10447091" cy="769441"/>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a:ln>
                  <a:noFill/>
                </a:ln>
                <a:solidFill>
                  <a:srgbClr val="A71D5D"/>
                </a:solidFill>
                <a:effectLst/>
                <a:latin typeface="Consolas" panose="020B0609020204030204" pitchFamily="49" charset="0"/>
              </a:rPr>
              <a:t>&lt;a</a:t>
            </a:r>
            <a:r>
              <a:rPr kumimoji="0" lang="en-US" altLang="en-US" sz="4400" b="0" i="0" u="none" strike="noStrike" cap="none" normalizeH="0" baseline="0" dirty="0">
                <a:ln>
                  <a:noFill/>
                </a:ln>
                <a:solidFill>
                  <a:srgbClr val="000000"/>
                </a:solidFill>
                <a:effectLst/>
                <a:latin typeface="Consolas" panose="020B0609020204030204" pitchFamily="49" charset="0"/>
              </a:rPr>
              <a:t> </a:t>
            </a:r>
            <a:r>
              <a:rPr kumimoji="0" lang="en-US" altLang="en-US" sz="4400" b="0" i="0" u="none" strike="noStrike" cap="none" normalizeH="0" baseline="0" dirty="0" err="1">
                <a:ln>
                  <a:noFill/>
                </a:ln>
                <a:solidFill>
                  <a:srgbClr val="0086B3"/>
                </a:solidFill>
                <a:effectLst/>
                <a:latin typeface="Consolas" panose="020B0609020204030204" pitchFamily="49" charset="0"/>
              </a:rPr>
              <a:t>href</a:t>
            </a:r>
            <a:r>
              <a:rPr kumimoji="0" lang="en-US" altLang="en-US" sz="4400" b="0" i="0" u="none" strike="noStrike" cap="none" normalizeH="0" baseline="0" dirty="0">
                <a:ln>
                  <a:noFill/>
                </a:ln>
                <a:solidFill>
                  <a:srgbClr val="000000"/>
                </a:solidFill>
                <a:effectLst/>
                <a:latin typeface="Consolas" panose="020B0609020204030204" pitchFamily="49" charset="0"/>
              </a:rPr>
              <a:t>=</a:t>
            </a:r>
            <a:r>
              <a:rPr kumimoji="0" lang="en-US" altLang="en-US" sz="4400" b="0" i="0" u="none" strike="noStrike" cap="none" normalizeH="0" baseline="0" dirty="0">
                <a:ln>
                  <a:noFill/>
                </a:ln>
                <a:solidFill>
                  <a:srgbClr val="183691"/>
                </a:solidFill>
                <a:effectLst/>
                <a:latin typeface="Consolas" panose="020B0609020204030204" pitchFamily="49" charset="0"/>
              </a:rPr>
              <a:t>"cat.html"</a:t>
            </a:r>
            <a:r>
              <a:rPr kumimoji="0" lang="en-US" altLang="en-US" sz="4400" b="0" i="0" u="none" strike="noStrike" cap="none" normalizeH="0" baseline="0" dirty="0">
                <a:ln>
                  <a:noFill/>
                </a:ln>
                <a:solidFill>
                  <a:srgbClr val="A71D5D"/>
                </a:solidFill>
                <a:effectLst/>
                <a:latin typeface="Consolas" panose="020B0609020204030204" pitchFamily="49" charset="0"/>
              </a:rPr>
              <a:t>&gt;</a:t>
            </a:r>
            <a:r>
              <a:rPr kumimoji="0" lang="en-US" altLang="en-US" sz="4400" b="0" i="0" u="none" strike="noStrike" cap="none" normalizeH="0" baseline="0" dirty="0">
                <a:ln>
                  <a:noFill/>
                </a:ln>
                <a:solidFill>
                  <a:srgbClr val="000000"/>
                </a:solidFill>
                <a:effectLst/>
                <a:latin typeface="Consolas" panose="020B0609020204030204" pitchFamily="49" charset="0"/>
              </a:rPr>
              <a:t>Click here</a:t>
            </a:r>
            <a:r>
              <a:rPr kumimoji="0" lang="en-US" altLang="en-US" sz="4400" b="0" i="0" u="none" strike="noStrike" cap="none" normalizeH="0" baseline="0" dirty="0">
                <a:ln>
                  <a:noFill/>
                </a:ln>
                <a:solidFill>
                  <a:srgbClr val="A71D5D"/>
                </a:solidFill>
                <a:effectLst/>
                <a:latin typeface="Consolas" panose="020B0609020204030204" pitchFamily="49" charset="0"/>
              </a:rPr>
              <a:t>&lt;/a&gt;</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72B33EA-DB72-CE4B-42F3-78D0B6AD1A0B}"/>
              </a:ext>
            </a:extLst>
          </p:cNvPr>
          <p:cNvSpPr txBox="1"/>
          <p:nvPr/>
        </p:nvSpPr>
        <p:spPr>
          <a:xfrm>
            <a:off x="300565" y="5846544"/>
            <a:ext cx="11590930" cy="646331"/>
          </a:xfrm>
          <a:prstGeom prst="rect">
            <a:avLst/>
          </a:prstGeom>
          <a:noFill/>
        </p:spPr>
        <p:txBody>
          <a:bodyPr wrap="none" rtlCol="0">
            <a:spAutoFit/>
          </a:bodyPr>
          <a:lstStyle/>
          <a:p>
            <a:pPr algn="ctr"/>
            <a:r>
              <a:rPr lang="en-GB" sz="3600" dirty="0">
                <a:solidFill>
                  <a:srgbClr val="7030A0"/>
                </a:solidFill>
              </a:rPr>
              <a:t>An anchor element is often a </a:t>
            </a:r>
            <a:r>
              <a:rPr lang="en-GB" sz="3600" i="1" dirty="0">
                <a:solidFill>
                  <a:srgbClr val="FF0000"/>
                </a:solidFill>
              </a:rPr>
              <a:t>          </a:t>
            </a:r>
            <a:r>
              <a:rPr lang="en-GB" sz="3600" dirty="0">
                <a:solidFill>
                  <a:srgbClr val="7030A0"/>
                </a:solidFill>
              </a:rPr>
              <a:t> of a </a:t>
            </a:r>
            <a:r>
              <a:rPr lang="en-GB" sz="3600" dirty="0">
                <a:solidFill>
                  <a:srgbClr val="A71D5D"/>
                </a:solidFill>
                <a:latin typeface="Consolas" panose="020B0609020204030204" pitchFamily="49" charset="0"/>
              </a:rPr>
              <a:t>   </a:t>
            </a:r>
            <a:r>
              <a:rPr lang="en-GB" sz="3600" dirty="0">
                <a:solidFill>
                  <a:srgbClr val="7030A0"/>
                </a:solidFill>
              </a:rPr>
              <a:t> or </a:t>
            </a:r>
            <a:r>
              <a:rPr lang="en-GB" sz="3600" dirty="0">
                <a:solidFill>
                  <a:srgbClr val="A71D5D"/>
                </a:solidFill>
                <a:latin typeface="Consolas" panose="020B0609020204030204" pitchFamily="49" charset="0"/>
              </a:rPr>
              <a:t>    </a:t>
            </a:r>
            <a:r>
              <a:rPr lang="en-GB" sz="3600" dirty="0">
                <a:solidFill>
                  <a:srgbClr val="7030A0"/>
                </a:solidFill>
              </a:rPr>
              <a:t>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88082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Anchor (Hyperlink) – Block Example</a:t>
            </a:r>
          </a:p>
        </p:txBody>
      </p:sp>
      <p:sp>
        <p:nvSpPr>
          <p:cNvPr id="9" name="TextBox 8">
            <a:extLst>
              <a:ext uri="{FF2B5EF4-FFF2-40B4-BE49-F238E27FC236}">
                <a16:creationId xmlns:a16="http://schemas.microsoft.com/office/drawing/2014/main" id="{F3B639B4-E5C5-8DD1-DB2C-5DF574EC16F0}"/>
              </a:ext>
            </a:extLst>
          </p:cNvPr>
          <p:cNvSpPr txBox="1"/>
          <p:nvPr/>
        </p:nvSpPr>
        <p:spPr>
          <a:xfrm>
            <a:off x="452545" y="2829680"/>
            <a:ext cx="11286909" cy="1446550"/>
          </a:xfrm>
          <a:prstGeom prst="rect">
            <a:avLst/>
          </a:prstGeom>
          <a:noFill/>
        </p:spPr>
        <p:txBody>
          <a:bodyPr wrap="square" rtlCol="0">
            <a:spAutoFit/>
          </a:bodyPr>
          <a:lstStyle/>
          <a:p>
            <a:pPr lvl="0" eaLnBrk="0" fontAlgn="base" hangingPunct="0">
              <a:spcBef>
                <a:spcPct val="0"/>
              </a:spcBef>
              <a:spcAft>
                <a:spcPct val="0"/>
              </a:spcAft>
            </a:pPr>
            <a:r>
              <a:rPr lang="en-US" altLang="en-US" sz="4400" dirty="0">
                <a:solidFill>
                  <a:srgbClr val="A71D5D"/>
                </a:solidFill>
                <a:latin typeface="Consolas" panose="020B0609020204030204" pitchFamily="49" charset="0"/>
              </a:rPr>
              <a:t>&lt;p&gt;</a:t>
            </a:r>
            <a:r>
              <a:rPr lang="en-US" altLang="en-US" sz="4400" dirty="0">
                <a:solidFill>
                  <a:srgbClr val="000000"/>
                </a:solidFill>
                <a:latin typeface="Consolas" panose="020B0609020204030204" pitchFamily="49" charset="0"/>
              </a:rPr>
              <a:t>Click</a:t>
            </a:r>
            <a:r>
              <a:rPr lang="en-US" altLang="en-US" sz="4400" dirty="0">
                <a:solidFill>
                  <a:srgbClr val="A71D5D"/>
                </a:solidFill>
                <a:latin typeface="Consolas" panose="020B0609020204030204" pitchFamily="49" charset="0"/>
              </a:rPr>
              <a:t> &lt;a</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href</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"cat.html"</a:t>
            </a:r>
            <a:r>
              <a:rPr lang="en-US" altLang="en-US" sz="4400" dirty="0">
                <a:solidFill>
                  <a:srgbClr val="A71D5D"/>
                </a:solidFill>
                <a:latin typeface="Consolas" panose="020B0609020204030204" pitchFamily="49" charset="0"/>
              </a:rPr>
              <a:t>&gt;</a:t>
            </a:r>
            <a:r>
              <a:rPr lang="en-US" altLang="en-US" sz="4400" dirty="0">
                <a:solidFill>
                  <a:srgbClr val="000000"/>
                </a:solidFill>
                <a:latin typeface="Consolas" panose="020B0609020204030204" pitchFamily="49" charset="0"/>
              </a:rPr>
              <a:t>here</a:t>
            </a:r>
            <a:r>
              <a:rPr lang="en-US" altLang="en-US" sz="4400" dirty="0">
                <a:solidFill>
                  <a:srgbClr val="A71D5D"/>
                </a:solidFill>
                <a:latin typeface="Consolas" panose="020B0609020204030204" pitchFamily="49" charset="0"/>
              </a:rPr>
              <a:t>&lt;/a&gt;</a:t>
            </a:r>
          </a:p>
          <a:p>
            <a:pPr lvl="0" eaLnBrk="0" fontAlgn="base" hangingPunct="0">
              <a:spcBef>
                <a:spcPct val="0"/>
              </a:spcBef>
              <a:spcAft>
                <a:spcPct val="0"/>
              </a:spcAft>
            </a:pPr>
            <a:r>
              <a:rPr lang="en-US" altLang="en-US" sz="4400" dirty="0">
                <a:solidFill>
                  <a:srgbClr val="A71D5D"/>
                </a:solidFill>
                <a:latin typeface="Consolas" panose="020B0609020204030204" pitchFamily="49" charset="0"/>
              </a:rPr>
              <a:t> </a:t>
            </a:r>
            <a:r>
              <a:rPr lang="en-US" altLang="en-US" sz="4400" dirty="0">
                <a:solidFill>
                  <a:srgbClr val="000000"/>
                </a:solidFill>
                <a:latin typeface="Consolas" panose="020B0609020204030204" pitchFamily="49" charset="0"/>
              </a:rPr>
              <a:t>to see cats!</a:t>
            </a:r>
            <a:r>
              <a:rPr lang="en-US" altLang="en-US" sz="4400" dirty="0">
                <a:solidFill>
                  <a:srgbClr val="A71D5D"/>
                </a:solidFill>
                <a:latin typeface="Consolas" panose="020B0609020204030204" pitchFamily="49" charset="0"/>
              </a:rPr>
              <a:t>&lt;/p&gt;</a:t>
            </a:r>
            <a:endParaRPr lang="en-US" altLang="en-US" sz="6000" dirty="0">
              <a:latin typeface="Arial" panose="020B0604020202020204" pitchFamily="34" charset="0"/>
            </a:endParaRPr>
          </a:p>
        </p:txBody>
      </p:sp>
      <p:sp>
        <p:nvSpPr>
          <p:cNvPr id="3" name="Callout: Bent Line with No Border 2">
            <a:extLst>
              <a:ext uri="{FF2B5EF4-FFF2-40B4-BE49-F238E27FC236}">
                <a16:creationId xmlns:a16="http://schemas.microsoft.com/office/drawing/2014/main" id="{792D4BAF-FFFF-18CA-9398-B042225845BE}"/>
              </a:ext>
            </a:extLst>
          </p:cNvPr>
          <p:cNvSpPr/>
          <p:nvPr/>
        </p:nvSpPr>
        <p:spPr>
          <a:xfrm>
            <a:off x="1621038" y="1826383"/>
            <a:ext cx="2463281" cy="862642"/>
          </a:xfrm>
          <a:prstGeom prst="callout2">
            <a:avLst>
              <a:gd name="adj1" fmla="val 50321"/>
              <a:gd name="adj2" fmla="val 163"/>
              <a:gd name="adj3" fmla="val 50844"/>
              <a:gd name="adj4" fmla="val -9439"/>
              <a:gd name="adj5" fmla="val 137645"/>
              <a:gd name="adj6" fmla="val -2180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Parent element</a:t>
            </a:r>
          </a:p>
        </p:txBody>
      </p:sp>
      <p:sp>
        <p:nvSpPr>
          <p:cNvPr id="6" name="TextBox 5">
            <a:extLst>
              <a:ext uri="{FF2B5EF4-FFF2-40B4-BE49-F238E27FC236}">
                <a16:creationId xmlns:a16="http://schemas.microsoft.com/office/drawing/2014/main" id="{AF347FD5-EC45-46A4-93D2-A9780619285C}"/>
              </a:ext>
            </a:extLst>
          </p:cNvPr>
          <p:cNvSpPr txBox="1"/>
          <p:nvPr/>
        </p:nvSpPr>
        <p:spPr>
          <a:xfrm>
            <a:off x="836768" y="5846544"/>
            <a:ext cx="10518522" cy="646331"/>
          </a:xfrm>
          <a:prstGeom prst="rect">
            <a:avLst/>
          </a:prstGeom>
          <a:noFill/>
        </p:spPr>
        <p:txBody>
          <a:bodyPr wrap="none" rtlCol="0">
            <a:spAutoFit/>
          </a:bodyPr>
          <a:lstStyle/>
          <a:p>
            <a:pPr algn="ctr"/>
            <a:r>
              <a:rPr lang="en-GB" sz="3600" dirty="0">
                <a:solidFill>
                  <a:srgbClr val="7030A0"/>
                </a:solidFill>
              </a:rPr>
              <a:t>An anchor element is often a </a:t>
            </a:r>
            <a:r>
              <a:rPr lang="en-GB" sz="3600" i="1" dirty="0">
                <a:solidFill>
                  <a:srgbClr val="FF0000"/>
                </a:solidFill>
              </a:rPr>
              <a:t>child</a:t>
            </a:r>
            <a:r>
              <a:rPr lang="en-GB" sz="3600" dirty="0">
                <a:solidFill>
                  <a:srgbClr val="7030A0"/>
                </a:solidFill>
              </a:rPr>
              <a:t> of a </a:t>
            </a:r>
            <a:r>
              <a:rPr lang="en-GB" sz="3600" dirty="0">
                <a:solidFill>
                  <a:srgbClr val="A71D5D"/>
                </a:solidFill>
                <a:latin typeface="Consolas" panose="020B0609020204030204" pitchFamily="49" charset="0"/>
              </a:rPr>
              <a:t>p</a:t>
            </a:r>
            <a:r>
              <a:rPr lang="en-GB" sz="3600" dirty="0">
                <a:solidFill>
                  <a:srgbClr val="7030A0"/>
                </a:solidFill>
              </a:rPr>
              <a:t> or </a:t>
            </a:r>
            <a:r>
              <a:rPr lang="en-GB" sz="3600" dirty="0">
                <a:solidFill>
                  <a:srgbClr val="A71D5D"/>
                </a:solidFill>
                <a:latin typeface="Consolas" panose="020B0609020204030204" pitchFamily="49" charset="0"/>
              </a:rPr>
              <a:t>li</a:t>
            </a:r>
            <a:r>
              <a:rPr lang="en-GB" sz="3600" dirty="0">
                <a:solidFill>
                  <a:srgbClr val="7030A0"/>
                </a:solidFill>
              </a:rPr>
              <a:t> element</a:t>
            </a:r>
            <a:endParaRPr lang="en-GB" sz="3600" dirty="0">
              <a:solidFill>
                <a:srgbClr val="7030A0"/>
              </a:solidFill>
              <a:latin typeface="Consolas" panose="020B0609020204030204" pitchFamily="49" charset="0"/>
            </a:endParaRPr>
          </a:p>
        </p:txBody>
      </p:sp>
      <p:sp>
        <p:nvSpPr>
          <p:cNvPr id="7" name="Callout: Bent Line with No Border 6">
            <a:extLst>
              <a:ext uri="{FF2B5EF4-FFF2-40B4-BE49-F238E27FC236}">
                <a16:creationId xmlns:a16="http://schemas.microsoft.com/office/drawing/2014/main" id="{E509B8F2-A1EA-77FE-D4CF-81DBA3F111E2}"/>
              </a:ext>
            </a:extLst>
          </p:cNvPr>
          <p:cNvSpPr/>
          <p:nvPr/>
        </p:nvSpPr>
        <p:spPr>
          <a:xfrm>
            <a:off x="4478538" y="1826383"/>
            <a:ext cx="2463281" cy="862642"/>
          </a:xfrm>
          <a:prstGeom prst="callout2">
            <a:avLst>
              <a:gd name="adj1" fmla="val 49493"/>
              <a:gd name="adj2" fmla="val -30"/>
              <a:gd name="adj3" fmla="val 50016"/>
              <a:gd name="adj4" fmla="val -9729"/>
              <a:gd name="adj5" fmla="val 137645"/>
              <a:gd name="adj6" fmla="val -2180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Child element</a:t>
            </a:r>
          </a:p>
        </p:txBody>
      </p:sp>
    </p:spTree>
    <p:extLst>
      <p:ext uri="{BB962C8B-B14F-4D97-AF65-F5344CB8AC3E}">
        <p14:creationId xmlns:p14="http://schemas.microsoft.com/office/powerpoint/2010/main" val="3027323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2000"/>
                                        <p:tgtEl>
                                          <p:spTgt spid="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1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wipe(left)">
                                      <p:cBhvr>
                                        <p:cTn id="26" dur="2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3" grpId="0" animBg="1"/>
      <p:bldP spid="6" grpId="0" build="p"/>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B37474-741E-3797-1477-CC053B4BA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DF588-00FF-A1E1-3965-B5F20F928B0B}"/>
              </a:ext>
            </a:extLst>
          </p:cNvPr>
          <p:cNvSpPr>
            <a:spLocks noGrp="1"/>
          </p:cNvSpPr>
          <p:nvPr>
            <p:ph type="title"/>
          </p:nvPr>
        </p:nvSpPr>
        <p:spPr/>
        <p:txBody>
          <a:bodyPr/>
          <a:lstStyle/>
          <a:p>
            <a:r>
              <a:rPr lang="en-GB" dirty="0"/>
              <a:t>Anchor (Hyperlink) – Block Example</a:t>
            </a:r>
          </a:p>
        </p:txBody>
      </p:sp>
      <p:sp>
        <p:nvSpPr>
          <p:cNvPr id="9" name="TextBox 8">
            <a:extLst>
              <a:ext uri="{FF2B5EF4-FFF2-40B4-BE49-F238E27FC236}">
                <a16:creationId xmlns:a16="http://schemas.microsoft.com/office/drawing/2014/main" id="{D60E685D-A59E-21C3-9483-3C4B71631B80}"/>
              </a:ext>
            </a:extLst>
          </p:cNvPr>
          <p:cNvSpPr txBox="1"/>
          <p:nvPr/>
        </p:nvSpPr>
        <p:spPr>
          <a:xfrm>
            <a:off x="452545" y="2829680"/>
            <a:ext cx="11286909" cy="1446550"/>
          </a:xfrm>
          <a:prstGeom prst="rect">
            <a:avLst/>
          </a:prstGeom>
          <a:noFill/>
        </p:spPr>
        <p:txBody>
          <a:bodyPr wrap="square" rtlCol="0">
            <a:spAutoFit/>
          </a:bodyPr>
          <a:lstStyle/>
          <a:p>
            <a:pPr lvl="0" eaLnBrk="0" fontAlgn="base" hangingPunct="0">
              <a:spcBef>
                <a:spcPct val="0"/>
              </a:spcBef>
              <a:spcAft>
                <a:spcPct val="0"/>
              </a:spcAft>
            </a:pPr>
            <a:r>
              <a:rPr lang="en-US" altLang="en-US" sz="4400" dirty="0">
                <a:solidFill>
                  <a:srgbClr val="A71D5D"/>
                </a:solidFill>
                <a:latin typeface="Consolas" panose="020B0609020204030204" pitchFamily="49" charset="0"/>
              </a:rPr>
              <a:t>&lt;p&gt;</a:t>
            </a:r>
            <a:r>
              <a:rPr lang="en-US" altLang="en-US" sz="4400" dirty="0">
                <a:solidFill>
                  <a:srgbClr val="000000"/>
                </a:solidFill>
                <a:latin typeface="Consolas" panose="020B0609020204030204" pitchFamily="49" charset="0"/>
              </a:rPr>
              <a:t>Click</a:t>
            </a:r>
            <a:r>
              <a:rPr lang="en-US" altLang="en-US" sz="4400" dirty="0">
                <a:solidFill>
                  <a:srgbClr val="A71D5D"/>
                </a:solidFill>
                <a:latin typeface="Consolas" panose="020B0609020204030204" pitchFamily="49" charset="0"/>
              </a:rPr>
              <a:t> &lt;a</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href</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"cat.html"</a:t>
            </a:r>
            <a:r>
              <a:rPr lang="en-US" altLang="en-US" sz="4400" dirty="0">
                <a:solidFill>
                  <a:srgbClr val="A71D5D"/>
                </a:solidFill>
                <a:latin typeface="Consolas" panose="020B0609020204030204" pitchFamily="49" charset="0"/>
              </a:rPr>
              <a:t>&gt;</a:t>
            </a:r>
            <a:r>
              <a:rPr lang="en-US" altLang="en-US" sz="4400" dirty="0">
                <a:solidFill>
                  <a:srgbClr val="000000"/>
                </a:solidFill>
                <a:latin typeface="Consolas" panose="020B0609020204030204" pitchFamily="49" charset="0"/>
              </a:rPr>
              <a:t>here</a:t>
            </a:r>
            <a:r>
              <a:rPr lang="en-US" altLang="en-US" sz="4400" dirty="0">
                <a:solidFill>
                  <a:srgbClr val="A71D5D"/>
                </a:solidFill>
                <a:latin typeface="Consolas" panose="020B0609020204030204" pitchFamily="49" charset="0"/>
              </a:rPr>
              <a:t>&lt;/a&gt;</a:t>
            </a:r>
          </a:p>
          <a:p>
            <a:pPr lvl="0" eaLnBrk="0" fontAlgn="base" hangingPunct="0">
              <a:spcBef>
                <a:spcPct val="0"/>
              </a:spcBef>
              <a:spcAft>
                <a:spcPct val="0"/>
              </a:spcAft>
            </a:pPr>
            <a:r>
              <a:rPr lang="en-US" altLang="en-US" sz="4400" dirty="0">
                <a:solidFill>
                  <a:srgbClr val="A71D5D"/>
                </a:solidFill>
                <a:latin typeface="Consolas" panose="020B0609020204030204" pitchFamily="49" charset="0"/>
              </a:rPr>
              <a:t> </a:t>
            </a:r>
            <a:r>
              <a:rPr lang="en-US" altLang="en-US" sz="4400" dirty="0">
                <a:solidFill>
                  <a:srgbClr val="000000"/>
                </a:solidFill>
                <a:latin typeface="Consolas" panose="020B0609020204030204" pitchFamily="49" charset="0"/>
              </a:rPr>
              <a:t>to see cats!</a:t>
            </a:r>
            <a:r>
              <a:rPr lang="en-US" altLang="en-US" sz="4400" dirty="0">
                <a:solidFill>
                  <a:srgbClr val="A71D5D"/>
                </a:solidFill>
                <a:latin typeface="Consolas" panose="020B0609020204030204" pitchFamily="49" charset="0"/>
              </a:rPr>
              <a:t>&lt;/p&gt;</a:t>
            </a:r>
            <a:endParaRPr lang="en-US" altLang="en-US" sz="6000" dirty="0">
              <a:latin typeface="Arial" panose="020B0604020202020204" pitchFamily="34" charset="0"/>
            </a:endParaRPr>
          </a:p>
        </p:txBody>
      </p:sp>
      <p:sp>
        <p:nvSpPr>
          <p:cNvPr id="4" name="TextBox 3">
            <a:extLst>
              <a:ext uri="{FF2B5EF4-FFF2-40B4-BE49-F238E27FC236}">
                <a16:creationId xmlns:a16="http://schemas.microsoft.com/office/drawing/2014/main" id="{EC43E1CD-FD80-30FE-114E-FBCC7060A95A}"/>
              </a:ext>
            </a:extLst>
          </p:cNvPr>
          <p:cNvSpPr txBox="1"/>
          <p:nvPr/>
        </p:nvSpPr>
        <p:spPr>
          <a:xfrm>
            <a:off x="300565" y="5846544"/>
            <a:ext cx="11590930" cy="646331"/>
          </a:xfrm>
          <a:prstGeom prst="rect">
            <a:avLst/>
          </a:prstGeom>
          <a:noFill/>
        </p:spPr>
        <p:txBody>
          <a:bodyPr wrap="none" rtlCol="0">
            <a:spAutoFit/>
          </a:bodyPr>
          <a:lstStyle/>
          <a:p>
            <a:pPr algn="ctr"/>
            <a:r>
              <a:rPr lang="en-GB" sz="3600" dirty="0">
                <a:solidFill>
                  <a:srgbClr val="7030A0"/>
                </a:solidFill>
              </a:rPr>
              <a:t>An anchor element is often a </a:t>
            </a:r>
            <a:r>
              <a:rPr lang="en-GB" sz="3600" i="1" dirty="0">
                <a:solidFill>
                  <a:srgbClr val="FF0000"/>
                </a:solidFill>
              </a:rPr>
              <a:t>          </a:t>
            </a:r>
            <a:r>
              <a:rPr lang="en-GB" sz="3600" dirty="0">
                <a:solidFill>
                  <a:srgbClr val="7030A0"/>
                </a:solidFill>
              </a:rPr>
              <a:t> of a </a:t>
            </a:r>
            <a:r>
              <a:rPr lang="en-GB" sz="3600" dirty="0">
                <a:solidFill>
                  <a:srgbClr val="A71D5D"/>
                </a:solidFill>
                <a:latin typeface="Consolas" panose="020B0609020204030204" pitchFamily="49" charset="0"/>
              </a:rPr>
              <a:t>   </a:t>
            </a:r>
            <a:r>
              <a:rPr lang="en-GB" sz="3600" dirty="0">
                <a:solidFill>
                  <a:srgbClr val="7030A0"/>
                </a:solidFill>
              </a:rPr>
              <a:t> or </a:t>
            </a:r>
            <a:r>
              <a:rPr lang="en-GB" sz="3600" dirty="0">
                <a:solidFill>
                  <a:srgbClr val="A71D5D"/>
                </a:solidFill>
                <a:latin typeface="Consolas" panose="020B0609020204030204" pitchFamily="49" charset="0"/>
              </a:rPr>
              <a:t>    </a:t>
            </a:r>
            <a:r>
              <a:rPr lang="en-GB" sz="3600" dirty="0">
                <a:solidFill>
                  <a:srgbClr val="7030A0"/>
                </a:solidFill>
              </a:rPr>
              <a:t>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51028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20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Uniform Resource Locators (URLs)</a:t>
            </a:r>
          </a:p>
        </p:txBody>
      </p:sp>
      <p:sp>
        <p:nvSpPr>
          <p:cNvPr id="9" name="TextBox 8">
            <a:extLst>
              <a:ext uri="{FF2B5EF4-FFF2-40B4-BE49-F238E27FC236}">
                <a16:creationId xmlns:a16="http://schemas.microsoft.com/office/drawing/2014/main" id="{F3B639B4-E5C5-8DD1-DB2C-5DF574EC16F0}"/>
              </a:ext>
            </a:extLst>
          </p:cNvPr>
          <p:cNvSpPr txBox="1"/>
          <p:nvPr/>
        </p:nvSpPr>
        <p:spPr>
          <a:xfrm>
            <a:off x="2554806" y="2177195"/>
            <a:ext cx="7082388" cy="769441"/>
          </a:xfrm>
          <a:prstGeom prst="rect">
            <a:avLst/>
          </a:prstGeom>
          <a:noFill/>
        </p:spPr>
        <p:txBody>
          <a:bodyPr wrap="none" rtlCol="0">
            <a:spAutoFit/>
          </a:bodyPr>
          <a:lstStyle/>
          <a:p>
            <a:r>
              <a:rPr lang="en-US" altLang="en-US" sz="4400" dirty="0">
                <a:solidFill>
                  <a:srgbClr val="7030A0"/>
                </a:solidFill>
                <a:latin typeface="Consolas" panose="020B0609020204030204" pitchFamily="49" charset="0"/>
              </a:rPr>
              <a:t>protocol</a:t>
            </a:r>
            <a:r>
              <a:rPr lang="en-US" altLang="en-US" sz="4400" dirty="0">
                <a:solidFill>
                  <a:srgbClr val="333333"/>
                </a:solidFill>
                <a:latin typeface="Consolas" panose="020B0609020204030204" pitchFamily="49" charset="0"/>
              </a:rPr>
              <a:t>://</a:t>
            </a:r>
            <a:r>
              <a:rPr lang="en-US" altLang="en-US" sz="4400" dirty="0">
                <a:solidFill>
                  <a:srgbClr val="0000FF"/>
                </a:solidFill>
                <a:latin typeface="Consolas" panose="020B0609020204030204" pitchFamily="49" charset="0"/>
              </a:rPr>
              <a:t>domain</a:t>
            </a:r>
            <a:r>
              <a:rPr lang="en-US" altLang="en-US" sz="4400" dirty="0">
                <a:solidFill>
                  <a:srgbClr val="333333"/>
                </a:solidFill>
                <a:latin typeface="Consolas" panose="020B0609020204030204" pitchFamily="49" charset="0"/>
              </a:rPr>
              <a:t>/</a:t>
            </a:r>
            <a:r>
              <a:rPr lang="en-US" altLang="en-US" sz="4400" dirty="0">
                <a:solidFill>
                  <a:srgbClr val="FF0000"/>
                </a:solidFill>
                <a:latin typeface="Consolas" panose="020B0609020204030204" pitchFamily="49" charset="0"/>
              </a:rPr>
              <a:t>path</a:t>
            </a:r>
            <a:r>
              <a:rPr lang="en-US" altLang="en-US" sz="800" dirty="0">
                <a:latin typeface="Consolas" panose="020B0609020204030204" pitchFamily="49" charset="0"/>
              </a:rPr>
              <a:t> </a:t>
            </a:r>
            <a:endParaRPr lang="en-US" altLang="en-US" sz="8000" dirty="0">
              <a:latin typeface="Consolas" panose="020B0609020204030204" pitchFamily="49" charset="0"/>
            </a:endParaRPr>
          </a:p>
        </p:txBody>
      </p:sp>
      <p:sp>
        <p:nvSpPr>
          <p:cNvPr id="3" name="Callout: Bent Line with No Border 2">
            <a:extLst>
              <a:ext uri="{FF2B5EF4-FFF2-40B4-BE49-F238E27FC236}">
                <a16:creationId xmlns:a16="http://schemas.microsoft.com/office/drawing/2014/main" id="{792D4BAF-FFFF-18CA-9398-B042225845BE}"/>
              </a:ext>
            </a:extLst>
          </p:cNvPr>
          <p:cNvSpPr/>
          <p:nvPr/>
        </p:nvSpPr>
        <p:spPr>
          <a:xfrm flipH="1">
            <a:off x="410136" y="4209019"/>
            <a:ext cx="1500430"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Protocol</a:t>
            </a:r>
          </a:p>
        </p:txBody>
      </p:sp>
      <p:sp>
        <p:nvSpPr>
          <p:cNvPr id="6" name="TextBox 5">
            <a:extLst>
              <a:ext uri="{FF2B5EF4-FFF2-40B4-BE49-F238E27FC236}">
                <a16:creationId xmlns:a16="http://schemas.microsoft.com/office/drawing/2014/main" id="{AF347FD5-EC45-46A4-93D2-A9780619285C}"/>
              </a:ext>
            </a:extLst>
          </p:cNvPr>
          <p:cNvSpPr txBox="1"/>
          <p:nvPr/>
        </p:nvSpPr>
        <p:spPr>
          <a:xfrm>
            <a:off x="2475782" y="5846544"/>
            <a:ext cx="7240508" cy="646331"/>
          </a:xfrm>
          <a:prstGeom prst="rect">
            <a:avLst/>
          </a:prstGeom>
          <a:noFill/>
        </p:spPr>
        <p:txBody>
          <a:bodyPr wrap="none" rtlCol="0">
            <a:spAutoFit/>
          </a:bodyPr>
          <a:lstStyle/>
          <a:p>
            <a:pPr algn="ctr"/>
            <a:r>
              <a:rPr lang="en-GB" sz="3600" dirty="0">
                <a:solidFill>
                  <a:srgbClr val="7030A0"/>
                </a:solidFill>
              </a:rPr>
              <a:t>Absolute address – Between websites</a:t>
            </a:r>
            <a:endParaRPr lang="en-GB" sz="3600" dirty="0">
              <a:solidFill>
                <a:srgbClr val="7030A0"/>
              </a:solidFill>
              <a:latin typeface="Consolas" panose="020B0609020204030204" pitchFamily="49" charset="0"/>
            </a:endParaRPr>
          </a:p>
        </p:txBody>
      </p:sp>
      <p:sp>
        <p:nvSpPr>
          <p:cNvPr id="10" name="Rectangle 3">
            <a:extLst>
              <a:ext uri="{FF2B5EF4-FFF2-40B4-BE49-F238E27FC236}">
                <a16:creationId xmlns:a16="http://schemas.microsoft.com/office/drawing/2014/main" id="{673B4FFB-1B72-1EFB-80BB-52AF09F48846}"/>
              </a:ext>
            </a:extLst>
          </p:cNvPr>
          <p:cNvSpPr>
            <a:spLocks noChangeArrowheads="1"/>
          </p:cNvSpPr>
          <p:nvPr/>
        </p:nvSpPr>
        <p:spPr bwMode="auto">
          <a:xfrm>
            <a:off x="0" y="9975"/>
            <a:ext cx="65" cy="4372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21D6020-4B73-D6F2-FA4B-E6BCC25A75DE}"/>
              </a:ext>
            </a:extLst>
          </p:cNvPr>
          <p:cNvSpPr txBox="1"/>
          <p:nvPr/>
        </p:nvSpPr>
        <p:spPr>
          <a:xfrm>
            <a:off x="1243885" y="3191155"/>
            <a:ext cx="10447091" cy="769441"/>
          </a:xfrm>
          <a:prstGeom prst="rect">
            <a:avLst/>
          </a:prstGeom>
          <a:noFill/>
        </p:spPr>
        <p:txBody>
          <a:bodyPr wrap="none" rtlCol="0">
            <a:spAutoFit/>
          </a:bodyPr>
          <a:lstStyle/>
          <a:p>
            <a:r>
              <a:rPr lang="en-US" altLang="en-US" sz="4400" dirty="0">
                <a:solidFill>
                  <a:srgbClr val="7030A0"/>
                </a:solidFill>
                <a:latin typeface="Consolas" panose="020B0609020204030204" pitchFamily="49" charset="0"/>
              </a:rPr>
              <a:t>https</a:t>
            </a:r>
            <a:r>
              <a:rPr lang="en-US" altLang="en-US" sz="4400" dirty="0">
                <a:latin typeface="Consolas" panose="020B0609020204030204" pitchFamily="49" charset="0"/>
              </a:rPr>
              <a:t>://</a:t>
            </a:r>
            <a:r>
              <a:rPr lang="en-US" altLang="en-US" sz="4400" dirty="0">
                <a:solidFill>
                  <a:srgbClr val="0000FF"/>
                </a:solidFill>
                <a:latin typeface="Consolas" panose="020B0609020204030204" pitchFamily="49" charset="0"/>
              </a:rPr>
              <a:t>outlook.office.com</a:t>
            </a:r>
            <a:r>
              <a:rPr lang="en-US" altLang="en-US" sz="4400" dirty="0">
                <a:latin typeface="Consolas" panose="020B0609020204030204" pitchFamily="49" charset="0"/>
              </a:rPr>
              <a:t>/</a:t>
            </a:r>
            <a:r>
              <a:rPr lang="en-US" altLang="en-US" sz="4400" dirty="0">
                <a:solidFill>
                  <a:srgbClr val="FF0000"/>
                </a:solidFill>
                <a:latin typeface="Consolas" panose="020B0609020204030204" pitchFamily="49" charset="0"/>
              </a:rPr>
              <a:t>mail</a:t>
            </a:r>
            <a:r>
              <a:rPr lang="en-US" altLang="en-US" sz="4400" dirty="0">
                <a:latin typeface="Consolas" panose="020B0609020204030204" pitchFamily="49" charset="0"/>
              </a:rPr>
              <a:t>/</a:t>
            </a:r>
          </a:p>
        </p:txBody>
      </p:sp>
      <p:sp>
        <p:nvSpPr>
          <p:cNvPr id="5" name="Callout: Bent Line with No Border 4">
            <a:extLst>
              <a:ext uri="{FF2B5EF4-FFF2-40B4-BE49-F238E27FC236}">
                <a16:creationId xmlns:a16="http://schemas.microsoft.com/office/drawing/2014/main" id="{87A36CE8-AA17-91FB-5DD2-89AF701F87AA}"/>
              </a:ext>
            </a:extLst>
          </p:cNvPr>
          <p:cNvSpPr/>
          <p:nvPr/>
        </p:nvSpPr>
        <p:spPr>
          <a:xfrm flipH="1">
            <a:off x="4771394" y="4209019"/>
            <a:ext cx="1500430"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Domain</a:t>
            </a:r>
          </a:p>
        </p:txBody>
      </p:sp>
      <p:sp>
        <p:nvSpPr>
          <p:cNvPr id="7" name="Callout: Bent Line with No Border 6">
            <a:extLst>
              <a:ext uri="{FF2B5EF4-FFF2-40B4-BE49-F238E27FC236}">
                <a16:creationId xmlns:a16="http://schemas.microsoft.com/office/drawing/2014/main" id="{F85842D0-0D10-EF49-CBEE-D31D656B2D03}"/>
              </a:ext>
            </a:extLst>
          </p:cNvPr>
          <p:cNvSpPr/>
          <p:nvPr/>
        </p:nvSpPr>
        <p:spPr>
          <a:xfrm flipH="1">
            <a:off x="8588117" y="4209019"/>
            <a:ext cx="1500430"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Path</a:t>
            </a:r>
          </a:p>
        </p:txBody>
      </p:sp>
    </p:spTree>
    <p:extLst>
      <p:ext uri="{BB962C8B-B14F-4D97-AF65-F5344CB8AC3E}">
        <p14:creationId xmlns:p14="http://schemas.microsoft.com/office/powerpoint/2010/main" val="2605186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left)">
                                      <p:cBhvr>
                                        <p:cTn id="12" dur="30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left)">
                                      <p:cBhvr>
                                        <p:cTn id="32"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3" grpId="0" animBg="1"/>
      <p:bldP spid="6" grpId="0" build="p"/>
      <p:bldP spid="11" grpId="0" build="p"/>
      <p:bldP spid="5"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Uniform Resource Locators (URLs)</a:t>
            </a:r>
          </a:p>
        </p:txBody>
      </p:sp>
      <p:sp>
        <p:nvSpPr>
          <p:cNvPr id="9" name="TextBox 8">
            <a:extLst>
              <a:ext uri="{FF2B5EF4-FFF2-40B4-BE49-F238E27FC236}">
                <a16:creationId xmlns:a16="http://schemas.microsoft.com/office/drawing/2014/main" id="{F3B639B4-E5C5-8DD1-DB2C-5DF574EC16F0}"/>
              </a:ext>
            </a:extLst>
          </p:cNvPr>
          <p:cNvSpPr txBox="1"/>
          <p:nvPr/>
        </p:nvSpPr>
        <p:spPr>
          <a:xfrm>
            <a:off x="2554806" y="2177195"/>
            <a:ext cx="7082388" cy="769441"/>
          </a:xfrm>
          <a:prstGeom prst="rect">
            <a:avLst/>
          </a:prstGeom>
          <a:noFill/>
        </p:spPr>
        <p:txBody>
          <a:bodyPr wrap="none" rtlCol="0">
            <a:spAutoFit/>
          </a:bodyPr>
          <a:lstStyle/>
          <a:p>
            <a:r>
              <a:rPr lang="en-US" altLang="en-US" sz="4400" dirty="0">
                <a:solidFill>
                  <a:srgbClr val="7030A0"/>
                </a:solidFill>
                <a:latin typeface="Consolas" panose="020B0609020204030204" pitchFamily="49" charset="0"/>
              </a:rPr>
              <a:t>protocol</a:t>
            </a:r>
            <a:r>
              <a:rPr lang="en-US" altLang="en-US" sz="4400" dirty="0">
                <a:solidFill>
                  <a:srgbClr val="333333"/>
                </a:solidFill>
                <a:latin typeface="Consolas" panose="020B0609020204030204" pitchFamily="49" charset="0"/>
              </a:rPr>
              <a:t>://</a:t>
            </a:r>
            <a:r>
              <a:rPr lang="en-US" altLang="en-US" sz="4400" dirty="0">
                <a:solidFill>
                  <a:srgbClr val="0000FF"/>
                </a:solidFill>
                <a:latin typeface="Consolas" panose="020B0609020204030204" pitchFamily="49" charset="0"/>
              </a:rPr>
              <a:t>domain</a:t>
            </a:r>
            <a:r>
              <a:rPr lang="en-US" altLang="en-US" sz="4400" dirty="0">
                <a:solidFill>
                  <a:srgbClr val="333333"/>
                </a:solidFill>
                <a:latin typeface="Consolas" panose="020B0609020204030204" pitchFamily="49" charset="0"/>
              </a:rPr>
              <a:t>/</a:t>
            </a:r>
            <a:r>
              <a:rPr lang="en-US" altLang="en-US" sz="4400" dirty="0">
                <a:solidFill>
                  <a:srgbClr val="FF0000"/>
                </a:solidFill>
                <a:latin typeface="Consolas" panose="020B0609020204030204" pitchFamily="49" charset="0"/>
              </a:rPr>
              <a:t>path</a:t>
            </a:r>
            <a:r>
              <a:rPr lang="en-US" altLang="en-US" sz="800" dirty="0">
                <a:latin typeface="Consolas" panose="020B0609020204030204" pitchFamily="49" charset="0"/>
              </a:rPr>
              <a:t> </a:t>
            </a:r>
            <a:endParaRPr lang="en-US" altLang="en-US" sz="8000" dirty="0">
              <a:latin typeface="Consolas" panose="020B0609020204030204" pitchFamily="49" charset="0"/>
            </a:endParaRPr>
          </a:p>
        </p:txBody>
      </p:sp>
      <p:sp>
        <p:nvSpPr>
          <p:cNvPr id="10" name="Rectangle 3">
            <a:extLst>
              <a:ext uri="{FF2B5EF4-FFF2-40B4-BE49-F238E27FC236}">
                <a16:creationId xmlns:a16="http://schemas.microsoft.com/office/drawing/2014/main" id="{673B4FFB-1B72-1EFB-80BB-52AF09F48846}"/>
              </a:ext>
            </a:extLst>
          </p:cNvPr>
          <p:cNvSpPr>
            <a:spLocks noChangeArrowheads="1"/>
          </p:cNvSpPr>
          <p:nvPr/>
        </p:nvSpPr>
        <p:spPr bwMode="auto">
          <a:xfrm>
            <a:off x="0" y="9975"/>
            <a:ext cx="65" cy="4372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21D6020-4B73-D6F2-FA4B-E6BCC25A75DE}"/>
              </a:ext>
            </a:extLst>
          </p:cNvPr>
          <p:cNvSpPr txBox="1"/>
          <p:nvPr/>
        </p:nvSpPr>
        <p:spPr>
          <a:xfrm>
            <a:off x="1243885" y="3191155"/>
            <a:ext cx="10447091" cy="769441"/>
          </a:xfrm>
          <a:prstGeom prst="rect">
            <a:avLst/>
          </a:prstGeom>
          <a:noFill/>
        </p:spPr>
        <p:txBody>
          <a:bodyPr wrap="none" rtlCol="0">
            <a:spAutoFit/>
          </a:bodyPr>
          <a:lstStyle/>
          <a:p>
            <a:r>
              <a:rPr lang="en-US" altLang="en-US" sz="4400" dirty="0">
                <a:solidFill>
                  <a:srgbClr val="7030A0"/>
                </a:solidFill>
                <a:latin typeface="Consolas" panose="020B0609020204030204" pitchFamily="49" charset="0"/>
              </a:rPr>
              <a:t>https</a:t>
            </a:r>
            <a:r>
              <a:rPr lang="en-US" altLang="en-US" sz="4400" dirty="0">
                <a:latin typeface="Consolas" panose="020B0609020204030204" pitchFamily="49" charset="0"/>
              </a:rPr>
              <a:t>://</a:t>
            </a:r>
            <a:r>
              <a:rPr lang="en-US" altLang="en-US" sz="4400" dirty="0">
                <a:solidFill>
                  <a:srgbClr val="0000FF"/>
                </a:solidFill>
                <a:latin typeface="Consolas" panose="020B0609020204030204" pitchFamily="49" charset="0"/>
              </a:rPr>
              <a:t>outlook.office.com</a:t>
            </a:r>
            <a:r>
              <a:rPr lang="en-US" altLang="en-US" sz="4400" dirty="0">
                <a:latin typeface="Consolas" panose="020B0609020204030204" pitchFamily="49" charset="0"/>
              </a:rPr>
              <a:t>/</a:t>
            </a:r>
            <a:r>
              <a:rPr lang="en-US" altLang="en-US" sz="4400" dirty="0">
                <a:solidFill>
                  <a:srgbClr val="FF0000"/>
                </a:solidFill>
                <a:latin typeface="Consolas" panose="020B0609020204030204" pitchFamily="49" charset="0"/>
              </a:rPr>
              <a:t>mail</a:t>
            </a:r>
            <a:r>
              <a:rPr lang="en-US" altLang="en-US" sz="4400" dirty="0">
                <a:latin typeface="Consolas" panose="020B0609020204030204" pitchFamily="49" charset="0"/>
              </a:rPr>
              <a:t>/</a:t>
            </a:r>
          </a:p>
        </p:txBody>
      </p:sp>
    </p:spTree>
    <p:extLst>
      <p:ext uri="{BB962C8B-B14F-4D97-AF65-F5344CB8AC3E}">
        <p14:creationId xmlns:p14="http://schemas.microsoft.com/office/powerpoint/2010/main" val="108418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Relative URLs</a:t>
            </a:r>
          </a:p>
        </p:txBody>
      </p:sp>
      <p:sp>
        <p:nvSpPr>
          <p:cNvPr id="6" name="TextBox 5">
            <a:extLst>
              <a:ext uri="{FF2B5EF4-FFF2-40B4-BE49-F238E27FC236}">
                <a16:creationId xmlns:a16="http://schemas.microsoft.com/office/drawing/2014/main" id="{AF347FD5-EC45-46A4-93D2-A9780619285C}"/>
              </a:ext>
            </a:extLst>
          </p:cNvPr>
          <p:cNvSpPr txBox="1"/>
          <p:nvPr/>
        </p:nvSpPr>
        <p:spPr>
          <a:xfrm>
            <a:off x="2761118" y="5846544"/>
            <a:ext cx="6669839" cy="646331"/>
          </a:xfrm>
          <a:prstGeom prst="rect">
            <a:avLst/>
          </a:prstGeom>
          <a:noFill/>
        </p:spPr>
        <p:txBody>
          <a:bodyPr wrap="none" rtlCol="0">
            <a:spAutoFit/>
          </a:bodyPr>
          <a:lstStyle/>
          <a:p>
            <a:pPr algn="ctr"/>
            <a:r>
              <a:rPr lang="en-GB" sz="3600" dirty="0">
                <a:solidFill>
                  <a:srgbClr val="7030A0"/>
                </a:solidFill>
              </a:rPr>
              <a:t>Relative address – Within website</a:t>
            </a:r>
            <a:endParaRPr lang="en-GB" sz="3600" dirty="0">
              <a:solidFill>
                <a:srgbClr val="7030A0"/>
              </a:solidFill>
              <a:latin typeface="Consolas" panose="020B0609020204030204" pitchFamily="49" charset="0"/>
            </a:endParaRPr>
          </a:p>
        </p:txBody>
      </p:sp>
      <p:sp>
        <p:nvSpPr>
          <p:cNvPr id="10" name="Rectangle 3">
            <a:extLst>
              <a:ext uri="{FF2B5EF4-FFF2-40B4-BE49-F238E27FC236}">
                <a16:creationId xmlns:a16="http://schemas.microsoft.com/office/drawing/2014/main" id="{673B4FFB-1B72-1EFB-80BB-52AF09F48846}"/>
              </a:ext>
            </a:extLst>
          </p:cNvPr>
          <p:cNvSpPr>
            <a:spLocks noChangeArrowheads="1"/>
          </p:cNvSpPr>
          <p:nvPr/>
        </p:nvSpPr>
        <p:spPr bwMode="auto">
          <a:xfrm>
            <a:off x="0" y="9975"/>
            <a:ext cx="65" cy="4372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21D6020-4B73-D6F2-FA4B-E6BCC25A75DE}"/>
              </a:ext>
            </a:extLst>
          </p:cNvPr>
          <p:cNvSpPr txBox="1"/>
          <p:nvPr/>
        </p:nvSpPr>
        <p:spPr>
          <a:xfrm>
            <a:off x="4147722" y="1597134"/>
            <a:ext cx="1117614" cy="769441"/>
          </a:xfrm>
          <a:prstGeom prst="rect">
            <a:avLst/>
          </a:prstGeom>
          <a:noFill/>
        </p:spPr>
        <p:txBody>
          <a:bodyPr wrap="none" rtlCol="0">
            <a:spAutoFit/>
          </a:bodyPr>
          <a:lstStyle/>
          <a:p>
            <a:r>
              <a:rPr lang="en-US" altLang="en-US" sz="4400" i="1" dirty="0">
                <a:solidFill>
                  <a:srgbClr val="FF0000"/>
                </a:solidFill>
                <a:latin typeface="Consolas" panose="020B0609020204030204" pitchFamily="49" charset="0"/>
              </a:rPr>
              <a:t>#</a:t>
            </a:r>
            <a:r>
              <a:rPr lang="en-US" altLang="en-US" sz="4400" dirty="0">
                <a:latin typeface="Consolas" panose="020B0609020204030204" pitchFamily="49" charset="0"/>
              </a:rPr>
              <a:t>id</a:t>
            </a:r>
          </a:p>
        </p:txBody>
      </p:sp>
      <p:sp>
        <p:nvSpPr>
          <p:cNvPr id="12" name="TextBox 11">
            <a:extLst>
              <a:ext uri="{FF2B5EF4-FFF2-40B4-BE49-F238E27FC236}">
                <a16:creationId xmlns:a16="http://schemas.microsoft.com/office/drawing/2014/main" id="{3B7F79DA-785D-4D93-9C77-5BA0C66D2AB5}"/>
              </a:ext>
            </a:extLst>
          </p:cNvPr>
          <p:cNvSpPr txBox="1"/>
          <p:nvPr/>
        </p:nvSpPr>
        <p:spPr>
          <a:xfrm>
            <a:off x="4147722" y="2583269"/>
            <a:ext cx="2672526" cy="769441"/>
          </a:xfrm>
          <a:prstGeom prst="rect">
            <a:avLst/>
          </a:prstGeom>
          <a:noFill/>
        </p:spPr>
        <p:txBody>
          <a:bodyPr wrap="none" rtlCol="0">
            <a:spAutoFit/>
          </a:bodyPr>
          <a:lstStyle/>
          <a:p>
            <a:r>
              <a:rPr lang="en-US" altLang="en-US" sz="4400" dirty="0">
                <a:latin typeface="Consolas" panose="020B0609020204030204" pitchFamily="49" charset="0"/>
              </a:rPr>
              <a:t>cat.html</a:t>
            </a:r>
          </a:p>
        </p:txBody>
      </p:sp>
      <p:sp>
        <p:nvSpPr>
          <p:cNvPr id="13" name="TextBox 12">
            <a:extLst>
              <a:ext uri="{FF2B5EF4-FFF2-40B4-BE49-F238E27FC236}">
                <a16:creationId xmlns:a16="http://schemas.microsoft.com/office/drawing/2014/main" id="{CBA04F2D-0279-4F82-9925-8037BA8764C1}"/>
              </a:ext>
            </a:extLst>
          </p:cNvPr>
          <p:cNvSpPr txBox="1"/>
          <p:nvPr/>
        </p:nvSpPr>
        <p:spPr>
          <a:xfrm>
            <a:off x="4147722" y="3569404"/>
            <a:ext cx="4849404" cy="769441"/>
          </a:xfrm>
          <a:prstGeom prst="rect">
            <a:avLst/>
          </a:prstGeom>
          <a:noFill/>
        </p:spPr>
        <p:txBody>
          <a:bodyPr wrap="none" rtlCol="0">
            <a:spAutoFit/>
          </a:bodyPr>
          <a:lstStyle/>
          <a:p>
            <a:r>
              <a:rPr lang="en-US" altLang="en-US" sz="4400" i="1" dirty="0">
                <a:solidFill>
                  <a:srgbClr val="FF0000"/>
                </a:solidFill>
                <a:latin typeface="Consolas" panose="020B0609020204030204" pitchFamily="49" charset="0"/>
              </a:rPr>
              <a:t>folder/</a:t>
            </a:r>
            <a:r>
              <a:rPr lang="en-US" altLang="en-US" sz="4400" dirty="0">
                <a:latin typeface="Consolas" panose="020B0609020204030204" pitchFamily="49" charset="0"/>
              </a:rPr>
              <a:t>cat.html</a:t>
            </a:r>
          </a:p>
        </p:txBody>
      </p:sp>
      <p:sp>
        <p:nvSpPr>
          <p:cNvPr id="14" name="TextBox 13">
            <a:extLst>
              <a:ext uri="{FF2B5EF4-FFF2-40B4-BE49-F238E27FC236}">
                <a16:creationId xmlns:a16="http://schemas.microsoft.com/office/drawing/2014/main" id="{5DDB0107-28A3-4D4F-B399-0B9DA540731B}"/>
              </a:ext>
            </a:extLst>
          </p:cNvPr>
          <p:cNvSpPr txBox="1"/>
          <p:nvPr/>
        </p:nvSpPr>
        <p:spPr>
          <a:xfrm>
            <a:off x="4147722" y="4555540"/>
            <a:ext cx="3605474" cy="769441"/>
          </a:xfrm>
          <a:prstGeom prst="rect">
            <a:avLst/>
          </a:prstGeom>
          <a:noFill/>
        </p:spPr>
        <p:txBody>
          <a:bodyPr wrap="none" rtlCol="0">
            <a:spAutoFit/>
          </a:bodyPr>
          <a:lstStyle/>
          <a:p>
            <a:r>
              <a:rPr lang="en-US" altLang="en-US" sz="4400" i="1" dirty="0">
                <a:solidFill>
                  <a:srgbClr val="FF0000"/>
                </a:solidFill>
                <a:latin typeface="Consolas" panose="020B0609020204030204" pitchFamily="49" charset="0"/>
              </a:rPr>
              <a:t>../</a:t>
            </a:r>
            <a:r>
              <a:rPr lang="en-US" altLang="en-US" sz="4400" dirty="0">
                <a:latin typeface="Consolas" panose="020B0609020204030204" pitchFamily="49" charset="0"/>
              </a:rPr>
              <a:t>cat.html</a:t>
            </a:r>
          </a:p>
        </p:txBody>
      </p:sp>
      <p:sp>
        <p:nvSpPr>
          <p:cNvPr id="15" name="TextBox 14">
            <a:extLst>
              <a:ext uri="{FF2B5EF4-FFF2-40B4-BE49-F238E27FC236}">
                <a16:creationId xmlns:a16="http://schemas.microsoft.com/office/drawing/2014/main" id="{0A070C78-E8C6-4DB5-9762-D6394CD610DB}"/>
              </a:ext>
            </a:extLst>
          </p:cNvPr>
          <p:cNvSpPr txBox="1"/>
          <p:nvPr/>
        </p:nvSpPr>
        <p:spPr>
          <a:xfrm>
            <a:off x="1378973" y="1660549"/>
            <a:ext cx="2349682" cy="646331"/>
          </a:xfrm>
          <a:prstGeom prst="rect">
            <a:avLst/>
          </a:prstGeom>
          <a:noFill/>
        </p:spPr>
        <p:txBody>
          <a:bodyPr wrap="none" rtlCol="0">
            <a:spAutoFit/>
          </a:bodyPr>
          <a:lstStyle/>
          <a:p>
            <a:pPr algn="r"/>
            <a:r>
              <a:rPr lang="en-GB" sz="3600" dirty="0"/>
              <a:t>Same page:</a:t>
            </a:r>
            <a:endParaRPr lang="en-GB" sz="3600" dirty="0">
              <a:solidFill>
                <a:srgbClr val="7030A0"/>
              </a:solidFill>
              <a:latin typeface="Consolas" panose="020B0609020204030204" pitchFamily="49" charset="0"/>
            </a:endParaRPr>
          </a:p>
        </p:txBody>
      </p:sp>
      <p:sp>
        <p:nvSpPr>
          <p:cNvPr id="16" name="TextBox 15">
            <a:extLst>
              <a:ext uri="{FF2B5EF4-FFF2-40B4-BE49-F238E27FC236}">
                <a16:creationId xmlns:a16="http://schemas.microsoft.com/office/drawing/2014/main" id="{90734BB4-826A-4D96-9E2F-BDE0B1CA4226}"/>
              </a:ext>
            </a:extLst>
          </p:cNvPr>
          <p:cNvSpPr txBox="1"/>
          <p:nvPr/>
        </p:nvSpPr>
        <p:spPr>
          <a:xfrm>
            <a:off x="1128306" y="2644823"/>
            <a:ext cx="2555444" cy="646331"/>
          </a:xfrm>
          <a:prstGeom prst="rect">
            <a:avLst/>
          </a:prstGeom>
          <a:noFill/>
        </p:spPr>
        <p:txBody>
          <a:bodyPr wrap="none" rtlCol="0">
            <a:spAutoFit/>
          </a:bodyPr>
          <a:lstStyle/>
          <a:p>
            <a:pPr algn="r"/>
            <a:r>
              <a:rPr lang="en-GB" sz="3600" dirty="0"/>
              <a:t>Same folder:</a:t>
            </a:r>
            <a:endParaRPr lang="en-GB" sz="3600" dirty="0">
              <a:solidFill>
                <a:srgbClr val="7030A0"/>
              </a:solidFill>
              <a:latin typeface="Consolas" panose="020B0609020204030204" pitchFamily="49" charset="0"/>
            </a:endParaRPr>
          </a:p>
        </p:txBody>
      </p:sp>
      <p:sp>
        <p:nvSpPr>
          <p:cNvPr id="17" name="TextBox 16">
            <a:extLst>
              <a:ext uri="{FF2B5EF4-FFF2-40B4-BE49-F238E27FC236}">
                <a16:creationId xmlns:a16="http://schemas.microsoft.com/office/drawing/2014/main" id="{2F36087D-6E92-41EB-AA43-F5E80D9E0FA5}"/>
              </a:ext>
            </a:extLst>
          </p:cNvPr>
          <p:cNvSpPr txBox="1"/>
          <p:nvPr/>
        </p:nvSpPr>
        <p:spPr>
          <a:xfrm>
            <a:off x="1426464" y="3634216"/>
            <a:ext cx="2257286" cy="646331"/>
          </a:xfrm>
          <a:prstGeom prst="rect">
            <a:avLst/>
          </a:prstGeom>
          <a:noFill/>
        </p:spPr>
        <p:txBody>
          <a:bodyPr wrap="none" rtlCol="0">
            <a:spAutoFit/>
          </a:bodyPr>
          <a:lstStyle/>
          <a:p>
            <a:pPr algn="r"/>
            <a:r>
              <a:rPr lang="en-GB" sz="3600" dirty="0"/>
              <a:t>Sub-folder:</a:t>
            </a:r>
            <a:endParaRPr lang="en-GB" sz="3600" dirty="0">
              <a:solidFill>
                <a:srgbClr val="7030A0"/>
              </a:solidFill>
              <a:latin typeface="Consolas" panose="020B0609020204030204" pitchFamily="49" charset="0"/>
            </a:endParaRPr>
          </a:p>
        </p:txBody>
      </p:sp>
      <p:sp>
        <p:nvSpPr>
          <p:cNvPr id="18" name="TextBox 17">
            <a:extLst>
              <a:ext uri="{FF2B5EF4-FFF2-40B4-BE49-F238E27FC236}">
                <a16:creationId xmlns:a16="http://schemas.microsoft.com/office/drawing/2014/main" id="{16F74662-3EF9-45FB-BD97-358F9031DF8A}"/>
              </a:ext>
            </a:extLst>
          </p:cNvPr>
          <p:cNvSpPr txBox="1"/>
          <p:nvPr/>
        </p:nvSpPr>
        <p:spPr>
          <a:xfrm>
            <a:off x="1086906" y="4617094"/>
            <a:ext cx="2641749" cy="646331"/>
          </a:xfrm>
          <a:prstGeom prst="rect">
            <a:avLst/>
          </a:prstGeom>
          <a:noFill/>
        </p:spPr>
        <p:txBody>
          <a:bodyPr wrap="none" rtlCol="0">
            <a:spAutoFit/>
          </a:bodyPr>
          <a:lstStyle/>
          <a:p>
            <a:pPr algn="r"/>
            <a:r>
              <a:rPr lang="en-GB" sz="3600" dirty="0"/>
              <a:t>Up one level:</a:t>
            </a:r>
            <a:endParaRPr lang="en-GB" sz="3600" dirty="0">
              <a:solidFill>
                <a:srgbClr val="7030A0"/>
              </a:solidFill>
              <a:latin typeface="Consolas" panose="020B0609020204030204" pitchFamily="49" charset="0"/>
            </a:endParaRPr>
          </a:p>
        </p:txBody>
      </p:sp>
      <p:grpSp>
        <p:nvGrpSpPr>
          <p:cNvPr id="19" name="Group 18">
            <a:extLst>
              <a:ext uri="{FF2B5EF4-FFF2-40B4-BE49-F238E27FC236}">
                <a16:creationId xmlns:a16="http://schemas.microsoft.com/office/drawing/2014/main" id="{8E7A1918-8E6E-47F2-A3F0-36B753325ED6}"/>
              </a:ext>
            </a:extLst>
          </p:cNvPr>
          <p:cNvGrpSpPr/>
          <p:nvPr/>
        </p:nvGrpSpPr>
        <p:grpSpPr>
          <a:xfrm>
            <a:off x="8939030" y="3566892"/>
            <a:ext cx="2836960" cy="1696533"/>
            <a:chOff x="3594044" y="3151907"/>
            <a:chExt cx="4671726" cy="997579"/>
          </a:xfrm>
        </p:grpSpPr>
        <p:sp>
          <p:nvSpPr>
            <p:cNvPr id="20" name="TextBox 19">
              <a:extLst>
                <a:ext uri="{FF2B5EF4-FFF2-40B4-BE49-F238E27FC236}">
                  <a16:creationId xmlns:a16="http://schemas.microsoft.com/office/drawing/2014/main" id="{35F83399-4F76-49D3-9E0F-322AF7F4AB42}"/>
                </a:ext>
              </a:extLst>
            </p:cNvPr>
            <p:cNvSpPr txBox="1"/>
            <p:nvPr/>
          </p:nvSpPr>
          <p:spPr>
            <a:xfrm>
              <a:off x="4603642" y="3297793"/>
              <a:ext cx="3662128" cy="705806"/>
            </a:xfrm>
            <a:prstGeom prst="rect">
              <a:avLst/>
            </a:prstGeom>
            <a:noFill/>
          </p:spPr>
          <p:txBody>
            <a:bodyPr wrap="square" rtlCol="0">
              <a:spAutoFit/>
            </a:bodyPr>
            <a:lstStyle/>
            <a:p>
              <a:r>
                <a:rPr lang="en-GB" sz="3600" dirty="0">
                  <a:solidFill>
                    <a:srgbClr val="7030A0"/>
                  </a:solidFill>
                  <a:latin typeface="Consolas" panose="020B0609020204030204" pitchFamily="49" charset="0"/>
                </a:rPr>
                <a:t>Can be</a:t>
              </a:r>
            </a:p>
            <a:p>
              <a:r>
                <a:rPr lang="en-GB" sz="3600" dirty="0">
                  <a:solidFill>
                    <a:srgbClr val="7030A0"/>
                  </a:solidFill>
                  <a:latin typeface="Consolas" panose="020B0609020204030204" pitchFamily="49" charset="0"/>
                </a:rPr>
                <a:t>combined</a:t>
              </a:r>
            </a:p>
          </p:txBody>
        </p:sp>
        <p:sp>
          <p:nvSpPr>
            <p:cNvPr id="21" name="Right Brace 20">
              <a:extLst>
                <a:ext uri="{FF2B5EF4-FFF2-40B4-BE49-F238E27FC236}">
                  <a16:creationId xmlns:a16="http://schemas.microsoft.com/office/drawing/2014/main" id="{F0237F2D-B194-4357-ACDB-EBB71A982F10}"/>
                </a:ext>
              </a:extLst>
            </p:cNvPr>
            <p:cNvSpPr/>
            <p:nvPr/>
          </p:nvSpPr>
          <p:spPr>
            <a:xfrm>
              <a:off x="3594044" y="3151907"/>
              <a:ext cx="372533" cy="997579"/>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394524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1000"/>
                                        <p:tgtEl>
                                          <p:spTgt spid="15">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animEffect transition="in" filter="wipe(left)">
                                      <p:cBhvr>
                                        <p:cTn id="11" dur="1500"/>
                                        <p:tgtEl>
                                          <p:spTgt spid="1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wipe(left)">
                                      <p:cBhvr>
                                        <p:cTn id="16" dur="1000"/>
                                        <p:tgtEl>
                                          <p:spTgt spid="16">
                                            <p:txEl>
                                              <p:pRg st="0" end="0"/>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wipe(left)">
                                      <p:cBhvr>
                                        <p:cTn id="20" dur="10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animEffect transition="in" filter="wipe(left)">
                                      <p:cBhvr>
                                        <p:cTn id="25" dur="1000"/>
                                        <p:tgtEl>
                                          <p:spTgt spid="17">
                                            <p:txEl>
                                              <p:pRg st="0" end="0"/>
                                            </p:txEl>
                                          </p:spTgt>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3">
                                            <p:txEl>
                                              <p:pRg st="0" end="0"/>
                                            </p:txEl>
                                          </p:spTgt>
                                        </p:tgtEl>
                                        <p:attrNameLst>
                                          <p:attrName>style.visibility</p:attrName>
                                        </p:attrNameLst>
                                      </p:cBhvr>
                                      <p:to>
                                        <p:strVal val="visible"/>
                                      </p:to>
                                    </p:set>
                                    <p:animEffect transition="in" filter="wipe(left)">
                                      <p:cBhvr>
                                        <p:cTn id="29" dur="1750"/>
                                        <p:tgtEl>
                                          <p:spTgt spid="13">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8">
                                            <p:txEl>
                                              <p:pRg st="0" end="0"/>
                                            </p:txEl>
                                          </p:spTgt>
                                        </p:tgtEl>
                                        <p:attrNameLst>
                                          <p:attrName>style.visibility</p:attrName>
                                        </p:attrNameLst>
                                      </p:cBhvr>
                                      <p:to>
                                        <p:strVal val="visible"/>
                                      </p:to>
                                    </p:set>
                                    <p:animEffect transition="in" filter="wipe(left)">
                                      <p:cBhvr>
                                        <p:cTn id="34" dur="1000"/>
                                        <p:tgtEl>
                                          <p:spTgt spid="18">
                                            <p:txEl>
                                              <p:pRg st="0" end="0"/>
                                            </p:txEl>
                                          </p:spTgt>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14">
                                            <p:txEl>
                                              <p:pRg st="0" end="0"/>
                                            </p:txEl>
                                          </p:spTgt>
                                        </p:tgtEl>
                                        <p:attrNameLst>
                                          <p:attrName>style.visibility</p:attrName>
                                        </p:attrNameLst>
                                      </p:cBhvr>
                                      <p:to>
                                        <p:strVal val="visible"/>
                                      </p:to>
                                    </p:set>
                                    <p:animEffect transition="in" filter="wipe(left)">
                                      <p:cBhvr>
                                        <p:cTn id="38" dur="2000"/>
                                        <p:tgtEl>
                                          <p:spTgt spid="1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Effect transition="in" filter="wipe(left)">
                                      <p:cBhvr>
                                        <p:cTn id="43" dur="2000"/>
                                        <p:tgtEl>
                                          <p:spTgt spid="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1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11" grpId="0" build="p"/>
      <p:bldP spid="12" grpId="0" build="p"/>
      <p:bldP spid="13" grpId="0" build="p"/>
      <p:bldP spid="14" grpId="0" build="p"/>
      <p:bldP spid="15" grpId="0" build="p"/>
      <p:bldP spid="16" grpId="0" build="p"/>
      <p:bldP spid="17" grpId="0" build="p"/>
      <p:bldP spid="18"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Relative URLs</a:t>
            </a:r>
          </a:p>
        </p:txBody>
      </p:sp>
      <p:sp>
        <p:nvSpPr>
          <p:cNvPr id="10" name="Rectangle 3">
            <a:extLst>
              <a:ext uri="{FF2B5EF4-FFF2-40B4-BE49-F238E27FC236}">
                <a16:creationId xmlns:a16="http://schemas.microsoft.com/office/drawing/2014/main" id="{673B4FFB-1B72-1EFB-80BB-52AF09F48846}"/>
              </a:ext>
            </a:extLst>
          </p:cNvPr>
          <p:cNvSpPr>
            <a:spLocks noChangeArrowheads="1"/>
          </p:cNvSpPr>
          <p:nvPr/>
        </p:nvSpPr>
        <p:spPr bwMode="auto">
          <a:xfrm>
            <a:off x="0" y="9975"/>
            <a:ext cx="65" cy="4372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21D6020-4B73-D6F2-FA4B-E6BCC25A75DE}"/>
              </a:ext>
            </a:extLst>
          </p:cNvPr>
          <p:cNvSpPr txBox="1"/>
          <p:nvPr/>
        </p:nvSpPr>
        <p:spPr>
          <a:xfrm>
            <a:off x="5222761" y="1597134"/>
            <a:ext cx="1117614" cy="769441"/>
          </a:xfrm>
          <a:prstGeom prst="rect">
            <a:avLst/>
          </a:prstGeom>
          <a:noFill/>
        </p:spPr>
        <p:txBody>
          <a:bodyPr wrap="none" rtlCol="0">
            <a:spAutoFit/>
          </a:bodyPr>
          <a:lstStyle/>
          <a:p>
            <a:r>
              <a:rPr lang="en-US" altLang="en-US" sz="4400" dirty="0">
                <a:solidFill>
                  <a:srgbClr val="FF0000"/>
                </a:solidFill>
                <a:latin typeface="Consolas" panose="020B0609020204030204" pitchFamily="49" charset="0"/>
              </a:rPr>
              <a:t> </a:t>
            </a:r>
            <a:r>
              <a:rPr lang="en-US" altLang="en-US" sz="4400" dirty="0">
                <a:latin typeface="Consolas" panose="020B0609020204030204" pitchFamily="49" charset="0"/>
              </a:rPr>
              <a:t>id</a:t>
            </a:r>
          </a:p>
        </p:txBody>
      </p:sp>
      <p:sp>
        <p:nvSpPr>
          <p:cNvPr id="12" name="TextBox 11">
            <a:extLst>
              <a:ext uri="{FF2B5EF4-FFF2-40B4-BE49-F238E27FC236}">
                <a16:creationId xmlns:a16="http://schemas.microsoft.com/office/drawing/2014/main" id="{3B7F79DA-785D-4D93-9C77-5BA0C66D2AB5}"/>
              </a:ext>
            </a:extLst>
          </p:cNvPr>
          <p:cNvSpPr txBox="1"/>
          <p:nvPr/>
        </p:nvSpPr>
        <p:spPr>
          <a:xfrm>
            <a:off x="5222761" y="2583269"/>
            <a:ext cx="2672526" cy="769441"/>
          </a:xfrm>
          <a:prstGeom prst="rect">
            <a:avLst/>
          </a:prstGeom>
          <a:noFill/>
        </p:spPr>
        <p:txBody>
          <a:bodyPr wrap="none" rtlCol="0">
            <a:spAutoFit/>
          </a:bodyPr>
          <a:lstStyle/>
          <a:p>
            <a:r>
              <a:rPr lang="en-US" altLang="en-US" sz="4400" dirty="0">
                <a:latin typeface="Consolas" panose="020B0609020204030204" pitchFamily="49" charset="0"/>
              </a:rPr>
              <a:t>cat.html</a:t>
            </a:r>
          </a:p>
        </p:txBody>
      </p:sp>
      <p:sp>
        <p:nvSpPr>
          <p:cNvPr id="13" name="TextBox 12">
            <a:extLst>
              <a:ext uri="{FF2B5EF4-FFF2-40B4-BE49-F238E27FC236}">
                <a16:creationId xmlns:a16="http://schemas.microsoft.com/office/drawing/2014/main" id="{CBA04F2D-0279-4F82-9925-8037BA8764C1}"/>
              </a:ext>
            </a:extLst>
          </p:cNvPr>
          <p:cNvSpPr txBox="1"/>
          <p:nvPr/>
        </p:nvSpPr>
        <p:spPr>
          <a:xfrm>
            <a:off x="5222761" y="3569404"/>
            <a:ext cx="4849404" cy="769441"/>
          </a:xfrm>
          <a:prstGeom prst="rect">
            <a:avLst/>
          </a:prstGeom>
          <a:noFill/>
        </p:spPr>
        <p:txBody>
          <a:bodyPr wrap="none" rtlCol="0">
            <a:spAutoFit/>
          </a:bodyPr>
          <a:lstStyle/>
          <a:p>
            <a:r>
              <a:rPr lang="en-US" altLang="en-US" sz="4400" dirty="0">
                <a:solidFill>
                  <a:srgbClr val="FF0000"/>
                </a:solidFill>
                <a:latin typeface="Consolas" panose="020B0609020204030204" pitchFamily="49" charset="0"/>
              </a:rPr>
              <a:t>       </a:t>
            </a:r>
            <a:r>
              <a:rPr lang="en-US" altLang="en-US" sz="4400" dirty="0">
                <a:latin typeface="Consolas" panose="020B0609020204030204" pitchFamily="49" charset="0"/>
              </a:rPr>
              <a:t>cat.html</a:t>
            </a:r>
          </a:p>
        </p:txBody>
      </p:sp>
      <p:sp>
        <p:nvSpPr>
          <p:cNvPr id="14" name="TextBox 13">
            <a:extLst>
              <a:ext uri="{FF2B5EF4-FFF2-40B4-BE49-F238E27FC236}">
                <a16:creationId xmlns:a16="http://schemas.microsoft.com/office/drawing/2014/main" id="{5DDB0107-28A3-4D4F-B399-0B9DA540731B}"/>
              </a:ext>
            </a:extLst>
          </p:cNvPr>
          <p:cNvSpPr txBox="1"/>
          <p:nvPr/>
        </p:nvSpPr>
        <p:spPr>
          <a:xfrm>
            <a:off x="5222761" y="4555540"/>
            <a:ext cx="3605474" cy="769441"/>
          </a:xfrm>
          <a:prstGeom prst="rect">
            <a:avLst/>
          </a:prstGeom>
          <a:noFill/>
        </p:spPr>
        <p:txBody>
          <a:bodyPr wrap="none" rtlCol="0">
            <a:spAutoFit/>
          </a:bodyPr>
          <a:lstStyle/>
          <a:p>
            <a:r>
              <a:rPr lang="en-US" altLang="en-US" sz="4400" dirty="0">
                <a:solidFill>
                  <a:srgbClr val="FF0000"/>
                </a:solidFill>
                <a:latin typeface="Consolas" panose="020B0609020204030204" pitchFamily="49" charset="0"/>
              </a:rPr>
              <a:t>   </a:t>
            </a:r>
            <a:r>
              <a:rPr lang="en-US" altLang="en-US" sz="4400" dirty="0">
                <a:latin typeface="Consolas" panose="020B0609020204030204" pitchFamily="49" charset="0"/>
              </a:rPr>
              <a:t>cat.html</a:t>
            </a:r>
          </a:p>
        </p:txBody>
      </p:sp>
    </p:spTree>
    <p:extLst>
      <p:ext uri="{BB962C8B-B14F-4D97-AF65-F5344CB8AC3E}">
        <p14:creationId xmlns:p14="http://schemas.microsoft.com/office/powerpoint/2010/main" val="27253933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0566-52C1-4875-BEEB-244F419BDB98}"/>
              </a:ext>
            </a:extLst>
          </p:cNvPr>
          <p:cNvSpPr>
            <a:spLocks noGrp="1"/>
          </p:cNvSpPr>
          <p:nvPr>
            <p:ph type="title"/>
          </p:nvPr>
        </p:nvSpPr>
        <p:spPr>
          <a:xfrm>
            <a:off x="838200" y="365125"/>
            <a:ext cx="10515600" cy="1325563"/>
          </a:xfrm>
        </p:spPr>
        <p:txBody>
          <a:bodyPr/>
          <a:lstStyle/>
          <a:p>
            <a:r>
              <a:rPr lang="en-GB" dirty="0"/>
              <a:t>Directory Structure </a:t>
            </a:r>
          </a:p>
        </p:txBody>
      </p:sp>
      <p:grpSp>
        <p:nvGrpSpPr>
          <p:cNvPr id="27" name="sub">
            <a:extLst>
              <a:ext uri="{FF2B5EF4-FFF2-40B4-BE49-F238E27FC236}">
                <a16:creationId xmlns:a16="http://schemas.microsoft.com/office/drawing/2014/main" id="{048C293E-81FC-43B7-93A2-1DF987C686D3}"/>
              </a:ext>
            </a:extLst>
          </p:cNvPr>
          <p:cNvGrpSpPr/>
          <p:nvPr/>
        </p:nvGrpSpPr>
        <p:grpSpPr>
          <a:xfrm>
            <a:off x="2850240" y="3556146"/>
            <a:ext cx="5760000" cy="1260000"/>
            <a:chOff x="2850240" y="3556146"/>
            <a:chExt cx="5760000" cy="1260000"/>
          </a:xfrm>
        </p:grpSpPr>
        <p:cxnSp>
          <p:nvCxnSpPr>
            <p:cNvPr id="5" name="Straight Connector 4">
              <a:extLst>
                <a:ext uri="{FF2B5EF4-FFF2-40B4-BE49-F238E27FC236}">
                  <a16:creationId xmlns:a16="http://schemas.microsoft.com/office/drawing/2014/main" id="{2AE511BD-BAE5-4103-B1ED-49F2FC53EF15}"/>
                </a:ext>
              </a:extLst>
            </p:cNvPr>
            <p:cNvCxnSpPr/>
            <p:nvPr/>
          </p:nvCxnSpPr>
          <p:spPr>
            <a:xfrm>
              <a:off x="2850240" y="3556146"/>
              <a:ext cx="0" cy="1260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867BFDF-844E-4761-A77E-9C6550BCD1FF}"/>
                </a:ext>
              </a:extLst>
            </p:cNvPr>
            <p:cNvCxnSpPr/>
            <p:nvPr/>
          </p:nvCxnSpPr>
          <p:spPr>
            <a:xfrm>
              <a:off x="8610240" y="3556146"/>
              <a:ext cx="0" cy="12600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700107F-56F0-4546-B9EA-913D5ADA5D44}"/>
                </a:ext>
              </a:extLst>
            </p:cNvPr>
            <p:cNvCxnSpPr>
              <a:cxnSpLocks/>
            </p:cNvCxnSpPr>
            <p:nvPr/>
          </p:nvCxnSpPr>
          <p:spPr>
            <a:xfrm flipH="1">
              <a:off x="2850240" y="3556146"/>
              <a:ext cx="5760000"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4" name="Root">
            <a:extLst>
              <a:ext uri="{FF2B5EF4-FFF2-40B4-BE49-F238E27FC236}">
                <a16:creationId xmlns:a16="http://schemas.microsoft.com/office/drawing/2014/main" id="{24EB4B2C-0D2E-42F1-A18B-64DBBA7DEBB3}"/>
              </a:ext>
            </a:extLst>
          </p:cNvPr>
          <p:cNvGrpSpPr/>
          <p:nvPr/>
        </p:nvGrpSpPr>
        <p:grpSpPr>
          <a:xfrm>
            <a:off x="5207020" y="2314028"/>
            <a:ext cx="2407069" cy="1260000"/>
            <a:chOff x="5207020" y="2314028"/>
            <a:chExt cx="2407069" cy="1260000"/>
          </a:xfrm>
        </p:grpSpPr>
        <p:cxnSp>
          <p:nvCxnSpPr>
            <p:cNvPr id="4" name="Straight Connector 3">
              <a:extLst>
                <a:ext uri="{FF2B5EF4-FFF2-40B4-BE49-F238E27FC236}">
                  <a16:creationId xmlns:a16="http://schemas.microsoft.com/office/drawing/2014/main" id="{73E407A8-DC4C-4297-A3D9-58DA4078A8A7}"/>
                </a:ext>
              </a:extLst>
            </p:cNvPr>
            <p:cNvCxnSpPr/>
            <p:nvPr/>
          </p:nvCxnSpPr>
          <p:spPr>
            <a:xfrm>
              <a:off x="5730240" y="2314028"/>
              <a:ext cx="0" cy="12600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316DDA1-AD1B-4B69-807D-C5333507DEF6}"/>
                </a:ext>
              </a:extLst>
            </p:cNvPr>
            <p:cNvSpPr txBox="1"/>
            <p:nvPr/>
          </p:nvSpPr>
          <p:spPr>
            <a:xfrm rot="16200000">
              <a:off x="5032934" y="2682418"/>
              <a:ext cx="871392" cy="523220"/>
            </a:xfrm>
            <a:prstGeom prst="rect">
              <a:avLst/>
            </a:prstGeom>
            <a:noFill/>
          </p:spPr>
          <p:txBody>
            <a:bodyPr wrap="none" rtlCol="0">
              <a:spAutoFit/>
            </a:bodyPr>
            <a:lstStyle/>
            <a:p>
              <a:pPr algn="ctr"/>
              <a:r>
                <a:rPr lang="en-GB" sz="2800" dirty="0">
                  <a:solidFill>
                    <a:srgbClr val="7030A0"/>
                  </a:solidFill>
                </a:rPr>
                <a:t>Root</a:t>
              </a:r>
              <a:endParaRPr lang="en-GB" sz="2800" dirty="0">
                <a:solidFill>
                  <a:srgbClr val="7030A0"/>
                </a:solidFill>
                <a:latin typeface="Consolas" panose="020B0609020204030204" pitchFamily="49" charset="0"/>
              </a:endParaRPr>
            </a:p>
          </p:txBody>
        </p:sp>
        <p:sp>
          <p:nvSpPr>
            <p:cNvPr id="14" name="TextBox 13">
              <a:extLst>
                <a:ext uri="{FF2B5EF4-FFF2-40B4-BE49-F238E27FC236}">
                  <a16:creationId xmlns:a16="http://schemas.microsoft.com/office/drawing/2014/main" id="{E055E442-DAA0-496C-A97B-AEA8E9BE3402}"/>
                </a:ext>
              </a:extLst>
            </p:cNvPr>
            <p:cNvSpPr txBox="1"/>
            <p:nvPr/>
          </p:nvSpPr>
          <p:spPr>
            <a:xfrm>
              <a:off x="5730240" y="2529603"/>
              <a:ext cx="1883849" cy="830997"/>
            </a:xfrm>
            <a:prstGeom prst="rect">
              <a:avLst/>
            </a:prstGeom>
            <a:noFill/>
          </p:spPr>
          <p:txBody>
            <a:bodyPr wrap="none" rtlCol="0">
              <a:spAutoFit/>
            </a:bodyPr>
            <a:lstStyle/>
            <a:p>
              <a:r>
                <a:rPr lang="en-GB" sz="2400" dirty="0">
                  <a:latin typeface="Consolas" panose="020B0609020204030204" pitchFamily="49" charset="0"/>
                </a:rPr>
                <a:t>index.html</a:t>
              </a:r>
            </a:p>
            <a:p>
              <a:r>
                <a:rPr lang="en-GB" sz="2400" dirty="0">
                  <a:latin typeface="Consolas" panose="020B0609020204030204" pitchFamily="49" charset="0"/>
                </a:rPr>
                <a:t>style.css</a:t>
              </a:r>
            </a:p>
          </p:txBody>
        </p:sp>
      </p:grpSp>
      <p:grpSp>
        <p:nvGrpSpPr>
          <p:cNvPr id="25" name="pages">
            <a:extLst>
              <a:ext uri="{FF2B5EF4-FFF2-40B4-BE49-F238E27FC236}">
                <a16:creationId xmlns:a16="http://schemas.microsoft.com/office/drawing/2014/main" id="{2D4AA3C8-D048-4F44-A77B-E22176FEA2D0}"/>
              </a:ext>
            </a:extLst>
          </p:cNvPr>
          <p:cNvGrpSpPr/>
          <p:nvPr/>
        </p:nvGrpSpPr>
        <p:grpSpPr>
          <a:xfrm>
            <a:off x="2327021" y="3590550"/>
            <a:ext cx="2407067" cy="1200329"/>
            <a:chOff x="2327021" y="3590550"/>
            <a:chExt cx="2407067" cy="1200329"/>
          </a:xfrm>
        </p:grpSpPr>
        <p:sp>
          <p:nvSpPr>
            <p:cNvPr id="12" name="TextBox 11">
              <a:extLst>
                <a:ext uri="{FF2B5EF4-FFF2-40B4-BE49-F238E27FC236}">
                  <a16:creationId xmlns:a16="http://schemas.microsoft.com/office/drawing/2014/main" id="{E6B9CBBF-A2CD-4799-8D5D-68FEB90DCE1D}"/>
                </a:ext>
              </a:extLst>
            </p:cNvPr>
            <p:cNvSpPr txBox="1"/>
            <p:nvPr/>
          </p:nvSpPr>
          <p:spPr>
            <a:xfrm rot="16200000">
              <a:off x="2003374" y="3924535"/>
              <a:ext cx="1170513" cy="523220"/>
            </a:xfrm>
            <a:prstGeom prst="rect">
              <a:avLst/>
            </a:prstGeom>
            <a:noFill/>
          </p:spPr>
          <p:txBody>
            <a:bodyPr wrap="none" rtlCol="0">
              <a:spAutoFit/>
            </a:bodyPr>
            <a:lstStyle/>
            <a:p>
              <a:pPr algn="ctr"/>
              <a:r>
                <a:rPr lang="en-GB" sz="2800" dirty="0">
                  <a:solidFill>
                    <a:srgbClr val="7030A0"/>
                  </a:solidFill>
                  <a:latin typeface="Consolas" panose="020B0609020204030204" pitchFamily="49" charset="0"/>
                </a:rPr>
                <a:t>pages</a:t>
              </a:r>
            </a:p>
          </p:txBody>
        </p:sp>
        <p:sp>
          <p:nvSpPr>
            <p:cNvPr id="16" name="TextBox 15">
              <a:extLst>
                <a:ext uri="{FF2B5EF4-FFF2-40B4-BE49-F238E27FC236}">
                  <a16:creationId xmlns:a16="http://schemas.microsoft.com/office/drawing/2014/main" id="{FE44DC60-397C-4A2A-B1A6-FB8C18628B6E}"/>
                </a:ext>
              </a:extLst>
            </p:cNvPr>
            <p:cNvSpPr txBox="1"/>
            <p:nvPr/>
          </p:nvSpPr>
          <p:spPr>
            <a:xfrm>
              <a:off x="2850239" y="3590550"/>
              <a:ext cx="1883849" cy="1200329"/>
            </a:xfrm>
            <a:prstGeom prst="rect">
              <a:avLst/>
            </a:prstGeom>
            <a:noFill/>
          </p:spPr>
          <p:txBody>
            <a:bodyPr wrap="none" rtlCol="0">
              <a:spAutoFit/>
            </a:bodyPr>
            <a:lstStyle/>
            <a:p>
              <a:r>
                <a:rPr lang="en-GB" sz="2400" dirty="0">
                  <a:latin typeface="Consolas" panose="020B0609020204030204" pitchFamily="49" charset="0"/>
                </a:rPr>
                <a:t>cats.html</a:t>
              </a:r>
            </a:p>
            <a:p>
              <a:r>
                <a:rPr lang="en-GB" sz="2400" dirty="0">
                  <a:latin typeface="Consolas" panose="020B0609020204030204" pitchFamily="49" charset="0"/>
                </a:rPr>
                <a:t>dogs.html</a:t>
              </a:r>
            </a:p>
            <a:p>
              <a:r>
                <a:rPr lang="en-GB" sz="2400" dirty="0">
                  <a:latin typeface="Consolas" panose="020B0609020204030204" pitchFamily="49" charset="0"/>
                </a:rPr>
                <a:t>sheep.html</a:t>
              </a:r>
            </a:p>
          </p:txBody>
        </p:sp>
      </p:grpSp>
      <p:grpSp>
        <p:nvGrpSpPr>
          <p:cNvPr id="26" name="media">
            <a:extLst>
              <a:ext uri="{FF2B5EF4-FFF2-40B4-BE49-F238E27FC236}">
                <a16:creationId xmlns:a16="http://schemas.microsoft.com/office/drawing/2014/main" id="{DCBF9B58-7877-4A73-B1E0-F31136312584}"/>
              </a:ext>
            </a:extLst>
          </p:cNvPr>
          <p:cNvGrpSpPr/>
          <p:nvPr/>
        </p:nvGrpSpPr>
        <p:grpSpPr>
          <a:xfrm>
            <a:off x="8087021" y="3624757"/>
            <a:ext cx="2067231" cy="1200329"/>
            <a:chOff x="8087021" y="3624757"/>
            <a:chExt cx="2067231" cy="1200329"/>
          </a:xfrm>
        </p:grpSpPr>
        <p:sp>
          <p:nvSpPr>
            <p:cNvPr id="13" name="TextBox 12">
              <a:extLst>
                <a:ext uri="{FF2B5EF4-FFF2-40B4-BE49-F238E27FC236}">
                  <a16:creationId xmlns:a16="http://schemas.microsoft.com/office/drawing/2014/main" id="{2F4D631F-6467-4B69-BB4B-FBE62ED1F8AD}"/>
                </a:ext>
              </a:extLst>
            </p:cNvPr>
            <p:cNvSpPr txBox="1"/>
            <p:nvPr/>
          </p:nvSpPr>
          <p:spPr>
            <a:xfrm rot="16200000">
              <a:off x="7763374" y="3967799"/>
              <a:ext cx="1170513" cy="523220"/>
            </a:xfrm>
            <a:prstGeom prst="rect">
              <a:avLst/>
            </a:prstGeom>
            <a:noFill/>
          </p:spPr>
          <p:txBody>
            <a:bodyPr wrap="none" rtlCol="0">
              <a:spAutoFit/>
            </a:bodyPr>
            <a:lstStyle/>
            <a:p>
              <a:pPr algn="ctr"/>
              <a:r>
                <a:rPr lang="en-GB" sz="2800" dirty="0">
                  <a:solidFill>
                    <a:srgbClr val="7030A0"/>
                  </a:solidFill>
                  <a:latin typeface="Consolas" panose="020B0609020204030204" pitchFamily="49" charset="0"/>
                </a:rPr>
                <a:t>media</a:t>
              </a:r>
            </a:p>
          </p:txBody>
        </p:sp>
        <p:sp>
          <p:nvSpPr>
            <p:cNvPr id="19" name="TextBox 18">
              <a:extLst>
                <a:ext uri="{FF2B5EF4-FFF2-40B4-BE49-F238E27FC236}">
                  <a16:creationId xmlns:a16="http://schemas.microsoft.com/office/drawing/2014/main" id="{601F4081-812A-4517-AEF3-08B8E5BE74D2}"/>
                </a:ext>
              </a:extLst>
            </p:cNvPr>
            <p:cNvSpPr txBox="1"/>
            <p:nvPr/>
          </p:nvSpPr>
          <p:spPr>
            <a:xfrm>
              <a:off x="8610240" y="3624757"/>
              <a:ext cx="1544012" cy="1200329"/>
            </a:xfrm>
            <a:prstGeom prst="rect">
              <a:avLst/>
            </a:prstGeom>
            <a:noFill/>
          </p:spPr>
          <p:txBody>
            <a:bodyPr wrap="none" rtlCol="0">
              <a:spAutoFit/>
            </a:bodyPr>
            <a:lstStyle/>
            <a:p>
              <a:r>
                <a:rPr lang="en-GB" sz="2400" dirty="0">
                  <a:latin typeface="Consolas" panose="020B0609020204030204" pitchFamily="49" charset="0"/>
                </a:rPr>
                <a:t>lamb.jpg</a:t>
              </a:r>
            </a:p>
            <a:p>
              <a:r>
                <a:rPr lang="en-GB" sz="2400" dirty="0">
                  <a:latin typeface="Consolas" panose="020B0609020204030204" pitchFamily="49" charset="0"/>
                </a:rPr>
                <a:t>lion.png</a:t>
              </a:r>
            </a:p>
            <a:p>
              <a:r>
                <a:rPr lang="en-GB" sz="2400" dirty="0">
                  <a:latin typeface="Consolas" panose="020B0609020204030204" pitchFamily="49" charset="0"/>
                </a:rPr>
                <a:t>wolf.gif</a:t>
              </a:r>
            </a:p>
          </p:txBody>
        </p:sp>
      </p:grpSp>
      <p:sp>
        <p:nvSpPr>
          <p:cNvPr id="22" name="Callout: Bent Line with No Border 21">
            <a:extLst>
              <a:ext uri="{FF2B5EF4-FFF2-40B4-BE49-F238E27FC236}">
                <a16:creationId xmlns:a16="http://schemas.microsoft.com/office/drawing/2014/main" id="{07A86949-E86B-4892-ABF0-D85995D93C10}"/>
              </a:ext>
            </a:extLst>
          </p:cNvPr>
          <p:cNvSpPr/>
          <p:nvPr/>
        </p:nvSpPr>
        <p:spPr>
          <a:xfrm flipH="1">
            <a:off x="2850240" y="2125860"/>
            <a:ext cx="1500430" cy="862642"/>
          </a:xfrm>
          <a:prstGeom prst="callout2">
            <a:avLst>
              <a:gd name="adj1" fmla="val 49217"/>
              <a:gd name="adj2" fmla="val -30"/>
              <a:gd name="adj3" fmla="val 49740"/>
              <a:gd name="adj4" fmla="val -12980"/>
              <a:gd name="adj5" fmla="val 84255"/>
              <a:gd name="adj6" fmla="val -561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Folder</a:t>
            </a:r>
          </a:p>
        </p:txBody>
      </p:sp>
      <p:sp>
        <p:nvSpPr>
          <p:cNvPr id="23" name="Callout: Bent Line with No Border 22">
            <a:extLst>
              <a:ext uri="{FF2B5EF4-FFF2-40B4-BE49-F238E27FC236}">
                <a16:creationId xmlns:a16="http://schemas.microsoft.com/office/drawing/2014/main" id="{CE7B039D-1DE0-4F0F-AB4B-F123BE21C45D}"/>
              </a:ext>
            </a:extLst>
          </p:cNvPr>
          <p:cNvSpPr/>
          <p:nvPr/>
        </p:nvSpPr>
        <p:spPr>
          <a:xfrm>
            <a:off x="8474976" y="2125860"/>
            <a:ext cx="1500430" cy="862642"/>
          </a:xfrm>
          <a:prstGeom prst="callout2">
            <a:avLst>
              <a:gd name="adj1" fmla="val 49217"/>
              <a:gd name="adj2" fmla="val -30"/>
              <a:gd name="adj3" fmla="val 49740"/>
              <a:gd name="adj4" fmla="val -12980"/>
              <a:gd name="adj5" fmla="val 84255"/>
              <a:gd name="adj6" fmla="val -561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Files</a:t>
            </a:r>
          </a:p>
        </p:txBody>
      </p:sp>
    </p:spTree>
    <p:extLst>
      <p:ext uri="{BB962C8B-B14F-4D97-AF65-F5344CB8AC3E}">
        <p14:creationId xmlns:p14="http://schemas.microsoft.com/office/powerpoint/2010/main" val="130580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1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1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1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up)">
                                      <p:cBhvr>
                                        <p:cTn id="22" dur="1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1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1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Grouping - </a:t>
            </a:r>
            <a:r>
              <a:rPr lang="en-GB" dirty="0">
                <a:latin typeface="Consolas" panose="020B0609020204030204" pitchFamily="49" charset="0"/>
              </a:rPr>
              <a:t>div</a:t>
            </a:r>
            <a:r>
              <a:rPr lang="en-GB" dirty="0"/>
              <a:t>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&lt;div&gt;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&lt;h2&gt;</a:t>
            </a:r>
            <a:r>
              <a:rPr lang="en-US" altLang="en-US" sz="4000" dirty="0">
                <a:solidFill>
                  <a:srgbClr val="000000"/>
                </a:solidFill>
                <a:latin typeface="Consolas" panose="020B0609020204030204" pitchFamily="49" charset="0"/>
              </a:rPr>
              <a:t>Grouping elements</a:t>
            </a:r>
            <a:r>
              <a:rPr lang="en-US" altLang="en-US" sz="4000" dirty="0">
                <a:solidFill>
                  <a:srgbClr val="A71D5D"/>
                </a:solidFill>
                <a:latin typeface="Consolas" panose="020B0609020204030204" pitchFamily="49" charset="0"/>
              </a:rPr>
              <a:t>&lt;/h2&gt;</a:t>
            </a: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&lt;p&gt;</a:t>
            </a:r>
            <a:r>
              <a:rPr lang="en-US" altLang="en-US" sz="4000" dirty="0">
                <a:solidFill>
                  <a:srgbClr val="000000"/>
                </a:solidFill>
                <a:latin typeface="Consolas" panose="020B0609020204030204" pitchFamily="49" charset="0"/>
              </a:rPr>
              <a:t>Useful for formatting</a:t>
            </a:r>
            <a:r>
              <a:rPr lang="en-US" altLang="en-US" sz="4000" dirty="0">
                <a:solidFill>
                  <a:srgbClr val="A71D5D"/>
                </a:solidFill>
                <a:latin typeface="Consolas" panose="020B0609020204030204" pitchFamily="49" charset="0"/>
              </a:rPr>
              <a:t>&lt;/p&gt;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&lt;/div&gt;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GB" sz="3600" dirty="0">
              <a:latin typeface="Consolas" panose="020B0609020204030204" pitchFamily="49" charset="0"/>
            </a:endParaRPr>
          </a:p>
        </p:txBody>
      </p:sp>
      <p:sp>
        <p:nvSpPr>
          <p:cNvPr id="4" name="TextBox 3">
            <a:extLst>
              <a:ext uri="{FF2B5EF4-FFF2-40B4-BE49-F238E27FC236}">
                <a16:creationId xmlns:a16="http://schemas.microsoft.com/office/drawing/2014/main" id="{C40978C1-2FE4-9664-9E88-60E85F4313AC}"/>
              </a:ext>
            </a:extLst>
          </p:cNvPr>
          <p:cNvSpPr txBox="1"/>
          <p:nvPr/>
        </p:nvSpPr>
        <p:spPr>
          <a:xfrm>
            <a:off x="2454089" y="5846544"/>
            <a:ext cx="7283853" cy="646331"/>
          </a:xfrm>
          <a:prstGeom prst="rect">
            <a:avLst/>
          </a:prstGeom>
          <a:noFill/>
        </p:spPr>
        <p:txBody>
          <a:bodyPr wrap="none" rtlCol="0">
            <a:spAutoFit/>
          </a:bodyPr>
          <a:lstStyle/>
          <a:p>
            <a:pPr algn="ctr"/>
            <a:r>
              <a:rPr lang="en-GB" sz="3600" dirty="0">
                <a:solidFill>
                  <a:srgbClr val="7030A0"/>
                </a:solidFill>
              </a:rPr>
              <a:t>A </a:t>
            </a:r>
            <a:r>
              <a:rPr lang="en-GB" sz="3600" dirty="0">
                <a:solidFill>
                  <a:srgbClr val="A71D5D"/>
                </a:solidFill>
                <a:latin typeface="Consolas" panose="020B0609020204030204" pitchFamily="49" charset="0"/>
              </a:rPr>
              <a:t>div</a:t>
            </a:r>
            <a:r>
              <a:rPr lang="en-GB" sz="3600" dirty="0">
                <a:solidFill>
                  <a:srgbClr val="7030A0"/>
                </a:solidFill>
              </a:rPr>
              <a:t> element is there for its children</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112589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0" end="0"/>
                                            </p:txEl>
                                          </p:spTgt>
                                        </p:tgtEl>
                                        <p:attrNameLst>
                                          <p:attrName>style.visibility</p:attrName>
                                        </p:attrNameLst>
                                      </p:cBhvr>
                                      <p:to>
                                        <p:strVal val="visible"/>
                                      </p:to>
                                    </p:set>
                                    <p:animEffect transition="in" filter="wipe(left)">
                                      <p:cBhvr>
                                        <p:cTn id="32"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A08D8C-B9B1-39ED-4D7E-C50DA1EC0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5081A-E8C7-D51F-B8F2-69E13EC719B8}"/>
              </a:ext>
            </a:extLst>
          </p:cNvPr>
          <p:cNvSpPr>
            <a:spLocks noGrp="1"/>
          </p:cNvSpPr>
          <p:nvPr>
            <p:ph type="title"/>
          </p:nvPr>
        </p:nvSpPr>
        <p:spPr/>
        <p:txBody>
          <a:bodyPr/>
          <a:lstStyle/>
          <a:p>
            <a:r>
              <a:rPr lang="en-GB" dirty="0"/>
              <a:t>Grouping - </a:t>
            </a:r>
            <a:r>
              <a:rPr lang="en-GB" dirty="0">
                <a:latin typeface="Consolas" panose="020B0609020204030204" pitchFamily="49" charset="0"/>
              </a:rPr>
              <a:t>div</a:t>
            </a:r>
            <a:r>
              <a:rPr lang="en-GB" dirty="0"/>
              <a:t>	</a:t>
            </a:r>
          </a:p>
        </p:txBody>
      </p:sp>
      <p:sp>
        <p:nvSpPr>
          <p:cNvPr id="3" name="Content Placeholder 2">
            <a:extLst>
              <a:ext uri="{FF2B5EF4-FFF2-40B4-BE49-F238E27FC236}">
                <a16:creationId xmlns:a16="http://schemas.microsoft.com/office/drawing/2014/main" id="{B45CD6D6-9A75-9590-22EF-A4DD7AEEBB99}"/>
              </a:ext>
            </a:extLst>
          </p:cNvPr>
          <p:cNvSpPr>
            <a:spLocks noGrp="1"/>
          </p:cNvSpPr>
          <p:nvPr>
            <p:ph idx="1"/>
          </p:nvPr>
        </p:nvSpPr>
        <p:spPr/>
        <p:txBody>
          <a:bodyPr>
            <a:no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A71D5D"/>
                </a:solidFill>
                <a:latin typeface="Consolas" panose="020B0609020204030204" pitchFamily="49" charset="0"/>
              </a:rPr>
              <a:t>&lt;div&gt;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2     </a:t>
            </a:r>
            <a:r>
              <a:rPr lang="en-US" altLang="en-US" sz="4000" dirty="0">
                <a:solidFill>
                  <a:srgbClr val="A71D5D"/>
                </a:solidFill>
                <a:latin typeface="Consolas" panose="020B0609020204030204" pitchFamily="49" charset="0"/>
              </a:rPr>
              <a:t>&lt;h3&gt;</a:t>
            </a:r>
            <a:r>
              <a:rPr lang="en-US" altLang="en-US" sz="4000" dirty="0">
                <a:solidFill>
                  <a:srgbClr val="000000"/>
                </a:solidFill>
                <a:latin typeface="Consolas" panose="020B0609020204030204" pitchFamily="49" charset="0"/>
              </a:rPr>
              <a:t>div groups elements</a:t>
            </a:r>
            <a:r>
              <a:rPr lang="en-US" altLang="en-US" sz="4000" dirty="0">
                <a:solidFill>
                  <a:srgbClr val="A71D5D"/>
                </a:solidFill>
                <a:latin typeface="Consolas" panose="020B0609020204030204" pitchFamily="49" charset="0"/>
              </a:rPr>
              <a:t>&lt;/h3&gt;</a:t>
            </a:r>
          </a:p>
          <a:p>
            <a:pPr marL="0" indent="0">
              <a:buNone/>
            </a:pPr>
            <a:r>
              <a:rPr lang="en-US" altLang="en-US" sz="4000" dirty="0">
                <a:solidFill>
                  <a:srgbClr val="B2B2B2"/>
                </a:solidFill>
                <a:latin typeface="Consolas" panose="020B0609020204030204" pitchFamily="49" charset="0"/>
              </a:rPr>
              <a:t>3     </a:t>
            </a:r>
            <a:r>
              <a:rPr lang="en-US" altLang="en-US" sz="4000" dirty="0">
                <a:solidFill>
                  <a:srgbClr val="A71D5D"/>
                </a:solidFill>
                <a:latin typeface="Consolas" panose="020B0609020204030204" pitchFamily="49" charset="0"/>
              </a:rPr>
              <a:t>&lt;p&gt;</a:t>
            </a:r>
            <a:r>
              <a:rPr lang="en-US" altLang="en-US" sz="4000" dirty="0">
                <a:solidFill>
                  <a:srgbClr val="000000"/>
                </a:solidFill>
                <a:latin typeface="Consolas" panose="020B0609020204030204" pitchFamily="49" charset="0"/>
              </a:rPr>
              <a:t>Useful for formatting</a:t>
            </a:r>
            <a:r>
              <a:rPr lang="en-US" altLang="en-US" sz="4000" dirty="0">
                <a:solidFill>
                  <a:srgbClr val="A71D5D"/>
                </a:solidFill>
                <a:latin typeface="Consolas" panose="020B0609020204030204" pitchFamily="49" charset="0"/>
              </a:rPr>
              <a:t>&lt;/p&gt;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&lt;/div&gt;</a:t>
            </a:r>
            <a:endParaRPr lang="en-US" altLang="en-US" sz="4000" dirty="0">
              <a:solidFill>
                <a:srgbClr val="000000"/>
              </a:solidFill>
              <a:latin typeface="Consolas" panose="020B0609020204030204" pitchFamily="49" charset="0"/>
            </a:endParaRPr>
          </a:p>
          <a:p>
            <a:pPr marL="0" indent="0">
              <a:buNone/>
            </a:pPr>
            <a:r>
              <a:rPr lang="en-US" altLang="en-US" sz="4000" dirty="0">
                <a:solidFill>
                  <a:srgbClr val="B2B2B2"/>
                </a:solidFill>
                <a:latin typeface="Consolas" panose="020B0609020204030204" pitchFamily="49" charset="0"/>
              </a:rPr>
              <a:t>5 </a:t>
            </a:r>
            <a:r>
              <a:rPr lang="en-US" altLang="en-US" sz="4000" dirty="0">
                <a:solidFill>
                  <a:srgbClr val="A71D5D"/>
                </a:solidFill>
                <a:latin typeface="Consolas" panose="020B0609020204030204" pitchFamily="49" charset="0"/>
              </a:rPr>
              <a:t>&lt;/body&gt;</a:t>
            </a:r>
            <a:endParaRPr lang="en-GB" sz="3600" dirty="0">
              <a:latin typeface="Consolas" panose="020B0609020204030204" pitchFamily="49" charset="0"/>
            </a:endParaRPr>
          </a:p>
        </p:txBody>
      </p:sp>
      <p:sp>
        <p:nvSpPr>
          <p:cNvPr id="4" name="TextBox 3">
            <a:extLst>
              <a:ext uri="{FF2B5EF4-FFF2-40B4-BE49-F238E27FC236}">
                <a16:creationId xmlns:a16="http://schemas.microsoft.com/office/drawing/2014/main" id="{D72DFD4E-BB8C-CF14-12DE-A98BA6909324}"/>
              </a:ext>
            </a:extLst>
          </p:cNvPr>
          <p:cNvSpPr txBox="1"/>
          <p:nvPr/>
        </p:nvSpPr>
        <p:spPr>
          <a:xfrm>
            <a:off x="2200815" y="5846544"/>
            <a:ext cx="6169446" cy="646331"/>
          </a:xfrm>
          <a:prstGeom prst="rect">
            <a:avLst/>
          </a:prstGeom>
          <a:noFill/>
        </p:spPr>
        <p:txBody>
          <a:bodyPr wrap="none" rtlCol="0">
            <a:spAutoFit/>
          </a:bodyPr>
          <a:lstStyle/>
          <a:p>
            <a:r>
              <a:rPr lang="en-GB" sz="3600" dirty="0">
                <a:solidFill>
                  <a:srgbClr val="7030A0"/>
                </a:solidFill>
              </a:rPr>
              <a:t>A </a:t>
            </a:r>
            <a:r>
              <a:rPr lang="en-GB" sz="3600" dirty="0">
                <a:solidFill>
                  <a:srgbClr val="A71D5D"/>
                </a:solidFill>
                <a:latin typeface="Consolas" panose="020B0609020204030204" pitchFamily="49" charset="0"/>
              </a:rPr>
              <a:t>     </a:t>
            </a:r>
            <a:r>
              <a:rPr lang="en-GB" sz="3600" dirty="0">
                <a:solidFill>
                  <a:srgbClr val="7030A0"/>
                </a:solidFill>
              </a:rPr>
              <a:t> element is there for its</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9294011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78CDB5E-6EEB-4FE4-5FDA-556CBFDF6B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B29888-40A1-2071-D217-C0EA487D93AA}"/>
              </a:ext>
            </a:extLst>
          </p:cNvPr>
          <p:cNvSpPr txBox="1"/>
          <p:nvPr/>
        </p:nvSpPr>
        <p:spPr>
          <a:xfrm>
            <a:off x="1356122" y="889843"/>
            <a:ext cx="9479756" cy="4247317"/>
          </a:xfrm>
          <a:prstGeom prst="rect">
            <a:avLst/>
          </a:prstGeom>
          <a:noFill/>
        </p:spPr>
        <p:txBody>
          <a:bodyPr wrap="square">
            <a:spAutoFit/>
          </a:bodyPr>
          <a:lstStyle/>
          <a:p>
            <a:r>
              <a:rPr lang="en-GB" i="0" dirty="0">
                <a:effectLst/>
                <a:latin typeface="Arial" panose="020B0604020202020204" pitchFamily="34" charset="0"/>
                <a:cs typeface="Arial" panose="020B0604020202020204" pitchFamily="34" charset="0"/>
              </a:rPr>
              <a:t>&lt;table&gt;</a:t>
            </a:r>
          </a:p>
          <a:p>
            <a:r>
              <a:rPr lang="en-GB" dirty="0">
                <a:latin typeface="Arial" panose="020B0604020202020204" pitchFamily="34" charset="0"/>
                <a:cs typeface="Arial" panose="020B0604020202020204" pitchFamily="34" charset="0"/>
              </a:rPr>
              <a:t>&lt;caption&gt;</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&lt;</a:t>
            </a:r>
            <a:r>
              <a:rPr lang="en-GB" dirty="0" err="1">
                <a:latin typeface="Arial" panose="020B0604020202020204" pitchFamily="34" charset="0"/>
                <a:cs typeface="Arial" panose="020B0604020202020204" pitchFamily="34" charset="0"/>
              </a:rPr>
              <a:t>thead</a:t>
            </a:r>
            <a:r>
              <a:rPr lang="en-GB" dirty="0">
                <a:latin typeface="Arial" panose="020B0604020202020204" pitchFamily="34" charset="0"/>
                <a:cs typeface="Arial" panose="020B0604020202020204" pitchFamily="34" charset="0"/>
              </a:rPr>
              <a:t>&gt;</a:t>
            </a:r>
          </a:p>
          <a:p>
            <a:r>
              <a:rPr lang="en-GB" i="0" dirty="0">
                <a:effectLst/>
                <a:latin typeface="Arial" panose="020B0604020202020204" pitchFamily="34" charset="0"/>
                <a:cs typeface="Arial" panose="020B0604020202020204" pitchFamily="34" charset="0"/>
              </a:rPr>
              <a:t>&lt;tr&gt;&lt;</a:t>
            </a:r>
            <a:r>
              <a:rPr lang="en-GB" i="0" dirty="0" err="1">
                <a:effectLst/>
                <a:latin typeface="Arial" panose="020B0604020202020204" pitchFamily="34" charset="0"/>
                <a:cs typeface="Arial" panose="020B0604020202020204" pitchFamily="34" charset="0"/>
              </a:rPr>
              <a:t>th</a:t>
            </a:r>
            <a:r>
              <a:rPr lang="en-GB" i="0" dirty="0">
                <a:effectLst/>
                <a:latin typeface="Arial" panose="020B0604020202020204" pitchFamily="34" charset="0"/>
                <a:cs typeface="Arial" panose="020B0604020202020204" pitchFamily="34" charset="0"/>
              </a:rPr>
              <a:t>&gt;</a:t>
            </a:r>
          </a:p>
          <a:p>
            <a:r>
              <a:rPr lang="en-GB" dirty="0">
                <a:latin typeface="Arial" panose="020B0604020202020204" pitchFamily="34" charset="0"/>
                <a:cs typeface="Arial" panose="020B0604020202020204" pitchFamily="34" charset="0"/>
              </a:rPr>
              <a:t>&lt;tr&gt;&lt;</a:t>
            </a:r>
            <a:r>
              <a:rPr lang="en-GB" dirty="0" err="1">
                <a:latin typeface="Arial" panose="020B0604020202020204" pitchFamily="34" charset="0"/>
                <a:cs typeface="Arial" panose="020B0604020202020204" pitchFamily="34" charset="0"/>
              </a:rPr>
              <a:t>th</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colspan</a:t>
            </a:r>
            <a:r>
              <a:rPr lang="en-GB" dirty="0">
                <a:latin typeface="Arial" panose="020B0604020202020204" pitchFamily="34" charset="0"/>
                <a:cs typeface="Arial" panose="020B0604020202020204" pitchFamily="34" charset="0"/>
              </a:rPr>
              <a:t>="3"&gt;</a:t>
            </a:r>
          </a:p>
          <a:p>
            <a:r>
              <a:rPr lang="en-GB" dirty="0">
                <a:latin typeface="Arial" panose="020B0604020202020204" pitchFamily="34" charset="0"/>
                <a:cs typeface="Arial" panose="020B0604020202020204" pitchFamily="34" charset="0"/>
              </a:rPr>
              <a:t>&lt;tr&gt;&lt;</a:t>
            </a:r>
            <a:r>
              <a:rPr lang="en-GB" dirty="0" err="1">
                <a:latin typeface="Arial" panose="020B0604020202020204" pitchFamily="34" charset="0"/>
                <a:cs typeface="Arial" panose="020B0604020202020204" pitchFamily="34" charset="0"/>
              </a:rPr>
              <a:t>th</a:t>
            </a:r>
            <a:r>
              <a:rPr lang="en-GB" dirty="0">
                <a:latin typeface="Arial" panose="020B0604020202020204" pitchFamily="34" charset="0"/>
                <a:cs typeface="Arial" panose="020B0604020202020204" pitchFamily="34" charset="0"/>
              </a:rPr>
              <a:t> </a:t>
            </a:r>
            <a:r>
              <a:rPr lang="en-GB" dirty="0" err="1">
                <a:latin typeface="Arial" panose="020B0604020202020204" pitchFamily="34" charset="0"/>
                <a:cs typeface="Arial" panose="020B0604020202020204" pitchFamily="34" charset="0"/>
              </a:rPr>
              <a:t>rowspan</a:t>
            </a:r>
            <a:r>
              <a:rPr lang="en-GB" dirty="0">
                <a:latin typeface="Arial" panose="020B0604020202020204" pitchFamily="34" charset="0"/>
                <a:cs typeface="Arial" panose="020B0604020202020204" pitchFamily="34" charset="0"/>
              </a:rPr>
              <a:t>="2"&gt;</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&lt;</a:t>
            </a:r>
            <a:r>
              <a:rPr lang="en-GB" dirty="0" err="1">
                <a:latin typeface="Arial" panose="020B0604020202020204" pitchFamily="34" charset="0"/>
                <a:cs typeface="Arial" panose="020B0604020202020204" pitchFamily="34" charset="0"/>
              </a:rPr>
              <a:t>tbody</a:t>
            </a:r>
            <a:r>
              <a:rPr lang="en-GB" dirty="0">
                <a:latin typeface="Arial" panose="020B0604020202020204" pitchFamily="34" charset="0"/>
                <a:cs typeface="Arial" panose="020B0604020202020204" pitchFamily="34" charset="0"/>
              </a:rPr>
              <a:t>&gt;</a:t>
            </a:r>
          </a:p>
          <a:p>
            <a:r>
              <a:rPr lang="en-GB" dirty="0">
                <a:latin typeface="Arial" panose="020B0604020202020204" pitchFamily="34" charset="0"/>
                <a:cs typeface="Arial" panose="020B0604020202020204" pitchFamily="34" charset="0"/>
              </a:rPr>
              <a:t>&lt;tr&gt;&lt;td&gt;</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&lt;</a:t>
            </a:r>
            <a:r>
              <a:rPr lang="en-GB" dirty="0" err="1">
                <a:latin typeface="Arial" panose="020B0604020202020204" pitchFamily="34" charset="0"/>
                <a:cs typeface="Arial" panose="020B0604020202020204" pitchFamily="34" charset="0"/>
              </a:rPr>
              <a:t>tfoot</a:t>
            </a:r>
            <a:r>
              <a:rPr lang="en-GB" dirty="0">
                <a:latin typeface="Arial" panose="020B0604020202020204" pitchFamily="34" charset="0"/>
                <a:cs typeface="Arial" panose="020B0604020202020204" pitchFamily="34" charset="0"/>
              </a:rPr>
              <a:t>&gt;</a:t>
            </a:r>
          </a:p>
          <a:p>
            <a:r>
              <a:rPr lang="en-GB" i="0" dirty="0">
                <a:effectLst/>
                <a:latin typeface="Arial" panose="020B0604020202020204" pitchFamily="34" charset="0"/>
                <a:cs typeface="Arial" panose="020B0604020202020204" pitchFamily="34" charset="0"/>
              </a:rPr>
              <a:t>&lt;tr&gt;&lt;td&gt;</a:t>
            </a:r>
          </a:p>
          <a:p>
            <a:endParaRPr lang="en-GB" dirty="0">
              <a:latin typeface="Arial" panose="020B0604020202020204" pitchFamily="34" charset="0"/>
              <a:cs typeface="Arial" panose="020B0604020202020204" pitchFamily="34" charset="0"/>
            </a:endParaRPr>
          </a:p>
          <a:p>
            <a:r>
              <a:rPr lang="en-GB" i="0" dirty="0">
                <a:effectLst/>
                <a:latin typeface="Arial" panose="020B0604020202020204" pitchFamily="34" charset="0"/>
                <a:cs typeface="Arial" panose="020B0604020202020204" pitchFamily="34" charset="0"/>
              </a:rPr>
              <a:t>&lt;summary&gt;</a:t>
            </a:r>
          </a:p>
        </p:txBody>
      </p:sp>
    </p:spTree>
    <p:extLst>
      <p:ext uri="{BB962C8B-B14F-4D97-AF65-F5344CB8AC3E}">
        <p14:creationId xmlns:p14="http://schemas.microsoft.com/office/powerpoint/2010/main" val="23522681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MIME Types – Images / Files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idx="1"/>
          </p:nvPr>
        </p:nvSpPr>
        <p:spPr>
          <a:xfrm>
            <a:off x="838200" y="1825624"/>
            <a:ext cx="10515600" cy="4848713"/>
          </a:xfrm>
        </p:spPr>
        <p:txBody>
          <a:bodyPr>
            <a:normAutofit/>
          </a:bodyPr>
          <a:lstStyle/>
          <a:p>
            <a:r>
              <a:rPr lang="en-GB" sz="3600" dirty="0">
                <a:latin typeface="Consolas" panose="020B0609020204030204" pitchFamily="49" charset="0"/>
              </a:rPr>
              <a:t>image/gif</a:t>
            </a:r>
          </a:p>
          <a:p>
            <a:r>
              <a:rPr lang="en-GB" sz="3600" dirty="0">
                <a:latin typeface="Consolas" panose="020B0609020204030204" pitchFamily="49" charset="0"/>
              </a:rPr>
              <a:t>image/jpeg</a:t>
            </a:r>
          </a:p>
          <a:p>
            <a:r>
              <a:rPr lang="en-GB" sz="3600" dirty="0">
                <a:latin typeface="Consolas" panose="020B0609020204030204" pitchFamily="49" charset="0"/>
              </a:rPr>
              <a:t>image/</a:t>
            </a:r>
            <a:r>
              <a:rPr lang="en-GB" sz="3600" dirty="0" err="1">
                <a:latin typeface="Consolas" panose="020B0609020204030204" pitchFamily="49" charset="0"/>
              </a:rPr>
              <a:t>png</a:t>
            </a:r>
            <a:endParaRPr lang="en-GB" sz="3600" dirty="0">
              <a:latin typeface="Consolas" panose="020B0609020204030204" pitchFamily="49" charset="0"/>
            </a:endParaRPr>
          </a:p>
          <a:p>
            <a:r>
              <a:rPr lang="en-GB" sz="3600" dirty="0">
                <a:latin typeface="Consolas" panose="020B0609020204030204" pitchFamily="49" charset="0"/>
              </a:rPr>
              <a:t>text/</a:t>
            </a:r>
            <a:r>
              <a:rPr lang="en-GB" sz="3600" dirty="0" err="1">
                <a:latin typeface="Consolas" panose="020B0609020204030204" pitchFamily="49" charset="0"/>
              </a:rPr>
              <a:t>css</a:t>
            </a:r>
            <a:endParaRPr lang="en-GB" sz="3600" dirty="0">
              <a:latin typeface="Consolas" panose="020B0609020204030204" pitchFamily="49" charset="0"/>
            </a:endParaRPr>
          </a:p>
          <a:p>
            <a:r>
              <a:rPr lang="en-GB" sz="3600" dirty="0">
                <a:latin typeface="Consolas" panose="020B0609020204030204" pitchFamily="49" charset="0"/>
              </a:rPr>
              <a:t>text/</a:t>
            </a:r>
            <a:r>
              <a:rPr lang="en-GB" sz="3600" dirty="0" err="1">
                <a:latin typeface="Consolas" panose="020B0609020204030204" pitchFamily="49" charset="0"/>
              </a:rPr>
              <a:t>javascript</a:t>
            </a:r>
            <a:endParaRPr lang="en-GB" sz="3600" dirty="0">
              <a:latin typeface="Consolas" panose="020B0609020204030204" pitchFamily="49" charset="0"/>
            </a:endParaRPr>
          </a:p>
        </p:txBody>
      </p:sp>
      <p:grpSp>
        <p:nvGrpSpPr>
          <p:cNvPr id="5" name="Group 4">
            <a:extLst>
              <a:ext uri="{FF2B5EF4-FFF2-40B4-BE49-F238E27FC236}">
                <a16:creationId xmlns:a16="http://schemas.microsoft.com/office/drawing/2014/main" id="{4A998278-E3AA-3A99-CA7F-AD168F4F5BFB}"/>
              </a:ext>
            </a:extLst>
          </p:cNvPr>
          <p:cNvGrpSpPr/>
          <p:nvPr/>
        </p:nvGrpSpPr>
        <p:grpSpPr>
          <a:xfrm>
            <a:off x="5017912" y="1955921"/>
            <a:ext cx="2915187" cy="1869273"/>
            <a:chOff x="3844205" y="3232875"/>
            <a:chExt cx="2915187" cy="2423752"/>
          </a:xfrm>
        </p:grpSpPr>
        <p:sp>
          <p:nvSpPr>
            <p:cNvPr id="6" name="TextBox 5">
              <a:extLst>
                <a:ext uri="{FF2B5EF4-FFF2-40B4-BE49-F238E27FC236}">
                  <a16:creationId xmlns:a16="http://schemas.microsoft.com/office/drawing/2014/main" id="{70319743-DC6D-213F-96A4-01D6AB5BBFFB}"/>
                </a:ext>
              </a:extLst>
            </p:cNvPr>
            <p:cNvSpPr txBox="1"/>
            <p:nvPr/>
          </p:nvSpPr>
          <p:spPr>
            <a:xfrm>
              <a:off x="4496307" y="4024643"/>
              <a:ext cx="2263085" cy="840215"/>
            </a:xfrm>
            <a:prstGeom prst="rect">
              <a:avLst/>
            </a:prstGeom>
            <a:noFill/>
          </p:spPr>
          <p:txBody>
            <a:bodyPr wrap="square" rtlCol="0">
              <a:spAutoFit/>
            </a:bodyPr>
            <a:lstStyle/>
            <a:p>
              <a:r>
                <a:rPr lang="en-GB" sz="3600" dirty="0"/>
                <a:t>Image files</a:t>
              </a:r>
              <a:endParaRPr lang="en-GB" sz="3600" dirty="0">
                <a:solidFill>
                  <a:srgbClr val="7030A0"/>
                </a:solidFill>
                <a:latin typeface="Consolas" panose="020B0609020204030204" pitchFamily="49" charset="0"/>
              </a:endParaRPr>
            </a:p>
          </p:txBody>
        </p:sp>
        <p:sp>
          <p:nvSpPr>
            <p:cNvPr id="7" name="Right Brace 6">
              <a:extLst>
                <a:ext uri="{FF2B5EF4-FFF2-40B4-BE49-F238E27FC236}">
                  <a16:creationId xmlns:a16="http://schemas.microsoft.com/office/drawing/2014/main" id="{135B00E6-24C9-1207-FD38-92793CDBE4A9}"/>
                </a:ext>
              </a:extLst>
            </p:cNvPr>
            <p:cNvSpPr/>
            <p:nvPr/>
          </p:nvSpPr>
          <p:spPr>
            <a:xfrm>
              <a:off x="3844205" y="3232875"/>
              <a:ext cx="372533" cy="2423752"/>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DE069F22-6F4E-FF6F-9D7F-899EF3D5D275}"/>
              </a:ext>
            </a:extLst>
          </p:cNvPr>
          <p:cNvGrpSpPr/>
          <p:nvPr/>
        </p:nvGrpSpPr>
        <p:grpSpPr>
          <a:xfrm>
            <a:off x="5017911" y="4016610"/>
            <a:ext cx="2915187" cy="1123470"/>
            <a:chOff x="2703690" y="3574663"/>
            <a:chExt cx="2915187" cy="1123470"/>
          </a:xfrm>
        </p:grpSpPr>
        <p:sp>
          <p:nvSpPr>
            <p:cNvPr id="9" name="TextBox 8">
              <a:extLst>
                <a:ext uri="{FF2B5EF4-FFF2-40B4-BE49-F238E27FC236}">
                  <a16:creationId xmlns:a16="http://schemas.microsoft.com/office/drawing/2014/main" id="{38307088-856A-97FC-D947-9DC2C45EB0DD}"/>
                </a:ext>
              </a:extLst>
            </p:cNvPr>
            <p:cNvSpPr txBox="1"/>
            <p:nvPr/>
          </p:nvSpPr>
          <p:spPr>
            <a:xfrm>
              <a:off x="3355792" y="3813232"/>
              <a:ext cx="2263085" cy="646331"/>
            </a:xfrm>
            <a:prstGeom prst="rect">
              <a:avLst/>
            </a:prstGeom>
            <a:noFill/>
          </p:spPr>
          <p:txBody>
            <a:bodyPr wrap="square" rtlCol="0">
              <a:spAutoFit/>
            </a:bodyPr>
            <a:lstStyle/>
            <a:p>
              <a:r>
                <a:rPr lang="en-GB" sz="3600" dirty="0"/>
                <a:t>Linked files</a:t>
              </a:r>
              <a:endParaRPr lang="en-GB" sz="3600" dirty="0">
                <a:solidFill>
                  <a:srgbClr val="7030A0"/>
                </a:solidFill>
                <a:latin typeface="Consolas" panose="020B0609020204030204" pitchFamily="49" charset="0"/>
              </a:endParaRPr>
            </a:p>
          </p:txBody>
        </p:sp>
        <p:sp>
          <p:nvSpPr>
            <p:cNvPr id="10" name="Right Brace 9">
              <a:extLst>
                <a:ext uri="{FF2B5EF4-FFF2-40B4-BE49-F238E27FC236}">
                  <a16:creationId xmlns:a16="http://schemas.microsoft.com/office/drawing/2014/main" id="{E3937D48-A418-3EB8-7452-416A063542E7}"/>
                </a:ext>
              </a:extLst>
            </p:cNvPr>
            <p:cNvSpPr/>
            <p:nvPr/>
          </p:nvSpPr>
          <p:spPr>
            <a:xfrm>
              <a:off x="2703690" y="3574663"/>
              <a:ext cx="372533" cy="1123470"/>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93111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left)">
                                      <p:cBhvr>
                                        <p:cTn id="25" dur="1000"/>
                                        <p:tgtEl>
                                          <p:spTgt spid="3">
                                            <p:txEl>
                                              <p:pRg st="3" end="3"/>
                                            </p:txEl>
                                          </p:spTgt>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wipe(left)">
                                      <p:cBhvr>
                                        <p:cTn id="29" dur="10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MIME Types – Images / Files</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idx="1"/>
          </p:nvPr>
        </p:nvSpPr>
        <p:spPr>
          <a:xfrm>
            <a:off x="838200" y="1825624"/>
            <a:ext cx="10515600" cy="4848713"/>
          </a:xfrm>
        </p:spPr>
        <p:txBody>
          <a:bodyPr>
            <a:normAutofit/>
          </a:bodyPr>
          <a:lstStyle/>
          <a:p>
            <a:r>
              <a:rPr lang="en-GB" sz="3600" dirty="0">
                <a:latin typeface="Consolas" panose="020B0609020204030204" pitchFamily="49" charset="0"/>
              </a:rPr>
              <a:t>image/gif</a:t>
            </a:r>
          </a:p>
          <a:p>
            <a:r>
              <a:rPr lang="en-GB" sz="3600" dirty="0">
                <a:latin typeface="Consolas" panose="020B0609020204030204" pitchFamily="49" charset="0"/>
              </a:rPr>
              <a:t>image/jpeg</a:t>
            </a:r>
          </a:p>
          <a:p>
            <a:r>
              <a:rPr lang="en-GB" sz="3600" dirty="0">
                <a:latin typeface="Consolas" panose="020B0609020204030204" pitchFamily="49" charset="0"/>
              </a:rPr>
              <a:t>image/</a:t>
            </a:r>
            <a:r>
              <a:rPr lang="en-GB" sz="3600" dirty="0" err="1">
                <a:latin typeface="Consolas" panose="020B0609020204030204" pitchFamily="49" charset="0"/>
              </a:rPr>
              <a:t>png</a:t>
            </a:r>
            <a:endParaRPr lang="en-GB" sz="3600" dirty="0">
              <a:latin typeface="Consolas" panose="020B0609020204030204" pitchFamily="49" charset="0"/>
            </a:endParaRPr>
          </a:p>
          <a:p>
            <a:r>
              <a:rPr lang="en-GB" sz="3600" dirty="0">
                <a:latin typeface="Consolas" panose="020B0609020204030204" pitchFamily="49" charset="0"/>
              </a:rPr>
              <a:t>text/</a:t>
            </a:r>
            <a:r>
              <a:rPr lang="en-GB" sz="3600" dirty="0" err="1">
                <a:latin typeface="Consolas" panose="020B0609020204030204" pitchFamily="49" charset="0"/>
              </a:rPr>
              <a:t>css</a:t>
            </a:r>
            <a:endParaRPr lang="en-GB" sz="3600" dirty="0">
              <a:latin typeface="Consolas" panose="020B0609020204030204" pitchFamily="49" charset="0"/>
            </a:endParaRPr>
          </a:p>
          <a:p>
            <a:r>
              <a:rPr lang="en-GB" sz="3600" dirty="0">
                <a:latin typeface="Consolas" panose="020B0609020204030204" pitchFamily="49" charset="0"/>
              </a:rPr>
              <a:t>text/</a:t>
            </a:r>
            <a:r>
              <a:rPr lang="en-GB" sz="3600" dirty="0" err="1">
                <a:latin typeface="Consolas" panose="020B0609020204030204" pitchFamily="49" charset="0"/>
              </a:rPr>
              <a:t>javascript</a:t>
            </a:r>
            <a:endParaRPr lang="en-GB" sz="3600" dirty="0">
              <a:latin typeface="Consolas" panose="020B0609020204030204" pitchFamily="49" charset="0"/>
            </a:endParaRPr>
          </a:p>
        </p:txBody>
      </p:sp>
    </p:spTree>
    <p:extLst>
      <p:ext uri="{BB962C8B-B14F-4D97-AF65-F5344CB8AC3E}">
        <p14:creationId xmlns:p14="http://schemas.microsoft.com/office/powerpoint/2010/main" val="1643274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MIME Types – Audio / Video</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idx="1"/>
          </p:nvPr>
        </p:nvSpPr>
        <p:spPr>
          <a:xfrm>
            <a:off x="838200" y="1825624"/>
            <a:ext cx="10515600" cy="4848713"/>
          </a:xfrm>
        </p:spPr>
        <p:txBody>
          <a:bodyPr>
            <a:normAutofit/>
          </a:bodyPr>
          <a:lstStyle/>
          <a:p>
            <a:r>
              <a:rPr lang="en-GB" sz="3600" dirty="0">
                <a:latin typeface="Consolas" panose="020B0609020204030204" pitchFamily="49" charset="0"/>
              </a:rPr>
              <a:t>audio/mpeg</a:t>
            </a:r>
          </a:p>
          <a:p>
            <a:r>
              <a:rPr lang="en-GB" sz="3600" dirty="0">
                <a:latin typeface="Consolas" panose="020B0609020204030204" pitchFamily="49" charset="0"/>
              </a:rPr>
              <a:t>audio/wav</a:t>
            </a:r>
          </a:p>
          <a:p>
            <a:r>
              <a:rPr lang="en-GB" sz="3600" dirty="0">
                <a:latin typeface="Consolas" panose="020B0609020204030204" pitchFamily="49" charset="0"/>
              </a:rPr>
              <a:t>video/mp4</a:t>
            </a:r>
          </a:p>
          <a:p>
            <a:r>
              <a:rPr lang="en-GB" sz="3600" dirty="0">
                <a:latin typeface="Consolas" panose="020B0609020204030204" pitchFamily="49" charset="0"/>
              </a:rPr>
              <a:t>video/mpeg</a:t>
            </a:r>
          </a:p>
          <a:p>
            <a:endParaRPr lang="en-GB" sz="3600" dirty="0"/>
          </a:p>
        </p:txBody>
      </p:sp>
      <p:grpSp>
        <p:nvGrpSpPr>
          <p:cNvPr id="11" name="Group 10">
            <a:extLst>
              <a:ext uri="{FF2B5EF4-FFF2-40B4-BE49-F238E27FC236}">
                <a16:creationId xmlns:a16="http://schemas.microsoft.com/office/drawing/2014/main" id="{480A8806-68AD-67C6-9653-97EBDCF65F26}"/>
              </a:ext>
            </a:extLst>
          </p:cNvPr>
          <p:cNvGrpSpPr/>
          <p:nvPr/>
        </p:nvGrpSpPr>
        <p:grpSpPr>
          <a:xfrm>
            <a:off x="5017911" y="3297112"/>
            <a:ext cx="2915189" cy="1122488"/>
            <a:chOff x="2703690" y="3610526"/>
            <a:chExt cx="2915189" cy="1122488"/>
          </a:xfrm>
        </p:grpSpPr>
        <p:sp>
          <p:nvSpPr>
            <p:cNvPr id="12" name="TextBox 11">
              <a:extLst>
                <a:ext uri="{FF2B5EF4-FFF2-40B4-BE49-F238E27FC236}">
                  <a16:creationId xmlns:a16="http://schemas.microsoft.com/office/drawing/2014/main" id="{37670DD1-E219-D4E5-0910-27ECDDD6B28B}"/>
                </a:ext>
              </a:extLst>
            </p:cNvPr>
            <p:cNvSpPr txBox="1"/>
            <p:nvPr/>
          </p:nvSpPr>
          <p:spPr>
            <a:xfrm>
              <a:off x="3355794" y="3848604"/>
              <a:ext cx="2263085" cy="646331"/>
            </a:xfrm>
            <a:prstGeom prst="rect">
              <a:avLst/>
            </a:prstGeom>
            <a:noFill/>
          </p:spPr>
          <p:txBody>
            <a:bodyPr wrap="square" rtlCol="0">
              <a:spAutoFit/>
            </a:bodyPr>
            <a:lstStyle/>
            <a:p>
              <a:r>
                <a:rPr lang="en-GB" sz="3600" dirty="0"/>
                <a:t>Video files</a:t>
              </a:r>
              <a:endParaRPr lang="en-GB" sz="3600" dirty="0">
                <a:solidFill>
                  <a:srgbClr val="7030A0"/>
                </a:solidFill>
                <a:latin typeface="Consolas" panose="020B0609020204030204" pitchFamily="49" charset="0"/>
              </a:endParaRPr>
            </a:p>
          </p:txBody>
        </p:sp>
        <p:sp>
          <p:nvSpPr>
            <p:cNvPr id="13" name="Right Brace 12">
              <a:extLst>
                <a:ext uri="{FF2B5EF4-FFF2-40B4-BE49-F238E27FC236}">
                  <a16:creationId xmlns:a16="http://schemas.microsoft.com/office/drawing/2014/main" id="{EA6DF8BC-7946-211A-288F-C7392B4E09B1}"/>
                </a:ext>
              </a:extLst>
            </p:cNvPr>
            <p:cNvSpPr/>
            <p:nvPr/>
          </p:nvSpPr>
          <p:spPr>
            <a:xfrm>
              <a:off x="2703690" y="3610526"/>
              <a:ext cx="372533" cy="1122488"/>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486A23F7-4BEE-0591-A769-AEBE0320D394}"/>
              </a:ext>
            </a:extLst>
          </p:cNvPr>
          <p:cNvGrpSpPr/>
          <p:nvPr/>
        </p:nvGrpSpPr>
        <p:grpSpPr>
          <a:xfrm>
            <a:off x="5017911" y="2074432"/>
            <a:ext cx="2915189" cy="979918"/>
            <a:chOff x="2703690" y="3574663"/>
            <a:chExt cx="2915189" cy="979918"/>
          </a:xfrm>
        </p:grpSpPr>
        <p:sp>
          <p:nvSpPr>
            <p:cNvPr id="17" name="TextBox 16">
              <a:extLst>
                <a:ext uri="{FF2B5EF4-FFF2-40B4-BE49-F238E27FC236}">
                  <a16:creationId xmlns:a16="http://schemas.microsoft.com/office/drawing/2014/main" id="{654C9916-B781-F6A5-7CEF-62A20D8AAD5B}"/>
                </a:ext>
              </a:extLst>
            </p:cNvPr>
            <p:cNvSpPr txBox="1"/>
            <p:nvPr/>
          </p:nvSpPr>
          <p:spPr>
            <a:xfrm>
              <a:off x="3355794" y="3741456"/>
              <a:ext cx="2263085" cy="646331"/>
            </a:xfrm>
            <a:prstGeom prst="rect">
              <a:avLst/>
            </a:prstGeom>
            <a:noFill/>
          </p:spPr>
          <p:txBody>
            <a:bodyPr wrap="square" rtlCol="0">
              <a:spAutoFit/>
            </a:bodyPr>
            <a:lstStyle/>
            <a:p>
              <a:r>
                <a:rPr lang="en-GB" sz="3600" dirty="0"/>
                <a:t>Audio files</a:t>
              </a:r>
              <a:endParaRPr lang="en-GB" sz="3600" dirty="0">
                <a:solidFill>
                  <a:srgbClr val="7030A0"/>
                </a:solidFill>
                <a:latin typeface="Consolas" panose="020B0609020204030204" pitchFamily="49" charset="0"/>
              </a:endParaRPr>
            </a:p>
          </p:txBody>
        </p:sp>
        <p:sp>
          <p:nvSpPr>
            <p:cNvPr id="18" name="Right Brace 17">
              <a:extLst>
                <a:ext uri="{FF2B5EF4-FFF2-40B4-BE49-F238E27FC236}">
                  <a16:creationId xmlns:a16="http://schemas.microsoft.com/office/drawing/2014/main" id="{A567E284-E050-5C51-086D-DA82FD542162}"/>
                </a:ext>
              </a:extLst>
            </p:cNvPr>
            <p:cNvSpPr/>
            <p:nvPr/>
          </p:nvSpPr>
          <p:spPr>
            <a:xfrm>
              <a:off x="2703690" y="3574663"/>
              <a:ext cx="372533" cy="979918"/>
            </a:xfrm>
            <a:prstGeom prst="rightBrace">
              <a:avLst/>
            </a:prstGeom>
            <a:noFill/>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77530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10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wipe(left)">
                                      <p:cBhvr>
                                        <p:cTn id="21" dur="1000"/>
                                        <p:tgtEl>
                                          <p:spTgt spid="3">
                                            <p:txEl>
                                              <p:pRg st="2" end="2"/>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left)">
                                      <p:cBhvr>
                                        <p:cTn id="25" dur="1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A5398-0280-7C80-05B6-3C9375628BA2}"/>
              </a:ext>
            </a:extLst>
          </p:cNvPr>
          <p:cNvSpPr>
            <a:spLocks noGrp="1"/>
          </p:cNvSpPr>
          <p:nvPr>
            <p:ph type="title"/>
          </p:nvPr>
        </p:nvSpPr>
        <p:spPr/>
        <p:txBody>
          <a:bodyPr/>
          <a:lstStyle/>
          <a:p>
            <a:r>
              <a:rPr lang="en-GB" dirty="0"/>
              <a:t>MIME Types – Audio / Video</a:t>
            </a:r>
          </a:p>
        </p:txBody>
      </p:sp>
      <p:sp>
        <p:nvSpPr>
          <p:cNvPr id="3" name="Content Placeholder 2">
            <a:extLst>
              <a:ext uri="{FF2B5EF4-FFF2-40B4-BE49-F238E27FC236}">
                <a16:creationId xmlns:a16="http://schemas.microsoft.com/office/drawing/2014/main" id="{0A148061-4D6D-792D-3F0F-24AFB87A140F}"/>
              </a:ext>
            </a:extLst>
          </p:cNvPr>
          <p:cNvSpPr>
            <a:spLocks noGrp="1"/>
          </p:cNvSpPr>
          <p:nvPr>
            <p:ph idx="1"/>
          </p:nvPr>
        </p:nvSpPr>
        <p:spPr>
          <a:xfrm>
            <a:off x="838200" y="1825624"/>
            <a:ext cx="10515600" cy="4848713"/>
          </a:xfrm>
        </p:spPr>
        <p:txBody>
          <a:bodyPr>
            <a:normAutofit/>
          </a:bodyPr>
          <a:lstStyle/>
          <a:p>
            <a:r>
              <a:rPr lang="en-GB" sz="3600" dirty="0">
                <a:latin typeface="Consolas" panose="020B0609020204030204" pitchFamily="49" charset="0"/>
              </a:rPr>
              <a:t>audio/mpeg</a:t>
            </a:r>
          </a:p>
          <a:p>
            <a:r>
              <a:rPr lang="en-GB" sz="3600" dirty="0">
                <a:latin typeface="Consolas" panose="020B0609020204030204" pitchFamily="49" charset="0"/>
              </a:rPr>
              <a:t>audio/wav</a:t>
            </a:r>
          </a:p>
          <a:p>
            <a:r>
              <a:rPr lang="en-GB" sz="3600" dirty="0">
                <a:latin typeface="Consolas" panose="020B0609020204030204" pitchFamily="49" charset="0"/>
              </a:rPr>
              <a:t>video/mp4</a:t>
            </a:r>
          </a:p>
          <a:p>
            <a:r>
              <a:rPr lang="en-GB" sz="3600" dirty="0">
                <a:latin typeface="Consolas" panose="020B0609020204030204" pitchFamily="49" charset="0"/>
              </a:rPr>
              <a:t>video/mpeg</a:t>
            </a:r>
          </a:p>
          <a:p>
            <a:endParaRPr lang="en-GB" sz="3600" dirty="0"/>
          </a:p>
        </p:txBody>
      </p:sp>
    </p:spTree>
    <p:extLst>
      <p:ext uri="{BB962C8B-B14F-4D97-AF65-F5344CB8AC3E}">
        <p14:creationId xmlns:p14="http://schemas.microsoft.com/office/powerpoint/2010/main" val="31690510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29476D-D802-F1A4-B4C7-C80E5B9D04B2}"/>
              </a:ext>
            </a:extLst>
          </p:cNvPr>
          <p:cNvSpPr txBox="1"/>
          <p:nvPr/>
        </p:nvSpPr>
        <p:spPr>
          <a:xfrm>
            <a:off x="1049655" y="889843"/>
            <a:ext cx="10092690" cy="5078313"/>
          </a:xfrm>
          <a:prstGeom prst="rect">
            <a:avLst/>
          </a:prstGeom>
          <a:noFill/>
        </p:spPr>
        <p:txBody>
          <a:bodyPr wrap="square">
            <a:spAutoFit/>
          </a:bodyPr>
          <a:lstStyle/>
          <a:p>
            <a:pPr algn="l">
              <a:buNone/>
            </a:pPr>
            <a:r>
              <a:rPr lang="en-GB" b="1" i="0" dirty="0">
                <a:effectLst/>
                <a:latin typeface="CiscoSansTT"/>
              </a:rPr>
              <a:t>Block-Level Elements</a:t>
            </a:r>
          </a:p>
          <a:p>
            <a:pPr algn="l">
              <a:buNone/>
            </a:pPr>
            <a:r>
              <a:rPr lang="en-GB" b="0" i="0" dirty="0">
                <a:effectLst/>
                <a:latin typeface="CiscoSansTT"/>
              </a:rPr>
              <a:t>Block-level elements are used to </a:t>
            </a:r>
            <a:r>
              <a:rPr lang="en-GB" b="1" i="0" dirty="0">
                <a:effectLst/>
                <a:latin typeface="CiscoSansTT"/>
              </a:rPr>
              <a:t>create the main structure of a web page</a:t>
            </a:r>
            <a:r>
              <a:rPr lang="en-GB" b="0" i="0" dirty="0">
                <a:effectLst/>
                <a:latin typeface="CiscoSansTT"/>
              </a:rPr>
              <a:t>, such as headers, paragraphs, and lists. They start on a new line and take up the full width of the page, which means that any content placed inside a block-level element will create a new block of content, separate from the content before or after it.</a:t>
            </a:r>
          </a:p>
          <a:p>
            <a:pPr algn="l">
              <a:buNone/>
            </a:pPr>
            <a:r>
              <a:rPr lang="en-GB" b="0" i="0" dirty="0">
                <a:effectLst/>
                <a:latin typeface="CiscoSansTT"/>
              </a:rPr>
              <a:t>Examples of block-level elements include:</a:t>
            </a:r>
          </a:p>
          <a:p>
            <a:pPr algn="l">
              <a:buFont typeface="Arial" panose="020B0604020202020204" pitchFamily="34" charset="0"/>
              <a:buChar char="•"/>
            </a:pPr>
            <a:r>
              <a:rPr lang="en-GB" b="0" i="0" dirty="0">
                <a:effectLst/>
                <a:latin typeface="Courier New" panose="02070309020205020404" pitchFamily="49" charset="0"/>
              </a:rPr>
              <a:t>&lt;h1&gt;</a:t>
            </a:r>
            <a:r>
              <a:rPr lang="en-GB" b="0" i="0" dirty="0">
                <a:effectLst/>
                <a:latin typeface="CiscoSansTT"/>
              </a:rPr>
              <a:t> through </a:t>
            </a:r>
            <a:r>
              <a:rPr lang="en-GB" b="0" i="0" dirty="0">
                <a:effectLst/>
                <a:latin typeface="Courier New" panose="02070309020205020404" pitchFamily="49" charset="0"/>
              </a:rPr>
              <a:t>&lt;h6&gt;</a:t>
            </a:r>
            <a:r>
              <a:rPr lang="en-GB" b="0" i="0" dirty="0">
                <a:effectLst/>
                <a:latin typeface="CiscoSansTT"/>
              </a:rPr>
              <a:t> for headings,</a:t>
            </a:r>
          </a:p>
          <a:p>
            <a:pPr algn="l">
              <a:buFont typeface="Arial" panose="020B0604020202020204" pitchFamily="34" charset="0"/>
              <a:buChar char="•"/>
            </a:pPr>
            <a:r>
              <a:rPr lang="en-GB" b="0" i="0" dirty="0">
                <a:effectLst/>
                <a:latin typeface="Courier New" panose="02070309020205020404" pitchFamily="49" charset="0"/>
              </a:rPr>
              <a:t>&lt;p&gt;</a:t>
            </a:r>
            <a:r>
              <a:rPr lang="en-GB" b="0" i="0" dirty="0">
                <a:effectLst/>
                <a:latin typeface="CiscoSansTT"/>
              </a:rPr>
              <a:t> for paragraphs,</a:t>
            </a:r>
          </a:p>
          <a:p>
            <a:pPr algn="l">
              <a:buFont typeface="Arial" panose="020B0604020202020204" pitchFamily="34" charset="0"/>
              <a:buChar char="•"/>
            </a:pPr>
            <a:r>
              <a:rPr lang="en-GB" b="0" i="0" dirty="0">
                <a:effectLst/>
                <a:latin typeface="Courier New" panose="02070309020205020404" pitchFamily="49" charset="0"/>
              </a:rPr>
              <a:t>&lt;</a:t>
            </a:r>
            <a:r>
              <a:rPr lang="en-GB" b="0" i="0" dirty="0" err="1">
                <a:effectLst/>
                <a:latin typeface="Courier New" panose="02070309020205020404" pitchFamily="49" charset="0"/>
              </a:rPr>
              <a:t>ul</a:t>
            </a:r>
            <a:r>
              <a:rPr lang="en-GB" b="0" i="0" dirty="0">
                <a:effectLst/>
                <a:latin typeface="Courier New" panose="02070309020205020404" pitchFamily="49" charset="0"/>
              </a:rPr>
              <a:t>&gt;</a:t>
            </a:r>
            <a:r>
              <a:rPr lang="en-GB" b="0" i="0" dirty="0">
                <a:effectLst/>
                <a:latin typeface="CiscoSansTT"/>
              </a:rPr>
              <a:t> and </a:t>
            </a:r>
            <a:r>
              <a:rPr lang="en-GB" b="0" i="0" dirty="0">
                <a:effectLst/>
                <a:latin typeface="Courier New" panose="02070309020205020404" pitchFamily="49" charset="0"/>
              </a:rPr>
              <a:t>&lt;</a:t>
            </a:r>
            <a:r>
              <a:rPr lang="en-GB" b="0" i="0" dirty="0" err="1">
                <a:effectLst/>
                <a:latin typeface="Courier New" panose="02070309020205020404" pitchFamily="49" charset="0"/>
              </a:rPr>
              <a:t>ol</a:t>
            </a:r>
            <a:r>
              <a:rPr lang="en-GB" b="0" i="0" dirty="0">
                <a:effectLst/>
                <a:latin typeface="Courier New" panose="02070309020205020404" pitchFamily="49" charset="0"/>
              </a:rPr>
              <a:t>&gt;</a:t>
            </a:r>
            <a:r>
              <a:rPr lang="en-GB" b="0" i="0" dirty="0">
                <a:effectLst/>
                <a:latin typeface="CiscoSansTT"/>
              </a:rPr>
              <a:t> for lists, and</a:t>
            </a:r>
          </a:p>
          <a:p>
            <a:pPr algn="l">
              <a:buFont typeface="Arial" panose="020B0604020202020204" pitchFamily="34" charset="0"/>
              <a:buChar char="•"/>
            </a:pPr>
            <a:r>
              <a:rPr lang="en-GB" b="0" i="0" dirty="0">
                <a:effectLst/>
                <a:latin typeface="Courier New" panose="02070309020205020404" pitchFamily="49" charset="0"/>
              </a:rPr>
              <a:t>&lt;div&gt;</a:t>
            </a:r>
            <a:r>
              <a:rPr lang="en-GB" b="0" i="0" dirty="0">
                <a:effectLst/>
                <a:latin typeface="CiscoSansTT"/>
              </a:rPr>
              <a:t> for grouping content.</a:t>
            </a:r>
          </a:p>
          <a:p>
            <a:pPr algn="l">
              <a:buNone/>
            </a:pPr>
            <a:r>
              <a:rPr lang="en-GB" b="1" i="0" dirty="0">
                <a:effectLst/>
                <a:latin typeface="CiscoSansTT"/>
              </a:rPr>
              <a:t>Inline Elements</a:t>
            </a:r>
          </a:p>
          <a:p>
            <a:pPr algn="l">
              <a:buNone/>
            </a:pPr>
            <a:r>
              <a:rPr lang="en-GB" b="0" i="0" dirty="0">
                <a:effectLst/>
                <a:latin typeface="CiscoSansTT"/>
              </a:rPr>
              <a:t>Inline elements, on the other hand, are used to </a:t>
            </a:r>
            <a:r>
              <a:rPr lang="en-GB" b="1" i="0" dirty="0">
                <a:effectLst/>
                <a:latin typeface="CiscoSansTT"/>
              </a:rPr>
              <a:t>style content within block-level elements</a:t>
            </a:r>
            <a:r>
              <a:rPr lang="en-GB" b="0" i="0" dirty="0">
                <a:effectLst/>
                <a:latin typeface="CiscoSansTT"/>
              </a:rPr>
              <a:t>, such as links and images. They don't start on a new line and only take up as much space as needed to display their content. This means that multiple inline elements can appear on the same line, separated by a space.</a:t>
            </a:r>
          </a:p>
          <a:p>
            <a:pPr algn="l">
              <a:buNone/>
            </a:pPr>
            <a:r>
              <a:rPr lang="en-GB" b="0" i="0" dirty="0">
                <a:effectLst/>
                <a:latin typeface="CiscoSansTT"/>
              </a:rPr>
              <a:t>Examples of inline elements include:</a:t>
            </a:r>
          </a:p>
          <a:p>
            <a:pPr algn="l">
              <a:buFont typeface="Arial" panose="020B0604020202020204" pitchFamily="34" charset="0"/>
              <a:buChar char="•"/>
            </a:pPr>
            <a:r>
              <a:rPr lang="en-GB" b="0" i="0" dirty="0">
                <a:effectLst/>
                <a:latin typeface="Courier New" panose="02070309020205020404" pitchFamily="49" charset="0"/>
              </a:rPr>
              <a:t>&lt;a&gt;</a:t>
            </a:r>
            <a:r>
              <a:rPr lang="en-GB" b="0" i="0" dirty="0">
                <a:effectLst/>
                <a:latin typeface="CiscoSansTT"/>
              </a:rPr>
              <a:t> for links,</a:t>
            </a:r>
          </a:p>
          <a:p>
            <a:pPr algn="l">
              <a:buFont typeface="Arial" panose="020B0604020202020204" pitchFamily="34" charset="0"/>
              <a:buChar char="•"/>
            </a:pPr>
            <a:r>
              <a:rPr lang="en-GB" b="0" i="0" dirty="0">
                <a:effectLst/>
                <a:latin typeface="Courier New" panose="02070309020205020404" pitchFamily="49" charset="0"/>
              </a:rPr>
              <a:t>&lt;</a:t>
            </a:r>
            <a:r>
              <a:rPr lang="en-GB" b="0" i="0" dirty="0" err="1">
                <a:effectLst/>
                <a:latin typeface="Courier New" panose="02070309020205020404" pitchFamily="49" charset="0"/>
              </a:rPr>
              <a:t>img</a:t>
            </a:r>
            <a:r>
              <a:rPr lang="en-GB" b="0" i="0" dirty="0">
                <a:effectLst/>
                <a:latin typeface="Courier New" panose="02070309020205020404" pitchFamily="49" charset="0"/>
              </a:rPr>
              <a:t>&gt;</a:t>
            </a:r>
            <a:r>
              <a:rPr lang="en-GB" b="0" i="0" dirty="0">
                <a:effectLst/>
                <a:latin typeface="CiscoSansTT"/>
              </a:rPr>
              <a:t> for images, and</a:t>
            </a:r>
          </a:p>
          <a:p>
            <a:pPr algn="l">
              <a:buFont typeface="Arial" panose="020B0604020202020204" pitchFamily="34" charset="0"/>
              <a:buChar char="•"/>
            </a:pPr>
            <a:r>
              <a:rPr lang="en-GB" b="0" i="0" dirty="0">
                <a:effectLst/>
                <a:latin typeface="Courier New" panose="02070309020205020404" pitchFamily="49" charset="0"/>
              </a:rPr>
              <a:t>&lt;span&gt;</a:t>
            </a:r>
            <a:r>
              <a:rPr lang="en-GB" b="0" i="0" dirty="0">
                <a:effectLst/>
                <a:latin typeface="CiscoSansTT"/>
              </a:rPr>
              <a:t> for styling content.</a:t>
            </a:r>
          </a:p>
        </p:txBody>
      </p:sp>
    </p:spTree>
    <p:extLst>
      <p:ext uri="{BB962C8B-B14F-4D97-AF65-F5344CB8AC3E}">
        <p14:creationId xmlns:p14="http://schemas.microsoft.com/office/powerpoint/2010/main" val="37448277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5BCE73-E68A-19FF-6E3B-A238557448ED}"/>
              </a:ext>
            </a:extLst>
          </p:cNvPr>
          <p:cNvSpPr>
            <a:spLocks noGrp="1"/>
          </p:cNvSpPr>
          <p:nvPr>
            <p:ph type="title"/>
          </p:nvPr>
        </p:nvSpPr>
        <p:spPr/>
        <p:txBody>
          <a:bodyPr/>
          <a:lstStyle/>
          <a:p>
            <a:r>
              <a:rPr lang="en-GB" dirty="0"/>
              <a:t>Types of Elements</a:t>
            </a:r>
          </a:p>
        </p:txBody>
      </p:sp>
      <p:sp>
        <p:nvSpPr>
          <p:cNvPr id="9" name="TextBox 8">
            <a:extLst>
              <a:ext uri="{FF2B5EF4-FFF2-40B4-BE49-F238E27FC236}">
                <a16:creationId xmlns:a16="http://schemas.microsoft.com/office/drawing/2014/main" id="{12494FA6-D132-D6B9-EFB1-9C926F906755}"/>
              </a:ext>
            </a:extLst>
          </p:cNvPr>
          <p:cNvSpPr txBox="1"/>
          <p:nvPr/>
        </p:nvSpPr>
        <p:spPr>
          <a:xfrm>
            <a:off x="831383" y="1994128"/>
            <a:ext cx="1926553" cy="1323439"/>
          </a:xfrm>
          <a:prstGeom prst="rect">
            <a:avLst/>
          </a:prstGeom>
          <a:noFill/>
          <a:ln w="3175">
            <a:solidFill>
              <a:schemeClr val="tx1"/>
            </a:solidFill>
          </a:ln>
        </p:spPr>
        <p:txBody>
          <a:bodyPr wrap="none" rtlCol="0">
            <a:spAutoFit/>
          </a:bodyPr>
          <a:lstStyle/>
          <a:p>
            <a:r>
              <a:rPr lang="en-GB" sz="3200" dirty="0"/>
              <a:t>Document</a:t>
            </a:r>
          </a:p>
          <a:p>
            <a:endParaRPr lang="en-GB" sz="1600" dirty="0">
              <a:latin typeface="Consolas" panose="020B0609020204030204" pitchFamily="49" charset="0"/>
            </a:endParaRPr>
          </a:p>
          <a:p>
            <a:r>
              <a:rPr lang="en-GB" sz="3200" dirty="0">
                <a:latin typeface="Consolas" panose="020B0609020204030204" pitchFamily="49" charset="0"/>
              </a:rPr>
              <a:t>html</a:t>
            </a:r>
          </a:p>
        </p:txBody>
      </p:sp>
      <p:sp>
        <p:nvSpPr>
          <p:cNvPr id="10" name="TextBox 9">
            <a:extLst>
              <a:ext uri="{FF2B5EF4-FFF2-40B4-BE49-F238E27FC236}">
                <a16:creationId xmlns:a16="http://schemas.microsoft.com/office/drawing/2014/main" id="{00B33B96-43D5-6687-5659-EC9C031A2E84}"/>
              </a:ext>
            </a:extLst>
          </p:cNvPr>
          <p:cNvSpPr txBox="1"/>
          <p:nvPr/>
        </p:nvSpPr>
        <p:spPr>
          <a:xfrm>
            <a:off x="3010989" y="1994128"/>
            <a:ext cx="1806970" cy="2800767"/>
          </a:xfrm>
          <a:prstGeom prst="rect">
            <a:avLst/>
          </a:prstGeom>
          <a:noFill/>
          <a:ln w="3175">
            <a:solidFill>
              <a:schemeClr val="tx1"/>
            </a:solidFill>
          </a:ln>
        </p:spPr>
        <p:txBody>
          <a:bodyPr wrap="none" rtlCol="0">
            <a:spAutoFit/>
          </a:bodyPr>
          <a:lstStyle/>
          <a:p>
            <a:r>
              <a:rPr lang="en-GB" sz="3200" dirty="0"/>
              <a:t>Metadata</a:t>
            </a:r>
          </a:p>
          <a:p>
            <a:endParaRPr lang="en-GB" sz="1600" dirty="0">
              <a:latin typeface="Consolas" panose="020B0609020204030204" pitchFamily="49" charset="0"/>
            </a:endParaRPr>
          </a:p>
          <a:p>
            <a:r>
              <a:rPr lang="en-GB" sz="3200" dirty="0">
                <a:latin typeface="Consolas" panose="020B0609020204030204" pitchFamily="49" charset="0"/>
              </a:rPr>
              <a:t>head</a:t>
            </a:r>
          </a:p>
          <a:p>
            <a:r>
              <a:rPr lang="en-GB" sz="3200" dirty="0">
                <a:latin typeface="Consolas" panose="020B0609020204030204" pitchFamily="49" charset="0"/>
              </a:rPr>
              <a:t>title</a:t>
            </a:r>
          </a:p>
          <a:p>
            <a:r>
              <a:rPr lang="en-GB" sz="3200" dirty="0">
                <a:latin typeface="Consolas" panose="020B0609020204030204" pitchFamily="49" charset="0"/>
              </a:rPr>
              <a:t>style</a:t>
            </a:r>
          </a:p>
          <a:p>
            <a:r>
              <a:rPr lang="en-GB" sz="3200" dirty="0">
                <a:latin typeface="Consolas" panose="020B0609020204030204" pitchFamily="49" charset="0"/>
              </a:rPr>
              <a:t>link</a:t>
            </a:r>
          </a:p>
        </p:txBody>
      </p:sp>
      <p:sp>
        <p:nvSpPr>
          <p:cNvPr id="11" name="TextBox 10">
            <a:extLst>
              <a:ext uri="{FF2B5EF4-FFF2-40B4-BE49-F238E27FC236}">
                <a16:creationId xmlns:a16="http://schemas.microsoft.com/office/drawing/2014/main" id="{9F9A83C6-47FD-8FC3-1BB9-0D48E54E2A5D}"/>
              </a:ext>
            </a:extLst>
          </p:cNvPr>
          <p:cNvSpPr txBox="1"/>
          <p:nvPr/>
        </p:nvSpPr>
        <p:spPr>
          <a:xfrm>
            <a:off x="5071012" y="1994128"/>
            <a:ext cx="1576072" cy="1815882"/>
          </a:xfrm>
          <a:prstGeom prst="rect">
            <a:avLst/>
          </a:prstGeom>
          <a:noFill/>
          <a:ln w="3175">
            <a:solidFill>
              <a:schemeClr val="tx1"/>
            </a:solidFill>
          </a:ln>
        </p:spPr>
        <p:txBody>
          <a:bodyPr wrap="none" rtlCol="0">
            <a:spAutoFit/>
          </a:bodyPr>
          <a:lstStyle/>
          <a:p>
            <a:r>
              <a:rPr lang="en-GB" sz="3200" dirty="0"/>
              <a:t>Sections</a:t>
            </a:r>
          </a:p>
          <a:p>
            <a:endParaRPr lang="en-GB" sz="1600" dirty="0">
              <a:latin typeface="Consolas" panose="020B0609020204030204" pitchFamily="49" charset="0"/>
            </a:endParaRPr>
          </a:p>
          <a:p>
            <a:r>
              <a:rPr lang="en-GB" sz="3200" dirty="0">
                <a:latin typeface="Consolas" panose="020B0609020204030204" pitchFamily="49" charset="0"/>
              </a:rPr>
              <a:t>body</a:t>
            </a:r>
          </a:p>
          <a:p>
            <a:r>
              <a:rPr lang="en-GB" sz="3200" dirty="0">
                <a:latin typeface="Consolas" panose="020B0609020204030204" pitchFamily="49" charset="0"/>
              </a:rPr>
              <a:t>h1-h6</a:t>
            </a:r>
          </a:p>
        </p:txBody>
      </p:sp>
      <p:sp>
        <p:nvSpPr>
          <p:cNvPr id="12" name="TextBox 11">
            <a:extLst>
              <a:ext uri="{FF2B5EF4-FFF2-40B4-BE49-F238E27FC236}">
                <a16:creationId xmlns:a16="http://schemas.microsoft.com/office/drawing/2014/main" id="{002CB195-FD7D-2D11-B485-C7FDFB732121}"/>
              </a:ext>
            </a:extLst>
          </p:cNvPr>
          <p:cNvSpPr txBox="1"/>
          <p:nvPr/>
        </p:nvSpPr>
        <p:spPr>
          <a:xfrm>
            <a:off x="6900137" y="1994128"/>
            <a:ext cx="1734577" cy="3293209"/>
          </a:xfrm>
          <a:prstGeom prst="rect">
            <a:avLst/>
          </a:prstGeom>
          <a:noFill/>
          <a:ln w="3175">
            <a:solidFill>
              <a:schemeClr val="tx1"/>
            </a:solidFill>
          </a:ln>
        </p:spPr>
        <p:txBody>
          <a:bodyPr wrap="none" rtlCol="0">
            <a:spAutoFit/>
          </a:bodyPr>
          <a:lstStyle/>
          <a:p>
            <a:r>
              <a:rPr lang="en-GB" sz="3200" dirty="0"/>
              <a:t>Grouping</a:t>
            </a:r>
          </a:p>
          <a:p>
            <a:endParaRPr lang="en-GB" sz="1600" dirty="0">
              <a:latin typeface="Consolas" panose="020B0609020204030204" pitchFamily="49" charset="0"/>
            </a:endParaRPr>
          </a:p>
          <a:p>
            <a:r>
              <a:rPr lang="en-GB" sz="3200" dirty="0">
                <a:latin typeface="Consolas" panose="020B0609020204030204" pitchFamily="49" charset="0"/>
              </a:rPr>
              <a:t>p</a:t>
            </a:r>
          </a:p>
          <a:p>
            <a:r>
              <a:rPr lang="en-GB" sz="3200" dirty="0" err="1">
                <a:latin typeface="Consolas" panose="020B0609020204030204" pitchFamily="49" charset="0"/>
              </a:rPr>
              <a:t>ol</a:t>
            </a:r>
            <a:endParaRPr lang="en-GB" sz="3200" dirty="0">
              <a:latin typeface="Consolas" panose="020B0609020204030204" pitchFamily="49" charset="0"/>
            </a:endParaRPr>
          </a:p>
          <a:p>
            <a:r>
              <a:rPr lang="en-GB" sz="3200" dirty="0" err="1">
                <a:latin typeface="Consolas" panose="020B0609020204030204" pitchFamily="49" charset="0"/>
              </a:rPr>
              <a:t>ul</a:t>
            </a:r>
            <a:endParaRPr lang="en-GB" sz="3200" dirty="0">
              <a:latin typeface="Consolas" panose="020B0609020204030204" pitchFamily="49" charset="0"/>
            </a:endParaRPr>
          </a:p>
          <a:p>
            <a:r>
              <a:rPr lang="en-GB" sz="3200" dirty="0">
                <a:latin typeface="Consolas" panose="020B0609020204030204" pitchFamily="49" charset="0"/>
              </a:rPr>
              <a:t>li</a:t>
            </a:r>
          </a:p>
          <a:p>
            <a:r>
              <a:rPr lang="en-GB" sz="3200" dirty="0">
                <a:latin typeface="Consolas" panose="020B0609020204030204" pitchFamily="49" charset="0"/>
              </a:rPr>
              <a:t>div</a:t>
            </a:r>
          </a:p>
        </p:txBody>
      </p:sp>
      <p:sp>
        <p:nvSpPr>
          <p:cNvPr id="13" name="TextBox 12">
            <a:extLst>
              <a:ext uri="{FF2B5EF4-FFF2-40B4-BE49-F238E27FC236}">
                <a16:creationId xmlns:a16="http://schemas.microsoft.com/office/drawing/2014/main" id="{B49540AC-8C29-448A-CB05-B93DCAFBC641}"/>
              </a:ext>
            </a:extLst>
          </p:cNvPr>
          <p:cNvSpPr txBox="1"/>
          <p:nvPr/>
        </p:nvSpPr>
        <p:spPr>
          <a:xfrm>
            <a:off x="8887767" y="1994128"/>
            <a:ext cx="862929" cy="1323439"/>
          </a:xfrm>
          <a:prstGeom prst="rect">
            <a:avLst/>
          </a:prstGeom>
          <a:noFill/>
          <a:ln w="3175">
            <a:solidFill>
              <a:schemeClr val="tx1"/>
            </a:solidFill>
          </a:ln>
        </p:spPr>
        <p:txBody>
          <a:bodyPr wrap="none" rtlCol="0">
            <a:spAutoFit/>
          </a:bodyPr>
          <a:lstStyle/>
          <a:p>
            <a:r>
              <a:rPr lang="en-GB" sz="3200" dirty="0"/>
              <a:t>Text</a:t>
            </a:r>
          </a:p>
          <a:p>
            <a:endParaRPr lang="en-GB" sz="1600" dirty="0">
              <a:latin typeface="Consolas" panose="020B0609020204030204" pitchFamily="49" charset="0"/>
            </a:endParaRPr>
          </a:p>
          <a:p>
            <a:r>
              <a:rPr lang="en-GB" sz="3200" dirty="0">
                <a:latin typeface="Consolas" panose="020B0609020204030204" pitchFamily="49" charset="0"/>
              </a:rPr>
              <a:t>a</a:t>
            </a:r>
          </a:p>
        </p:txBody>
      </p:sp>
      <p:sp>
        <p:nvSpPr>
          <p:cNvPr id="14" name="TextBox 13">
            <a:extLst>
              <a:ext uri="{FF2B5EF4-FFF2-40B4-BE49-F238E27FC236}">
                <a16:creationId xmlns:a16="http://schemas.microsoft.com/office/drawing/2014/main" id="{E60C830E-651B-0F50-9E33-983BB2553BF1}"/>
              </a:ext>
            </a:extLst>
          </p:cNvPr>
          <p:cNvSpPr txBox="1"/>
          <p:nvPr/>
        </p:nvSpPr>
        <p:spPr>
          <a:xfrm>
            <a:off x="10003750" y="1994128"/>
            <a:ext cx="1350050" cy="2308324"/>
          </a:xfrm>
          <a:prstGeom prst="rect">
            <a:avLst/>
          </a:prstGeom>
          <a:noFill/>
          <a:ln w="3175">
            <a:solidFill>
              <a:schemeClr val="tx1"/>
            </a:solidFill>
          </a:ln>
        </p:spPr>
        <p:txBody>
          <a:bodyPr wrap="none" rtlCol="0">
            <a:spAutoFit/>
          </a:bodyPr>
          <a:lstStyle/>
          <a:p>
            <a:r>
              <a:rPr lang="en-GB" sz="3200" dirty="0"/>
              <a:t>Embed</a:t>
            </a:r>
          </a:p>
          <a:p>
            <a:endParaRPr lang="en-GB" sz="1600" dirty="0">
              <a:latin typeface="Consolas" panose="020B0609020204030204" pitchFamily="49" charset="0"/>
            </a:endParaRPr>
          </a:p>
          <a:p>
            <a:r>
              <a:rPr lang="en-GB" sz="3200" dirty="0" err="1">
                <a:latin typeface="Consolas" panose="020B0609020204030204" pitchFamily="49" charset="0"/>
              </a:rPr>
              <a:t>img</a:t>
            </a:r>
            <a:endParaRPr lang="en-GB" sz="3200" dirty="0">
              <a:latin typeface="Consolas" panose="020B0609020204030204" pitchFamily="49" charset="0"/>
            </a:endParaRPr>
          </a:p>
          <a:p>
            <a:r>
              <a:rPr lang="en-GB" sz="3200" dirty="0">
                <a:latin typeface="Consolas" panose="020B0609020204030204" pitchFamily="49" charset="0"/>
              </a:rPr>
              <a:t>audio</a:t>
            </a:r>
          </a:p>
          <a:p>
            <a:r>
              <a:rPr lang="en-GB" sz="3200" dirty="0">
                <a:latin typeface="Consolas" panose="020B0609020204030204" pitchFamily="49" charset="0"/>
              </a:rPr>
              <a:t>video</a:t>
            </a:r>
          </a:p>
        </p:txBody>
      </p:sp>
    </p:spTree>
    <p:extLst>
      <p:ext uri="{BB962C8B-B14F-4D97-AF65-F5344CB8AC3E}">
        <p14:creationId xmlns:p14="http://schemas.microsoft.com/office/powerpoint/2010/main" val="206242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1000"/>
                                        <p:tgtEl>
                                          <p:spTgt spid="9">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animEffect transition="in" filter="wipe(left)">
                                      <p:cBhvr>
                                        <p:cTn id="11" dur="1000"/>
                                        <p:tgtEl>
                                          <p:spTgt spid="9">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left)">
                                      <p:cBhvr>
                                        <p:cTn id="16" dur="1000"/>
                                        <p:tgtEl>
                                          <p:spTgt spid="10">
                                            <p:txEl>
                                              <p:pRg st="0" end="0"/>
                                            </p:txEl>
                                          </p:spTgt>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wipe(left)">
                                      <p:cBhvr>
                                        <p:cTn id="20" dur="1000"/>
                                        <p:tgtEl>
                                          <p:spTgt spid="10">
                                            <p:txEl>
                                              <p:pRg st="2" end="2"/>
                                            </p:txEl>
                                          </p:spTgt>
                                        </p:tgtEl>
                                      </p:cBhvr>
                                    </p:animEffect>
                                  </p:childTnLst>
                                </p:cTn>
                              </p:par>
                            </p:childTnLst>
                          </p:cTn>
                        </p:par>
                        <p:par>
                          <p:cTn id="21" fill="hold">
                            <p:stCondLst>
                              <p:cond delay="2000"/>
                            </p:stCondLst>
                            <p:childTnLst>
                              <p:par>
                                <p:cTn id="22" presetID="22" presetClass="entr" presetSubtype="8" fill="hold" grpId="0" nodeType="afterEffect">
                                  <p:stCondLst>
                                    <p:cond delay="0"/>
                                  </p:stCondLst>
                                  <p:childTnLst>
                                    <p:set>
                                      <p:cBhvr>
                                        <p:cTn id="23" dur="1" fill="hold">
                                          <p:stCondLst>
                                            <p:cond delay="0"/>
                                          </p:stCondLst>
                                        </p:cTn>
                                        <p:tgtEl>
                                          <p:spTgt spid="10">
                                            <p:txEl>
                                              <p:pRg st="3" end="3"/>
                                            </p:txEl>
                                          </p:spTgt>
                                        </p:tgtEl>
                                        <p:attrNameLst>
                                          <p:attrName>style.visibility</p:attrName>
                                        </p:attrNameLst>
                                      </p:cBhvr>
                                      <p:to>
                                        <p:strVal val="visible"/>
                                      </p:to>
                                    </p:set>
                                    <p:animEffect transition="in" filter="wipe(left)">
                                      <p:cBhvr>
                                        <p:cTn id="24" dur="1000"/>
                                        <p:tgtEl>
                                          <p:spTgt spid="10">
                                            <p:txEl>
                                              <p:pRg st="3" end="3"/>
                                            </p:txEl>
                                          </p:spTgt>
                                        </p:tgtEl>
                                      </p:cBhvr>
                                    </p:animEffect>
                                  </p:childTnLst>
                                </p:cTn>
                              </p:par>
                            </p:childTnLst>
                          </p:cTn>
                        </p:par>
                        <p:par>
                          <p:cTn id="25" fill="hold">
                            <p:stCondLst>
                              <p:cond delay="3000"/>
                            </p:stCondLst>
                            <p:childTnLst>
                              <p:par>
                                <p:cTn id="26" presetID="22" presetClass="entr" presetSubtype="8" fill="hold" grpId="0" nodeType="after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wipe(left)">
                                      <p:cBhvr>
                                        <p:cTn id="28" dur="1000"/>
                                        <p:tgtEl>
                                          <p:spTgt spid="10">
                                            <p:txEl>
                                              <p:pRg st="4" end="4"/>
                                            </p:txEl>
                                          </p:spTgt>
                                        </p:tgtEl>
                                      </p:cBhvr>
                                    </p:animEffect>
                                  </p:childTnLst>
                                </p:cTn>
                              </p:par>
                            </p:childTnLst>
                          </p:cTn>
                        </p:par>
                        <p:par>
                          <p:cTn id="29" fill="hold">
                            <p:stCondLst>
                              <p:cond delay="4000"/>
                            </p:stCondLst>
                            <p:childTnLst>
                              <p:par>
                                <p:cTn id="30" presetID="22" presetClass="entr" presetSubtype="8" fill="hold" grpId="0" nodeType="afterEffect">
                                  <p:stCondLst>
                                    <p:cond delay="0"/>
                                  </p:stCondLst>
                                  <p:childTnLst>
                                    <p:set>
                                      <p:cBhvr>
                                        <p:cTn id="31" dur="1" fill="hold">
                                          <p:stCondLst>
                                            <p:cond delay="0"/>
                                          </p:stCondLst>
                                        </p:cTn>
                                        <p:tgtEl>
                                          <p:spTgt spid="10">
                                            <p:txEl>
                                              <p:pRg st="5" end="5"/>
                                            </p:txEl>
                                          </p:spTgt>
                                        </p:tgtEl>
                                        <p:attrNameLst>
                                          <p:attrName>style.visibility</p:attrName>
                                        </p:attrNameLst>
                                      </p:cBhvr>
                                      <p:to>
                                        <p:strVal val="visible"/>
                                      </p:to>
                                    </p:set>
                                    <p:animEffect transition="in" filter="wipe(left)">
                                      <p:cBhvr>
                                        <p:cTn id="32" dur="1000"/>
                                        <p:tgtEl>
                                          <p:spTgt spid="1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wipe(left)">
                                      <p:cBhvr>
                                        <p:cTn id="37" dur="1000"/>
                                        <p:tgtEl>
                                          <p:spTgt spid="11">
                                            <p:txEl>
                                              <p:pRg st="0" end="0"/>
                                            </p:txEl>
                                          </p:spTgt>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11">
                                            <p:txEl>
                                              <p:pRg st="2" end="2"/>
                                            </p:txEl>
                                          </p:spTgt>
                                        </p:tgtEl>
                                        <p:attrNameLst>
                                          <p:attrName>style.visibility</p:attrName>
                                        </p:attrNameLst>
                                      </p:cBhvr>
                                      <p:to>
                                        <p:strVal val="visible"/>
                                      </p:to>
                                    </p:set>
                                    <p:animEffect transition="in" filter="wipe(left)">
                                      <p:cBhvr>
                                        <p:cTn id="41" dur="1000"/>
                                        <p:tgtEl>
                                          <p:spTgt spid="11">
                                            <p:txEl>
                                              <p:pRg st="2" end="2"/>
                                            </p:txEl>
                                          </p:spTgt>
                                        </p:tgtEl>
                                      </p:cBhvr>
                                    </p:animEffect>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11">
                                            <p:txEl>
                                              <p:pRg st="3" end="3"/>
                                            </p:txEl>
                                          </p:spTgt>
                                        </p:tgtEl>
                                        <p:attrNameLst>
                                          <p:attrName>style.visibility</p:attrName>
                                        </p:attrNameLst>
                                      </p:cBhvr>
                                      <p:to>
                                        <p:strVal val="visible"/>
                                      </p:to>
                                    </p:set>
                                    <p:animEffect transition="in" filter="wipe(left)">
                                      <p:cBhvr>
                                        <p:cTn id="45" dur="1000"/>
                                        <p:tgtEl>
                                          <p:spTgt spid="11">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2">
                                            <p:txEl>
                                              <p:pRg st="0" end="0"/>
                                            </p:txEl>
                                          </p:spTgt>
                                        </p:tgtEl>
                                        <p:attrNameLst>
                                          <p:attrName>style.visibility</p:attrName>
                                        </p:attrNameLst>
                                      </p:cBhvr>
                                      <p:to>
                                        <p:strVal val="visible"/>
                                      </p:to>
                                    </p:set>
                                    <p:animEffect transition="in" filter="wipe(left)">
                                      <p:cBhvr>
                                        <p:cTn id="50" dur="1000"/>
                                        <p:tgtEl>
                                          <p:spTgt spid="12">
                                            <p:txEl>
                                              <p:pRg st="0" end="0"/>
                                            </p:txEl>
                                          </p:spTgt>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12">
                                            <p:txEl>
                                              <p:pRg st="2" end="2"/>
                                            </p:txEl>
                                          </p:spTgt>
                                        </p:tgtEl>
                                        <p:attrNameLst>
                                          <p:attrName>style.visibility</p:attrName>
                                        </p:attrNameLst>
                                      </p:cBhvr>
                                      <p:to>
                                        <p:strVal val="visible"/>
                                      </p:to>
                                    </p:set>
                                    <p:animEffect transition="in" filter="wipe(left)">
                                      <p:cBhvr>
                                        <p:cTn id="54" dur="1000"/>
                                        <p:tgtEl>
                                          <p:spTgt spid="12">
                                            <p:txEl>
                                              <p:pRg st="2" end="2"/>
                                            </p:txEl>
                                          </p:spTgt>
                                        </p:tgtEl>
                                      </p:cBhvr>
                                    </p:animEffect>
                                  </p:childTnLst>
                                </p:cTn>
                              </p:par>
                            </p:childTnLst>
                          </p:cTn>
                        </p:par>
                        <p:par>
                          <p:cTn id="55" fill="hold">
                            <p:stCondLst>
                              <p:cond delay="2000"/>
                            </p:stCondLst>
                            <p:childTnLst>
                              <p:par>
                                <p:cTn id="56" presetID="22" presetClass="entr" presetSubtype="8" fill="hold" grpId="0" nodeType="afterEffect">
                                  <p:stCondLst>
                                    <p:cond delay="0"/>
                                  </p:stCondLst>
                                  <p:childTnLst>
                                    <p:set>
                                      <p:cBhvr>
                                        <p:cTn id="57" dur="1" fill="hold">
                                          <p:stCondLst>
                                            <p:cond delay="0"/>
                                          </p:stCondLst>
                                        </p:cTn>
                                        <p:tgtEl>
                                          <p:spTgt spid="12">
                                            <p:txEl>
                                              <p:pRg st="3" end="3"/>
                                            </p:txEl>
                                          </p:spTgt>
                                        </p:tgtEl>
                                        <p:attrNameLst>
                                          <p:attrName>style.visibility</p:attrName>
                                        </p:attrNameLst>
                                      </p:cBhvr>
                                      <p:to>
                                        <p:strVal val="visible"/>
                                      </p:to>
                                    </p:set>
                                    <p:animEffect transition="in" filter="wipe(left)">
                                      <p:cBhvr>
                                        <p:cTn id="58" dur="1000"/>
                                        <p:tgtEl>
                                          <p:spTgt spid="12">
                                            <p:txEl>
                                              <p:pRg st="3" end="3"/>
                                            </p:txEl>
                                          </p:spTgt>
                                        </p:tgtEl>
                                      </p:cBhvr>
                                    </p:animEffect>
                                  </p:child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12">
                                            <p:txEl>
                                              <p:pRg st="4" end="4"/>
                                            </p:txEl>
                                          </p:spTgt>
                                        </p:tgtEl>
                                        <p:attrNameLst>
                                          <p:attrName>style.visibility</p:attrName>
                                        </p:attrNameLst>
                                      </p:cBhvr>
                                      <p:to>
                                        <p:strVal val="visible"/>
                                      </p:to>
                                    </p:set>
                                    <p:animEffect transition="in" filter="wipe(left)">
                                      <p:cBhvr>
                                        <p:cTn id="62" dur="1000"/>
                                        <p:tgtEl>
                                          <p:spTgt spid="12">
                                            <p:txEl>
                                              <p:pRg st="4" end="4"/>
                                            </p:txEl>
                                          </p:spTgt>
                                        </p:tgtEl>
                                      </p:cBhvr>
                                    </p:animEffect>
                                  </p:childTnLst>
                                </p:cTn>
                              </p:par>
                            </p:childTnLst>
                          </p:cTn>
                        </p:par>
                        <p:par>
                          <p:cTn id="63" fill="hold">
                            <p:stCondLst>
                              <p:cond delay="4000"/>
                            </p:stCondLst>
                            <p:childTnLst>
                              <p:par>
                                <p:cTn id="64" presetID="22" presetClass="entr" presetSubtype="8" fill="hold" grpId="0" nodeType="afterEffect">
                                  <p:stCondLst>
                                    <p:cond delay="0"/>
                                  </p:stCondLst>
                                  <p:childTnLst>
                                    <p:set>
                                      <p:cBhvr>
                                        <p:cTn id="65" dur="1" fill="hold">
                                          <p:stCondLst>
                                            <p:cond delay="0"/>
                                          </p:stCondLst>
                                        </p:cTn>
                                        <p:tgtEl>
                                          <p:spTgt spid="12">
                                            <p:txEl>
                                              <p:pRg st="5" end="5"/>
                                            </p:txEl>
                                          </p:spTgt>
                                        </p:tgtEl>
                                        <p:attrNameLst>
                                          <p:attrName>style.visibility</p:attrName>
                                        </p:attrNameLst>
                                      </p:cBhvr>
                                      <p:to>
                                        <p:strVal val="visible"/>
                                      </p:to>
                                    </p:set>
                                    <p:animEffect transition="in" filter="wipe(left)">
                                      <p:cBhvr>
                                        <p:cTn id="66" dur="1000"/>
                                        <p:tgtEl>
                                          <p:spTgt spid="12">
                                            <p:txEl>
                                              <p:pRg st="5" end="5"/>
                                            </p:txEl>
                                          </p:spTgt>
                                        </p:tgtEl>
                                      </p:cBhvr>
                                    </p:animEffect>
                                  </p:childTnLst>
                                </p:cTn>
                              </p:par>
                            </p:childTnLst>
                          </p:cTn>
                        </p:par>
                        <p:par>
                          <p:cTn id="67" fill="hold">
                            <p:stCondLst>
                              <p:cond delay="5000"/>
                            </p:stCondLst>
                            <p:childTnLst>
                              <p:par>
                                <p:cTn id="68" presetID="22" presetClass="entr" presetSubtype="8" fill="hold" grpId="0" nodeType="afterEffect">
                                  <p:stCondLst>
                                    <p:cond delay="0"/>
                                  </p:stCondLst>
                                  <p:childTnLst>
                                    <p:set>
                                      <p:cBhvr>
                                        <p:cTn id="69" dur="1" fill="hold">
                                          <p:stCondLst>
                                            <p:cond delay="0"/>
                                          </p:stCondLst>
                                        </p:cTn>
                                        <p:tgtEl>
                                          <p:spTgt spid="12">
                                            <p:txEl>
                                              <p:pRg st="6" end="6"/>
                                            </p:txEl>
                                          </p:spTgt>
                                        </p:tgtEl>
                                        <p:attrNameLst>
                                          <p:attrName>style.visibility</p:attrName>
                                        </p:attrNameLst>
                                      </p:cBhvr>
                                      <p:to>
                                        <p:strVal val="visible"/>
                                      </p:to>
                                    </p:set>
                                    <p:animEffect transition="in" filter="wipe(left)">
                                      <p:cBhvr>
                                        <p:cTn id="70" dur="1000"/>
                                        <p:tgtEl>
                                          <p:spTgt spid="12">
                                            <p:txEl>
                                              <p:pRg st="6" end="6"/>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3">
                                            <p:txEl>
                                              <p:pRg st="0" end="0"/>
                                            </p:txEl>
                                          </p:spTgt>
                                        </p:tgtEl>
                                        <p:attrNameLst>
                                          <p:attrName>style.visibility</p:attrName>
                                        </p:attrNameLst>
                                      </p:cBhvr>
                                      <p:to>
                                        <p:strVal val="visible"/>
                                      </p:to>
                                    </p:set>
                                    <p:animEffect transition="in" filter="wipe(left)">
                                      <p:cBhvr>
                                        <p:cTn id="75" dur="1000"/>
                                        <p:tgtEl>
                                          <p:spTgt spid="13">
                                            <p:txEl>
                                              <p:pRg st="0" end="0"/>
                                            </p:txEl>
                                          </p:spTgt>
                                        </p:tgtEl>
                                      </p:cBhvr>
                                    </p:animEffect>
                                  </p:childTnLst>
                                </p:cTn>
                              </p:par>
                            </p:childTnLst>
                          </p:cTn>
                        </p:par>
                        <p:par>
                          <p:cTn id="76" fill="hold">
                            <p:stCondLst>
                              <p:cond delay="1000"/>
                            </p:stCondLst>
                            <p:childTnLst>
                              <p:par>
                                <p:cTn id="77" presetID="22" presetClass="entr" presetSubtype="8" fill="hold" grpId="0" nodeType="afterEffect">
                                  <p:stCondLst>
                                    <p:cond delay="0"/>
                                  </p:stCondLst>
                                  <p:childTnLst>
                                    <p:set>
                                      <p:cBhvr>
                                        <p:cTn id="78" dur="1" fill="hold">
                                          <p:stCondLst>
                                            <p:cond delay="0"/>
                                          </p:stCondLst>
                                        </p:cTn>
                                        <p:tgtEl>
                                          <p:spTgt spid="13">
                                            <p:txEl>
                                              <p:pRg st="2" end="2"/>
                                            </p:txEl>
                                          </p:spTgt>
                                        </p:tgtEl>
                                        <p:attrNameLst>
                                          <p:attrName>style.visibility</p:attrName>
                                        </p:attrNameLst>
                                      </p:cBhvr>
                                      <p:to>
                                        <p:strVal val="visible"/>
                                      </p:to>
                                    </p:set>
                                    <p:animEffect transition="in" filter="wipe(left)">
                                      <p:cBhvr>
                                        <p:cTn id="79" dur="1000"/>
                                        <p:tgtEl>
                                          <p:spTgt spid="13">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4">
                                            <p:txEl>
                                              <p:pRg st="0" end="0"/>
                                            </p:txEl>
                                          </p:spTgt>
                                        </p:tgtEl>
                                        <p:attrNameLst>
                                          <p:attrName>style.visibility</p:attrName>
                                        </p:attrNameLst>
                                      </p:cBhvr>
                                      <p:to>
                                        <p:strVal val="visible"/>
                                      </p:to>
                                    </p:set>
                                    <p:animEffect transition="in" filter="wipe(left)">
                                      <p:cBhvr>
                                        <p:cTn id="84" dur="1000"/>
                                        <p:tgtEl>
                                          <p:spTgt spid="14">
                                            <p:txEl>
                                              <p:pRg st="0" end="0"/>
                                            </p:txEl>
                                          </p:spTgt>
                                        </p:tgtEl>
                                      </p:cBhvr>
                                    </p:animEffect>
                                  </p:childTnLst>
                                </p:cTn>
                              </p:par>
                            </p:childTnLst>
                          </p:cTn>
                        </p:par>
                        <p:par>
                          <p:cTn id="85" fill="hold">
                            <p:stCondLst>
                              <p:cond delay="1000"/>
                            </p:stCondLst>
                            <p:childTnLst>
                              <p:par>
                                <p:cTn id="86" presetID="22" presetClass="entr" presetSubtype="8" fill="hold" grpId="0" nodeType="afterEffect">
                                  <p:stCondLst>
                                    <p:cond delay="0"/>
                                  </p:stCondLst>
                                  <p:childTnLst>
                                    <p:set>
                                      <p:cBhvr>
                                        <p:cTn id="87" dur="1" fill="hold">
                                          <p:stCondLst>
                                            <p:cond delay="0"/>
                                          </p:stCondLst>
                                        </p:cTn>
                                        <p:tgtEl>
                                          <p:spTgt spid="14">
                                            <p:txEl>
                                              <p:pRg st="2" end="2"/>
                                            </p:txEl>
                                          </p:spTgt>
                                        </p:tgtEl>
                                        <p:attrNameLst>
                                          <p:attrName>style.visibility</p:attrName>
                                        </p:attrNameLst>
                                      </p:cBhvr>
                                      <p:to>
                                        <p:strVal val="visible"/>
                                      </p:to>
                                    </p:set>
                                    <p:animEffect transition="in" filter="wipe(left)">
                                      <p:cBhvr>
                                        <p:cTn id="88" dur="1000"/>
                                        <p:tgtEl>
                                          <p:spTgt spid="14">
                                            <p:txEl>
                                              <p:pRg st="2" end="2"/>
                                            </p:txEl>
                                          </p:spTgt>
                                        </p:tgtEl>
                                      </p:cBhvr>
                                    </p:animEffect>
                                  </p:childTnLst>
                                </p:cTn>
                              </p:par>
                            </p:childTnLst>
                          </p:cTn>
                        </p:par>
                        <p:par>
                          <p:cTn id="89" fill="hold">
                            <p:stCondLst>
                              <p:cond delay="2000"/>
                            </p:stCondLst>
                            <p:childTnLst>
                              <p:par>
                                <p:cTn id="90" presetID="22" presetClass="entr" presetSubtype="8" fill="hold" grpId="0" nodeType="afterEffect">
                                  <p:stCondLst>
                                    <p:cond delay="0"/>
                                  </p:stCondLst>
                                  <p:childTnLst>
                                    <p:set>
                                      <p:cBhvr>
                                        <p:cTn id="91" dur="1" fill="hold">
                                          <p:stCondLst>
                                            <p:cond delay="0"/>
                                          </p:stCondLst>
                                        </p:cTn>
                                        <p:tgtEl>
                                          <p:spTgt spid="14">
                                            <p:txEl>
                                              <p:pRg st="3" end="3"/>
                                            </p:txEl>
                                          </p:spTgt>
                                        </p:tgtEl>
                                        <p:attrNameLst>
                                          <p:attrName>style.visibility</p:attrName>
                                        </p:attrNameLst>
                                      </p:cBhvr>
                                      <p:to>
                                        <p:strVal val="visible"/>
                                      </p:to>
                                    </p:set>
                                    <p:animEffect transition="in" filter="wipe(left)">
                                      <p:cBhvr>
                                        <p:cTn id="92" dur="1000"/>
                                        <p:tgtEl>
                                          <p:spTgt spid="14">
                                            <p:txEl>
                                              <p:pRg st="3" end="3"/>
                                            </p:txEl>
                                          </p:spTgt>
                                        </p:tgtEl>
                                      </p:cBhvr>
                                    </p:animEffect>
                                  </p:childTnLst>
                                </p:cTn>
                              </p:par>
                            </p:childTnLst>
                          </p:cTn>
                        </p:par>
                        <p:par>
                          <p:cTn id="93" fill="hold">
                            <p:stCondLst>
                              <p:cond delay="3000"/>
                            </p:stCondLst>
                            <p:childTnLst>
                              <p:par>
                                <p:cTn id="94" presetID="22" presetClass="entr" presetSubtype="8" fill="hold" grpId="0" nodeType="afterEffect">
                                  <p:stCondLst>
                                    <p:cond delay="0"/>
                                  </p:stCondLst>
                                  <p:childTnLst>
                                    <p:set>
                                      <p:cBhvr>
                                        <p:cTn id="95" dur="1" fill="hold">
                                          <p:stCondLst>
                                            <p:cond delay="0"/>
                                          </p:stCondLst>
                                        </p:cTn>
                                        <p:tgtEl>
                                          <p:spTgt spid="14">
                                            <p:txEl>
                                              <p:pRg st="4" end="4"/>
                                            </p:txEl>
                                          </p:spTgt>
                                        </p:tgtEl>
                                        <p:attrNameLst>
                                          <p:attrName>style.visibility</p:attrName>
                                        </p:attrNameLst>
                                      </p:cBhvr>
                                      <p:to>
                                        <p:strVal val="visible"/>
                                      </p:to>
                                    </p:set>
                                    <p:animEffect transition="in" filter="wipe(left)">
                                      <p:cBhvr>
                                        <p:cTn id="96" dur="10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0" grpId="0" uiExpand="1" build="p"/>
      <p:bldP spid="11" grpId="0" uiExpand="1" build="p"/>
      <p:bldP spid="12" grpId="0" uiExpand="1" build="p"/>
      <p:bldP spid="13" grpId="0" uiExpand="1" build="p"/>
      <p:bldP spid="1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5BCE73-E68A-19FF-6E3B-A238557448ED}"/>
              </a:ext>
            </a:extLst>
          </p:cNvPr>
          <p:cNvSpPr>
            <a:spLocks noGrp="1"/>
          </p:cNvSpPr>
          <p:nvPr>
            <p:ph type="title"/>
          </p:nvPr>
        </p:nvSpPr>
        <p:spPr/>
        <p:txBody>
          <a:bodyPr/>
          <a:lstStyle/>
          <a:p>
            <a:r>
              <a:rPr lang="en-GB" dirty="0"/>
              <a:t>Types of Elements</a:t>
            </a:r>
          </a:p>
        </p:txBody>
      </p:sp>
      <p:sp>
        <p:nvSpPr>
          <p:cNvPr id="9" name="TextBox 8">
            <a:extLst>
              <a:ext uri="{FF2B5EF4-FFF2-40B4-BE49-F238E27FC236}">
                <a16:creationId xmlns:a16="http://schemas.microsoft.com/office/drawing/2014/main" id="{12494FA6-D132-D6B9-EFB1-9C926F906755}"/>
              </a:ext>
            </a:extLst>
          </p:cNvPr>
          <p:cNvSpPr txBox="1"/>
          <p:nvPr/>
        </p:nvSpPr>
        <p:spPr>
          <a:xfrm>
            <a:off x="831383" y="1994127"/>
            <a:ext cx="1926553" cy="1323439"/>
          </a:xfrm>
          <a:prstGeom prst="rect">
            <a:avLst/>
          </a:prstGeom>
          <a:noFill/>
          <a:ln w="3175">
            <a:solidFill>
              <a:schemeClr val="tx1"/>
            </a:solidFill>
          </a:ln>
        </p:spPr>
        <p:txBody>
          <a:bodyPr wrap="none" rtlCol="0">
            <a:spAutoFit/>
          </a:bodyPr>
          <a:lstStyle/>
          <a:p>
            <a:r>
              <a:rPr lang="en-GB" sz="3200" dirty="0">
                <a:solidFill>
                  <a:srgbClr val="BDD7EE"/>
                </a:solidFill>
              </a:rPr>
              <a:t>Document</a:t>
            </a:r>
          </a:p>
          <a:p>
            <a:endParaRPr lang="en-GB" sz="1600" dirty="0">
              <a:latin typeface="Consolas" panose="020B0609020204030204" pitchFamily="49" charset="0"/>
            </a:endParaRPr>
          </a:p>
          <a:p>
            <a:r>
              <a:rPr lang="en-GB" sz="3200" dirty="0">
                <a:latin typeface="Consolas" panose="020B0609020204030204" pitchFamily="49" charset="0"/>
              </a:rPr>
              <a:t>html</a:t>
            </a:r>
          </a:p>
        </p:txBody>
      </p:sp>
      <p:sp>
        <p:nvSpPr>
          <p:cNvPr id="10" name="TextBox 9">
            <a:extLst>
              <a:ext uri="{FF2B5EF4-FFF2-40B4-BE49-F238E27FC236}">
                <a16:creationId xmlns:a16="http://schemas.microsoft.com/office/drawing/2014/main" id="{00B33B96-43D5-6687-5659-EC9C031A2E84}"/>
              </a:ext>
            </a:extLst>
          </p:cNvPr>
          <p:cNvSpPr txBox="1"/>
          <p:nvPr/>
        </p:nvSpPr>
        <p:spPr>
          <a:xfrm>
            <a:off x="3010989" y="1994127"/>
            <a:ext cx="1806970" cy="2800767"/>
          </a:xfrm>
          <a:prstGeom prst="rect">
            <a:avLst/>
          </a:prstGeom>
          <a:noFill/>
          <a:ln w="3175">
            <a:solidFill>
              <a:schemeClr val="tx1"/>
            </a:solidFill>
          </a:ln>
        </p:spPr>
        <p:txBody>
          <a:bodyPr wrap="none" rtlCol="0">
            <a:spAutoFit/>
          </a:bodyPr>
          <a:lstStyle/>
          <a:p>
            <a:r>
              <a:rPr lang="en-GB" sz="3200" dirty="0">
                <a:solidFill>
                  <a:srgbClr val="BDD7EE"/>
                </a:solidFill>
              </a:rPr>
              <a:t>Metadata</a:t>
            </a:r>
          </a:p>
          <a:p>
            <a:endParaRPr lang="en-GB" sz="1600" dirty="0">
              <a:latin typeface="Consolas" panose="020B0609020204030204" pitchFamily="49" charset="0"/>
            </a:endParaRPr>
          </a:p>
          <a:p>
            <a:r>
              <a:rPr lang="en-GB" sz="3200" dirty="0">
                <a:latin typeface="Consolas" panose="020B0609020204030204" pitchFamily="49" charset="0"/>
              </a:rPr>
              <a:t>head</a:t>
            </a:r>
          </a:p>
          <a:p>
            <a:r>
              <a:rPr lang="en-GB" sz="3200" dirty="0">
                <a:latin typeface="Consolas" panose="020B0609020204030204" pitchFamily="49" charset="0"/>
              </a:rPr>
              <a:t>title</a:t>
            </a:r>
          </a:p>
          <a:p>
            <a:r>
              <a:rPr lang="en-GB" sz="3200" dirty="0">
                <a:latin typeface="Consolas" panose="020B0609020204030204" pitchFamily="49" charset="0"/>
              </a:rPr>
              <a:t>style</a:t>
            </a:r>
          </a:p>
          <a:p>
            <a:r>
              <a:rPr lang="en-GB" sz="3200" dirty="0">
                <a:latin typeface="Consolas" panose="020B0609020204030204" pitchFamily="49" charset="0"/>
              </a:rPr>
              <a:t>link</a:t>
            </a:r>
          </a:p>
        </p:txBody>
      </p:sp>
      <p:sp>
        <p:nvSpPr>
          <p:cNvPr id="11" name="TextBox 10">
            <a:extLst>
              <a:ext uri="{FF2B5EF4-FFF2-40B4-BE49-F238E27FC236}">
                <a16:creationId xmlns:a16="http://schemas.microsoft.com/office/drawing/2014/main" id="{9F9A83C6-47FD-8FC3-1BB9-0D48E54E2A5D}"/>
              </a:ext>
            </a:extLst>
          </p:cNvPr>
          <p:cNvSpPr txBox="1"/>
          <p:nvPr/>
        </p:nvSpPr>
        <p:spPr>
          <a:xfrm>
            <a:off x="5071012" y="1994127"/>
            <a:ext cx="1576072" cy="1815882"/>
          </a:xfrm>
          <a:prstGeom prst="rect">
            <a:avLst/>
          </a:prstGeom>
          <a:noFill/>
          <a:ln w="3175">
            <a:solidFill>
              <a:schemeClr val="tx1"/>
            </a:solidFill>
          </a:ln>
        </p:spPr>
        <p:txBody>
          <a:bodyPr wrap="none" rtlCol="0">
            <a:spAutoFit/>
          </a:bodyPr>
          <a:lstStyle/>
          <a:p>
            <a:r>
              <a:rPr lang="en-GB" sz="3200" dirty="0">
                <a:solidFill>
                  <a:srgbClr val="BDD7EE"/>
                </a:solidFill>
              </a:rPr>
              <a:t>Sections</a:t>
            </a:r>
          </a:p>
          <a:p>
            <a:endParaRPr lang="en-GB" sz="1600" dirty="0">
              <a:latin typeface="Consolas" panose="020B0609020204030204" pitchFamily="49" charset="0"/>
            </a:endParaRPr>
          </a:p>
          <a:p>
            <a:r>
              <a:rPr lang="en-GB" sz="3200" dirty="0">
                <a:latin typeface="Consolas" panose="020B0609020204030204" pitchFamily="49" charset="0"/>
              </a:rPr>
              <a:t>body</a:t>
            </a:r>
          </a:p>
          <a:p>
            <a:r>
              <a:rPr lang="en-GB" sz="3200" dirty="0">
                <a:latin typeface="Consolas" panose="020B0609020204030204" pitchFamily="49" charset="0"/>
              </a:rPr>
              <a:t>h1-h6</a:t>
            </a:r>
          </a:p>
        </p:txBody>
      </p:sp>
      <p:sp>
        <p:nvSpPr>
          <p:cNvPr id="12" name="TextBox 11">
            <a:extLst>
              <a:ext uri="{FF2B5EF4-FFF2-40B4-BE49-F238E27FC236}">
                <a16:creationId xmlns:a16="http://schemas.microsoft.com/office/drawing/2014/main" id="{002CB195-FD7D-2D11-B485-C7FDFB732121}"/>
              </a:ext>
            </a:extLst>
          </p:cNvPr>
          <p:cNvSpPr txBox="1"/>
          <p:nvPr/>
        </p:nvSpPr>
        <p:spPr>
          <a:xfrm>
            <a:off x="6900137" y="1994127"/>
            <a:ext cx="1734577" cy="3293209"/>
          </a:xfrm>
          <a:prstGeom prst="rect">
            <a:avLst/>
          </a:prstGeom>
          <a:noFill/>
          <a:ln w="3175">
            <a:solidFill>
              <a:schemeClr val="tx1"/>
            </a:solidFill>
          </a:ln>
        </p:spPr>
        <p:txBody>
          <a:bodyPr wrap="none" rtlCol="0">
            <a:spAutoFit/>
          </a:bodyPr>
          <a:lstStyle/>
          <a:p>
            <a:r>
              <a:rPr lang="en-GB" sz="3200" dirty="0">
                <a:solidFill>
                  <a:srgbClr val="BDD7EE"/>
                </a:solidFill>
              </a:rPr>
              <a:t>Grouping</a:t>
            </a:r>
          </a:p>
          <a:p>
            <a:endParaRPr lang="en-GB" sz="1600" dirty="0">
              <a:latin typeface="Consolas" panose="020B0609020204030204" pitchFamily="49" charset="0"/>
            </a:endParaRPr>
          </a:p>
          <a:p>
            <a:r>
              <a:rPr lang="en-GB" sz="3200" dirty="0">
                <a:latin typeface="Consolas" panose="020B0609020204030204" pitchFamily="49" charset="0"/>
              </a:rPr>
              <a:t>p</a:t>
            </a:r>
          </a:p>
          <a:p>
            <a:r>
              <a:rPr lang="en-GB" sz="3200" dirty="0" err="1">
                <a:latin typeface="Consolas" panose="020B0609020204030204" pitchFamily="49" charset="0"/>
              </a:rPr>
              <a:t>ol</a:t>
            </a:r>
            <a:endParaRPr lang="en-GB" sz="3200" dirty="0">
              <a:latin typeface="Consolas" panose="020B0609020204030204" pitchFamily="49" charset="0"/>
            </a:endParaRPr>
          </a:p>
          <a:p>
            <a:r>
              <a:rPr lang="en-GB" sz="3200" dirty="0" err="1">
                <a:latin typeface="Consolas" panose="020B0609020204030204" pitchFamily="49" charset="0"/>
              </a:rPr>
              <a:t>ul</a:t>
            </a:r>
            <a:endParaRPr lang="en-GB" sz="3200" dirty="0">
              <a:latin typeface="Consolas" panose="020B0609020204030204" pitchFamily="49" charset="0"/>
            </a:endParaRPr>
          </a:p>
          <a:p>
            <a:r>
              <a:rPr lang="en-GB" sz="3200" dirty="0">
                <a:latin typeface="Consolas" panose="020B0609020204030204" pitchFamily="49" charset="0"/>
              </a:rPr>
              <a:t>li</a:t>
            </a:r>
          </a:p>
          <a:p>
            <a:r>
              <a:rPr lang="en-GB" sz="3200" dirty="0">
                <a:latin typeface="Consolas" panose="020B0609020204030204" pitchFamily="49" charset="0"/>
              </a:rPr>
              <a:t>div</a:t>
            </a:r>
          </a:p>
        </p:txBody>
      </p:sp>
      <p:sp>
        <p:nvSpPr>
          <p:cNvPr id="13" name="TextBox 12">
            <a:extLst>
              <a:ext uri="{FF2B5EF4-FFF2-40B4-BE49-F238E27FC236}">
                <a16:creationId xmlns:a16="http://schemas.microsoft.com/office/drawing/2014/main" id="{B49540AC-8C29-448A-CB05-B93DCAFBC641}"/>
              </a:ext>
            </a:extLst>
          </p:cNvPr>
          <p:cNvSpPr txBox="1"/>
          <p:nvPr/>
        </p:nvSpPr>
        <p:spPr>
          <a:xfrm>
            <a:off x="8887767" y="1994127"/>
            <a:ext cx="862929" cy="1323439"/>
          </a:xfrm>
          <a:prstGeom prst="rect">
            <a:avLst/>
          </a:prstGeom>
          <a:noFill/>
          <a:ln w="3175">
            <a:solidFill>
              <a:schemeClr val="tx1"/>
            </a:solidFill>
          </a:ln>
        </p:spPr>
        <p:txBody>
          <a:bodyPr wrap="none" rtlCol="0">
            <a:spAutoFit/>
          </a:bodyPr>
          <a:lstStyle/>
          <a:p>
            <a:r>
              <a:rPr lang="en-GB" sz="3200" dirty="0">
                <a:solidFill>
                  <a:srgbClr val="BDD7EE"/>
                </a:solidFill>
              </a:rPr>
              <a:t>Text</a:t>
            </a:r>
          </a:p>
          <a:p>
            <a:endParaRPr lang="en-GB" sz="1600" dirty="0">
              <a:latin typeface="Consolas" panose="020B0609020204030204" pitchFamily="49" charset="0"/>
            </a:endParaRPr>
          </a:p>
          <a:p>
            <a:r>
              <a:rPr lang="en-GB" sz="3200" dirty="0">
                <a:latin typeface="Consolas" panose="020B0609020204030204" pitchFamily="49" charset="0"/>
              </a:rPr>
              <a:t>a</a:t>
            </a:r>
          </a:p>
        </p:txBody>
      </p:sp>
      <p:sp>
        <p:nvSpPr>
          <p:cNvPr id="14" name="TextBox 13">
            <a:extLst>
              <a:ext uri="{FF2B5EF4-FFF2-40B4-BE49-F238E27FC236}">
                <a16:creationId xmlns:a16="http://schemas.microsoft.com/office/drawing/2014/main" id="{E60C830E-651B-0F50-9E33-983BB2553BF1}"/>
              </a:ext>
            </a:extLst>
          </p:cNvPr>
          <p:cNvSpPr txBox="1"/>
          <p:nvPr/>
        </p:nvSpPr>
        <p:spPr>
          <a:xfrm>
            <a:off x="10003750" y="1994127"/>
            <a:ext cx="1350050" cy="2308324"/>
          </a:xfrm>
          <a:prstGeom prst="rect">
            <a:avLst/>
          </a:prstGeom>
          <a:noFill/>
          <a:ln w="3175">
            <a:solidFill>
              <a:schemeClr val="tx1"/>
            </a:solidFill>
          </a:ln>
        </p:spPr>
        <p:txBody>
          <a:bodyPr wrap="none" rtlCol="0">
            <a:spAutoFit/>
          </a:bodyPr>
          <a:lstStyle/>
          <a:p>
            <a:r>
              <a:rPr lang="en-GB" sz="3200" dirty="0">
                <a:solidFill>
                  <a:srgbClr val="BDD7EE"/>
                </a:solidFill>
              </a:rPr>
              <a:t>Embed</a:t>
            </a:r>
          </a:p>
          <a:p>
            <a:endParaRPr lang="en-GB" sz="1600" dirty="0">
              <a:latin typeface="Consolas" panose="020B0609020204030204" pitchFamily="49" charset="0"/>
            </a:endParaRPr>
          </a:p>
          <a:p>
            <a:r>
              <a:rPr lang="en-GB" sz="3200" dirty="0" err="1">
                <a:latin typeface="Consolas" panose="020B0609020204030204" pitchFamily="49" charset="0"/>
              </a:rPr>
              <a:t>img</a:t>
            </a:r>
            <a:endParaRPr lang="en-GB" sz="3200" dirty="0">
              <a:latin typeface="Consolas" panose="020B0609020204030204" pitchFamily="49" charset="0"/>
            </a:endParaRPr>
          </a:p>
          <a:p>
            <a:r>
              <a:rPr lang="en-GB" sz="3200" dirty="0">
                <a:latin typeface="Consolas" panose="020B0609020204030204" pitchFamily="49" charset="0"/>
              </a:rPr>
              <a:t>audio</a:t>
            </a:r>
          </a:p>
          <a:p>
            <a:r>
              <a:rPr lang="en-GB" sz="3200" dirty="0">
                <a:latin typeface="Consolas" panose="020B0609020204030204" pitchFamily="49" charset="0"/>
              </a:rPr>
              <a:t>video</a:t>
            </a:r>
          </a:p>
        </p:txBody>
      </p:sp>
    </p:spTree>
    <p:extLst>
      <p:ext uri="{BB962C8B-B14F-4D97-AF65-F5344CB8AC3E}">
        <p14:creationId xmlns:p14="http://schemas.microsoft.com/office/powerpoint/2010/main" val="3363889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E13BDE-D3BF-D0D1-A3F8-3FD4B3A1AC17}"/>
              </a:ext>
            </a:extLst>
          </p:cNvPr>
          <p:cNvSpPr txBox="1"/>
          <p:nvPr/>
        </p:nvSpPr>
        <p:spPr>
          <a:xfrm>
            <a:off x="1500188" y="748577"/>
            <a:ext cx="9536906" cy="5632311"/>
          </a:xfrm>
          <a:prstGeom prst="rect">
            <a:avLst/>
          </a:prstGeom>
          <a:noFill/>
        </p:spPr>
        <p:txBody>
          <a:bodyPr wrap="square">
            <a:spAutoFit/>
          </a:bodyPr>
          <a:lstStyle/>
          <a:p>
            <a:pPr algn="l">
              <a:buNone/>
            </a:pPr>
            <a:r>
              <a:rPr lang="en-GB" b="1" i="0" dirty="0">
                <a:solidFill>
                  <a:srgbClr val="000000"/>
                </a:solidFill>
                <a:effectLst/>
                <a:latin typeface="Arial" panose="020B0604020202020204" pitchFamily="34" charset="0"/>
                <a:cs typeface="Arial" panose="020B0604020202020204" pitchFamily="34" charset="0"/>
              </a:rPr>
              <a:t>The GET Method</a:t>
            </a:r>
          </a:p>
          <a:p>
            <a:pPr algn="l">
              <a:buNone/>
            </a:pPr>
            <a:endParaRPr lang="en-GB" b="1" i="0" dirty="0">
              <a:solidFill>
                <a:srgbClr val="000000"/>
              </a:solidFill>
              <a:effectLst/>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The GET method </a:t>
            </a:r>
            <a:r>
              <a:rPr lang="en-GB" b="1" i="0" dirty="0">
                <a:solidFill>
                  <a:srgbClr val="000000"/>
                </a:solidFill>
                <a:effectLst/>
                <a:latin typeface="Arial" panose="020B0604020202020204" pitchFamily="34" charset="0"/>
                <a:cs typeface="Arial" panose="020B0604020202020204" pitchFamily="34" charset="0"/>
              </a:rPr>
              <a:t>sends the form data in the URL query string</a:t>
            </a:r>
            <a:r>
              <a:rPr lang="en-GB" b="0" i="0" dirty="0">
                <a:solidFill>
                  <a:srgbClr val="000000"/>
                </a:solidFill>
                <a:effectLst/>
                <a:latin typeface="Arial" panose="020B0604020202020204" pitchFamily="34" charset="0"/>
                <a:cs typeface="Arial" panose="020B0604020202020204" pitchFamily="34" charset="0"/>
              </a:rPr>
              <a:t>. This means that the form data is visible in the browser's address bar and can be bookmarked or shared with others.</a:t>
            </a:r>
          </a:p>
          <a:p>
            <a:pPr algn="l">
              <a:buNone/>
            </a:pPr>
            <a:endParaRPr lang="en-GB" b="0" i="0" dirty="0">
              <a:solidFill>
                <a:srgbClr val="000000"/>
              </a:solidFill>
              <a:effectLst/>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It's commonly used for simple forms that don't require a lot of security (the data is visible in the URL, so it’s not the best method for sending sensitive data).</a:t>
            </a:r>
          </a:p>
          <a:p>
            <a:pPr algn="l">
              <a:buNone/>
            </a:pPr>
            <a:endParaRPr lang="en-GB" b="0" i="0" dirty="0">
              <a:solidFill>
                <a:srgbClr val="000000"/>
              </a:solidFill>
              <a:effectLst/>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For example, if a user submits a form with the name "John" and the email "john@example.com", the URL will look like this: https://example.com/form.php?name=John&amp;email=john%40example.com.</a:t>
            </a:r>
          </a:p>
          <a:p>
            <a:pPr algn="l">
              <a:buNone/>
            </a:pPr>
            <a:endParaRPr lang="en-GB" b="0" i="0" dirty="0">
              <a:solidFill>
                <a:srgbClr val="000000"/>
              </a:solidFill>
              <a:effectLst/>
              <a:latin typeface="Arial" panose="020B0604020202020204" pitchFamily="34" charset="0"/>
              <a:cs typeface="Arial" panose="020B0604020202020204" pitchFamily="34" charset="0"/>
            </a:endParaRPr>
          </a:p>
          <a:p>
            <a:pPr algn="l">
              <a:buNone/>
            </a:pPr>
            <a:r>
              <a:rPr lang="en-GB" b="1" i="0" dirty="0">
                <a:solidFill>
                  <a:srgbClr val="000000"/>
                </a:solidFill>
                <a:effectLst/>
                <a:latin typeface="Arial" panose="020B0604020202020204" pitchFamily="34" charset="0"/>
                <a:cs typeface="Arial" panose="020B0604020202020204" pitchFamily="34" charset="0"/>
              </a:rPr>
              <a:t>The POST Method</a:t>
            </a:r>
          </a:p>
          <a:p>
            <a:pPr algn="l">
              <a:buNone/>
            </a:pPr>
            <a:endParaRPr lang="en-GB" b="1" i="0" dirty="0">
              <a:solidFill>
                <a:srgbClr val="000000"/>
              </a:solidFill>
              <a:effectLst/>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The POST method </a:t>
            </a:r>
            <a:r>
              <a:rPr lang="en-GB" b="1" i="0" dirty="0">
                <a:solidFill>
                  <a:srgbClr val="000000"/>
                </a:solidFill>
                <a:effectLst/>
                <a:latin typeface="Arial" panose="020B0604020202020204" pitchFamily="34" charset="0"/>
                <a:cs typeface="Arial" panose="020B0604020202020204" pitchFamily="34" charset="0"/>
              </a:rPr>
              <a:t>sends the form data in the body of the HTTP request</a:t>
            </a:r>
            <a:r>
              <a:rPr lang="en-GB" b="0" i="0" dirty="0">
                <a:solidFill>
                  <a:srgbClr val="000000"/>
                </a:solidFill>
                <a:effectLst/>
                <a:latin typeface="Arial" panose="020B0604020202020204" pitchFamily="34" charset="0"/>
                <a:cs typeface="Arial" panose="020B0604020202020204" pitchFamily="34" charset="0"/>
              </a:rPr>
              <a:t>. This means that the form data is not visible in the URL or the browser's address bar.</a:t>
            </a:r>
          </a:p>
          <a:p>
            <a:pPr algn="l">
              <a:buNone/>
            </a:pPr>
            <a:endParaRPr lang="en-GB" b="0" i="0" dirty="0">
              <a:solidFill>
                <a:srgbClr val="000000"/>
              </a:solidFill>
              <a:effectLst/>
              <a:latin typeface="Arial" panose="020B0604020202020204" pitchFamily="34" charset="0"/>
              <a:cs typeface="Arial" panose="020B0604020202020204" pitchFamily="34" charset="0"/>
            </a:endParaRPr>
          </a:p>
          <a:p>
            <a:pPr algn="l"/>
            <a:r>
              <a:rPr lang="en-GB" b="0" i="0" dirty="0">
                <a:solidFill>
                  <a:srgbClr val="000000"/>
                </a:solidFill>
                <a:effectLst/>
                <a:latin typeface="Arial" panose="020B0604020202020204" pitchFamily="34" charset="0"/>
                <a:cs typeface="Arial" panose="020B0604020202020204" pitchFamily="34" charset="0"/>
              </a:rPr>
              <a:t>It's commonly used for more complex forms that require higher security, such as login forms or forms that contain sensitive information. However, the form data cannot be bookmarked, shared, or cached by the browser as in the case of the GET method.</a:t>
            </a:r>
          </a:p>
        </p:txBody>
      </p:sp>
    </p:spTree>
    <p:extLst>
      <p:ext uri="{BB962C8B-B14F-4D97-AF65-F5344CB8AC3E}">
        <p14:creationId xmlns:p14="http://schemas.microsoft.com/office/powerpoint/2010/main" val="805061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6196E5-A9E5-25DD-3C6E-BB531D9DC9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EF4F597-80FA-BD06-597E-51EE9BAFA317}"/>
              </a:ext>
            </a:extLst>
          </p:cNvPr>
          <p:cNvSpPr txBox="1"/>
          <p:nvPr/>
        </p:nvSpPr>
        <p:spPr>
          <a:xfrm>
            <a:off x="1150144" y="748577"/>
            <a:ext cx="10444162" cy="5355312"/>
          </a:xfrm>
          <a:prstGeom prst="rect">
            <a:avLst/>
          </a:prstGeom>
          <a:noFill/>
        </p:spPr>
        <p:txBody>
          <a:bodyPr wrap="square">
            <a:spAutoFit/>
          </a:bodyPr>
          <a:lstStyle/>
          <a:p>
            <a:pPr algn="l">
              <a:buNone/>
            </a:pPr>
            <a:r>
              <a:rPr lang="en-GB" b="0" i="0" dirty="0">
                <a:solidFill>
                  <a:srgbClr val="000000"/>
                </a:solidFill>
                <a:effectLst/>
                <a:latin typeface="Arial" panose="020B0604020202020204" pitchFamily="34" charset="0"/>
                <a:cs typeface="Arial" panose="020B0604020202020204" pitchFamily="34" charset="0"/>
              </a:rPr>
              <a:t>Common input types (the type attribute values) include:</a:t>
            </a:r>
          </a:p>
          <a:p>
            <a:pPr algn="l">
              <a:buNone/>
            </a:pPr>
            <a:endParaRPr lang="en-GB" b="0" i="0" dirty="0">
              <a:solidFill>
                <a:srgbClr val="000000"/>
              </a:solidFill>
              <a:effectLst/>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text – a single-line text input field, used for short text inputs such as names, email addresses, etc.</a:t>
            </a:r>
          </a:p>
          <a:p>
            <a:pPr algn="l">
              <a:buNone/>
            </a:pPr>
            <a:r>
              <a:rPr lang="en-GB" b="0" i="0" dirty="0">
                <a:solidFill>
                  <a:srgbClr val="000000"/>
                </a:solidFill>
                <a:effectLst/>
                <a:latin typeface="Arial" panose="020B0604020202020204" pitchFamily="34" charset="0"/>
                <a:cs typeface="Arial" panose="020B0604020202020204" pitchFamily="34" charset="0"/>
              </a:rPr>
              <a:t>email – a single-line text input field used specifically for entering and validating email addresses (the browser applies built-in validation to ensure that the user’s input is in the proper email format)</a:t>
            </a:r>
          </a:p>
          <a:p>
            <a:pPr algn="l">
              <a:buNone/>
            </a:pPr>
            <a:r>
              <a:rPr lang="en-GB" b="0" i="0" dirty="0" err="1">
                <a:solidFill>
                  <a:srgbClr val="000000"/>
                </a:solidFill>
                <a:effectLst/>
                <a:latin typeface="Arial" panose="020B0604020202020204" pitchFamily="34" charset="0"/>
                <a:cs typeface="Arial" panose="020B0604020202020204" pitchFamily="34" charset="0"/>
              </a:rPr>
              <a:t>url</a:t>
            </a:r>
            <a:r>
              <a:rPr lang="en-GB" b="0" i="0" dirty="0">
                <a:solidFill>
                  <a:srgbClr val="000000"/>
                </a:solidFill>
                <a:effectLst/>
                <a:latin typeface="Arial" panose="020B0604020202020204" pitchFamily="34" charset="0"/>
                <a:cs typeface="Arial" panose="020B0604020202020204" pitchFamily="34" charset="0"/>
              </a:rPr>
              <a:t> – a single-line text input field used specifically for entering, validating, and accepting only properly-formatted URLs;</a:t>
            </a:r>
          </a:p>
          <a:p>
            <a:pPr algn="l">
              <a:buNone/>
            </a:pPr>
            <a:r>
              <a:rPr lang="en-GB" b="0" i="0" dirty="0">
                <a:solidFill>
                  <a:srgbClr val="000000"/>
                </a:solidFill>
                <a:effectLst/>
                <a:latin typeface="Arial" panose="020B0604020202020204" pitchFamily="34" charset="0"/>
                <a:cs typeface="Arial" panose="020B0604020202020204" pitchFamily="34" charset="0"/>
              </a:rPr>
              <a:t>number – a single-line input field used specifically to validate and accept only numbers;</a:t>
            </a:r>
          </a:p>
          <a:p>
            <a:pPr algn="l">
              <a:buNone/>
            </a:pPr>
            <a:r>
              <a:rPr lang="en-GB" b="0" i="0" dirty="0">
                <a:solidFill>
                  <a:srgbClr val="000000"/>
                </a:solidFill>
                <a:effectLst/>
                <a:latin typeface="Arial" panose="020B0604020202020204" pitchFamily="34" charset="0"/>
                <a:cs typeface="Arial" panose="020B0604020202020204" pitchFamily="34" charset="0"/>
              </a:rPr>
              <a:t>password – a single-line text input field that masks the entered characters to maintain the confidentiality of the password;</a:t>
            </a:r>
          </a:p>
          <a:p>
            <a:pPr algn="l">
              <a:buNone/>
            </a:pPr>
            <a:r>
              <a:rPr lang="en-GB" b="0" i="0" dirty="0">
                <a:solidFill>
                  <a:srgbClr val="000000"/>
                </a:solidFill>
                <a:effectLst/>
                <a:latin typeface="Arial" panose="020B0604020202020204" pitchFamily="34" charset="0"/>
                <a:cs typeface="Arial" panose="020B0604020202020204" pitchFamily="34" charset="0"/>
              </a:rPr>
              <a:t>checkbox – a checkbox that can be toggled on or off, allows users to select one or more options from a list;</a:t>
            </a:r>
          </a:p>
          <a:p>
            <a:pPr algn="l">
              <a:buNone/>
            </a:pPr>
            <a:r>
              <a:rPr lang="en-GB" b="0" i="0" dirty="0">
                <a:solidFill>
                  <a:srgbClr val="000000"/>
                </a:solidFill>
                <a:effectLst/>
                <a:latin typeface="Arial" panose="020B0604020202020204" pitchFamily="34" charset="0"/>
                <a:cs typeface="Arial" panose="020B0604020202020204" pitchFamily="34" charset="0"/>
              </a:rPr>
              <a:t>radio – a radio button that belongs to a group of radio buttons (only one can be selected at a time)</a:t>
            </a:r>
          </a:p>
          <a:p>
            <a:pPr algn="l">
              <a:buNone/>
            </a:pPr>
            <a:r>
              <a:rPr lang="en-GB" b="0" i="0" dirty="0">
                <a:solidFill>
                  <a:srgbClr val="000000"/>
                </a:solidFill>
                <a:effectLst/>
                <a:latin typeface="Arial" panose="020B0604020202020204" pitchFamily="34" charset="0"/>
                <a:cs typeface="Arial" panose="020B0604020202020204" pitchFamily="34" charset="0"/>
              </a:rPr>
              <a:t>submit – a button that submits the form data and sends it to the server as specified by the action and method attributes;</a:t>
            </a:r>
          </a:p>
          <a:p>
            <a:pPr algn="l">
              <a:buNone/>
            </a:pPr>
            <a:r>
              <a:rPr lang="en-GB" b="0" i="0" dirty="0">
                <a:solidFill>
                  <a:srgbClr val="000000"/>
                </a:solidFill>
                <a:effectLst/>
                <a:latin typeface="Arial" panose="020B0604020202020204" pitchFamily="34" charset="0"/>
                <a:cs typeface="Arial" panose="020B0604020202020204" pitchFamily="34" charset="0"/>
              </a:rPr>
              <a:t>reset – a button that clears the form data and resets it to the initial values.</a:t>
            </a:r>
          </a:p>
          <a:p>
            <a:pPr algn="l">
              <a:buNone/>
            </a:pPr>
            <a:endParaRPr lang="en-GB" dirty="0">
              <a:solidFill>
                <a:srgbClr val="000000"/>
              </a:solidFill>
              <a:latin typeface="Arial" panose="020B0604020202020204" pitchFamily="34" charset="0"/>
              <a:cs typeface="Arial" panose="020B0604020202020204" pitchFamily="34" charset="0"/>
            </a:endParaRPr>
          </a:p>
          <a:p>
            <a:pPr algn="l">
              <a:buNone/>
            </a:pPr>
            <a:r>
              <a:rPr lang="en-GB" b="0" i="0" dirty="0">
                <a:solidFill>
                  <a:srgbClr val="000000"/>
                </a:solidFill>
                <a:effectLst/>
                <a:latin typeface="Arial" panose="020B0604020202020204" pitchFamily="34" charset="0"/>
                <a:cs typeface="Arial" panose="020B0604020202020204" pitchFamily="34" charset="0"/>
              </a:rPr>
              <a:t>Each input field must have a name attribute.</a:t>
            </a:r>
          </a:p>
          <a:p>
            <a:pPr algn="l">
              <a:buNone/>
            </a:pPr>
            <a:r>
              <a:rPr lang="en-GB" b="0" i="0" dirty="0">
                <a:solidFill>
                  <a:srgbClr val="000000"/>
                </a:solidFill>
                <a:effectLst/>
                <a:latin typeface="Arial" panose="020B0604020202020204" pitchFamily="34" charset="0"/>
                <a:cs typeface="Arial" panose="020B0604020202020204" pitchFamily="34" charset="0"/>
              </a:rPr>
              <a:t>Adding the required attribute to an input field makes it mandatory </a:t>
            </a:r>
          </a:p>
        </p:txBody>
      </p:sp>
    </p:spTree>
    <p:extLst>
      <p:ext uri="{BB962C8B-B14F-4D97-AF65-F5344CB8AC3E}">
        <p14:creationId xmlns:p14="http://schemas.microsoft.com/office/powerpoint/2010/main" val="14709578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9C53E1-ACB2-FCF9-5B40-D658BDE53038}"/>
              </a:ext>
            </a:extLst>
          </p:cNvPr>
          <p:cNvSpPr txBox="1"/>
          <p:nvPr/>
        </p:nvSpPr>
        <p:spPr>
          <a:xfrm>
            <a:off x="928688" y="1252835"/>
            <a:ext cx="10172699" cy="3693319"/>
          </a:xfrm>
          <a:prstGeom prst="rect">
            <a:avLst/>
          </a:prstGeom>
          <a:noFill/>
        </p:spPr>
        <p:txBody>
          <a:bodyPr wrap="square">
            <a:spAutoFit/>
          </a:bodyPr>
          <a:lstStyle/>
          <a:p>
            <a:r>
              <a:rPr lang="en-GB" dirty="0"/>
              <a:t>The &lt;label&gt; element plays a vital role in creating accessible and user-friendly forms. It provides a textual description for each input field, improving form readability and usability.</a:t>
            </a:r>
          </a:p>
          <a:p>
            <a:endParaRPr lang="en-GB" dirty="0"/>
          </a:p>
          <a:p>
            <a:r>
              <a:rPr lang="en-GB" dirty="0"/>
              <a:t>&lt;label for="email"&gt;Email:&lt;/label&gt;</a:t>
            </a:r>
          </a:p>
          <a:p>
            <a:r>
              <a:rPr lang="en-GB" dirty="0"/>
              <a:t>&lt;input type="email" id="email" name="</a:t>
            </a:r>
            <a:r>
              <a:rPr lang="en-GB" dirty="0" err="1"/>
              <a:t>useremail</a:t>
            </a:r>
            <a:r>
              <a:rPr lang="en-GB" dirty="0"/>
              <a:t>" required&gt;</a:t>
            </a:r>
          </a:p>
          <a:p>
            <a:endParaRPr lang="en-GB" dirty="0"/>
          </a:p>
          <a:p>
            <a:r>
              <a:rPr lang="en-GB" dirty="0"/>
              <a:t>In addition to the input element, there are other form elements that you can use in HTML forms. Some of them include &lt;</a:t>
            </a:r>
            <a:r>
              <a:rPr lang="en-GB" dirty="0" err="1"/>
              <a:t>textarea</a:t>
            </a:r>
            <a:r>
              <a:rPr lang="en-GB" dirty="0"/>
              <a:t>&gt;, &lt;select&gt;, &lt;button&gt;, and &lt;</a:t>
            </a:r>
            <a:r>
              <a:rPr lang="en-GB" dirty="0" err="1"/>
              <a:t>fieldset</a:t>
            </a:r>
            <a:r>
              <a:rPr lang="en-GB" dirty="0"/>
              <a:t>&gt;.</a:t>
            </a:r>
          </a:p>
          <a:p>
            <a:endParaRPr lang="en-GB" dirty="0"/>
          </a:p>
          <a:p>
            <a:r>
              <a:rPr lang="en-GB" dirty="0"/>
              <a:t>&lt;label for="message"&gt;Message:&lt;/label&gt;</a:t>
            </a:r>
          </a:p>
          <a:p>
            <a:r>
              <a:rPr lang="en-GB" dirty="0"/>
              <a:t>&lt;</a:t>
            </a:r>
            <a:r>
              <a:rPr lang="en-GB" dirty="0" err="1"/>
              <a:t>textarea</a:t>
            </a:r>
            <a:r>
              <a:rPr lang="en-GB" dirty="0"/>
              <a:t> id="message" name="message" rows="4" cols="50"&gt;&lt;/</a:t>
            </a:r>
            <a:r>
              <a:rPr lang="en-GB" dirty="0" err="1"/>
              <a:t>textarea</a:t>
            </a:r>
            <a:r>
              <a:rPr lang="en-GB" dirty="0"/>
              <a:t>&gt;</a:t>
            </a:r>
          </a:p>
          <a:p>
            <a:endParaRPr lang="en-GB" dirty="0"/>
          </a:p>
          <a:p>
            <a:r>
              <a:rPr lang="en-GB" dirty="0"/>
              <a:t>&lt;button type="button" onclick="alert('Hello, World!')"&gt;Click me!&lt;/button&gt;</a:t>
            </a:r>
          </a:p>
        </p:txBody>
      </p:sp>
    </p:spTree>
    <p:extLst>
      <p:ext uri="{BB962C8B-B14F-4D97-AF65-F5344CB8AC3E}">
        <p14:creationId xmlns:p14="http://schemas.microsoft.com/office/powerpoint/2010/main" val="31217999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9440FC-CD82-EE2C-065A-D3142A374F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645589-2538-08D9-8397-A7472F1B1C98}"/>
              </a:ext>
            </a:extLst>
          </p:cNvPr>
          <p:cNvSpPr txBox="1"/>
          <p:nvPr/>
        </p:nvSpPr>
        <p:spPr>
          <a:xfrm>
            <a:off x="907256" y="331291"/>
            <a:ext cx="10172699" cy="4247317"/>
          </a:xfrm>
          <a:prstGeom prst="rect">
            <a:avLst/>
          </a:prstGeom>
          <a:noFill/>
        </p:spPr>
        <p:txBody>
          <a:bodyPr wrap="square">
            <a:spAutoFit/>
          </a:bodyPr>
          <a:lstStyle/>
          <a:p>
            <a:r>
              <a:rPr lang="en-GB" dirty="0"/>
              <a:t>The &lt;</a:t>
            </a:r>
            <a:r>
              <a:rPr lang="en-GB" dirty="0" err="1"/>
              <a:t>fieldset</a:t>
            </a:r>
            <a:r>
              <a:rPr lang="en-GB" dirty="0"/>
              <a:t>&gt; element creates a container used to group together related form elements. It can be helpful in organizing complex forms with multiple sections.   The &lt;legend&gt; element can be used within a &lt;</a:t>
            </a:r>
            <a:r>
              <a:rPr lang="en-GB" dirty="0" err="1"/>
              <a:t>fieldset</a:t>
            </a:r>
            <a:r>
              <a:rPr lang="en-GB" dirty="0"/>
              <a:t>&gt; to provide a caption or title for the group.</a:t>
            </a:r>
          </a:p>
          <a:p>
            <a:endParaRPr lang="en-GB" dirty="0"/>
          </a:p>
          <a:p>
            <a:r>
              <a:rPr lang="en-GB" dirty="0"/>
              <a:t>&lt;</a:t>
            </a:r>
            <a:r>
              <a:rPr lang="en-GB" dirty="0" err="1"/>
              <a:t>fieldset</a:t>
            </a:r>
            <a:r>
              <a:rPr lang="en-GB" dirty="0"/>
              <a:t>&gt;</a:t>
            </a:r>
          </a:p>
          <a:p>
            <a:r>
              <a:rPr lang="en-GB" dirty="0"/>
              <a:t>  &lt;legend&gt;Shipping Address&lt;/legend&gt;</a:t>
            </a:r>
          </a:p>
          <a:p>
            <a:r>
              <a:rPr lang="en-GB" dirty="0"/>
              <a:t>  &lt;label for="address"&gt;Address:&lt;/label&gt;</a:t>
            </a:r>
          </a:p>
          <a:p>
            <a:r>
              <a:rPr lang="en-GB" dirty="0"/>
              <a:t>  &lt;input type="text" id="address" name="address"&gt;</a:t>
            </a:r>
          </a:p>
          <a:p>
            <a:r>
              <a:rPr lang="en-GB" dirty="0"/>
              <a:t>  &lt;</a:t>
            </a:r>
            <a:r>
              <a:rPr lang="en-GB" dirty="0" err="1"/>
              <a:t>br</a:t>
            </a:r>
            <a:r>
              <a:rPr lang="en-GB" dirty="0"/>
              <a:t>&gt;</a:t>
            </a:r>
          </a:p>
          <a:p>
            <a:r>
              <a:rPr lang="en-GB" dirty="0"/>
              <a:t>  &lt;label for="city"&gt;City:&lt;/label&gt;</a:t>
            </a:r>
          </a:p>
          <a:p>
            <a:r>
              <a:rPr lang="en-GB" dirty="0"/>
              <a:t>  &lt;input type="text" id="city" name="city"&gt;</a:t>
            </a:r>
          </a:p>
          <a:p>
            <a:r>
              <a:rPr lang="en-GB" dirty="0"/>
              <a:t>  &lt;</a:t>
            </a:r>
            <a:r>
              <a:rPr lang="en-GB" dirty="0" err="1"/>
              <a:t>br</a:t>
            </a:r>
            <a:r>
              <a:rPr lang="en-GB" dirty="0"/>
              <a:t>&gt;</a:t>
            </a:r>
          </a:p>
          <a:p>
            <a:r>
              <a:rPr lang="en-GB" dirty="0"/>
              <a:t>  &lt;label for="zip-code"&gt;ZIP Code:&lt;/label&gt;</a:t>
            </a:r>
          </a:p>
          <a:p>
            <a:r>
              <a:rPr lang="en-GB" dirty="0"/>
              <a:t>  &lt;input type="text" id="zip-code" name="zip-code"&gt;</a:t>
            </a:r>
          </a:p>
          <a:p>
            <a:r>
              <a:rPr lang="en-GB" dirty="0"/>
              <a:t>&lt;/</a:t>
            </a:r>
            <a:r>
              <a:rPr lang="en-GB" dirty="0" err="1"/>
              <a:t>fieldset</a:t>
            </a:r>
            <a:r>
              <a:rPr lang="en-GB" dirty="0"/>
              <a:t>&gt;</a:t>
            </a:r>
          </a:p>
        </p:txBody>
      </p:sp>
    </p:spTree>
    <p:extLst>
      <p:ext uri="{BB962C8B-B14F-4D97-AF65-F5344CB8AC3E}">
        <p14:creationId xmlns:p14="http://schemas.microsoft.com/office/powerpoint/2010/main" val="40996082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667940-A939-42B8-258F-E41A98D7E9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79592E-A581-D388-0FBE-1E73A226B1EF}"/>
              </a:ext>
            </a:extLst>
          </p:cNvPr>
          <p:cNvSpPr txBox="1"/>
          <p:nvPr/>
        </p:nvSpPr>
        <p:spPr>
          <a:xfrm>
            <a:off x="907256" y="331291"/>
            <a:ext cx="10172699" cy="6186309"/>
          </a:xfrm>
          <a:prstGeom prst="rect">
            <a:avLst/>
          </a:prstGeom>
          <a:noFill/>
        </p:spPr>
        <p:txBody>
          <a:bodyPr wrap="square">
            <a:spAutoFit/>
          </a:bodyPr>
          <a:lstStyle/>
          <a:p>
            <a:r>
              <a:rPr lang="en-GB" dirty="0"/>
              <a:t>The disabled attribute disables the input field, making it </a:t>
            </a:r>
            <a:r>
              <a:rPr lang="en-GB" dirty="0" err="1"/>
              <a:t>uneditable</a:t>
            </a:r>
            <a:r>
              <a:rPr lang="en-GB" dirty="0"/>
              <a:t> and </a:t>
            </a:r>
            <a:r>
              <a:rPr lang="en-GB" dirty="0" err="1"/>
              <a:t>unselectable</a:t>
            </a:r>
            <a:r>
              <a:rPr lang="en-GB" dirty="0"/>
              <a:t>.</a:t>
            </a:r>
          </a:p>
          <a:p>
            <a:endParaRPr lang="en-GB" dirty="0"/>
          </a:p>
          <a:p>
            <a:r>
              <a:rPr lang="en-GB" dirty="0"/>
              <a:t>&lt;label for="username"&gt;Username:&lt;/label&gt;</a:t>
            </a:r>
          </a:p>
          <a:p>
            <a:r>
              <a:rPr lang="en-GB" dirty="0"/>
              <a:t>&lt;input type="text" id="username" name="username" value="</a:t>
            </a:r>
            <a:r>
              <a:rPr lang="en-GB" dirty="0" err="1"/>
              <a:t>JohnDoe</a:t>
            </a:r>
            <a:r>
              <a:rPr lang="en-GB" dirty="0"/>
              <a:t>" disabled&gt;</a:t>
            </a:r>
          </a:p>
          <a:p>
            <a:endParaRPr lang="en-GB" dirty="0"/>
          </a:p>
          <a:p>
            <a:r>
              <a:rPr lang="en-GB" dirty="0"/>
              <a:t>The </a:t>
            </a:r>
            <a:r>
              <a:rPr lang="en-GB" dirty="0" err="1"/>
              <a:t>readonly</a:t>
            </a:r>
            <a:r>
              <a:rPr lang="en-GB" dirty="0"/>
              <a:t> attribute makes the input field read-only, allowing users to view the content but not edit it. Unlike disabled fields, read-only fields are still selectable and send their values when the form is submitted.</a:t>
            </a:r>
          </a:p>
          <a:p>
            <a:endParaRPr lang="en-GB" dirty="0"/>
          </a:p>
          <a:p>
            <a:r>
              <a:rPr lang="en-GB" dirty="0"/>
              <a:t>&lt;label for="username"&gt;Username:&lt;/label&gt;</a:t>
            </a:r>
          </a:p>
          <a:p>
            <a:r>
              <a:rPr lang="en-GB" dirty="0"/>
              <a:t>&lt;input type="text" id="username" name="username" value="</a:t>
            </a:r>
            <a:r>
              <a:rPr lang="en-GB" dirty="0" err="1"/>
              <a:t>JohnDoe</a:t>
            </a:r>
            <a:r>
              <a:rPr lang="en-GB" dirty="0"/>
              <a:t>" </a:t>
            </a:r>
            <a:r>
              <a:rPr lang="en-GB" dirty="0" err="1"/>
              <a:t>readonly</a:t>
            </a:r>
            <a:r>
              <a:rPr lang="en-GB" dirty="0"/>
              <a:t>&gt;</a:t>
            </a:r>
          </a:p>
          <a:p>
            <a:endParaRPr lang="en-GB" dirty="0"/>
          </a:p>
          <a:p>
            <a:r>
              <a:rPr lang="en-GB" dirty="0" err="1"/>
              <a:t>maxlength</a:t>
            </a:r>
            <a:r>
              <a:rPr lang="en-GB" dirty="0"/>
              <a:t> limits the number of characters that can be entered into a text input field.</a:t>
            </a:r>
          </a:p>
          <a:p>
            <a:r>
              <a:rPr lang="en-GB" dirty="0"/>
              <a:t>min and max set the minimum and maximum values that can be entered</a:t>
            </a:r>
          </a:p>
          <a:p>
            <a:endParaRPr lang="en-GB" dirty="0"/>
          </a:p>
          <a:p>
            <a:r>
              <a:rPr lang="en-GB" dirty="0"/>
              <a:t>autocomplete – controls whether the browser should automatically complete input fields with previously entered data.</a:t>
            </a:r>
          </a:p>
          <a:p>
            <a:endParaRPr lang="en-GB" dirty="0">
              <a:solidFill>
                <a:srgbClr val="000000"/>
              </a:solidFill>
              <a:latin typeface="CiscoSansTT"/>
            </a:endParaRPr>
          </a:p>
          <a:p>
            <a:r>
              <a:rPr lang="en-GB" dirty="0"/>
              <a:t>&lt;input type="text" name="address" autocomplete="off"&gt;</a:t>
            </a:r>
          </a:p>
          <a:p>
            <a:endParaRPr lang="en-GB" dirty="0"/>
          </a:p>
          <a:p>
            <a:r>
              <a:rPr lang="en-GB" dirty="0"/>
              <a:t>pattern specifies a regular expression that the input value must match in order to be valid.</a:t>
            </a:r>
          </a:p>
          <a:p>
            <a:r>
              <a:rPr lang="en-GB" dirty="0"/>
              <a:t>&lt;input type="text" name="phone" pattern="[0-9]{3}-[0-9]{3}-[0-9]{4}"&gt;</a:t>
            </a:r>
          </a:p>
          <a:p>
            <a:r>
              <a:rPr lang="en-GB" dirty="0"/>
              <a:t>	</a:t>
            </a:r>
            <a:r>
              <a:rPr lang="en-GB" b="1" dirty="0"/>
              <a:t>123-123-1234</a:t>
            </a:r>
          </a:p>
        </p:txBody>
      </p:sp>
    </p:spTree>
    <p:extLst>
      <p:ext uri="{BB962C8B-B14F-4D97-AF65-F5344CB8AC3E}">
        <p14:creationId xmlns:p14="http://schemas.microsoft.com/office/powerpoint/2010/main" val="25048818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D997D5-FD7B-2656-8F66-E11BEB21E1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6D62EE-F085-3C66-999B-527A64DFA7E9}"/>
              </a:ext>
            </a:extLst>
          </p:cNvPr>
          <p:cNvSpPr txBox="1"/>
          <p:nvPr/>
        </p:nvSpPr>
        <p:spPr>
          <a:xfrm>
            <a:off x="907256" y="331291"/>
            <a:ext cx="10172699" cy="5078313"/>
          </a:xfrm>
          <a:prstGeom prst="rect">
            <a:avLst/>
          </a:prstGeom>
          <a:noFill/>
        </p:spPr>
        <p:txBody>
          <a:bodyPr wrap="square">
            <a:spAutoFit/>
          </a:bodyPr>
          <a:lstStyle/>
          <a:p>
            <a:r>
              <a:rPr lang="en-GB" dirty="0"/>
              <a:t>Step 1: Define the Form Element</a:t>
            </a:r>
          </a:p>
          <a:p>
            <a:r>
              <a:rPr lang="en-GB" dirty="0"/>
              <a:t>Start with the &lt;form&gt; element. This element wraps all the contents of your form, including input fields, labels, and buttons. The action attribute specifies where to send the form data when submitted, and the method attribute defines how to send it (usually POST or GET).</a:t>
            </a:r>
          </a:p>
          <a:p>
            <a:endParaRPr lang="en-GB" dirty="0"/>
          </a:p>
          <a:p>
            <a:r>
              <a:rPr lang="en-GB" dirty="0"/>
              <a:t>Step 2: Add Input Fields</a:t>
            </a:r>
          </a:p>
          <a:p>
            <a:r>
              <a:rPr lang="en-GB" dirty="0"/>
              <a:t>Input fields are where users enter data. Use the &lt;input&gt; tag to create these fields. The type attribute specifies the kind of data you expect (e.g., text, number, email). The name attribute is crucial for identifying the data on the server side.</a:t>
            </a:r>
          </a:p>
          <a:p>
            <a:endParaRPr lang="en-GB" dirty="0"/>
          </a:p>
          <a:p>
            <a:r>
              <a:rPr lang="en-GB" dirty="0"/>
              <a:t>Step 3: Use Labels for Readability</a:t>
            </a:r>
          </a:p>
          <a:p>
            <a:r>
              <a:rPr lang="en-GB" dirty="0"/>
              <a:t>The &lt;label&gt; element enhances the usability of your form by providing descriptive text for each input field. Link each label to its corresponding input by matching the for attribute in the &lt;label&gt; tag with the id attribute of the &lt;input&gt; tag.</a:t>
            </a:r>
          </a:p>
          <a:p>
            <a:endParaRPr lang="en-GB" dirty="0"/>
          </a:p>
          <a:p>
            <a:r>
              <a:rPr lang="en-GB" dirty="0"/>
              <a:t>Step 4: Include a Submission Button</a:t>
            </a:r>
          </a:p>
          <a:p>
            <a:r>
              <a:rPr lang="en-GB" dirty="0"/>
              <a:t>Finally, add a submit button using &lt;input type="submit"&gt; or &lt;button type="submit"&gt;. This button sends the form data to the server.</a:t>
            </a:r>
          </a:p>
        </p:txBody>
      </p:sp>
    </p:spTree>
    <p:extLst>
      <p:ext uri="{BB962C8B-B14F-4D97-AF65-F5344CB8AC3E}">
        <p14:creationId xmlns:p14="http://schemas.microsoft.com/office/powerpoint/2010/main" val="1885649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86BCCF-A764-55E7-EDC6-8A5275063B6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8884D4-0FB2-A50A-99D2-D7DA5E9638F2}"/>
              </a:ext>
            </a:extLst>
          </p:cNvPr>
          <p:cNvSpPr txBox="1"/>
          <p:nvPr/>
        </p:nvSpPr>
        <p:spPr>
          <a:xfrm>
            <a:off x="907256" y="331291"/>
            <a:ext cx="10172699" cy="4247317"/>
          </a:xfrm>
          <a:prstGeom prst="rect">
            <a:avLst/>
          </a:prstGeom>
          <a:noFill/>
        </p:spPr>
        <p:txBody>
          <a:bodyPr wrap="square">
            <a:spAutoFit/>
          </a:bodyPr>
          <a:lstStyle/>
          <a:p>
            <a:r>
              <a:rPr lang="en-GB" dirty="0"/>
              <a:t>&lt;form action="/submit" method="POST"&gt;</a:t>
            </a:r>
          </a:p>
          <a:p>
            <a:r>
              <a:rPr lang="en-GB" dirty="0"/>
              <a:t>  &lt;label for="username"&gt;Username:&lt;/label&gt;</a:t>
            </a:r>
          </a:p>
          <a:p>
            <a:r>
              <a:rPr lang="en-GB" dirty="0"/>
              <a:t>  &lt;input type="text" id="username" name="username" required&gt;</a:t>
            </a:r>
          </a:p>
          <a:p>
            <a:r>
              <a:rPr lang="en-GB" dirty="0"/>
              <a:t>  &lt;</a:t>
            </a:r>
            <a:r>
              <a:rPr lang="en-GB" dirty="0" err="1"/>
              <a:t>br</a:t>
            </a:r>
            <a:r>
              <a:rPr lang="en-GB" dirty="0"/>
              <a:t>&gt;</a:t>
            </a:r>
          </a:p>
          <a:p>
            <a:r>
              <a:rPr lang="en-GB" dirty="0"/>
              <a:t>  </a:t>
            </a:r>
          </a:p>
          <a:p>
            <a:r>
              <a:rPr lang="en-GB" dirty="0"/>
              <a:t>  &lt;label for="password"&gt;Password:&lt;/label&gt;</a:t>
            </a:r>
          </a:p>
          <a:p>
            <a:r>
              <a:rPr lang="en-GB" dirty="0"/>
              <a:t>  &lt;input type="password" id="password" name="password" required&gt;</a:t>
            </a:r>
          </a:p>
          <a:p>
            <a:r>
              <a:rPr lang="en-GB" dirty="0"/>
              <a:t>  &lt;</a:t>
            </a:r>
            <a:r>
              <a:rPr lang="en-GB" dirty="0" err="1"/>
              <a:t>br</a:t>
            </a:r>
            <a:r>
              <a:rPr lang="en-GB" dirty="0"/>
              <a:t>&gt;</a:t>
            </a:r>
          </a:p>
          <a:p>
            <a:r>
              <a:rPr lang="en-GB" dirty="0"/>
              <a:t>  </a:t>
            </a:r>
          </a:p>
          <a:p>
            <a:r>
              <a:rPr lang="en-GB" dirty="0"/>
              <a:t>  &lt;input type="submit" value="Login"&gt;</a:t>
            </a:r>
          </a:p>
          <a:p>
            <a:r>
              <a:rPr lang="en-GB" dirty="0"/>
              <a:t>  &lt;input type="reset" value="Reset"&gt;</a:t>
            </a:r>
          </a:p>
          <a:p>
            <a:r>
              <a:rPr lang="en-GB" dirty="0"/>
              <a:t>&lt;/form&gt;</a:t>
            </a:r>
          </a:p>
          <a:p>
            <a:endParaRPr lang="en-GB" dirty="0"/>
          </a:p>
          <a:p>
            <a:endParaRPr lang="en-GB" dirty="0"/>
          </a:p>
          <a:p>
            <a:endParaRPr lang="en-GB" dirty="0"/>
          </a:p>
        </p:txBody>
      </p:sp>
    </p:spTree>
    <p:extLst>
      <p:ext uri="{BB962C8B-B14F-4D97-AF65-F5344CB8AC3E}">
        <p14:creationId xmlns:p14="http://schemas.microsoft.com/office/powerpoint/2010/main" val="28877125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682C438-4CD9-5613-A0CF-02556BD7E0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FB594A-95C8-C5D0-7469-22A0D3E954A9}"/>
              </a:ext>
            </a:extLst>
          </p:cNvPr>
          <p:cNvSpPr txBox="1"/>
          <p:nvPr/>
        </p:nvSpPr>
        <p:spPr>
          <a:xfrm>
            <a:off x="907256" y="331291"/>
            <a:ext cx="10172699" cy="4247317"/>
          </a:xfrm>
          <a:prstGeom prst="rect">
            <a:avLst/>
          </a:prstGeom>
          <a:noFill/>
        </p:spPr>
        <p:txBody>
          <a:bodyPr wrap="square">
            <a:spAutoFit/>
          </a:bodyPr>
          <a:lstStyle/>
          <a:p>
            <a:r>
              <a:rPr lang="en-GB" dirty="0"/>
              <a:t>&lt;form action="/submit-contact" method="post"&gt;</a:t>
            </a:r>
          </a:p>
          <a:p>
            <a:r>
              <a:rPr lang="en-GB" dirty="0"/>
              <a:t>  &lt;label for="name"&gt;Name:&lt;/label&gt;</a:t>
            </a:r>
          </a:p>
          <a:p>
            <a:r>
              <a:rPr lang="en-GB" dirty="0"/>
              <a:t>  &lt;input type="text" id="name" name="name" required&gt;</a:t>
            </a:r>
          </a:p>
          <a:p>
            <a:r>
              <a:rPr lang="en-GB" dirty="0"/>
              <a:t>  &lt;</a:t>
            </a:r>
            <a:r>
              <a:rPr lang="en-GB" dirty="0" err="1"/>
              <a:t>br</a:t>
            </a:r>
            <a:r>
              <a:rPr lang="en-GB" dirty="0"/>
              <a:t>&gt;</a:t>
            </a:r>
          </a:p>
          <a:p>
            <a:r>
              <a:rPr lang="en-GB" dirty="0"/>
              <a:t>  </a:t>
            </a:r>
          </a:p>
          <a:p>
            <a:r>
              <a:rPr lang="en-GB" dirty="0"/>
              <a:t>  &lt;label for="email"&gt;Email:&lt;/label&gt;</a:t>
            </a:r>
          </a:p>
          <a:p>
            <a:r>
              <a:rPr lang="en-GB" dirty="0"/>
              <a:t>  &lt;input type="email" id="email" name="email" required&gt;</a:t>
            </a:r>
          </a:p>
          <a:p>
            <a:r>
              <a:rPr lang="en-GB" dirty="0"/>
              <a:t>  &lt;</a:t>
            </a:r>
            <a:r>
              <a:rPr lang="en-GB" dirty="0" err="1"/>
              <a:t>br</a:t>
            </a:r>
            <a:r>
              <a:rPr lang="en-GB" dirty="0"/>
              <a:t>&gt;</a:t>
            </a:r>
          </a:p>
          <a:p>
            <a:r>
              <a:rPr lang="en-GB" dirty="0"/>
              <a:t>  </a:t>
            </a:r>
          </a:p>
          <a:p>
            <a:r>
              <a:rPr lang="en-GB" dirty="0"/>
              <a:t>  &lt;label for="message"&gt;Message:&lt;/label&gt;</a:t>
            </a:r>
          </a:p>
          <a:p>
            <a:r>
              <a:rPr lang="en-GB" dirty="0"/>
              <a:t>  &lt;</a:t>
            </a:r>
            <a:r>
              <a:rPr lang="en-GB" dirty="0" err="1"/>
              <a:t>textarea</a:t>
            </a:r>
            <a:r>
              <a:rPr lang="en-GB" dirty="0"/>
              <a:t> id="message" name="message" required&gt;&lt;/</a:t>
            </a:r>
            <a:r>
              <a:rPr lang="en-GB" dirty="0" err="1"/>
              <a:t>textarea</a:t>
            </a:r>
            <a:r>
              <a:rPr lang="en-GB" dirty="0"/>
              <a:t>&gt;</a:t>
            </a:r>
          </a:p>
          <a:p>
            <a:r>
              <a:rPr lang="en-GB" dirty="0"/>
              <a:t>  &lt;</a:t>
            </a:r>
            <a:r>
              <a:rPr lang="en-GB" dirty="0" err="1"/>
              <a:t>br</a:t>
            </a:r>
            <a:r>
              <a:rPr lang="en-GB" dirty="0"/>
              <a:t>&gt;</a:t>
            </a:r>
          </a:p>
          <a:p>
            <a:r>
              <a:rPr lang="en-GB" dirty="0"/>
              <a:t>  </a:t>
            </a:r>
          </a:p>
          <a:p>
            <a:r>
              <a:rPr lang="en-GB" dirty="0"/>
              <a:t>  &lt;button type="submit"&gt;Send&lt;/button&gt;</a:t>
            </a:r>
          </a:p>
          <a:p>
            <a:r>
              <a:rPr lang="en-GB" dirty="0"/>
              <a:t>&lt;/form&gt;</a:t>
            </a:r>
          </a:p>
        </p:txBody>
      </p:sp>
    </p:spTree>
    <p:extLst>
      <p:ext uri="{BB962C8B-B14F-4D97-AF65-F5344CB8AC3E}">
        <p14:creationId xmlns:p14="http://schemas.microsoft.com/office/powerpoint/2010/main" val="19126931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B0D9397-761A-AF39-14CE-DB494BE3BE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E1CB458-6F31-34D1-EBA2-A4B22BFE454B}"/>
              </a:ext>
            </a:extLst>
          </p:cNvPr>
          <p:cNvSpPr txBox="1"/>
          <p:nvPr/>
        </p:nvSpPr>
        <p:spPr>
          <a:xfrm>
            <a:off x="907256" y="331291"/>
            <a:ext cx="10172699" cy="5909310"/>
          </a:xfrm>
          <a:prstGeom prst="rect">
            <a:avLst/>
          </a:prstGeom>
          <a:noFill/>
        </p:spPr>
        <p:txBody>
          <a:bodyPr wrap="square">
            <a:spAutoFit/>
          </a:bodyPr>
          <a:lstStyle/>
          <a:p>
            <a:r>
              <a:rPr lang="en-GB" sz="1400" dirty="0"/>
              <a:t>&lt;form action="/submit" method="POST"&gt;</a:t>
            </a:r>
          </a:p>
          <a:p>
            <a:r>
              <a:rPr lang="en-GB" sz="1400" dirty="0"/>
              <a:t>  &lt;label for="name"&gt;Full Name:&lt;/label&gt;</a:t>
            </a:r>
          </a:p>
          <a:p>
            <a:r>
              <a:rPr lang="en-GB" sz="1400" dirty="0"/>
              <a:t>  &lt;input type="text" id="name" name="name" required&gt;</a:t>
            </a:r>
          </a:p>
          <a:p>
            <a:r>
              <a:rPr lang="en-GB" sz="1400" dirty="0"/>
              <a:t>  &lt;</a:t>
            </a:r>
            <a:r>
              <a:rPr lang="en-GB" sz="1400" dirty="0" err="1"/>
              <a:t>br</a:t>
            </a:r>
            <a:r>
              <a:rPr lang="en-GB" sz="1400" dirty="0"/>
              <a:t>&gt;</a:t>
            </a:r>
          </a:p>
          <a:p>
            <a:r>
              <a:rPr lang="en-GB" sz="1400" dirty="0"/>
              <a:t>  </a:t>
            </a:r>
          </a:p>
          <a:p>
            <a:r>
              <a:rPr lang="en-GB" sz="1400" dirty="0"/>
              <a:t>  &lt;label for="email"&gt;Email:&lt;/label&gt;</a:t>
            </a:r>
          </a:p>
          <a:p>
            <a:r>
              <a:rPr lang="en-GB" sz="1400" dirty="0"/>
              <a:t>  &lt;input type="email" id="email" name="email" required&gt;</a:t>
            </a:r>
          </a:p>
          <a:p>
            <a:r>
              <a:rPr lang="en-GB" sz="1400" dirty="0"/>
              <a:t>  &lt;</a:t>
            </a:r>
            <a:r>
              <a:rPr lang="en-GB" sz="1400" dirty="0" err="1"/>
              <a:t>br</a:t>
            </a:r>
            <a:r>
              <a:rPr lang="en-GB" sz="1400" dirty="0"/>
              <a:t>&gt;</a:t>
            </a:r>
          </a:p>
          <a:p>
            <a:r>
              <a:rPr lang="en-GB" sz="1400" dirty="0"/>
              <a:t>  </a:t>
            </a:r>
          </a:p>
          <a:p>
            <a:r>
              <a:rPr lang="en-GB" sz="1400" dirty="0"/>
              <a:t>  &lt;p&gt;Choose your meal preference:&lt;/p&gt;</a:t>
            </a:r>
          </a:p>
          <a:p>
            <a:r>
              <a:rPr lang="en-GB" sz="1400" dirty="0"/>
              <a:t>  &lt;label for="vegetarian"&gt;Vegetarian&lt;/label&gt;</a:t>
            </a:r>
          </a:p>
          <a:p>
            <a:r>
              <a:rPr lang="en-GB" sz="1400" dirty="0"/>
              <a:t>  &lt;input type="radio" id="vegetarian" name="meal" value="vegetarian" required&gt;</a:t>
            </a:r>
          </a:p>
          <a:p>
            <a:r>
              <a:rPr lang="en-GB" sz="1400" dirty="0"/>
              <a:t>  &lt;label for="non-vegetarian"&gt;Non-Vegetarian&lt;/label&gt;</a:t>
            </a:r>
          </a:p>
          <a:p>
            <a:r>
              <a:rPr lang="en-GB" sz="1400" dirty="0"/>
              <a:t>  &lt;input type="radio" id="non-vegetarian" name="meal" value="non-vegetarian" required&gt;</a:t>
            </a:r>
          </a:p>
          <a:p>
            <a:r>
              <a:rPr lang="en-GB" sz="1400" dirty="0"/>
              <a:t>  &lt;</a:t>
            </a:r>
            <a:r>
              <a:rPr lang="en-GB" sz="1400" dirty="0" err="1"/>
              <a:t>br</a:t>
            </a:r>
            <a:r>
              <a:rPr lang="en-GB" sz="1400" dirty="0"/>
              <a:t>&gt;</a:t>
            </a:r>
          </a:p>
          <a:p>
            <a:r>
              <a:rPr lang="en-GB" sz="1400" dirty="0"/>
              <a:t>  </a:t>
            </a:r>
          </a:p>
          <a:p>
            <a:r>
              <a:rPr lang="en-GB" sz="1400" dirty="0"/>
              <a:t>  &lt;p&gt;Select the workshops you'd like to attend:&lt;/p&gt;</a:t>
            </a:r>
          </a:p>
          <a:p>
            <a:r>
              <a:rPr lang="en-GB" sz="1400" dirty="0"/>
              <a:t>  &lt;label for="workshop1"&gt;Workshop 1&lt;/label&gt;</a:t>
            </a:r>
          </a:p>
          <a:p>
            <a:r>
              <a:rPr lang="en-GB" sz="1400" dirty="0"/>
              <a:t>  &lt;input type="checkbox" id="workshop1" name="workshop1"&gt;</a:t>
            </a:r>
          </a:p>
          <a:p>
            <a:r>
              <a:rPr lang="en-GB" sz="1400" dirty="0"/>
              <a:t>  &lt;label for="workshop2"&gt;Workshop 2&lt;/label&gt;</a:t>
            </a:r>
          </a:p>
          <a:p>
            <a:r>
              <a:rPr lang="en-GB" sz="1400" dirty="0"/>
              <a:t>  &lt;input type="checkbox" id="workshop2" name="workshop2"&gt;</a:t>
            </a:r>
          </a:p>
          <a:p>
            <a:r>
              <a:rPr lang="en-GB" sz="1400" dirty="0"/>
              <a:t>  &lt;label for="workshop3"&gt;Workshop 3&lt;/label&gt;</a:t>
            </a:r>
          </a:p>
          <a:p>
            <a:r>
              <a:rPr lang="en-GB" sz="1400" dirty="0"/>
              <a:t>  &lt;input type="checkbox" id="workshop3" name="workshop3"&gt;</a:t>
            </a:r>
          </a:p>
          <a:p>
            <a:r>
              <a:rPr lang="en-GB" sz="1400" dirty="0"/>
              <a:t>  &lt;</a:t>
            </a:r>
            <a:r>
              <a:rPr lang="en-GB" sz="1400" dirty="0" err="1"/>
              <a:t>br</a:t>
            </a:r>
            <a:r>
              <a:rPr lang="en-GB" sz="1400" dirty="0"/>
              <a:t>&gt;</a:t>
            </a:r>
          </a:p>
          <a:p>
            <a:r>
              <a:rPr lang="en-GB" sz="1400" dirty="0"/>
              <a:t>  </a:t>
            </a:r>
          </a:p>
          <a:p>
            <a:r>
              <a:rPr lang="en-GB" sz="1400" dirty="0"/>
              <a:t>  &lt;input type="submit" value="Register"&gt;</a:t>
            </a:r>
          </a:p>
          <a:p>
            <a:r>
              <a:rPr lang="en-GB" sz="1400" dirty="0"/>
              <a:t>&lt;/form&gt;</a:t>
            </a:r>
          </a:p>
        </p:txBody>
      </p:sp>
    </p:spTree>
    <p:extLst>
      <p:ext uri="{BB962C8B-B14F-4D97-AF65-F5344CB8AC3E}">
        <p14:creationId xmlns:p14="http://schemas.microsoft.com/office/powerpoint/2010/main" val="2154404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a:xfrm>
            <a:off x="838200" y="1825625"/>
            <a:ext cx="10515600" cy="4667250"/>
          </a:xfrm>
        </p:spPr>
        <p:txBody>
          <a:bodyPr>
            <a:noAutofit/>
          </a:bodyPr>
          <a:lstStyle/>
          <a:p>
            <a:r>
              <a:rPr lang="en-GB" dirty="0"/>
              <a:t>Describe, exemplify and implement internal and external Cascading Style Sheets (CSS):</a:t>
            </a:r>
          </a:p>
          <a:p>
            <a:pPr lvl="1"/>
            <a:r>
              <a:rPr lang="en-GB" sz="2800" dirty="0"/>
              <a:t>selectors, classes and IDs</a:t>
            </a:r>
          </a:p>
          <a:p>
            <a:pPr lvl="1"/>
            <a:r>
              <a:rPr lang="en-GB" sz="2800" dirty="0"/>
              <a:t>properties</a:t>
            </a:r>
          </a:p>
          <a:p>
            <a:pPr lvl="1"/>
            <a:r>
              <a:rPr lang="en-GB" sz="2800" dirty="0"/>
              <a:t>font (family, size)</a:t>
            </a:r>
          </a:p>
          <a:p>
            <a:pPr lvl="1"/>
            <a:r>
              <a:rPr lang="en-GB" sz="2800" dirty="0" err="1"/>
              <a:t>color</a:t>
            </a:r>
            <a:endParaRPr lang="en-GB" sz="2800" dirty="0"/>
          </a:p>
          <a:p>
            <a:pPr lvl="1"/>
            <a:r>
              <a:rPr lang="en-GB" sz="2800" dirty="0"/>
              <a:t>alignment</a:t>
            </a:r>
          </a:p>
          <a:p>
            <a:pPr lvl="1"/>
            <a:r>
              <a:rPr lang="en-GB" sz="2800" dirty="0"/>
              <a:t>background colour</a:t>
            </a:r>
          </a:p>
          <a:p>
            <a:r>
              <a:rPr lang="en-GB" dirty="0"/>
              <a:t>Read and explain code that makes use of the above CSS.</a:t>
            </a:r>
          </a:p>
        </p:txBody>
      </p:sp>
    </p:spTree>
    <p:extLst>
      <p:ext uri="{BB962C8B-B14F-4D97-AF65-F5344CB8AC3E}">
        <p14:creationId xmlns:p14="http://schemas.microsoft.com/office/powerpoint/2010/main" val="3436181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20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20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20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2000"/>
                                        <p:tgtEl>
                                          <p:spTgt spid="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2000"/>
                                        <p:tgtEl>
                                          <p:spTgt spid="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left)">
                                      <p:cBhvr>
                                        <p:cTn id="25" dur="20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wipe(left)">
                                      <p:cBhvr>
                                        <p:cTn id="30"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fontScale="70000" lnSpcReduction="20000"/>
          </a:bodyPr>
          <a:lstStyle/>
          <a:p>
            <a:r>
              <a:rPr lang="en-GB" sz="3600" dirty="0"/>
              <a:t>Describe, exemplify and implement internal and external Cascading Style Sheets (CSS):</a:t>
            </a:r>
          </a:p>
          <a:p>
            <a:r>
              <a:rPr lang="en-GB" sz="3600" dirty="0"/>
              <a:t>selectors, classes and IDs</a:t>
            </a:r>
          </a:p>
          <a:p>
            <a:r>
              <a:rPr lang="en-GB" sz="3600" dirty="0"/>
              <a:t>properties</a:t>
            </a:r>
          </a:p>
          <a:p>
            <a:r>
              <a:rPr lang="en-GB" sz="3600" dirty="0"/>
              <a:t>text:</a:t>
            </a:r>
          </a:p>
          <a:p>
            <a:r>
              <a:rPr lang="en-GB" sz="3600" dirty="0"/>
              <a:t>font (family, size)</a:t>
            </a:r>
          </a:p>
          <a:p>
            <a:r>
              <a:rPr lang="en-GB" sz="3600" dirty="0" err="1"/>
              <a:t>color</a:t>
            </a:r>
            <a:endParaRPr lang="en-GB" sz="3600" dirty="0"/>
          </a:p>
          <a:p>
            <a:r>
              <a:rPr lang="en-GB" sz="3600" dirty="0"/>
              <a:t>alignment</a:t>
            </a:r>
          </a:p>
          <a:p>
            <a:r>
              <a:rPr lang="en-GB" sz="3600" dirty="0"/>
              <a:t>background colour</a:t>
            </a:r>
          </a:p>
          <a:p>
            <a:r>
              <a:rPr lang="en-GB" sz="3600" dirty="0"/>
              <a:t>Read and explain code that makes use of the above CSS.</a:t>
            </a:r>
            <a:endParaRPr lang="en-GB" dirty="0"/>
          </a:p>
        </p:txBody>
      </p:sp>
    </p:spTree>
    <p:extLst>
      <p:ext uri="{BB962C8B-B14F-4D97-AF65-F5344CB8AC3E}">
        <p14:creationId xmlns:p14="http://schemas.microsoft.com/office/powerpoint/2010/main" val="183992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350898-15ED-A11E-DF61-DC5E5838BE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739C6D-D61A-9CCC-20BB-57F36ECC5BF8}"/>
              </a:ext>
            </a:extLst>
          </p:cNvPr>
          <p:cNvSpPr txBox="1"/>
          <p:nvPr/>
        </p:nvSpPr>
        <p:spPr>
          <a:xfrm>
            <a:off x="1009650" y="2136338"/>
            <a:ext cx="10172699" cy="2585323"/>
          </a:xfrm>
          <a:prstGeom prst="rect">
            <a:avLst/>
          </a:prstGeom>
          <a:noFill/>
        </p:spPr>
        <p:txBody>
          <a:bodyPr wrap="square">
            <a:spAutoFit/>
          </a:bodyPr>
          <a:lstStyle/>
          <a:p>
            <a:r>
              <a:rPr lang="en-GB" b="0" i="0" dirty="0">
                <a:solidFill>
                  <a:srgbClr val="000000"/>
                </a:solidFill>
                <a:effectLst/>
                <a:latin typeface="CiscoSansTT"/>
              </a:rPr>
              <a:t>Inline styling can be handy for </a:t>
            </a:r>
            <a:r>
              <a:rPr lang="en-GB" b="1" i="0" dirty="0">
                <a:solidFill>
                  <a:srgbClr val="000000"/>
                </a:solidFill>
                <a:effectLst/>
                <a:latin typeface="CiscoSansTT"/>
              </a:rPr>
              <a:t>quickly adding temporary or unique styles</a:t>
            </a:r>
            <a:r>
              <a:rPr lang="en-GB" b="0" i="0" dirty="0">
                <a:solidFill>
                  <a:srgbClr val="000000"/>
                </a:solidFill>
                <a:effectLst/>
                <a:latin typeface="CiscoSansTT"/>
              </a:rPr>
              <a:t> to specific elements. However, it is </a:t>
            </a:r>
            <a:r>
              <a:rPr lang="en-GB" b="1" i="0" dirty="0">
                <a:solidFill>
                  <a:srgbClr val="000000"/>
                </a:solidFill>
                <a:effectLst/>
                <a:latin typeface="CiscoSansTT"/>
              </a:rPr>
              <a:t>generally not recommended</a:t>
            </a:r>
            <a:r>
              <a:rPr lang="en-GB" b="0" i="0" dirty="0">
                <a:solidFill>
                  <a:srgbClr val="000000"/>
                </a:solidFill>
                <a:effectLst/>
                <a:latin typeface="CiscoSansTT"/>
              </a:rPr>
              <a:t> for large-scale styling, as it mixes presentation with content, making it harder to maintain and update styles across multiple elements or pages.</a:t>
            </a:r>
          </a:p>
          <a:p>
            <a:endParaRPr lang="en-GB" dirty="0">
              <a:solidFill>
                <a:srgbClr val="000000"/>
              </a:solidFill>
              <a:latin typeface="CiscoSansTT"/>
            </a:endParaRPr>
          </a:p>
          <a:p>
            <a:r>
              <a:rPr lang="en-GB" dirty="0"/>
              <a:t>&lt;element style="property: value;"&gt;</a:t>
            </a:r>
          </a:p>
          <a:p>
            <a:endParaRPr lang="en-GB" dirty="0"/>
          </a:p>
          <a:p>
            <a:r>
              <a:rPr lang="en-GB" dirty="0"/>
              <a:t>&lt;p style="background-</a:t>
            </a:r>
            <a:r>
              <a:rPr lang="en-GB" dirty="0" err="1"/>
              <a:t>color</a:t>
            </a:r>
            <a:r>
              <a:rPr lang="en-GB" dirty="0"/>
              <a:t>: blue; </a:t>
            </a:r>
            <a:r>
              <a:rPr lang="en-GB" dirty="0" err="1"/>
              <a:t>color</a:t>
            </a:r>
            <a:r>
              <a:rPr lang="en-GB" dirty="0"/>
              <a:t>: white; font-weight: bold;"&gt;</a:t>
            </a:r>
          </a:p>
          <a:p>
            <a:endParaRPr lang="en-GB" dirty="0"/>
          </a:p>
          <a:p>
            <a:endParaRPr lang="en-GB" dirty="0"/>
          </a:p>
        </p:txBody>
      </p:sp>
    </p:spTree>
    <p:extLst>
      <p:ext uri="{BB962C8B-B14F-4D97-AF65-F5344CB8AC3E}">
        <p14:creationId xmlns:p14="http://schemas.microsoft.com/office/powerpoint/2010/main" val="7606555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Rule – Single Property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spcBef>
                <a:spcPts val="0"/>
              </a:spcBef>
              <a:buNone/>
            </a:pPr>
            <a:r>
              <a:rPr lang="en-GB" sz="4200" dirty="0">
                <a:solidFill>
                  <a:srgbClr val="FF0000"/>
                </a:solidFill>
                <a:latin typeface="Consolas" panose="020B0609020204030204" pitchFamily="49" charset="0"/>
              </a:rPr>
              <a:t>selector </a:t>
            </a:r>
            <a:r>
              <a:rPr lang="en-GB" sz="4200" dirty="0">
                <a:latin typeface="Consolas" panose="020B0609020204030204" pitchFamily="49" charset="0"/>
              </a:rPr>
              <a:t>{</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a:t>
            </a:r>
            <a:r>
              <a:rPr lang="en-GB" sz="4200" dirty="0">
                <a:solidFill>
                  <a:srgbClr val="FF0000"/>
                </a:solidFill>
                <a:latin typeface="Consolas" panose="020B0609020204030204" pitchFamily="49" charset="0"/>
              </a:rPr>
              <a:t> </a:t>
            </a:r>
            <a:r>
              <a:rPr lang="en-GB" sz="4200" dirty="0">
                <a:solidFill>
                  <a:srgbClr val="660066"/>
                </a:solidFill>
                <a:latin typeface="Consolas" panose="020B0609020204030204" pitchFamily="49" charset="0"/>
              </a:rPr>
              <a:t>value</a:t>
            </a:r>
            <a:r>
              <a:rPr lang="en-GB" sz="4200" dirty="0">
                <a:latin typeface="Consolas" panose="020B0609020204030204" pitchFamily="49" charset="0"/>
              </a:rPr>
              <a:t>;}</a:t>
            </a:r>
          </a:p>
          <a:p>
            <a:pPr marL="0" indent="0">
              <a:spcBef>
                <a:spcPts val="0"/>
              </a:spcBef>
              <a:buNone/>
            </a:pPr>
            <a:endParaRPr lang="en-GB" sz="4200" dirty="0">
              <a:solidFill>
                <a:srgbClr val="FF0000"/>
              </a:solidFill>
              <a:latin typeface="Consolas" panose="020B0609020204030204" pitchFamily="49" charset="0"/>
            </a:endParaRPr>
          </a:p>
        </p:txBody>
      </p:sp>
      <p:sp>
        <p:nvSpPr>
          <p:cNvPr id="6" name="Callout: Bent Line with No Border 5">
            <a:extLst>
              <a:ext uri="{FF2B5EF4-FFF2-40B4-BE49-F238E27FC236}">
                <a16:creationId xmlns:a16="http://schemas.microsoft.com/office/drawing/2014/main" id="{58A7E803-997A-41BB-B0A2-D305F06E3754}"/>
              </a:ext>
            </a:extLst>
          </p:cNvPr>
          <p:cNvSpPr/>
          <p:nvPr/>
        </p:nvSpPr>
        <p:spPr>
          <a:xfrm>
            <a:off x="459505" y="3138652"/>
            <a:ext cx="2443389" cy="862642"/>
          </a:xfrm>
          <a:prstGeom prst="callout2">
            <a:avLst>
              <a:gd name="adj1" fmla="val 50130"/>
              <a:gd name="adj2" fmla="val 99866"/>
              <a:gd name="adj3" fmla="val 49969"/>
              <a:gd name="adj4" fmla="val 119015"/>
              <a:gd name="adj5" fmla="val -62046"/>
              <a:gd name="adj6" fmla="val 13365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Curly brackets</a:t>
            </a:r>
          </a:p>
        </p:txBody>
      </p:sp>
      <p:sp>
        <p:nvSpPr>
          <p:cNvPr id="10" name="Callout: Bent Line with No Border 9">
            <a:extLst>
              <a:ext uri="{FF2B5EF4-FFF2-40B4-BE49-F238E27FC236}">
                <a16:creationId xmlns:a16="http://schemas.microsoft.com/office/drawing/2014/main" id="{07A88E80-FC31-4AE6-D5FF-402648687FE7}"/>
              </a:ext>
            </a:extLst>
          </p:cNvPr>
          <p:cNvSpPr/>
          <p:nvPr/>
        </p:nvSpPr>
        <p:spPr>
          <a:xfrm>
            <a:off x="3045034" y="3138652"/>
            <a:ext cx="2443389" cy="862642"/>
          </a:xfrm>
          <a:prstGeom prst="callout2">
            <a:avLst>
              <a:gd name="adj1" fmla="val 50130"/>
              <a:gd name="adj2" fmla="val 99866"/>
              <a:gd name="adj3" fmla="val 49969"/>
              <a:gd name="adj4" fmla="val 119015"/>
              <a:gd name="adj5" fmla="val -62046"/>
              <a:gd name="adj6" fmla="val 13365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Colon</a:t>
            </a:r>
          </a:p>
        </p:txBody>
      </p:sp>
      <p:sp>
        <p:nvSpPr>
          <p:cNvPr id="11" name="Callout: Bent Line with No Border 10">
            <a:extLst>
              <a:ext uri="{FF2B5EF4-FFF2-40B4-BE49-F238E27FC236}">
                <a16:creationId xmlns:a16="http://schemas.microsoft.com/office/drawing/2014/main" id="{18951EE0-D0E2-88F9-7F53-EA7C86DFF954}"/>
              </a:ext>
            </a:extLst>
          </p:cNvPr>
          <p:cNvSpPr/>
          <p:nvPr/>
        </p:nvSpPr>
        <p:spPr>
          <a:xfrm flipH="1">
            <a:off x="9273476" y="3138652"/>
            <a:ext cx="2443389" cy="862642"/>
          </a:xfrm>
          <a:prstGeom prst="callout2">
            <a:avLst>
              <a:gd name="adj1" fmla="val 50130"/>
              <a:gd name="adj2" fmla="val 99866"/>
              <a:gd name="adj3" fmla="val 49969"/>
              <a:gd name="adj4" fmla="val 119015"/>
              <a:gd name="adj5" fmla="val -62046"/>
              <a:gd name="adj6" fmla="val 13365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Semi-colon</a:t>
            </a:r>
          </a:p>
        </p:txBody>
      </p:sp>
      <p:sp>
        <p:nvSpPr>
          <p:cNvPr id="4" name="TextBox 3">
            <a:extLst>
              <a:ext uri="{FF2B5EF4-FFF2-40B4-BE49-F238E27FC236}">
                <a16:creationId xmlns:a16="http://schemas.microsoft.com/office/drawing/2014/main" id="{E448FC46-7056-03A2-6086-918ABAE18CD2}"/>
              </a:ext>
            </a:extLst>
          </p:cNvPr>
          <p:cNvSpPr txBox="1"/>
          <p:nvPr/>
        </p:nvSpPr>
        <p:spPr>
          <a:xfrm>
            <a:off x="2000522" y="5767963"/>
            <a:ext cx="7748083" cy="646331"/>
          </a:xfrm>
          <a:prstGeom prst="rect">
            <a:avLst/>
          </a:prstGeom>
          <a:noFill/>
        </p:spPr>
        <p:txBody>
          <a:bodyPr wrap="none" rtlCol="0">
            <a:spAutoFit/>
          </a:bodyPr>
          <a:lstStyle/>
          <a:p>
            <a:pPr algn="ctr"/>
            <a:r>
              <a:rPr lang="en-GB" sz="3600" dirty="0">
                <a:solidFill>
                  <a:srgbClr val="7030A0"/>
                </a:solidFill>
              </a:rPr>
              <a:t>A </a:t>
            </a:r>
            <a:r>
              <a:rPr lang="en-GB" sz="3600" dirty="0">
                <a:solidFill>
                  <a:srgbClr val="FF0000"/>
                </a:solidFill>
              </a:rPr>
              <a:t>selector</a:t>
            </a:r>
            <a:r>
              <a:rPr lang="en-GB" sz="3600" dirty="0">
                <a:solidFill>
                  <a:srgbClr val="7030A0"/>
                </a:solidFill>
              </a:rPr>
              <a:t> can be a tag name, id, or class</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70176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left)">
                                      <p:cBhvr>
                                        <p:cTn id="2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10" grpId="0" animBg="1"/>
      <p:bldP spid="11" grpId="0" animBg="1"/>
      <p:bldP spid="4" grpId="0" build="p"/>
    </p:bld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Rule – Single Property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spcBef>
                <a:spcPts val="0"/>
              </a:spcBef>
              <a:buNone/>
            </a:pPr>
            <a:r>
              <a:rPr lang="en-GB" sz="4200" dirty="0">
                <a:solidFill>
                  <a:srgbClr val="FF0000"/>
                </a:solidFill>
                <a:latin typeface="Consolas" panose="020B0609020204030204" pitchFamily="49" charset="0"/>
              </a:rPr>
              <a:t>selector </a:t>
            </a:r>
            <a:r>
              <a:rPr lang="en-GB" sz="4200" dirty="0">
                <a:latin typeface="Consolas" panose="020B0609020204030204" pitchFamily="49" charset="0"/>
              </a:rPr>
              <a:t>{</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a:t>
            </a:r>
            <a:r>
              <a:rPr lang="en-GB" sz="4200" dirty="0">
                <a:solidFill>
                  <a:srgbClr val="FF0000"/>
                </a:solidFill>
                <a:latin typeface="Consolas" panose="020B0609020204030204" pitchFamily="49" charset="0"/>
              </a:rPr>
              <a:t> </a:t>
            </a:r>
            <a:r>
              <a:rPr lang="en-GB" sz="4200" dirty="0">
                <a:solidFill>
                  <a:srgbClr val="660066"/>
                </a:solidFill>
                <a:latin typeface="Consolas" panose="020B0609020204030204" pitchFamily="49" charset="0"/>
              </a:rPr>
              <a:t>value</a:t>
            </a:r>
            <a:r>
              <a:rPr lang="en-GB" sz="4200" dirty="0">
                <a:latin typeface="Consolas" panose="020B0609020204030204" pitchFamily="49" charset="0"/>
              </a:rPr>
              <a:t>;}</a:t>
            </a:r>
          </a:p>
          <a:p>
            <a:pPr marL="0" indent="0">
              <a:spcBef>
                <a:spcPts val="0"/>
              </a:spcBef>
              <a:buNone/>
            </a:pPr>
            <a:endParaRPr lang="en-GB" sz="4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1976648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Rule – Multiple Properties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spcBef>
                <a:spcPts val="0"/>
              </a:spcBef>
              <a:buNone/>
            </a:pPr>
            <a:r>
              <a:rPr lang="en-GB" sz="4200" dirty="0">
                <a:solidFill>
                  <a:srgbClr val="FF0000"/>
                </a:solidFill>
                <a:latin typeface="Consolas" panose="020B0609020204030204" pitchFamily="49" charset="0"/>
              </a:rPr>
              <a:t>selector </a:t>
            </a:r>
            <a:r>
              <a:rPr lang="en-GB" sz="4200" dirty="0">
                <a:latin typeface="Consolas" panose="020B0609020204030204" pitchFamily="49" charset="0"/>
              </a:rPr>
              <a:t>{</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p>
          <a:p>
            <a:pPr marL="0" indent="0">
              <a:buNone/>
            </a:pPr>
            <a:r>
              <a:rPr lang="en-GB" sz="4200" dirty="0">
                <a:latin typeface="Consolas" panose="020B0609020204030204" pitchFamily="49" charset="0"/>
              </a:rPr>
              <a:t>          </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p>
          <a:p>
            <a:pPr marL="0" indent="0">
              <a:buNone/>
            </a:pPr>
            <a:r>
              <a:rPr lang="en-GB" sz="4200" dirty="0">
                <a:latin typeface="Consolas" panose="020B0609020204030204" pitchFamily="49" charset="0"/>
              </a:rPr>
              <a:t>          </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p>
          <a:p>
            <a:pPr marL="0" indent="0">
              <a:spcBef>
                <a:spcPts val="0"/>
              </a:spcBef>
              <a:buNone/>
            </a:pPr>
            <a:endParaRPr lang="en-GB" sz="4200" dirty="0">
              <a:solidFill>
                <a:srgbClr val="FF0000"/>
              </a:solidFill>
              <a:latin typeface="Consolas" panose="020B0609020204030204" pitchFamily="49" charset="0"/>
            </a:endParaRPr>
          </a:p>
          <a:p>
            <a:pPr marL="0" indent="0">
              <a:spcBef>
                <a:spcPts val="0"/>
              </a:spcBef>
              <a:buNone/>
            </a:pPr>
            <a:endParaRPr lang="en-GB" sz="4200" dirty="0">
              <a:solidFill>
                <a:srgbClr val="FF0000"/>
              </a:solidFill>
              <a:latin typeface="Consolas" panose="020B0609020204030204" pitchFamily="49" charset="0"/>
            </a:endParaRPr>
          </a:p>
        </p:txBody>
      </p:sp>
      <p:sp>
        <p:nvSpPr>
          <p:cNvPr id="5" name="TextBox 4">
            <a:extLst>
              <a:ext uri="{FF2B5EF4-FFF2-40B4-BE49-F238E27FC236}">
                <a16:creationId xmlns:a16="http://schemas.microsoft.com/office/drawing/2014/main" id="{C69CB3A0-6E4B-3882-F612-9C18B4A7CC89}"/>
              </a:ext>
            </a:extLst>
          </p:cNvPr>
          <p:cNvSpPr txBox="1"/>
          <p:nvPr/>
        </p:nvSpPr>
        <p:spPr>
          <a:xfrm>
            <a:off x="1687228" y="5530632"/>
            <a:ext cx="8817543" cy="646331"/>
          </a:xfrm>
          <a:prstGeom prst="rect">
            <a:avLst/>
          </a:prstGeom>
          <a:noFill/>
        </p:spPr>
        <p:txBody>
          <a:bodyPr wrap="none" rtlCol="0">
            <a:spAutoFit/>
          </a:bodyPr>
          <a:lstStyle/>
          <a:p>
            <a:pPr algn="ctr"/>
            <a:r>
              <a:rPr lang="en-GB" sz="3600" dirty="0"/>
              <a:t>One </a:t>
            </a:r>
            <a:r>
              <a:rPr lang="en-GB" sz="3600" dirty="0">
                <a:solidFill>
                  <a:srgbClr val="FF0000"/>
                </a:solidFill>
              </a:rPr>
              <a:t>selector</a:t>
            </a:r>
            <a:r>
              <a:rPr lang="en-GB" sz="3600" dirty="0"/>
              <a:t> – multiple </a:t>
            </a:r>
            <a:r>
              <a:rPr lang="en-GB" sz="3600" dirty="0">
                <a:solidFill>
                  <a:srgbClr val="0000FF"/>
                </a:solidFill>
              </a:rPr>
              <a:t>property</a:t>
            </a:r>
            <a:r>
              <a:rPr lang="en-GB" sz="3600" dirty="0"/>
              <a:t> &amp; </a:t>
            </a:r>
            <a:r>
              <a:rPr lang="en-GB" sz="3600" dirty="0">
                <a:solidFill>
                  <a:srgbClr val="7030A0"/>
                </a:solidFill>
              </a:rPr>
              <a:t>value</a:t>
            </a:r>
            <a:r>
              <a:rPr lang="en-GB" sz="3600" dirty="0"/>
              <a:t> pairs</a:t>
            </a:r>
          </a:p>
        </p:txBody>
      </p:sp>
      <p:sp>
        <p:nvSpPr>
          <p:cNvPr id="7" name="Callout: Bent Line with No Border 6">
            <a:extLst>
              <a:ext uri="{FF2B5EF4-FFF2-40B4-BE49-F238E27FC236}">
                <a16:creationId xmlns:a16="http://schemas.microsoft.com/office/drawing/2014/main" id="{B301E01D-97C2-16FF-A6F7-D82227003255}"/>
              </a:ext>
            </a:extLst>
          </p:cNvPr>
          <p:cNvSpPr/>
          <p:nvPr/>
        </p:nvSpPr>
        <p:spPr>
          <a:xfrm>
            <a:off x="3451778" y="4573777"/>
            <a:ext cx="2443389" cy="646332"/>
          </a:xfrm>
          <a:prstGeom prst="callout2">
            <a:avLst>
              <a:gd name="adj1" fmla="val 50130"/>
              <a:gd name="adj2" fmla="val 99866"/>
              <a:gd name="adj3" fmla="val 49969"/>
              <a:gd name="adj4" fmla="val 119015"/>
              <a:gd name="adj5" fmla="val -63355"/>
              <a:gd name="adj6" fmla="val 11886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Colons</a:t>
            </a:r>
          </a:p>
        </p:txBody>
      </p:sp>
      <p:sp>
        <p:nvSpPr>
          <p:cNvPr id="8" name="Callout: Bent Line with No Border 7">
            <a:extLst>
              <a:ext uri="{FF2B5EF4-FFF2-40B4-BE49-F238E27FC236}">
                <a16:creationId xmlns:a16="http://schemas.microsoft.com/office/drawing/2014/main" id="{47D9076A-B73D-2B71-1085-552ECC11E815}"/>
              </a:ext>
            </a:extLst>
          </p:cNvPr>
          <p:cNvSpPr/>
          <p:nvPr/>
        </p:nvSpPr>
        <p:spPr>
          <a:xfrm flipH="1">
            <a:off x="8879004" y="4580939"/>
            <a:ext cx="2443389" cy="671041"/>
          </a:xfrm>
          <a:prstGeom prst="callout2">
            <a:avLst>
              <a:gd name="adj1" fmla="val 50130"/>
              <a:gd name="adj2" fmla="val 99866"/>
              <a:gd name="adj3" fmla="val 49969"/>
              <a:gd name="adj4" fmla="val 119015"/>
              <a:gd name="adj5" fmla="val -64091"/>
              <a:gd name="adj6" fmla="val 1194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Semi-colons</a:t>
            </a:r>
          </a:p>
        </p:txBody>
      </p:sp>
    </p:spTree>
    <p:extLst>
      <p:ext uri="{BB962C8B-B14F-4D97-AF65-F5344CB8AC3E}">
        <p14:creationId xmlns:p14="http://schemas.microsoft.com/office/powerpoint/2010/main" val="63543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wipe(left)">
                                      <p:cBhvr>
                                        <p:cTn id="32"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P spid="7" grpId="0" animBg="1"/>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Rule – Multiple Properties </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spcBef>
                <a:spcPts val="0"/>
              </a:spcBef>
              <a:buNone/>
            </a:pPr>
            <a:r>
              <a:rPr lang="en-GB" sz="4200" dirty="0">
                <a:solidFill>
                  <a:srgbClr val="FF0000"/>
                </a:solidFill>
                <a:latin typeface="Consolas" panose="020B0609020204030204" pitchFamily="49" charset="0"/>
              </a:rPr>
              <a:t>selector </a:t>
            </a:r>
            <a:r>
              <a:rPr lang="en-GB" sz="4200" dirty="0">
                <a:latin typeface="Consolas" panose="020B0609020204030204" pitchFamily="49" charset="0"/>
              </a:rPr>
              <a:t>{</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p>
          <a:p>
            <a:pPr marL="0" indent="0">
              <a:buNone/>
            </a:pPr>
            <a:r>
              <a:rPr lang="en-GB" sz="4200" dirty="0">
                <a:latin typeface="Consolas" panose="020B0609020204030204" pitchFamily="49" charset="0"/>
              </a:rPr>
              <a:t>          </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p>
          <a:p>
            <a:pPr marL="0" indent="0">
              <a:buNone/>
            </a:pPr>
            <a:r>
              <a:rPr lang="en-GB" sz="4200" dirty="0">
                <a:latin typeface="Consolas" panose="020B0609020204030204" pitchFamily="49" charset="0"/>
              </a:rPr>
              <a:t>          </a:t>
            </a:r>
            <a:r>
              <a:rPr lang="en-GB" sz="4200" dirty="0">
                <a:solidFill>
                  <a:srgbClr val="0000FF"/>
                </a:solidFill>
                <a:latin typeface="Consolas" panose="020B0609020204030204" pitchFamily="49" charset="0"/>
              </a:rPr>
              <a:t>property</a:t>
            </a:r>
            <a:r>
              <a:rPr lang="en-GB" sz="4200" dirty="0">
                <a:latin typeface="Consolas" panose="020B0609020204030204" pitchFamily="49" charset="0"/>
              </a:rPr>
              <a:t>: </a:t>
            </a:r>
            <a:r>
              <a:rPr lang="en-GB" sz="4200" dirty="0">
                <a:solidFill>
                  <a:srgbClr val="7030A0"/>
                </a:solidFill>
                <a:latin typeface="Consolas" panose="020B0609020204030204" pitchFamily="49" charset="0"/>
              </a:rPr>
              <a:t>value</a:t>
            </a:r>
            <a:r>
              <a:rPr lang="en-GB" sz="4200" dirty="0">
                <a:latin typeface="Consolas" panose="020B0609020204030204" pitchFamily="49" charset="0"/>
              </a:rPr>
              <a:t>;}</a:t>
            </a:r>
            <a:endParaRPr lang="en-GB" sz="4200" dirty="0">
              <a:solidFill>
                <a:srgbClr val="FF0000"/>
              </a:solidFill>
              <a:latin typeface="Consolas" panose="020B0609020204030204" pitchFamily="49" charset="0"/>
            </a:endParaRPr>
          </a:p>
          <a:p>
            <a:pPr marL="0" indent="0">
              <a:spcBef>
                <a:spcPts val="0"/>
              </a:spcBef>
              <a:buNone/>
            </a:pPr>
            <a:endParaRPr lang="en-GB" sz="4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9828956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 Style (Internal CSS)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000" dirty="0">
                <a:solidFill>
                  <a:srgbClr val="B2B2B2"/>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a:p>
            <a:pPr marL="0" indent="0">
              <a:buNone/>
            </a:pPr>
            <a:r>
              <a:rPr lang="en-GB" sz="4000" dirty="0">
                <a:solidFill>
                  <a:srgbClr val="B2B2B2"/>
                </a:solidFill>
                <a:latin typeface="Consolas" panose="020B0609020204030204" pitchFamily="49" charset="0"/>
              </a:rPr>
              <a:t>2</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a:t>
            </a:r>
            <a:r>
              <a:rPr lang="en-GB" sz="4000" dirty="0">
                <a:solidFill>
                  <a:srgbClr val="FF0000"/>
                </a:solidFill>
                <a:latin typeface="Consolas" panose="020B0609020204030204" pitchFamily="49" charset="0"/>
              </a:rPr>
              <a:t>style</a:t>
            </a:r>
            <a:r>
              <a:rPr lang="en-GB" sz="4000" dirty="0">
                <a:solidFill>
                  <a:srgbClr val="A71D5D"/>
                </a:solidFill>
                <a:latin typeface="Consolas" panose="020B0609020204030204" pitchFamily="49" charset="0"/>
              </a:rPr>
              <a:t>&gt;</a:t>
            </a:r>
          </a:p>
          <a:p>
            <a:pPr marL="0" indent="0">
              <a:lnSpc>
                <a:spcPct val="120000"/>
              </a:lnSpc>
              <a:buNone/>
            </a:pPr>
            <a:r>
              <a:rPr lang="en-GB" sz="4000" dirty="0">
                <a:solidFill>
                  <a:srgbClr val="B2B2B2"/>
                </a:solidFill>
                <a:latin typeface="Consolas" panose="020B0609020204030204" pitchFamily="49" charset="0"/>
              </a:rPr>
              <a:t>3</a:t>
            </a:r>
            <a:r>
              <a:rPr lang="en-GB" sz="4000" dirty="0">
                <a:latin typeface="Consolas" panose="020B0609020204030204" pitchFamily="49" charset="0"/>
              </a:rPr>
              <a:t>    </a:t>
            </a:r>
          </a:p>
          <a:p>
            <a:pPr marL="0" indent="0">
              <a:lnSpc>
                <a:spcPct val="120000"/>
              </a:lnSpc>
              <a:buNone/>
            </a:pPr>
            <a:r>
              <a:rPr lang="en-GB" sz="4000" dirty="0">
                <a:solidFill>
                  <a:srgbClr val="B2B2B2"/>
                </a:solidFill>
                <a:latin typeface="Consolas" panose="020B0609020204030204" pitchFamily="49" charset="0"/>
              </a:rPr>
              <a:t>4</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a:t>
            </a:r>
            <a:r>
              <a:rPr lang="en-GB" sz="4000" dirty="0">
                <a:solidFill>
                  <a:srgbClr val="FF0000"/>
                </a:solidFill>
                <a:latin typeface="Consolas" panose="020B0609020204030204" pitchFamily="49" charset="0"/>
              </a:rPr>
              <a:t>style</a:t>
            </a:r>
            <a:r>
              <a:rPr lang="en-GB" sz="4000" dirty="0">
                <a:solidFill>
                  <a:srgbClr val="A71D5D"/>
                </a:solidFill>
                <a:latin typeface="Consolas" panose="020B0609020204030204" pitchFamily="49" charset="0"/>
              </a:rPr>
              <a:t>&gt;</a:t>
            </a:r>
          </a:p>
          <a:p>
            <a:pPr marL="0" indent="0">
              <a:lnSpc>
                <a:spcPct val="120000"/>
              </a:lnSpc>
              <a:buNone/>
            </a:pPr>
            <a:r>
              <a:rPr lang="en-GB" sz="4000" dirty="0">
                <a:solidFill>
                  <a:srgbClr val="B2B2B2"/>
                </a:solidFill>
                <a:latin typeface="Consolas" panose="020B0609020204030204" pitchFamily="49" charset="0"/>
              </a:rPr>
              <a:t>5</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p:txBody>
      </p:sp>
      <p:sp>
        <p:nvSpPr>
          <p:cNvPr id="4" name="Callout: Bent Line with No Border 3">
            <a:extLst>
              <a:ext uri="{FF2B5EF4-FFF2-40B4-BE49-F238E27FC236}">
                <a16:creationId xmlns:a16="http://schemas.microsoft.com/office/drawing/2014/main" id="{7E004AEC-A620-D3A6-BB25-1E37B9C157D1}"/>
              </a:ext>
            </a:extLst>
          </p:cNvPr>
          <p:cNvSpPr/>
          <p:nvPr/>
        </p:nvSpPr>
        <p:spPr>
          <a:xfrm>
            <a:off x="5357243" y="3262026"/>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CSS Rules go here</a:t>
            </a:r>
          </a:p>
        </p:txBody>
      </p:sp>
    </p:spTree>
    <p:extLst>
      <p:ext uri="{BB962C8B-B14F-4D97-AF65-F5344CB8AC3E}">
        <p14:creationId xmlns:p14="http://schemas.microsoft.com/office/powerpoint/2010/main" val="59108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10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left)">
                                      <p:cBhvr>
                                        <p:cTn id="31"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 Style (Internal CSS)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000" dirty="0">
                <a:solidFill>
                  <a:srgbClr val="B2B2B2"/>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a:p>
            <a:pPr marL="0" indent="0">
              <a:buNone/>
            </a:pPr>
            <a:r>
              <a:rPr lang="en-GB" sz="4000" dirty="0">
                <a:solidFill>
                  <a:srgbClr val="B2B2B2"/>
                </a:solidFill>
                <a:latin typeface="Consolas" panose="020B0609020204030204" pitchFamily="49" charset="0"/>
              </a:rPr>
              <a:t>2</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a:t>
            </a:r>
            <a:r>
              <a:rPr lang="en-GB" sz="4000" dirty="0">
                <a:solidFill>
                  <a:srgbClr val="FF0000"/>
                </a:solidFill>
                <a:latin typeface="Consolas" panose="020B0609020204030204" pitchFamily="49" charset="0"/>
              </a:rPr>
              <a:t>style</a:t>
            </a:r>
            <a:r>
              <a:rPr lang="en-GB" sz="4000" dirty="0">
                <a:solidFill>
                  <a:srgbClr val="A71D5D"/>
                </a:solidFill>
                <a:latin typeface="Consolas" panose="020B0609020204030204" pitchFamily="49" charset="0"/>
              </a:rPr>
              <a:t>&gt;</a:t>
            </a:r>
          </a:p>
          <a:p>
            <a:pPr marL="0" indent="0">
              <a:lnSpc>
                <a:spcPct val="120000"/>
              </a:lnSpc>
              <a:buNone/>
            </a:pPr>
            <a:r>
              <a:rPr lang="en-GB" sz="4000" dirty="0">
                <a:solidFill>
                  <a:srgbClr val="B2B2B2"/>
                </a:solidFill>
                <a:latin typeface="Consolas" panose="020B0609020204030204" pitchFamily="49" charset="0"/>
              </a:rPr>
              <a:t>3</a:t>
            </a:r>
            <a:r>
              <a:rPr lang="en-GB" sz="4000" dirty="0">
                <a:latin typeface="Consolas" panose="020B0609020204030204" pitchFamily="49" charset="0"/>
              </a:rPr>
              <a:t>    </a:t>
            </a:r>
          </a:p>
          <a:p>
            <a:pPr marL="0" indent="0">
              <a:lnSpc>
                <a:spcPct val="120000"/>
              </a:lnSpc>
              <a:buNone/>
            </a:pPr>
            <a:r>
              <a:rPr lang="en-GB" sz="4000" dirty="0">
                <a:solidFill>
                  <a:srgbClr val="B2B2B2"/>
                </a:solidFill>
                <a:latin typeface="Consolas" panose="020B0609020204030204" pitchFamily="49" charset="0"/>
              </a:rPr>
              <a:t>4</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a:t>
            </a:r>
            <a:r>
              <a:rPr lang="en-GB" sz="4000" dirty="0">
                <a:solidFill>
                  <a:srgbClr val="FF0000"/>
                </a:solidFill>
                <a:latin typeface="Consolas" panose="020B0609020204030204" pitchFamily="49" charset="0"/>
              </a:rPr>
              <a:t>style</a:t>
            </a:r>
            <a:r>
              <a:rPr lang="en-GB" sz="4000" dirty="0">
                <a:solidFill>
                  <a:srgbClr val="A71D5D"/>
                </a:solidFill>
                <a:latin typeface="Consolas" panose="020B0609020204030204" pitchFamily="49" charset="0"/>
              </a:rPr>
              <a:t>&gt;</a:t>
            </a:r>
          </a:p>
          <a:p>
            <a:pPr marL="0" indent="0">
              <a:lnSpc>
                <a:spcPct val="120000"/>
              </a:lnSpc>
              <a:buNone/>
            </a:pPr>
            <a:r>
              <a:rPr lang="en-GB" sz="4000" dirty="0">
                <a:solidFill>
                  <a:srgbClr val="B2B2B2"/>
                </a:solidFill>
                <a:latin typeface="Consolas" panose="020B0609020204030204" pitchFamily="49" charset="0"/>
              </a:rPr>
              <a:t>5</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p:txBody>
      </p:sp>
    </p:spTree>
    <p:extLst>
      <p:ext uri="{BB962C8B-B14F-4D97-AF65-F5344CB8AC3E}">
        <p14:creationId xmlns:p14="http://schemas.microsoft.com/office/powerpoint/2010/main" val="40488714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Comments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000" dirty="0">
                <a:solidFill>
                  <a:srgbClr val="B2B2B2"/>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a:p>
            <a:pPr marL="0" indent="0">
              <a:buNone/>
            </a:pPr>
            <a:r>
              <a:rPr lang="en-GB" sz="4000" dirty="0">
                <a:solidFill>
                  <a:srgbClr val="B2B2B2"/>
                </a:solidFill>
                <a:latin typeface="Consolas" panose="020B0609020204030204" pitchFamily="49" charset="0"/>
              </a:rPr>
              <a:t>2</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&lt;style&gt;</a:t>
            </a:r>
          </a:p>
          <a:p>
            <a:pPr marL="0" indent="0">
              <a:lnSpc>
                <a:spcPct val="120000"/>
              </a:lnSpc>
              <a:buNone/>
            </a:pPr>
            <a:r>
              <a:rPr lang="en-GB" sz="4000" dirty="0">
                <a:solidFill>
                  <a:srgbClr val="B2B2B2"/>
                </a:solidFill>
                <a:latin typeface="Consolas" panose="020B0609020204030204" pitchFamily="49" charset="0"/>
              </a:rPr>
              <a:t>3</a:t>
            </a:r>
            <a:r>
              <a:rPr lang="en-GB" sz="4000" dirty="0">
                <a:latin typeface="Consolas" panose="020B0609020204030204" pitchFamily="49" charset="0"/>
              </a:rPr>
              <a:t>     </a:t>
            </a:r>
            <a:r>
              <a:rPr lang="en-GB" sz="4000" dirty="0">
                <a:solidFill>
                  <a:srgbClr val="FF0000"/>
                </a:solidFill>
                <a:latin typeface="Consolas" panose="020B0609020204030204" pitchFamily="49" charset="0"/>
              </a:rPr>
              <a:t>/*</a:t>
            </a:r>
            <a:r>
              <a:rPr lang="en-GB" sz="4000" dirty="0">
                <a:latin typeface="Consolas" panose="020B0609020204030204" pitchFamily="49" charset="0"/>
              </a:rPr>
              <a:t> </a:t>
            </a:r>
            <a:r>
              <a:rPr lang="en-GB" sz="4000" dirty="0">
                <a:solidFill>
                  <a:srgbClr val="0000FF"/>
                </a:solidFill>
                <a:latin typeface="Consolas" panose="020B0609020204030204" pitchFamily="49" charset="0"/>
              </a:rPr>
              <a:t>A CSS comment.</a:t>
            </a:r>
          </a:p>
          <a:p>
            <a:pPr marL="0" indent="0">
              <a:buNone/>
            </a:pPr>
            <a:r>
              <a:rPr lang="en-GB" sz="4000" dirty="0">
                <a:solidFill>
                  <a:srgbClr val="B2B2B2"/>
                </a:solidFill>
                <a:latin typeface="Consolas" panose="020B0609020204030204" pitchFamily="49" charset="0"/>
              </a:rPr>
              <a:t>4</a:t>
            </a:r>
            <a:r>
              <a:rPr lang="en-GB" sz="4000" dirty="0">
                <a:latin typeface="Consolas" panose="020B0609020204030204" pitchFamily="49" charset="0"/>
              </a:rPr>
              <a:t>        </a:t>
            </a:r>
            <a:r>
              <a:rPr lang="en-GB" sz="4000" dirty="0">
                <a:solidFill>
                  <a:srgbClr val="0000FF"/>
                </a:solidFill>
                <a:latin typeface="Consolas" panose="020B0609020204030204" pitchFamily="49" charset="0"/>
              </a:rPr>
              <a:t>Can be multi-line. </a:t>
            </a:r>
            <a:r>
              <a:rPr lang="en-GB" sz="4000" dirty="0">
                <a:solidFill>
                  <a:srgbClr val="FF0000"/>
                </a:solidFill>
                <a:latin typeface="Consolas" panose="020B0609020204030204" pitchFamily="49" charset="0"/>
              </a:rPr>
              <a:t>*/</a:t>
            </a:r>
            <a:endParaRPr lang="en-GB" sz="4000" dirty="0">
              <a:latin typeface="Consolas" panose="020B0609020204030204" pitchFamily="49" charset="0"/>
            </a:endParaRPr>
          </a:p>
          <a:p>
            <a:pPr marL="0" indent="0">
              <a:lnSpc>
                <a:spcPct val="120000"/>
              </a:lnSpc>
              <a:buNone/>
            </a:pPr>
            <a:r>
              <a:rPr lang="en-GB" sz="4000" dirty="0">
                <a:solidFill>
                  <a:srgbClr val="B2B2B2"/>
                </a:solidFill>
                <a:latin typeface="Consolas" panose="020B0609020204030204" pitchFamily="49" charset="0"/>
              </a:rPr>
              <a:t>6</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&lt;/style&gt;</a:t>
            </a:r>
          </a:p>
        </p:txBody>
      </p:sp>
    </p:spTree>
    <p:extLst>
      <p:ext uri="{BB962C8B-B14F-4D97-AF65-F5344CB8AC3E}">
        <p14:creationId xmlns:p14="http://schemas.microsoft.com/office/powerpoint/2010/main" val="25353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Comments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000" dirty="0">
                <a:solidFill>
                  <a:srgbClr val="B2B2B2"/>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&lt;head&gt;</a:t>
            </a:r>
          </a:p>
          <a:p>
            <a:pPr marL="0" indent="0">
              <a:buNone/>
            </a:pPr>
            <a:r>
              <a:rPr lang="en-GB" sz="4000" dirty="0">
                <a:solidFill>
                  <a:srgbClr val="B2B2B2"/>
                </a:solidFill>
                <a:latin typeface="Consolas" panose="020B0609020204030204" pitchFamily="49" charset="0"/>
              </a:rPr>
              <a:t>2</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&lt;style&gt;</a:t>
            </a:r>
          </a:p>
          <a:p>
            <a:pPr marL="0" indent="0">
              <a:lnSpc>
                <a:spcPct val="120000"/>
              </a:lnSpc>
              <a:buNone/>
            </a:pPr>
            <a:r>
              <a:rPr lang="en-GB" sz="4000" dirty="0">
                <a:solidFill>
                  <a:srgbClr val="B2B2B2"/>
                </a:solidFill>
                <a:latin typeface="Consolas" panose="020B0609020204030204" pitchFamily="49" charset="0"/>
              </a:rPr>
              <a:t>3</a:t>
            </a:r>
            <a:r>
              <a:rPr lang="en-GB" sz="4000" dirty="0">
                <a:latin typeface="Consolas" panose="020B0609020204030204" pitchFamily="49" charset="0"/>
              </a:rPr>
              <a:t>     </a:t>
            </a:r>
            <a:endParaRPr lang="en-GB" sz="4000" dirty="0">
              <a:solidFill>
                <a:srgbClr val="0000FF"/>
              </a:solidFill>
              <a:latin typeface="Consolas" panose="020B0609020204030204" pitchFamily="49" charset="0"/>
            </a:endParaRPr>
          </a:p>
          <a:p>
            <a:pPr marL="0" indent="0">
              <a:buNone/>
            </a:pPr>
            <a:r>
              <a:rPr lang="en-GB" sz="4000" dirty="0">
                <a:solidFill>
                  <a:srgbClr val="B2B2B2"/>
                </a:solidFill>
                <a:latin typeface="Consolas" panose="020B0609020204030204" pitchFamily="49" charset="0"/>
              </a:rPr>
              <a:t>4</a:t>
            </a:r>
            <a:r>
              <a:rPr lang="en-GB" sz="4000" dirty="0">
                <a:latin typeface="Consolas" panose="020B0609020204030204" pitchFamily="49" charset="0"/>
              </a:rPr>
              <a:t>     </a:t>
            </a:r>
          </a:p>
          <a:p>
            <a:pPr marL="0" indent="0">
              <a:lnSpc>
                <a:spcPct val="120000"/>
              </a:lnSpc>
              <a:buNone/>
            </a:pPr>
            <a:r>
              <a:rPr lang="en-GB" sz="4000" dirty="0">
                <a:solidFill>
                  <a:srgbClr val="B2B2B2"/>
                </a:solidFill>
                <a:latin typeface="Consolas" panose="020B0609020204030204" pitchFamily="49" charset="0"/>
              </a:rPr>
              <a:t>6</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&lt;/style&gt;</a:t>
            </a:r>
          </a:p>
        </p:txBody>
      </p:sp>
    </p:spTree>
    <p:extLst>
      <p:ext uri="{BB962C8B-B14F-4D97-AF65-F5344CB8AC3E}">
        <p14:creationId xmlns:p14="http://schemas.microsoft.com/office/powerpoint/2010/main" val="33134871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Font Family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004027"/>
            <a:ext cx="10515600" cy="2671565"/>
          </a:xfrm>
        </p:spPr>
        <p:txBody>
          <a:bodyPr>
            <a:spAutoFit/>
          </a:bodyPr>
          <a:lstStyle/>
          <a:p>
            <a:pPr marL="0" indent="0">
              <a:spcBef>
                <a:spcPts val="0"/>
              </a:spcBef>
              <a:buNone/>
            </a:pPr>
            <a:r>
              <a:rPr lang="en-GB" sz="4200" dirty="0">
                <a:latin typeface="Consolas" panose="020B0609020204030204" pitchFamily="49" charset="0"/>
              </a:rPr>
              <a:t>h1</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font-family</a:t>
            </a:r>
            <a:r>
              <a:rPr lang="en-GB" sz="4200" dirty="0">
                <a:latin typeface="Consolas" panose="020B0609020204030204" pitchFamily="49" charset="0"/>
              </a:rPr>
              <a:t>: "Times New Roman",</a:t>
            </a:r>
          </a:p>
          <a:p>
            <a:pPr marL="0" indent="0">
              <a:spcBef>
                <a:spcPts val="0"/>
              </a:spcBef>
              <a:buNone/>
            </a:pPr>
            <a:r>
              <a:rPr lang="en-GB" sz="4200" dirty="0">
                <a:latin typeface="Consolas" panose="020B0609020204030204" pitchFamily="49" charset="0"/>
              </a:rPr>
              <a:t>    Times, serif;}</a:t>
            </a:r>
          </a:p>
          <a:p>
            <a:pPr marL="0" indent="0">
              <a:spcBef>
                <a:spcPts val="2400"/>
              </a:spcBef>
              <a:buNone/>
            </a:pPr>
            <a:r>
              <a:rPr lang="en-GB" sz="4200" dirty="0">
                <a:latin typeface="Consolas" panose="020B0609020204030204" pitchFamily="49" charset="0"/>
              </a:rPr>
              <a:t>p</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font-family</a:t>
            </a:r>
            <a:r>
              <a:rPr lang="en-GB" sz="4200" dirty="0">
                <a:latin typeface="Consolas" panose="020B0609020204030204" pitchFamily="49" charset="0"/>
              </a:rPr>
              <a:t>: Arial, sans-serif;}</a:t>
            </a:r>
          </a:p>
        </p:txBody>
      </p:sp>
      <p:sp>
        <p:nvSpPr>
          <p:cNvPr id="5" name="TextBox 4">
            <a:extLst>
              <a:ext uri="{FF2B5EF4-FFF2-40B4-BE49-F238E27FC236}">
                <a16:creationId xmlns:a16="http://schemas.microsoft.com/office/drawing/2014/main" id="{C69CB3A0-6E4B-3882-F612-9C18B4A7CC89}"/>
              </a:ext>
            </a:extLst>
          </p:cNvPr>
          <p:cNvSpPr txBox="1"/>
          <p:nvPr/>
        </p:nvSpPr>
        <p:spPr>
          <a:xfrm>
            <a:off x="2832233" y="5944914"/>
            <a:ext cx="6527557" cy="646331"/>
          </a:xfrm>
          <a:prstGeom prst="rect">
            <a:avLst/>
          </a:prstGeom>
          <a:noFill/>
        </p:spPr>
        <p:txBody>
          <a:bodyPr wrap="none" rtlCol="0">
            <a:spAutoFit/>
          </a:bodyPr>
          <a:lstStyle/>
          <a:p>
            <a:pPr algn="ctr"/>
            <a:r>
              <a:rPr lang="en-GB" sz="3600" dirty="0">
                <a:solidFill>
                  <a:srgbClr val="7030A0"/>
                </a:solidFill>
              </a:rPr>
              <a:t>Fonts listed in order of preference</a:t>
            </a:r>
          </a:p>
        </p:txBody>
      </p:sp>
      <p:sp>
        <p:nvSpPr>
          <p:cNvPr id="4" name="Callout: Bent Line with No Border 3">
            <a:extLst>
              <a:ext uri="{FF2B5EF4-FFF2-40B4-BE49-F238E27FC236}">
                <a16:creationId xmlns:a16="http://schemas.microsoft.com/office/drawing/2014/main" id="{A81F7CA9-BCDF-26A2-7E5A-84F462F2907A}"/>
              </a:ext>
            </a:extLst>
          </p:cNvPr>
          <p:cNvSpPr/>
          <p:nvPr/>
        </p:nvSpPr>
        <p:spPr>
          <a:xfrm>
            <a:off x="6965771" y="1152019"/>
            <a:ext cx="3539000" cy="862642"/>
          </a:xfrm>
          <a:prstGeom prst="callout2">
            <a:avLst>
              <a:gd name="adj1" fmla="val 49217"/>
              <a:gd name="adj2" fmla="val -30"/>
              <a:gd name="adj3" fmla="val 49740"/>
              <a:gd name="adj4" fmla="val -12980"/>
              <a:gd name="adj5" fmla="val 116036"/>
              <a:gd name="adj6" fmla="val -24877"/>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Quotes due to space</a:t>
            </a:r>
          </a:p>
        </p:txBody>
      </p:sp>
      <p:sp>
        <p:nvSpPr>
          <p:cNvPr id="6" name="Callout: Bent Line with No Border 5">
            <a:extLst>
              <a:ext uri="{FF2B5EF4-FFF2-40B4-BE49-F238E27FC236}">
                <a16:creationId xmlns:a16="http://schemas.microsoft.com/office/drawing/2014/main" id="{4A61607B-9F3B-788B-3313-16C9EF2262A1}"/>
              </a:ext>
            </a:extLst>
          </p:cNvPr>
          <p:cNvSpPr/>
          <p:nvPr/>
        </p:nvSpPr>
        <p:spPr>
          <a:xfrm flipH="1">
            <a:off x="9283076" y="2866669"/>
            <a:ext cx="2443389" cy="862642"/>
          </a:xfrm>
          <a:prstGeom prst="callout2">
            <a:avLst>
              <a:gd name="adj1" fmla="val 50130"/>
              <a:gd name="adj2" fmla="val 99866"/>
              <a:gd name="adj3" fmla="val 49969"/>
              <a:gd name="adj4" fmla="val 119015"/>
              <a:gd name="adj5" fmla="val -19465"/>
              <a:gd name="adj6" fmla="val 1323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System font</a:t>
            </a:r>
          </a:p>
        </p:txBody>
      </p:sp>
      <p:sp>
        <p:nvSpPr>
          <p:cNvPr id="7" name="Callout: Bent Line with No Border 6">
            <a:extLst>
              <a:ext uri="{FF2B5EF4-FFF2-40B4-BE49-F238E27FC236}">
                <a16:creationId xmlns:a16="http://schemas.microsoft.com/office/drawing/2014/main" id="{64330E61-427A-4799-9C90-DCF7A84E8DCC}"/>
              </a:ext>
            </a:extLst>
          </p:cNvPr>
          <p:cNvSpPr/>
          <p:nvPr/>
        </p:nvSpPr>
        <p:spPr>
          <a:xfrm flipH="1">
            <a:off x="1848426" y="4881269"/>
            <a:ext cx="2443389" cy="646331"/>
          </a:xfrm>
          <a:prstGeom prst="callout2">
            <a:avLst>
              <a:gd name="adj1" fmla="val 50130"/>
              <a:gd name="adj2" fmla="val 99866"/>
              <a:gd name="adj3" fmla="val 49969"/>
              <a:gd name="adj4" fmla="val 119015"/>
              <a:gd name="adj5" fmla="val -19465"/>
              <a:gd name="adj6" fmla="val 1257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Selector</a:t>
            </a:r>
          </a:p>
        </p:txBody>
      </p:sp>
      <p:sp>
        <p:nvSpPr>
          <p:cNvPr id="8" name="Callout: Bent Line with No Border 7">
            <a:extLst>
              <a:ext uri="{FF2B5EF4-FFF2-40B4-BE49-F238E27FC236}">
                <a16:creationId xmlns:a16="http://schemas.microsoft.com/office/drawing/2014/main" id="{46172C08-0F69-45AE-9F9A-8D922A7CF9EF}"/>
              </a:ext>
            </a:extLst>
          </p:cNvPr>
          <p:cNvSpPr/>
          <p:nvPr/>
        </p:nvSpPr>
        <p:spPr>
          <a:xfrm flipH="1">
            <a:off x="4316529" y="4881269"/>
            <a:ext cx="2443389" cy="646331"/>
          </a:xfrm>
          <a:prstGeom prst="callout2">
            <a:avLst>
              <a:gd name="adj1" fmla="val 50130"/>
              <a:gd name="adj2" fmla="val 99866"/>
              <a:gd name="adj3" fmla="val 49969"/>
              <a:gd name="adj4" fmla="val 119015"/>
              <a:gd name="adj5" fmla="val -19465"/>
              <a:gd name="adj6" fmla="val 1257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Property</a:t>
            </a:r>
          </a:p>
        </p:txBody>
      </p:sp>
      <p:sp>
        <p:nvSpPr>
          <p:cNvPr id="9" name="Callout: Bent Line with No Border 8">
            <a:extLst>
              <a:ext uri="{FF2B5EF4-FFF2-40B4-BE49-F238E27FC236}">
                <a16:creationId xmlns:a16="http://schemas.microsoft.com/office/drawing/2014/main" id="{B7A19168-B627-438B-9A46-B1A526833BFD}"/>
              </a:ext>
            </a:extLst>
          </p:cNvPr>
          <p:cNvSpPr/>
          <p:nvPr/>
        </p:nvSpPr>
        <p:spPr>
          <a:xfrm flipH="1">
            <a:off x="7177441" y="4881269"/>
            <a:ext cx="2443389" cy="646331"/>
          </a:xfrm>
          <a:prstGeom prst="callout2">
            <a:avLst>
              <a:gd name="adj1" fmla="val 50130"/>
              <a:gd name="adj2" fmla="val 99866"/>
              <a:gd name="adj3" fmla="val 49969"/>
              <a:gd name="adj4" fmla="val 119015"/>
              <a:gd name="adj5" fmla="val -19465"/>
              <a:gd name="adj6" fmla="val 12579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Value(s)</a:t>
            </a:r>
          </a:p>
        </p:txBody>
      </p:sp>
    </p:spTree>
    <p:extLst>
      <p:ext uri="{BB962C8B-B14F-4D97-AF65-F5344CB8AC3E}">
        <p14:creationId xmlns:p14="http://schemas.microsoft.com/office/powerpoint/2010/main" val="116224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1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1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left)">
                                      <p:cBhvr>
                                        <p:cTn id="36" dur="10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10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5">
                                            <p:txEl>
                                              <p:pRg st="0" end="0"/>
                                            </p:txEl>
                                          </p:spTgt>
                                        </p:tgtEl>
                                        <p:attrNameLst>
                                          <p:attrName>style.visibility</p:attrName>
                                        </p:attrNameLst>
                                      </p:cBhvr>
                                      <p:to>
                                        <p:strVal val="visible"/>
                                      </p:to>
                                    </p:set>
                                    <p:animEffect transition="in" filter="wipe(left)">
                                      <p:cBhvr>
                                        <p:cTn id="46"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build="p"/>
      <p:bldP spid="4" grpId="0" animBg="1"/>
      <p:bldP spid="6" grpId="0" animBg="1"/>
      <p:bldP spid="7" grpId="0" animBg="1"/>
      <p:bldP spid="8" grpId="0" animBg="1"/>
      <p:bldP spid="9"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Font Family</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2671565"/>
          </a:xfrm>
        </p:spPr>
        <p:txBody>
          <a:bodyPr>
            <a:spAutoFit/>
          </a:bodyPr>
          <a:lstStyle/>
          <a:p>
            <a:pPr marL="0" indent="0">
              <a:spcBef>
                <a:spcPts val="0"/>
              </a:spcBef>
              <a:buNone/>
            </a:pPr>
            <a:r>
              <a:rPr lang="en-GB" sz="4200" dirty="0">
                <a:latin typeface="Consolas" panose="020B0609020204030204" pitchFamily="49" charset="0"/>
              </a:rPr>
              <a:t>h1</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font-family</a:t>
            </a:r>
            <a:r>
              <a:rPr lang="en-GB" sz="4200" dirty="0">
                <a:latin typeface="Consolas" panose="020B0609020204030204" pitchFamily="49" charset="0"/>
              </a:rPr>
              <a:t>: "Times New Roman",</a:t>
            </a:r>
          </a:p>
          <a:p>
            <a:pPr marL="0" indent="0">
              <a:spcBef>
                <a:spcPts val="0"/>
              </a:spcBef>
              <a:buNone/>
            </a:pPr>
            <a:r>
              <a:rPr lang="en-GB" sz="4200" dirty="0">
                <a:latin typeface="Consolas" panose="020B0609020204030204" pitchFamily="49" charset="0"/>
              </a:rPr>
              <a:t>    Times, serif;}</a:t>
            </a:r>
          </a:p>
          <a:p>
            <a:pPr marL="0" indent="0">
              <a:spcBef>
                <a:spcPts val="2400"/>
              </a:spcBef>
              <a:buNone/>
            </a:pPr>
            <a:r>
              <a:rPr lang="en-GB" sz="4200" dirty="0">
                <a:latin typeface="Consolas" panose="020B0609020204030204" pitchFamily="49" charset="0"/>
              </a:rPr>
              <a:t>p</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font-family</a:t>
            </a:r>
            <a:r>
              <a:rPr lang="en-GB" sz="4200" dirty="0">
                <a:latin typeface="Consolas" panose="020B0609020204030204" pitchFamily="49" charset="0"/>
              </a:rPr>
              <a:t>: Arial, sans-serif;}</a:t>
            </a:r>
          </a:p>
        </p:txBody>
      </p:sp>
    </p:spTree>
    <p:extLst>
      <p:ext uri="{BB962C8B-B14F-4D97-AF65-F5344CB8AC3E}">
        <p14:creationId xmlns:p14="http://schemas.microsoft.com/office/powerpoint/2010/main" val="13253316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Font Size</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004026"/>
            <a:ext cx="10515600" cy="3139386"/>
          </a:xfrm>
        </p:spPr>
        <p:txBody>
          <a:bodyPr>
            <a:spAutoFit/>
          </a:bodyPr>
          <a:lstStyle/>
          <a:p>
            <a:pPr marL="0" indent="0">
              <a:buNone/>
            </a:pPr>
            <a:r>
              <a:rPr lang="en-GB" sz="4200" dirty="0">
                <a:latin typeface="Consolas" panose="020B0609020204030204" pitchFamily="49" charset="0"/>
              </a:rPr>
              <a:t>h2</a:t>
            </a:r>
            <a:r>
              <a:rPr lang="en-GB" sz="4200" dirty="0">
                <a:solidFill>
                  <a:srgbClr val="FF0000"/>
                </a:solidFill>
                <a:latin typeface="Consolas" panose="020B0609020204030204" pitchFamily="49" charset="0"/>
              </a:rPr>
              <a:t> </a:t>
            </a:r>
            <a:r>
              <a:rPr lang="en-GB" sz="4200" dirty="0">
                <a:latin typeface="Consolas" panose="020B0609020204030204" pitchFamily="49" charset="0"/>
              </a:rPr>
              <a:t>{font-family: sans-serif;</a:t>
            </a:r>
          </a:p>
          <a:p>
            <a:pPr marL="0" indent="0">
              <a:spcBef>
                <a:spcPts val="0"/>
              </a:spcBef>
              <a:buNone/>
            </a:pPr>
            <a:r>
              <a:rPr lang="en-GB" sz="4200" dirty="0">
                <a:solidFill>
                  <a:srgbClr val="FF0000"/>
                </a:solidFill>
                <a:latin typeface="Consolas" panose="020B0609020204030204" pitchFamily="49" charset="0"/>
              </a:rPr>
              <a:t>    font-size</a:t>
            </a:r>
            <a:r>
              <a:rPr lang="en-GB" sz="4200" dirty="0">
                <a:latin typeface="Consolas" panose="020B0609020204030204" pitchFamily="49" charset="0"/>
              </a:rPr>
              <a:t>: 20</a:t>
            </a:r>
            <a:r>
              <a:rPr lang="en-GB" sz="4200" dirty="0">
                <a:solidFill>
                  <a:srgbClr val="FF0000"/>
                </a:solidFill>
                <a:latin typeface="Consolas" panose="020B0609020204030204" pitchFamily="49" charset="0"/>
              </a:rPr>
              <a:t>px</a:t>
            </a:r>
            <a:r>
              <a:rPr lang="en-GB" sz="4200" dirty="0">
                <a:latin typeface="Consolas" panose="020B0609020204030204" pitchFamily="49" charset="0"/>
              </a:rPr>
              <a:t>;}</a:t>
            </a:r>
          </a:p>
          <a:p>
            <a:pPr marL="0" indent="0">
              <a:spcBef>
                <a:spcPts val="0"/>
              </a:spcBef>
              <a:buNone/>
            </a:pPr>
            <a:endParaRPr lang="en-GB" sz="4200" dirty="0">
              <a:solidFill>
                <a:srgbClr val="FF0000"/>
              </a:solidFill>
              <a:latin typeface="Consolas" panose="020B0609020204030204" pitchFamily="49" charset="0"/>
            </a:endParaRPr>
          </a:p>
          <a:p>
            <a:pPr marL="0" indent="0">
              <a:buNone/>
            </a:pPr>
            <a:r>
              <a:rPr lang="en-GB" sz="4200" dirty="0">
                <a:latin typeface="Consolas" panose="020B0609020204030204" pitchFamily="49" charset="0"/>
              </a:rPr>
              <a:t>h3</a:t>
            </a:r>
            <a:r>
              <a:rPr lang="en-GB" sz="4200" dirty="0">
                <a:solidFill>
                  <a:srgbClr val="FF0000"/>
                </a:solidFill>
                <a:latin typeface="Consolas" panose="020B0609020204030204" pitchFamily="49" charset="0"/>
              </a:rPr>
              <a:t> </a:t>
            </a:r>
            <a:r>
              <a:rPr lang="en-GB" sz="4200" dirty="0">
                <a:latin typeface="Consolas" panose="020B0609020204030204" pitchFamily="49" charset="0"/>
              </a:rPr>
              <a:t>{font-size: </a:t>
            </a:r>
            <a:r>
              <a:rPr lang="en-GB" sz="4200" dirty="0">
                <a:solidFill>
                  <a:srgbClr val="FF0000"/>
                </a:solidFill>
                <a:latin typeface="Consolas" panose="020B0609020204030204" pitchFamily="49" charset="0"/>
              </a:rPr>
              <a:t>medium</a:t>
            </a:r>
            <a:r>
              <a:rPr lang="en-GB" sz="4200" dirty="0">
                <a:latin typeface="Consolas" panose="020B0609020204030204" pitchFamily="49" charset="0"/>
              </a:rPr>
              <a:t>;}</a:t>
            </a:r>
            <a:endParaRPr lang="en-GB" sz="4200" dirty="0">
              <a:solidFill>
                <a:srgbClr val="FF0000"/>
              </a:solidFill>
              <a:latin typeface="Consolas" panose="020B0609020204030204" pitchFamily="49" charset="0"/>
            </a:endParaRPr>
          </a:p>
        </p:txBody>
      </p:sp>
      <p:sp>
        <p:nvSpPr>
          <p:cNvPr id="6" name="Callout: Bent Line with No Border 5">
            <a:extLst>
              <a:ext uri="{FF2B5EF4-FFF2-40B4-BE49-F238E27FC236}">
                <a16:creationId xmlns:a16="http://schemas.microsoft.com/office/drawing/2014/main" id="{846F0BC1-93C4-76E6-513C-BB541397C46A}"/>
              </a:ext>
            </a:extLst>
          </p:cNvPr>
          <p:cNvSpPr/>
          <p:nvPr/>
        </p:nvSpPr>
        <p:spPr>
          <a:xfrm flipH="1">
            <a:off x="6754012" y="3703116"/>
            <a:ext cx="2711263" cy="646331"/>
          </a:xfrm>
          <a:prstGeom prst="callout2">
            <a:avLst>
              <a:gd name="adj1" fmla="val 50130"/>
              <a:gd name="adj2" fmla="val 99866"/>
              <a:gd name="adj3" fmla="val 49969"/>
              <a:gd name="adj4" fmla="val 119015"/>
              <a:gd name="adj5" fmla="val -22296"/>
              <a:gd name="adj6" fmla="val 13043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No space: px, </a:t>
            </a:r>
            <a:r>
              <a:rPr lang="en-GB" sz="2800" b="1" dirty="0" err="1">
                <a:solidFill>
                  <a:srgbClr val="7030A0"/>
                </a:solidFill>
              </a:rPr>
              <a:t>pt</a:t>
            </a:r>
            <a:endParaRPr lang="en-GB" sz="2800" b="1" dirty="0">
              <a:solidFill>
                <a:srgbClr val="7030A0"/>
              </a:solidFill>
            </a:endParaRPr>
          </a:p>
        </p:txBody>
      </p:sp>
      <p:sp>
        <p:nvSpPr>
          <p:cNvPr id="7" name="Callout: Bent Line with No Border 6">
            <a:extLst>
              <a:ext uri="{FF2B5EF4-FFF2-40B4-BE49-F238E27FC236}">
                <a16:creationId xmlns:a16="http://schemas.microsoft.com/office/drawing/2014/main" id="{5283248B-1223-4E62-AADD-FFEB379DAE43}"/>
              </a:ext>
            </a:extLst>
          </p:cNvPr>
          <p:cNvSpPr/>
          <p:nvPr/>
        </p:nvSpPr>
        <p:spPr>
          <a:xfrm>
            <a:off x="506627" y="5143412"/>
            <a:ext cx="4580111" cy="862642"/>
          </a:xfrm>
          <a:prstGeom prst="callout2">
            <a:avLst>
              <a:gd name="adj1" fmla="val 50130"/>
              <a:gd name="adj2" fmla="val 99866"/>
              <a:gd name="adj3" fmla="val 50690"/>
              <a:gd name="adj4" fmla="val 113305"/>
              <a:gd name="adj5" fmla="val -12922"/>
              <a:gd name="adj6" fmla="val 12018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xx-small, x-small, small, large</a:t>
            </a:r>
          </a:p>
        </p:txBody>
      </p:sp>
    </p:spTree>
    <p:extLst>
      <p:ext uri="{BB962C8B-B14F-4D97-AF65-F5344CB8AC3E}">
        <p14:creationId xmlns:p14="http://schemas.microsoft.com/office/powerpoint/2010/main" val="2770719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1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Font Size</a:t>
            </a:r>
          </a:p>
        </p:txBody>
      </p:sp>
      <p:sp>
        <p:nvSpPr>
          <p:cNvPr id="4" name="Content Placeholder 2">
            <a:extLst>
              <a:ext uri="{FF2B5EF4-FFF2-40B4-BE49-F238E27FC236}">
                <a16:creationId xmlns:a16="http://schemas.microsoft.com/office/drawing/2014/main" id="{10C57D7A-4DB3-44EB-994E-9E66F06F823A}"/>
              </a:ext>
            </a:extLst>
          </p:cNvPr>
          <p:cNvSpPr txBox="1">
            <a:spLocks/>
          </p:cNvSpPr>
          <p:nvPr/>
        </p:nvSpPr>
        <p:spPr>
          <a:xfrm>
            <a:off x="838200" y="2004026"/>
            <a:ext cx="10515600" cy="3139386"/>
          </a:xfrm>
          <a:prstGeom prst="rect">
            <a:avLst/>
          </a:prstGeom>
        </p:spPr>
        <p:txBody>
          <a:bodyPr vert="horz" lIns="91440" tIns="45720" rIns="91440" bIns="45720" rtlCol="0">
            <a:spAutoFit/>
          </a:bodyPr>
          <a:lstStyle>
            <a:lvl1pPr marL="228600" indent="-22860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4200" dirty="0">
                <a:latin typeface="Consolas" panose="020B0609020204030204" pitchFamily="49" charset="0"/>
              </a:rPr>
              <a:t>h2</a:t>
            </a:r>
            <a:r>
              <a:rPr lang="en-GB" sz="4200" dirty="0">
                <a:solidFill>
                  <a:srgbClr val="FF0000"/>
                </a:solidFill>
                <a:latin typeface="Consolas" panose="020B0609020204030204" pitchFamily="49" charset="0"/>
              </a:rPr>
              <a:t> </a:t>
            </a:r>
            <a:r>
              <a:rPr lang="en-GB" sz="4200" dirty="0">
                <a:latin typeface="Consolas" panose="020B0609020204030204" pitchFamily="49" charset="0"/>
              </a:rPr>
              <a:t>{font-family: sans-serif;</a:t>
            </a:r>
          </a:p>
          <a:p>
            <a:pPr marL="0" indent="0">
              <a:buFont typeface="Arial" panose="020B0604020202020204" pitchFamily="34" charset="0"/>
              <a:buNone/>
            </a:pPr>
            <a:r>
              <a:rPr lang="en-GB" sz="4200" dirty="0">
                <a:solidFill>
                  <a:srgbClr val="FF0000"/>
                </a:solidFill>
                <a:latin typeface="Consolas" panose="020B0609020204030204" pitchFamily="49" charset="0"/>
              </a:rPr>
              <a:t>    font-size</a:t>
            </a:r>
            <a:r>
              <a:rPr lang="en-GB" sz="4200" dirty="0">
                <a:latin typeface="Consolas" panose="020B0609020204030204" pitchFamily="49" charset="0"/>
              </a:rPr>
              <a:t>: 20</a:t>
            </a:r>
            <a:r>
              <a:rPr lang="en-GB" sz="4200" dirty="0">
                <a:solidFill>
                  <a:srgbClr val="FF0000"/>
                </a:solidFill>
                <a:latin typeface="Consolas" panose="020B0609020204030204" pitchFamily="49" charset="0"/>
              </a:rPr>
              <a:t>px</a:t>
            </a:r>
            <a:r>
              <a:rPr lang="en-GB" sz="4200" dirty="0">
                <a:latin typeface="Consolas" panose="020B0609020204030204" pitchFamily="49" charset="0"/>
              </a:rPr>
              <a:t>;}</a:t>
            </a:r>
          </a:p>
          <a:p>
            <a:pPr marL="0" indent="0">
              <a:buFont typeface="Arial" panose="020B0604020202020204" pitchFamily="34" charset="0"/>
              <a:buNone/>
            </a:pPr>
            <a:endParaRPr lang="en-GB" sz="4200" dirty="0">
              <a:solidFill>
                <a:srgbClr val="FF0000"/>
              </a:solidFill>
              <a:latin typeface="Consolas" panose="020B0609020204030204" pitchFamily="49" charset="0"/>
            </a:endParaRPr>
          </a:p>
          <a:p>
            <a:pPr marL="0" indent="0">
              <a:buFont typeface="Arial" panose="020B0604020202020204" pitchFamily="34" charset="0"/>
              <a:buNone/>
            </a:pPr>
            <a:r>
              <a:rPr lang="en-GB" sz="4200" dirty="0">
                <a:latin typeface="Consolas" panose="020B0609020204030204" pitchFamily="49" charset="0"/>
              </a:rPr>
              <a:t>h3</a:t>
            </a:r>
            <a:r>
              <a:rPr lang="en-GB" sz="4200" dirty="0">
                <a:solidFill>
                  <a:srgbClr val="FF0000"/>
                </a:solidFill>
                <a:latin typeface="Consolas" panose="020B0609020204030204" pitchFamily="49" charset="0"/>
              </a:rPr>
              <a:t> </a:t>
            </a:r>
            <a:r>
              <a:rPr lang="en-GB" sz="4200" dirty="0">
                <a:latin typeface="Consolas" panose="020B0609020204030204" pitchFamily="49" charset="0"/>
              </a:rPr>
              <a:t>{font-size: </a:t>
            </a:r>
            <a:r>
              <a:rPr lang="en-GB" sz="4200" dirty="0">
                <a:solidFill>
                  <a:srgbClr val="FF0000"/>
                </a:solidFill>
                <a:latin typeface="Consolas" panose="020B0609020204030204" pitchFamily="49" charset="0"/>
              </a:rPr>
              <a:t>medium</a:t>
            </a:r>
            <a:r>
              <a:rPr lang="en-GB" sz="4200" dirty="0">
                <a:latin typeface="Consolas" panose="020B0609020204030204" pitchFamily="49" charset="0"/>
              </a:rPr>
              <a:t>;}</a:t>
            </a:r>
            <a:endParaRPr lang="en-GB" sz="42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17833387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Alignment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h4</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text-align</a:t>
            </a:r>
            <a:r>
              <a:rPr lang="en-GB" sz="4200" dirty="0">
                <a:latin typeface="Consolas" panose="020B0609020204030204" pitchFamily="49" charset="0"/>
              </a:rPr>
              <a:t>: </a:t>
            </a:r>
            <a:r>
              <a:rPr lang="en-GB" sz="4200" dirty="0" err="1">
                <a:latin typeface="Consolas" panose="020B0609020204030204" pitchFamily="49" charset="0"/>
              </a:rPr>
              <a:t>center</a:t>
            </a:r>
            <a:r>
              <a:rPr lang="en-GB" sz="4200" dirty="0">
                <a:latin typeface="Consolas" panose="020B0609020204030204" pitchFamily="49" charset="0"/>
              </a:rPr>
              <a:t>;}</a:t>
            </a:r>
          </a:p>
        </p:txBody>
      </p:sp>
      <p:sp>
        <p:nvSpPr>
          <p:cNvPr id="6" name="Callout: Bent Line with No Border 5">
            <a:extLst>
              <a:ext uri="{FF2B5EF4-FFF2-40B4-BE49-F238E27FC236}">
                <a16:creationId xmlns:a16="http://schemas.microsoft.com/office/drawing/2014/main" id="{846F0BC1-93C4-76E6-513C-BB541397C46A}"/>
              </a:ext>
            </a:extLst>
          </p:cNvPr>
          <p:cNvSpPr/>
          <p:nvPr/>
        </p:nvSpPr>
        <p:spPr>
          <a:xfrm>
            <a:off x="1412032" y="3569561"/>
            <a:ext cx="4248538" cy="862642"/>
          </a:xfrm>
          <a:prstGeom prst="callout2">
            <a:avLst>
              <a:gd name="adj1" fmla="val 50130"/>
              <a:gd name="adj2" fmla="val 99866"/>
              <a:gd name="adj3" fmla="val 50690"/>
              <a:gd name="adj4" fmla="val 113305"/>
              <a:gd name="adj5" fmla="val -12922"/>
              <a:gd name="adj6" fmla="val 12018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left, </a:t>
            </a:r>
            <a:r>
              <a:rPr lang="en-GB" sz="2800" b="1" dirty="0" err="1">
                <a:solidFill>
                  <a:srgbClr val="7030A0"/>
                </a:solidFill>
              </a:rPr>
              <a:t>center</a:t>
            </a:r>
            <a:r>
              <a:rPr lang="en-GB" sz="2800" b="1" dirty="0">
                <a:solidFill>
                  <a:srgbClr val="7030A0"/>
                </a:solidFill>
              </a:rPr>
              <a:t>, right, justify</a:t>
            </a:r>
          </a:p>
        </p:txBody>
      </p:sp>
      <p:sp>
        <p:nvSpPr>
          <p:cNvPr id="4" name="TextBox 3">
            <a:extLst>
              <a:ext uri="{FF2B5EF4-FFF2-40B4-BE49-F238E27FC236}">
                <a16:creationId xmlns:a16="http://schemas.microsoft.com/office/drawing/2014/main" id="{0FC27929-CF2F-75E4-4D61-A5CD727F032B}"/>
              </a:ext>
            </a:extLst>
          </p:cNvPr>
          <p:cNvSpPr txBox="1"/>
          <p:nvPr/>
        </p:nvSpPr>
        <p:spPr>
          <a:xfrm>
            <a:off x="4267935" y="5920032"/>
            <a:ext cx="3656129" cy="646331"/>
          </a:xfrm>
          <a:prstGeom prst="rect">
            <a:avLst/>
          </a:prstGeom>
          <a:noFill/>
        </p:spPr>
        <p:txBody>
          <a:bodyPr wrap="none" rtlCol="0">
            <a:spAutoFit/>
          </a:bodyPr>
          <a:lstStyle/>
          <a:p>
            <a:pPr algn="ctr"/>
            <a:r>
              <a:rPr lang="en-GB" sz="3600" dirty="0">
                <a:solidFill>
                  <a:srgbClr val="7030A0"/>
                </a:solidFill>
              </a:rPr>
              <a:t>American spelling!</a:t>
            </a:r>
          </a:p>
        </p:txBody>
      </p:sp>
    </p:spTree>
    <p:extLst>
      <p:ext uri="{BB962C8B-B14F-4D97-AF65-F5344CB8AC3E}">
        <p14:creationId xmlns:p14="http://schemas.microsoft.com/office/powerpoint/2010/main" val="1076303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4" grpId="0" build="p"/>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Alignment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h4</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text-align</a:t>
            </a:r>
            <a:r>
              <a:rPr lang="en-GB" sz="4200" dirty="0">
                <a:latin typeface="Consolas" panose="020B0609020204030204" pitchFamily="49" charset="0"/>
              </a:rPr>
              <a:t>: </a:t>
            </a:r>
            <a:r>
              <a:rPr lang="en-GB" sz="4200" dirty="0" err="1">
                <a:latin typeface="Consolas" panose="020B0609020204030204" pitchFamily="49" charset="0"/>
              </a:rPr>
              <a:t>center</a:t>
            </a:r>
            <a:r>
              <a:rPr lang="en-GB" sz="4200" dirty="0">
                <a:latin typeface="Consolas" panose="020B0609020204030204" pitchFamily="49" charset="0"/>
              </a:rPr>
              <a:t>;}</a:t>
            </a:r>
          </a:p>
        </p:txBody>
      </p:sp>
    </p:spTree>
    <p:extLst>
      <p:ext uri="{BB962C8B-B14F-4D97-AF65-F5344CB8AC3E}">
        <p14:creationId xmlns:p14="http://schemas.microsoft.com/office/powerpoint/2010/main" val="11206179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Colour (Text)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h5</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err="1">
                <a:solidFill>
                  <a:srgbClr val="FF0000"/>
                </a:solidFill>
                <a:latin typeface="Consolas" panose="020B0609020204030204" pitchFamily="49" charset="0"/>
              </a:rPr>
              <a:t>color</a:t>
            </a:r>
            <a:r>
              <a:rPr lang="en-GB" sz="4200" dirty="0">
                <a:latin typeface="Consolas" panose="020B0609020204030204" pitchFamily="49" charset="0"/>
              </a:rPr>
              <a:t>: green;}</a:t>
            </a:r>
          </a:p>
        </p:txBody>
      </p:sp>
      <p:sp>
        <p:nvSpPr>
          <p:cNvPr id="6" name="Callout: Bent Line with No Border 5">
            <a:extLst>
              <a:ext uri="{FF2B5EF4-FFF2-40B4-BE49-F238E27FC236}">
                <a16:creationId xmlns:a16="http://schemas.microsoft.com/office/drawing/2014/main" id="{846F0BC1-93C4-76E6-513C-BB541397C46A}"/>
              </a:ext>
            </a:extLst>
          </p:cNvPr>
          <p:cNvSpPr/>
          <p:nvPr/>
        </p:nvSpPr>
        <p:spPr>
          <a:xfrm flipH="1">
            <a:off x="6096000" y="4125363"/>
            <a:ext cx="3172504" cy="862642"/>
          </a:xfrm>
          <a:prstGeom prst="callout2">
            <a:avLst>
              <a:gd name="adj1" fmla="val 50130"/>
              <a:gd name="adj2" fmla="val 99866"/>
              <a:gd name="adj3" fmla="val 49969"/>
              <a:gd name="adj4" fmla="val 119015"/>
              <a:gd name="adj5" fmla="val -88188"/>
              <a:gd name="adj6" fmla="val 13394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HTML colour name</a:t>
            </a:r>
          </a:p>
          <a:p>
            <a:r>
              <a:rPr lang="en-GB" sz="2800" b="1" dirty="0">
                <a:solidFill>
                  <a:srgbClr val="7030A0"/>
                </a:solidFill>
              </a:rPr>
              <a:t>Can use Hex value</a:t>
            </a:r>
          </a:p>
        </p:txBody>
      </p:sp>
      <p:sp>
        <p:nvSpPr>
          <p:cNvPr id="4" name="TextBox 3">
            <a:extLst>
              <a:ext uri="{FF2B5EF4-FFF2-40B4-BE49-F238E27FC236}">
                <a16:creationId xmlns:a16="http://schemas.microsoft.com/office/drawing/2014/main" id="{0FC27929-CF2F-75E4-4D61-A5CD727F032B}"/>
              </a:ext>
            </a:extLst>
          </p:cNvPr>
          <p:cNvSpPr txBox="1"/>
          <p:nvPr/>
        </p:nvSpPr>
        <p:spPr>
          <a:xfrm>
            <a:off x="4267948" y="5944914"/>
            <a:ext cx="3656129" cy="646331"/>
          </a:xfrm>
          <a:prstGeom prst="rect">
            <a:avLst/>
          </a:prstGeom>
          <a:noFill/>
        </p:spPr>
        <p:txBody>
          <a:bodyPr wrap="none" rtlCol="0">
            <a:spAutoFit/>
          </a:bodyPr>
          <a:lstStyle/>
          <a:p>
            <a:pPr algn="ctr"/>
            <a:r>
              <a:rPr lang="en-GB" sz="3600" dirty="0">
                <a:solidFill>
                  <a:srgbClr val="7030A0"/>
                </a:solidFill>
              </a:rPr>
              <a:t>American spelling!</a:t>
            </a:r>
          </a:p>
        </p:txBody>
      </p:sp>
    </p:spTree>
    <p:extLst>
      <p:ext uri="{BB962C8B-B14F-4D97-AF65-F5344CB8AC3E}">
        <p14:creationId xmlns:p14="http://schemas.microsoft.com/office/powerpoint/2010/main" val="1358941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4" grpId="0"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Colour (Text)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h5</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err="1">
                <a:solidFill>
                  <a:srgbClr val="FF0000"/>
                </a:solidFill>
                <a:latin typeface="Consolas" panose="020B0609020204030204" pitchFamily="49" charset="0"/>
              </a:rPr>
              <a:t>color</a:t>
            </a:r>
            <a:r>
              <a:rPr lang="en-GB" sz="4200" dirty="0">
                <a:latin typeface="Consolas" panose="020B0609020204030204" pitchFamily="49" charset="0"/>
              </a:rPr>
              <a:t>: green;}</a:t>
            </a:r>
          </a:p>
        </p:txBody>
      </p:sp>
    </p:spTree>
    <p:extLst>
      <p:ext uri="{BB962C8B-B14F-4D97-AF65-F5344CB8AC3E}">
        <p14:creationId xmlns:p14="http://schemas.microsoft.com/office/powerpoint/2010/main" val="391288163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Background Colour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h6</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background-</a:t>
            </a:r>
            <a:r>
              <a:rPr lang="en-GB" sz="4200" dirty="0" err="1">
                <a:solidFill>
                  <a:srgbClr val="FF0000"/>
                </a:solidFill>
                <a:latin typeface="Consolas" panose="020B0609020204030204" pitchFamily="49" charset="0"/>
              </a:rPr>
              <a:t>color</a:t>
            </a:r>
            <a:r>
              <a:rPr lang="en-GB" sz="4200" dirty="0">
                <a:latin typeface="Consolas" panose="020B0609020204030204" pitchFamily="49" charset="0"/>
              </a:rPr>
              <a:t>: #FFF8DC;}</a:t>
            </a:r>
          </a:p>
        </p:txBody>
      </p:sp>
      <p:sp>
        <p:nvSpPr>
          <p:cNvPr id="6" name="Callout: Bent Line with No Border 5">
            <a:extLst>
              <a:ext uri="{FF2B5EF4-FFF2-40B4-BE49-F238E27FC236}">
                <a16:creationId xmlns:a16="http://schemas.microsoft.com/office/drawing/2014/main" id="{846F0BC1-93C4-76E6-513C-BB541397C46A}"/>
              </a:ext>
            </a:extLst>
          </p:cNvPr>
          <p:cNvSpPr/>
          <p:nvPr/>
        </p:nvSpPr>
        <p:spPr>
          <a:xfrm>
            <a:off x="2767914" y="3934932"/>
            <a:ext cx="4314357" cy="812595"/>
          </a:xfrm>
          <a:prstGeom prst="callout2">
            <a:avLst>
              <a:gd name="adj1" fmla="val 50130"/>
              <a:gd name="adj2" fmla="val 99866"/>
              <a:gd name="adj3" fmla="val 49969"/>
              <a:gd name="adj4" fmla="val 119015"/>
              <a:gd name="adj5" fmla="val -66701"/>
              <a:gd name="adj6" fmla="val 13158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Hex value (</a:t>
            </a:r>
            <a:r>
              <a:rPr lang="en-GB" sz="2800" b="1" dirty="0" err="1">
                <a:solidFill>
                  <a:srgbClr val="7030A0"/>
                </a:solidFill>
              </a:rPr>
              <a:t>RGB</a:t>
            </a:r>
            <a:r>
              <a:rPr lang="en-GB" sz="2800" b="1" dirty="0">
                <a:solidFill>
                  <a:srgbClr val="7030A0"/>
                </a:solidFill>
              </a:rPr>
              <a:t>)</a:t>
            </a:r>
          </a:p>
          <a:p>
            <a:pPr algn="r"/>
            <a:r>
              <a:rPr lang="en-GB" sz="2800" b="1" dirty="0">
                <a:solidFill>
                  <a:srgbClr val="7030A0"/>
                </a:solidFill>
              </a:rPr>
              <a:t>Can use HTML colour name </a:t>
            </a:r>
          </a:p>
        </p:txBody>
      </p:sp>
      <p:sp>
        <p:nvSpPr>
          <p:cNvPr id="4" name="TextBox 3">
            <a:extLst>
              <a:ext uri="{FF2B5EF4-FFF2-40B4-BE49-F238E27FC236}">
                <a16:creationId xmlns:a16="http://schemas.microsoft.com/office/drawing/2014/main" id="{0FC27929-CF2F-75E4-4D61-A5CD727F032B}"/>
              </a:ext>
            </a:extLst>
          </p:cNvPr>
          <p:cNvSpPr txBox="1"/>
          <p:nvPr/>
        </p:nvSpPr>
        <p:spPr>
          <a:xfrm>
            <a:off x="4267948" y="5944914"/>
            <a:ext cx="3656129" cy="646331"/>
          </a:xfrm>
          <a:prstGeom prst="rect">
            <a:avLst/>
          </a:prstGeom>
          <a:noFill/>
        </p:spPr>
        <p:txBody>
          <a:bodyPr wrap="none" rtlCol="0">
            <a:spAutoFit/>
          </a:bodyPr>
          <a:lstStyle/>
          <a:p>
            <a:pPr algn="ctr"/>
            <a:r>
              <a:rPr lang="en-GB" sz="3600" dirty="0">
                <a:solidFill>
                  <a:srgbClr val="7030A0"/>
                </a:solidFill>
              </a:rPr>
              <a:t>American spelling!</a:t>
            </a:r>
          </a:p>
        </p:txBody>
      </p:sp>
    </p:spTree>
    <p:extLst>
      <p:ext uri="{BB962C8B-B14F-4D97-AF65-F5344CB8AC3E}">
        <p14:creationId xmlns:p14="http://schemas.microsoft.com/office/powerpoint/2010/main" val="271385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4" grpId="0" build="p"/>
    </p:bld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Background Colour</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838200" y="2597150"/>
            <a:ext cx="10515600" cy="812595"/>
          </a:xfrm>
        </p:spPr>
        <p:txBody>
          <a:bodyPr>
            <a:spAutoFit/>
          </a:bodyPr>
          <a:lstStyle/>
          <a:p>
            <a:pPr marL="0" indent="0">
              <a:buNone/>
            </a:pPr>
            <a:r>
              <a:rPr lang="en-GB" sz="4200" dirty="0">
                <a:latin typeface="Consolas" panose="020B0609020204030204" pitchFamily="49" charset="0"/>
              </a:rPr>
              <a:t>h6</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background-</a:t>
            </a:r>
            <a:r>
              <a:rPr lang="en-GB" sz="4200" dirty="0" err="1">
                <a:solidFill>
                  <a:srgbClr val="FF0000"/>
                </a:solidFill>
                <a:latin typeface="Consolas" panose="020B0609020204030204" pitchFamily="49" charset="0"/>
              </a:rPr>
              <a:t>color</a:t>
            </a:r>
            <a:r>
              <a:rPr lang="en-GB" sz="4200" dirty="0">
                <a:latin typeface="Consolas" panose="020B0609020204030204" pitchFamily="49" charset="0"/>
              </a:rPr>
              <a:t>: #FFF8DC;}</a:t>
            </a:r>
          </a:p>
        </p:txBody>
      </p:sp>
    </p:spTree>
    <p:extLst>
      <p:ext uri="{BB962C8B-B14F-4D97-AF65-F5344CB8AC3E}">
        <p14:creationId xmlns:p14="http://schemas.microsoft.com/office/powerpoint/2010/main" val="10264300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Width and Height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2718486" y="2597150"/>
            <a:ext cx="8635314" cy="812595"/>
          </a:xfrm>
        </p:spPr>
        <p:txBody>
          <a:bodyPr wrap="square">
            <a:spAutoFit/>
          </a:bodyPr>
          <a:lstStyle/>
          <a:p>
            <a:pPr marL="0" indent="0">
              <a:buNone/>
            </a:pPr>
            <a:r>
              <a:rPr lang="en-GB" sz="4200" dirty="0">
                <a:latin typeface="Consolas" panose="020B0609020204030204" pitchFamily="49" charset="0"/>
              </a:rPr>
              <a:t>p</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width</a:t>
            </a:r>
            <a:r>
              <a:rPr lang="en-GB" sz="4200" dirty="0">
                <a:latin typeface="Consolas" panose="020B0609020204030204" pitchFamily="49" charset="0"/>
              </a:rPr>
              <a:t>: 50%;}</a:t>
            </a:r>
          </a:p>
        </p:txBody>
      </p:sp>
      <p:sp>
        <p:nvSpPr>
          <p:cNvPr id="6" name="Callout: Bent Line with No Border 5">
            <a:extLst>
              <a:ext uri="{FF2B5EF4-FFF2-40B4-BE49-F238E27FC236}">
                <a16:creationId xmlns:a16="http://schemas.microsoft.com/office/drawing/2014/main" id="{846F0BC1-93C4-76E6-513C-BB541397C46A}"/>
              </a:ext>
            </a:extLst>
          </p:cNvPr>
          <p:cNvSpPr/>
          <p:nvPr/>
        </p:nvSpPr>
        <p:spPr>
          <a:xfrm>
            <a:off x="1989438" y="3884886"/>
            <a:ext cx="1988970" cy="862642"/>
          </a:xfrm>
          <a:prstGeom prst="callout2">
            <a:avLst>
              <a:gd name="adj1" fmla="val 50130"/>
              <a:gd name="adj2" fmla="val 99866"/>
              <a:gd name="adj3" fmla="val 49969"/>
              <a:gd name="adj4" fmla="val 119015"/>
              <a:gd name="adj5" fmla="val -58107"/>
              <a:gd name="adj6" fmla="val 119139"/>
            </a:avLst>
          </a:prstGeom>
          <a:noFill/>
          <a:ln w="38100">
            <a:solidFill>
              <a:schemeClr val="accent6">
                <a:lumMod val="75000"/>
              </a:schemeClr>
            </a:solidFill>
            <a:headEnd type="triangl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4200" dirty="0">
                <a:solidFill>
                  <a:srgbClr val="FF0000"/>
                </a:solidFill>
                <a:latin typeface="Consolas" panose="020B0609020204030204" pitchFamily="49" charset="0"/>
              </a:rPr>
              <a:t>height</a:t>
            </a:r>
          </a:p>
        </p:txBody>
      </p:sp>
      <p:sp>
        <p:nvSpPr>
          <p:cNvPr id="7" name="Callout: Bent Line with No Border 6">
            <a:extLst>
              <a:ext uri="{FF2B5EF4-FFF2-40B4-BE49-F238E27FC236}">
                <a16:creationId xmlns:a16="http://schemas.microsoft.com/office/drawing/2014/main" id="{52462BE3-F95F-4847-976C-9543E70B14C3}"/>
              </a:ext>
            </a:extLst>
          </p:cNvPr>
          <p:cNvSpPr/>
          <p:nvPr/>
        </p:nvSpPr>
        <p:spPr>
          <a:xfrm flipH="1">
            <a:off x="6911546" y="3791730"/>
            <a:ext cx="3172504" cy="862642"/>
          </a:xfrm>
          <a:prstGeom prst="callout2">
            <a:avLst>
              <a:gd name="adj1" fmla="val 50130"/>
              <a:gd name="adj2" fmla="val 99866"/>
              <a:gd name="adj3" fmla="val 49969"/>
              <a:gd name="adj4" fmla="val 119015"/>
              <a:gd name="adj5" fmla="val -46648"/>
              <a:gd name="adj6" fmla="val 118750"/>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No space</a:t>
            </a:r>
          </a:p>
        </p:txBody>
      </p:sp>
      <p:sp>
        <p:nvSpPr>
          <p:cNvPr id="8" name="TextBox 7">
            <a:extLst>
              <a:ext uri="{FF2B5EF4-FFF2-40B4-BE49-F238E27FC236}">
                <a16:creationId xmlns:a16="http://schemas.microsoft.com/office/drawing/2014/main" id="{47C54777-6DAA-44BC-A8E0-EAC0EB9CECA0}"/>
              </a:ext>
            </a:extLst>
          </p:cNvPr>
          <p:cNvSpPr txBox="1"/>
          <p:nvPr/>
        </p:nvSpPr>
        <p:spPr>
          <a:xfrm>
            <a:off x="2813338" y="5222669"/>
            <a:ext cx="6565323" cy="1200329"/>
          </a:xfrm>
          <a:prstGeom prst="rect">
            <a:avLst/>
          </a:prstGeom>
          <a:noFill/>
        </p:spPr>
        <p:txBody>
          <a:bodyPr wrap="none" rtlCol="0">
            <a:spAutoFit/>
          </a:bodyPr>
          <a:lstStyle/>
          <a:p>
            <a:r>
              <a:rPr lang="en-GB" sz="3600" dirty="0">
                <a:solidFill>
                  <a:srgbClr val="7030A0"/>
                </a:solidFill>
              </a:rPr>
              <a:t>% – size relative to space available</a:t>
            </a:r>
          </a:p>
          <a:p>
            <a:r>
              <a:rPr lang="en-GB" sz="3600" dirty="0">
                <a:solidFill>
                  <a:srgbClr val="7030A0"/>
                </a:solidFill>
              </a:rPr>
              <a:t>px – absolute size</a:t>
            </a:r>
          </a:p>
        </p:txBody>
      </p:sp>
    </p:spTree>
    <p:extLst>
      <p:ext uri="{BB962C8B-B14F-4D97-AF65-F5344CB8AC3E}">
        <p14:creationId xmlns:p14="http://schemas.microsoft.com/office/powerpoint/2010/main" val="2804793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right)">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wipe(left)">
                                      <p:cBhvr>
                                        <p:cTn id="22" dur="20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wipe(left)">
                                      <p:cBhvr>
                                        <p:cTn id="27" dur="2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CSS – Width and Height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4294967295"/>
          </p:nvPr>
        </p:nvSpPr>
        <p:spPr>
          <a:xfrm>
            <a:off x="2718486" y="2597150"/>
            <a:ext cx="8635314" cy="812595"/>
          </a:xfrm>
        </p:spPr>
        <p:txBody>
          <a:bodyPr wrap="square">
            <a:spAutoFit/>
          </a:bodyPr>
          <a:lstStyle/>
          <a:p>
            <a:pPr marL="0" indent="0">
              <a:buNone/>
            </a:pPr>
            <a:r>
              <a:rPr lang="en-GB" sz="4200" dirty="0">
                <a:latin typeface="Consolas" panose="020B0609020204030204" pitchFamily="49" charset="0"/>
              </a:rPr>
              <a:t>p</a:t>
            </a:r>
            <a:r>
              <a:rPr lang="en-GB" sz="4200" dirty="0">
                <a:solidFill>
                  <a:srgbClr val="FF0000"/>
                </a:solidFill>
                <a:latin typeface="Consolas" panose="020B0609020204030204" pitchFamily="49" charset="0"/>
              </a:rPr>
              <a:t> </a:t>
            </a:r>
            <a:r>
              <a:rPr lang="en-GB" sz="4200" dirty="0">
                <a:latin typeface="Consolas" panose="020B0609020204030204" pitchFamily="49" charset="0"/>
              </a:rPr>
              <a:t>{</a:t>
            </a:r>
            <a:r>
              <a:rPr lang="en-GB" sz="4200" dirty="0">
                <a:solidFill>
                  <a:srgbClr val="FF0000"/>
                </a:solidFill>
                <a:latin typeface="Consolas" panose="020B0609020204030204" pitchFamily="49" charset="0"/>
              </a:rPr>
              <a:t>width</a:t>
            </a:r>
            <a:r>
              <a:rPr lang="en-GB" sz="4200" dirty="0">
                <a:latin typeface="Consolas" panose="020B0609020204030204" pitchFamily="49" charset="0"/>
              </a:rPr>
              <a:t>: 50%;}</a:t>
            </a:r>
          </a:p>
        </p:txBody>
      </p:sp>
    </p:spTree>
    <p:extLst>
      <p:ext uri="{BB962C8B-B14F-4D97-AF65-F5344CB8AC3E}">
        <p14:creationId xmlns:p14="http://schemas.microsoft.com/office/powerpoint/2010/main" val="34618850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exemplify and implement CSS using:</a:t>
            </a:r>
          </a:p>
          <a:p>
            <a:pPr lvl="1"/>
            <a:r>
              <a:rPr lang="en-GB" sz="3600" dirty="0"/>
              <a:t>IDs</a:t>
            </a:r>
          </a:p>
          <a:p>
            <a:pPr lvl="1"/>
            <a:r>
              <a:rPr lang="en-GB" sz="3600" dirty="0"/>
              <a:t>Classes</a:t>
            </a:r>
          </a:p>
          <a:p>
            <a:r>
              <a:rPr lang="en-GB" sz="3600" dirty="0"/>
              <a:t>Read and explain code that makes use of the above CSS.</a:t>
            </a:r>
            <a:endParaRPr lang="en-GB" dirty="0"/>
          </a:p>
        </p:txBody>
      </p:sp>
    </p:spTree>
    <p:extLst>
      <p:ext uri="{BB962C8B-B14F-4D97-AF65-F5344CB8AC3E}">
        <p14:creationId xmlns:p14="http://schemas.microsoft.com/office/powerpoint/2010/main" val="3007690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20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F94F-2736-4110-9A3C-0FE48826A130}"/>
              </a:ext>
            </a:extLst>
          </p:cNvPr>
          <p:cNvSpPr>
            <a:spLocks noGrp="1"/>
          </p:cNvSpPr>
          <p:nvPr>
            <p:ph type="title"/>
          </p:nvPr>
        </p:nvSpPr>
        <p:spPr/>
        <p:txBody>
          <a:bodyPr/>
          <a:lstStyle/>
          <a:p>
            <a:r>
              <a:rPr lang="en-GB" dirty="0"/>
              <a:t>Class</a:t>
            </a:r>
          </a:p>
        </p:txBody>
      </p:sp>
      <p:sp>
        <p:nvSpPr>
          <p:cNvPr id="3" name="Text Placeholder 2">
            <a:extLst>
              <a:ext uri="{FF2B5EF4-FFF2-40B4-BE49-F238E27FC236}">
                <a16:creationId xmlns:a16="http://schemas.microsoft.com/office/drawing/2014/main" id="{6F7071BB-A7AC-4E89-8434-BFA476BA348F}"/>
              </a:ext>
            </a:extLst>
          </p:cNvPr>
          <p:cNvSpPr>
            <a:spLocks noGrp="1"/>
          </p:cNvSpPr>
          <p:nvPr>
            <p:ph type="body" idx="1"/>
          </p:nvPr>
        </p:nvSpPr>
        <p:spPr/>
        <p:txBody>
          <a:bodyPr>
            <a:normAutofit/>
          </a:bodyPr>
          <a:lstStyle/>
          <a:p>
            <a:r>
              <a:rPr lang="en-GB" sz="3200" dirty="0"/>
              <a:t>HTML</a:t>
            </a:r>
          </a:p>
        </p:txBody>
      </p:sp>
      <p:sp>
        <p:nvSpPr>
          <p:cNvPr id="4" name="Content Placeholder 3">
            <a:extLst>
              <a:ext uri="{FF2B5EF4-FFF2-40B4-BE49-F238E27FC236}">
                <a16:creationId xmlns:a16="http://schemas.microsoft.com/office/drawing/2014/main" id="{19362E45-FBA8-4F0C-9D8E-A4A4CFD14F53}"/>
              </a:ext>
            </a:extLst>
          </p:cNvPr>
          <p:cNvSpPr>
            <a:spLocks noGrp="1"/>
          </p:cNvSpPr>
          <p:nvPr>
            <p:ph sz="half" idx="2"/>
          </p:nvPr>
        </p:nvSpPr>
        <p:spPr/>
        <p:txBody>
          <a:bodyPr>
            <a:normAutofit lnSpcReduction="10000"/>
          </a:bodyPr>
          <a:lstStyle/>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&lt;h2</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class</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"info"</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&lt;/h2&gt;</a:t>
            </a:r>
          </a:p>
          <a:p>
            <a:pPr marL="0" lvl="0" indent="0" eaLnBrk="0" fontAlgn="base" hangingPunct="0">
              <a:lnSpc>
                <a:spcPct val="100000"/>
              </a:lnSpc>
              <a:spcBef>
                <a:spcPct val="0"/>
              </a:spcBef>
              <a:spcAft>
                <a:spcPct val="0"/>
              </a:spcAft>
              <a:buNone/>
            </a:pPr>
            <a:endParaRPr lang="en-US" altLang="en-US"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&lt;p&gt;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p>
          <a:p>
            <a:pPr marL="0" lvl="0" indent="0" eaLnBrk="0" fontAlgn="base" hangingPunct="0">
              <a:lnSpc>
                <a:spcPct val="100000"/>
              </a:lnSpc>
              <a:spcBef>
                <a:spcPct val="0"/>
              </a:spcBef>
              <a:spcAft>
                <a:spcPct val="0"/>
              </a:spcAft>
              <a:buNone/>
            </a:pPr>
            <a:endParaRPr lang="en-US" altLang="en-US"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&lt;p</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class</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"info"</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endParaRPr lang="en-US" altLang="en-US" sz="4000" dirty="0">
              <a:latin typeface="Arial" panose="020B0604020202020204" pitchFamily="34" charset="0"/>
            </a:endParaRPr>
          </a:p>
        </p:txBody>
      </p:sp>
      <p:sp>
        <p:nvSpPr>
          <p:cNvPr id="5" name="Text Placeholder 4">
            <a:extLst>
              <a:ext uri="{FF2B5EF4-FFF2-40B4-BE49-F238E27FC236}">
                <a16:creationId xmlns:a16="http://schemas.microsoft.com/office/drawing/2014/main" id="{526FC336-C4B3-4207-854E-7EDD67E7B0FA}"/>
              </a:ext>
            </a:extLst>
          </p:cNvPr>
          <p:cNvSpPr>
            <a:spLocks noGrp="1"/>
          </p:cNvSpPr>
          <p:nvPr>
            <p:ph type="body" sz="quarter" idx="3"/>
          </p:nvPr>
        </p:nvSpPr>
        <p:spPr/>
        <p:txBody>
          <a:bodyPr>
            <a:normAutofit/>
          </a:bodyPr>
          <a:lstStyle/>
          <a:p>
            <a:r>
              <a:rPr lang="en-GB" sz="3200" dirty="0"/>
              <a:t>CSS</a:t>
            </a:r>
          </a:p>
        </p:txBody>
      </p:sp>
      <p:sp>
        <p:nvSpPr>
          <p:cNvPr id="6" name="Content Placeholder 5">
            <a:extLst>
              <a:ext uri="{FF2B5EF4-FFF2-40B4-BE49-F238E27FC236}">
                <a16:creationId xmlns:a16="http://schemas.microsoft.com/office/drawing/2014/main" id="{8CEED167-685E-4FFD-8142-9EC45A19F237}"/>
              </a:ext>
            </a:extLst>
          </p:cNvPr>
          <p:cNvSpPr>
            <a:spLocks noGrp="1"/>
          </p:cNvSpPr>
          <p:nvPr>
            <p:ph sz="quarter" idx="4"/>
          </p:nvPr>
        </p:nvSpPr>
        <p:spPr/>
        <p:txBody>
          <a:bodyPr>
            <a:normAutofit lnSpcReduction="10000"/>
          </a:bodyPr>
          <a:lstStyle/>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Tags */</a:t>
            </a:r>
          </a:p>
          <a:p>
            <a:pPr marL="0" lvl="0" indent="0" eaLnBrk="0" fontAlgn="base" hangingPunct="0">
              <a:lnSpc>
                <a:spcPct val="100000"/>
              </a:lnSpc>
              <a:spcBef>
                <a:spcPct val="0"/>
              </a:spcBef>
              <a:spcAft>
                <a:spcPct val="0"/>
              </a:spcAft>
              <a:buNone/>
            </a:pPr>
            <a:r>
              <a:rPr lang="en-US" altLang="en-US" dirty="0">
                <a:solidFill>
                  <a:srgbClr val="000000"/>
                </a:solidFill>
                <a:latin typeface="Consolas" panose="020B0609020204030204" pitchFamily="49" charset="0"/>
              </a:rPr>
              <a:t>h2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blue;}</a:t>
            </a:r>
          </a:p>
          <a:p>
            <a:pPr marL="0" lvl="0" indent="0" eaLnBrk="0" fontAlgn="base" hangingPunct="0">
              <a:lnSpc>
                <a:spcPct val="100000"/>
              </a:lnSpc>
              <a:spcBef>
                <a:spcPct val="0"/>
              </a:spcBef>
              <a:spcAft>
                <a:spcPct val="0"/>
              </a:spcAft>
              <a:buNone/>
            </a:pP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Consolas" panose="020B0609020204030204" pitchFamily="49" charset="0"/>
              </a:rPr>
              <a:t>p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green;}</a:t>
            </a:r>
          </a:p>
          <a:p>
            <a:pPr marL="0" lvl="0" indent="0" eaLnBrk="0" fontAlgn="base" hangingPunct="0">
              <a:lnSpc>
                <a:spcPct val="100000"/>
              </a:lnSpc>
              <a:spcBef>
                <a:spcPct val="0"/>
              </a:spcBef>
              <a:spcAft>
                <a:spcPct val="0"/>
              </a:spcAft>
              <a:buNone/>
            </a:pP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Class */</a:t>
            </a: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0086B3"/>
                </a:solidFill>
                <a:latin typeface="Consolas" panose="020B0609020204030204" pitchFamily="49" charset="0"/>
              </a:rPr>
              <a:t>.info</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red;}</a:t>
            </a:r>
            <a:endParaRPr lang="en-US" altLang="en-US" sz="4000" dirty="0">
              <a:latin typeface="Arial" panose="020B0604020202020204" pitchFamily="34" charset="0"/>
            </a:endParaRPr>
          </a:p>
        </p:txBody>
      </p:sp>
      <p:sp>
        <p:nvSpPr>
          <p:cNvPr id="7" name="TextBox 6">
            <a:extLst>
              <a:ext uri="{FF2B5EF4-FFF2-40B4-BE49-F238E27FC236}">
                <a16:creationId xmlns:a16="http://schemas.microsoft.com/office/drawing/2014/main" id="{D3BF4973-1880-4001-941D-3816D0C8D668}"/>
              </a:ext>
            </a:extLst>
          </p:cNvPr>
          <p:cNvSpPr txBox="1"/>
          <p:nvPr/>
        </p:nvSpPr>
        <p:spPr>
          <a:xfrm>
            <a:off x="6096000" y="365125"/>
            <a:ext cx="5157785" cy="1200329"/>
          </a:xfrm>
          <a:prstGeom prst="rect">
            <a:avLst/>
          </a:prstGeom>
          <a:noFill/>
        </p:spPr>
        <p:txBody>
          <a:bodyPr wrap="square" rtlCol="0">
            <a:spAutoFit/>
          </a:bodyPr>
          <a:lstStyle/>
          <a:p>
            <a:r>
              <a:rPr lang="en-GB" sz="3600" dirty="0"/>
              <a:t>A </a:t>
            </a:r>
            <a:r>
              <a:rPr lang="en-GB" sz="3600" dirty="0">
                <a:latin typeface="Consolas" panose="020B0609020204030204" pitchFamily="49" charset="0"/>
              </a:rPr>
              <a:t>class</a:t>
            </a:r>
            <a:r>
              <a:rPr lang="en-GB" sz="3600" dirty="0"/>
              <a:t> can be used </a:t>
            </a:r>
            <a:r>
              <a:rPr lang="en-GB" sz="3600" i="1" dirty="0">
                <a:solidFill>
                  <a:srgbClr val="FF0000"/>
                </a:solidFill>
              </a:rPr>
              <a:t>more than once</a:t>
            </a:r>
            <a:r>
              <a:rPr lang="en-GB" sz="3600" dirty="0"/>
              <a:t> on a page.</a:t>
            </a:r>
            <a:endParaRPr lang="en-GB" sz="3600" i="1" dirty="0">
              <a:solidFill>
                <a:srgbClr val="7030A0"/>
              </a:solidFill>
              <a:latin typeface="Consolas" panose="020B0609020204030204" pitchFamily="49" charset="0"/>
            </a:endParaRPr>
          </a:p>
        </p:txBody>
      </p:sp>
      <p:sp>
        <p:nvSpPr>
          <p:cNvPr id="8" name="Callout: Bent Line with No Border 7">
            <a:extLst>
              <a:ext uri="{FF2B5EF4-FFF2-40B4-BE49-F238E27FC236}">
                <a16:creationId xmlns:a16="http://schemas.microsoft.com/office/drawing/2014/main" id="{5B6DD050-1C75-4D21-B592-10CBA4384D84}"/>
              </a:ext>
            </a:extLst>
          </p:cNvPr>
          <p:cNvSpPr/>
          <p:nvPr/>
        </p:nvSpPr>
        <p:spPr>
          <a:xfrm>
            <a:off x="3308165" y="1027906"/>
            <a:ext cx="3539000" cy="862642"/>
          </a:xfrm>
          <a:prstGeom prst="callout2">
            <a:avLst>
              <a:gd name="adj1" fmla="val 49217"/>
              <a:gd name="adj2" fmla="val -30"/>
              <a:gd name="adj3" fmla="val 49740"/>
              <a:gd name="adj4" fmla="val -12980"/>
              <a:gd name="adj5" fmla="val 186225"/>
              <a:gd name="adj6" fmla="val -311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Attribute</a:t>
            </a:r>
          </a:p>
        </p:txBody>
      </p:sp>
      <p:sp>
        <p:nvSpPr>
          <p:cNvPr id="9" name="Callout: Bent Line with No Border 8">
            <a:extLst>
              <a:ext uri="{FF2B5EF4-FFF2-40B4-BE49-F238E27FC236}">
                <a16:creationId xmlns:a16="http://schemas.microsoft.com/office/drawing/2014/main" id="{B930CECD-BB3F-4B96-AF7D-ED8BB0B8FB4E}"/>
              </a:ext>
            </a:extLst>
          </p:cNvPr>
          <p:cNvSpPr/>
          <p:nvPr/>
        </p:nvSpPr>
        <p:spPr>
          <a:xfrm>
            <a:off x="4573211" y="1472380"/>
            <a:ext cx="3539000" cy="862642"/>
          </a:xfrm>
          <a:prstGeom prst="callout2">
            <a:avLst>
              <a:gd name="adj1" fmla="val 49217"/>
              <a:gd name="adj2" fmla="val -30"/>
              <a:gd name="adj3" fmla="val 49740"/>
              <a:gd name="adj4" fmla="val -17519"/>
              <a:gd name="adj5" fmla="val 121766"/>
              <a:gd name="adj6" fmla="val -28368"/>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Value</a:t>
            </a:r>
          </a:p>
        </p:txBody>
      </p:sp>
      <p:sp>
        <p:nvSpPr>
          <p:cNvPr id="10" name="Callout: Bent Line with No Border 9">
            <a:extLst>
              <a:ext uri="{FF2B5EF4-FFF2-40B4-BE49-F238E27FC236}">
                <a16:creationId xmlns:a16="http://schemas.microsoft.com/office/drawing/2014/main" id="{C60E4BB0-19B9-4CDE-AB5C-43F0B73F6B1B}"/>
              </a:ext>
            </a:extLst>
          </p:cNvPr>
          <p:cNvSpPr/>
          <p:nvPr/>
        </p:nvSpPr>
        <p:spPr>
          <a:xfrm flipH="1">
            <a:off x="7404204" y="5385620"/>
            <a:ext cx="3172504" cy="862642"/>
          </a:xfrm>
          <a:prstGeom prst="callout2">
            <a:avLst>
              <a:gd name="adj1" fmla="val 50130"/>
              <a:gd name="adj2" fmla="val 99866"/>
              <a:gd name="adj3" fmla="val 49969"/>
              <a:gd name="adj4" fmla="val 119015"/>
              <a:gd name="adj5" fmla="val -12453"/>
              <a:gd name="adj6" fmla="val 13012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Dot - Class name</a:t>
            </a:r>
          </a:p>
        </p:txBody>
      </p:sp>
      <p:sp>
        <p:nvSpPr>
          <p:cNvPr id="11" name="Arrow: Right 10">
            <a:extLst>
              <a:ext uri="{FF2B5EF4-FFF2-40B4-BE49-F238E27FC236}">
                <a16:creationId xmlns:a16="http://schemas.microsoft.com/office/drawing/2014/main" id="{75875090-A387-4580-B69F-35EFDE4E48EB}"/>
              </a:ext>
            </a:extLst>
          </p:cNvPr>
          <p:cNvSpPr/>
          <p:nvPr/>
        </p:nvSpPr>
        <p:spPr>
          <a:xfrm>
            <a:off x="186948" y="5263011"/>
            <a:ext cx="540000" cy="360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id="{73582D96-E5E4-4E68-81C6-4DD002666F40}"/>
              </a:ext>
            </a:extLst>
          </p:cNvPr>
          <p:cNvSpPr/>
          <p:nvPr/>
        </p:nvSpPr>
        <p:spPr>
          <a:xfrm>
            <a:off x="186948" y="2570429"/>
            <a:ext cx="540000" cy="360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0883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000"/>
                                        <p:tgtEl>
                                          <p:spTgt spid="8"/>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10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wipe(left)">
                                      <p:cBhvr>
                                        <p:cTn id="26" dur="1500"/>
                                        <p:tgtEl>
                                          <p:spTgt spid="4">
                                            <p:txEl>
                                              <p:pRg st="2" end="2"/>
                                            </p:txEl>
                                          </p:spTgt>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wipe(left)">
                                      <p:cBhvr>
                                        <p:cTn id="30" dur="1500"/>
                                        <p:tgtEl>
                                          <p:spTgt spid="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wipe(left)">
                                      <p:cBhvr>
                                        <p:cTn id="35" dur="500"/>
                                        <p:tgtEl>
                                          <p:spTgt spid="5">
                                            <p:txEl>
                                              <p:pRg st="0" end="0"/>
                                            </p:txEl>
                                          </p:spTgt>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wipe(left)">
                                      <p:cBhvr>
                                        <p:cTn id="39" dur="1000"/>
                                        <p:tgtEl>
                                          <p:spTgt spid="6">
                                            <p:txEl>
                                              <p:pRg st="0" end="0"/>
                                            </p:txEl>
                                          </p:spTgt>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animEffect transition="in" filter="wipe(left)">
                                      <p:cBhvr>
                                        <p:cTn id="43" dur="1000"/>
                                        <p:tgtEl>
                                          <p:spTgt spid="6">
                                            <p:txEl>
                                              <p:pRg st="1" end="1"/>
                                            </p:txEl>
                                          </p:spTgt>
                                        </p:tgtEl>
                                      </p:cBhvr>
                                    </p:animEffect>
                                  </p:childTnLst>
                                </p:cTn>
                              </p:par>
                            </p:childTnLst>
                          </p:cTn>
                        </p:par>
                        <p:par>
                          <p:cTn id="44" fill="hold">
                            <p:stCondLst>
                              <p:cond delay="2500"/>
                            </p:stCondLst>
                            <p:childTnLst>
                              <p:par>
                                <p:cTn id="45" presetID="22" presetClass="entr" presetSubtype="8" fill="hold" grpId="0" nodeType="after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wipe(left)">
                                      <p:cBhvr>
                                        <p:cTn id="47" dur="1000"/>
                                        <p:tgtEl>
                                          <p:spTgt spid="6">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5" end="5"/>
                                            </p:txEl>
                                          </p:spTgt>
                                        </p:tgtEl>
                                        <p:attrNameLst>
                                          <p:attrName>style.visibility</p:attrName>
                                        </p:attrNameLst>
                                      </p:cBhvr>
                                      <p:to>
                                        <p:strVal val="visible"/>
                                      </p:to>
                                    </p:set>
                                    <p:animEffect transition="in" filter="wipe(left)">
                                      <p:cBhvr>
                                        <p:cTn id="52" dur="1000"/>
                                        <p:tgtEl>
                                          <p:spTgt spid="6">
                                            <p:txEl>
                                              <p:pRg st="5" end="5"/>
                                            </p:txEl>
                                          </p:spTgt>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6">
                                            <p:txEl>
                                              <p:pRg st="6" end="6"/>
                                            </p:txEl>
                                          </p:spTgt>
                                        </p:tgtEl>
                                        <p:attrNameLst>
                                          <p:attrName>style.visibility</p:attrName>
                                        </p:attrNameLst>
                                      </p:cBhvr>
                                      <p:to>
                                        <p:strVal val="visible"/>
                                      </p:to>
                                    </p:set>
                                    <p:animEffect transition="in" filter="wipe(left)">
                                      <p:cBhvr>
                                        <p:cTn id="56" dur="1000"/>
                                        <p:tgtEl>
                                          <p:spTgt spid="6">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wipe(left)">
                                      <p:cBhvr>
                                        <p:cTn id="61" dur="10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7">
                                            <p:txEl>
                                              <p:pRg st="0" end="0"/>
                                            </p:txEl>
                                          </p:spTgt>
                                        </p:tgtEl>
                                        <p:attrNameLst>
                                          <p:attrName>style.visibility</p:attrName>
                                        </p:attrNameLst>
                                      </p:cBhvr>
                                      <p:to>
                                        <p:strVal val="visible"/>
                                      </p:to>
                                    </p:set>
                                    <p:animEffect transition="in" filter="wipe(left)">
                                      <p:cBhvr>
                                        <p:cTn id="66" dur="2000"/>
                                        <p:tgtEl>
                                          <p:spTgt spid="7">
                                            <p:txEl>
                                              <p:pRg st="0" end="0"/>
                                            </p:txEl>
                                          </p:spTgt>
                                        </p:tgtEl>
                                      </p:cBhvr>
                                    </p:animEffect>
                                  </p:childTnLst>
                                </p:cTn>
                              </p:par>
                            </p:childTnLst>
                          </p:cTn>
                        </p:par>
                        <p:par>
                          <p:cTn id="67" fill="hold">
                            <p:stCondLst>
                              <p:cond delay="2000"/>
                            </p:stCondLst>
                            <p:childTnLst>
                              <p:par>
                                <p:cTn id="68" presetID="22" presetClass="entr" presetSubtype="8" fill="hold" grpId="0" nodeType="after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left)">
                                      <p:cBhvr>
                                        <p:cTn id="70" dur="500"/>
                                        <p:tgtEl>
                                          <p:spTgt spid="12"/>
                                        </p:tgtEl>
                                      </p:cBhvr>
                                    </p:animEffect>
                                  </p:childTnLst>
                                </p:cTn>
                              </p:par>
                            </p:childTnLst>
                          </p:cTn>
                        </p:par>
                        <p:par>
                          <p:cTn id="71" fill="hold">
                            <p:stCondLst>
                              <p:cond delay="2500"/>
                            </p:stCondLst>
                            <p:childTnLst>
                              <p:par>
                                <p:cTn id="72" presetID="22" presetClass="entr" presetSubtype="8" fill="hold" grpId="0" nodeType="after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left)">
                                      <p:cBhvr>
                                        <p:cTn id="7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P spid="7" grpId="0" build="p"/>
      <p:bldP spid="8" grpId="0" animBg="1"/>
      <p:bldP spid="9" grpId="0" animBg="1"/>
      <p:bldP spid="10" grpId="0" animBg="1"/>
      <p:bldP spid="11" grpId="0" animBg="1"/>
      <p:bldP spid="12"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F94F-2736-4110-9A3C-0FE48826A130}"/>
              </a:ext>
            </a:extLst>
          </p:cNvPr>
          <p:cNvSpPr>
            <a:spLocks noGrp="1"/>
          </p:cNvSpPr>
          <p:nvPr>
            <p:ph type="title"/>
          </p:nvPr>
        </p:nvSpPr>
        <p:spPr/>
        <p:txBody>
          <a:bodyPr/>
          <a:lstStyle/>
          <a:p>
            <a:r>
              <a:rPr lang="en-GB" dirty="0"/>
              <a:t>Class</a:t>
            </a:r>
          </a:p>
        </p:txBody>
      </p:sp>
      <p:sp>
        <p:nvSpPr>
          <p:cNvPr id="3" name="Text Placeholder 2">
            <a:extLst>
              <a:ext uri="{FF2B5EF4-FFF2-40B4-BE49-F238E27FC236}">
                <a16:creationId xmlns:a16="http://schemas.microsoft.com/office/drawing/2014/main" id="{6F7071BB-A7AC-4E89-8434-BFA476BA348F}"/>
              </a:ext>
            </a:extLst>
          </p:cNvPr>
          <p:cNvSpPr>
            <a:spLocks noGrp="1"/>
          </p:cNvSpPr>
          <p:nvPr>
            <p:ph type="body" idx="1"/>
          </p:nvPr>
        </p:nvSpPr>
        <p:spPr/>
        <p:txBody>
          <a:bodyPr>
            <a:normAutofit/>
          </a:bodyPr>
          <a:lstStyle/>
          <a:p>
            <a:r>
              <a:rPr lang="en-GB" sz="3200" dirty="0"/>
              <a:t>HTML</a:t>
            </a:r>
          </a:p>
        </p:txBody>
      </p:sp>
      <p:sp>
        <p:nvSpPr>
          <p:cNvPr id="4" name="Content Placeholder 3">
            <a:extLst>
              <a:ext uri="{FF2B5EF4-FFF2-40B4-BE49-F238E27FC236}">
                <a16:creationId xmlns:a16="http://schemas.microsoft.com/office/drawing/2014/main" id="{19362E45-FBA8-4F0C-9D8E-A4A4CFD14F53}"/>
              </a:ext>
            </a:extLst>
          </p:cNvPr>
          <p:cNvSpPr>
            <a:spLocks noGrp="1"/>
          </p:cNvSpPr>
          <p:nvPr>
            <p:ph sz="half" idx="2"/>
          </p:nvPr>
        </p:nvSpPr>
        <p:spPr/>
        <p:txBody>
          <a:bodyPr>
            <a:normAutofit lnSpcReduction="10000"/>
          </a:bodyPr>
          <a:lstStyle/>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&lt;h2</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class</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"info"</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&lt;/h2&gt;</a:t>
            </a:r>
          </a:p>
          <a:p>
            <a:pPr marL="0" lvl="0" indent="0" eaLnBrk="0" fontAlgn="base" hangingPunct="0">
              <a:lnSpc>
                <a:spcPct val="100000"/>
              </a:lnSpc>
              <a:spcBef>
                <a:spcPct val="0"/>
              </a:spcBef>
              <a:spcAft>
                <a:spcPct val="0"/>
              </a:spcAft>
              <a:buNone/>
            </a:pPr>
            <a:endParaRPr lang="en-US" altLang="en-US"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&lt;p&gt;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p>
          <a:p>
            <a:pPr marL="0" lvl="0" indent="0" eaLnBrk="0" fontAlgn="base" hangingPunct="0">
              <a:lnSpc>
                <a:spcPct val="100000"/>
              </a:lnSpc>
              <a:spcBef>
                <a:spcPct val="0"/>
              </a:spcBef>
              <a:spcAft>
                <a:spcPct val="0"/>
              </a:spcAft>
              <a:buNone/>
            </a:pPr>
            <a:endParaRPr lang="en-US" altLang="en-US"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&lt;p</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class</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"info"</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endParaRPr lang="en-US" altLang="en-US" sz="4000" dirty="0">
              <a:latin typeface="Arial" panose="020B0604020202020204" pitchFamily="34" charset="0"/>
            </a:endParaRPr>
          </a:p>
        </p:txBody>
      </p:sp>
      <p:sp>
        <p:nvSpPr>
          <p:cNvPr id="5" name="Text Placeholder 4">
            <a:extLst>
              <a:ext uri="{FF2B5EF4-FFF2-40B4-BE49-F238E27FC236}">
                <a16:creationId xmlns:a16="http://schemas.microsoft.com/office/drawing/2014/main" id="{526FC336-C4B3-4207-854E-7EDD67E7B0FA}"/>
              </a:ext>
            </a:extLst>
          </p:cNvPr>
          <p:cNvSpPr>
            <a:spLocks noGrp="1"/>
          </p:cNvSpPr>
          <p:nvPr>
            <p:ph type="body" sz="quarter" idx="3"/>
          </p:nvPr>
        </p:nvSpPr>
        <p:spPr/>
        <p:txBody>
          <a:bodyPr>
            <a:normAutofit/>
          </a:bodyPr>
          <a:lstStyle/>
          <a:p>
            <a:r>
              <a:rPr lang="en-GB" sz="3200" dirty="0"/>
              <a:t>CSS</a:t>
            </a:r>
          </a:p>
        </p:txBody>
      </p:sp>
      <p:sp>
        <p:nvSpPr>
          <p:cNvPr id="6" name="Content Placeholder 5">
            <a:extLst>
              <a:ext uri="{FF2B5EF4-FFF2-40B4-BE49-F238E27FC236}">
                <a16:creationId xmlns:a16="http://schemas.microsoft.com/office/drawing/2014/main" id="{8CEED167-685E-4FFD-8142-9EC45A19F237}"/>
              </a:ext>
            </a:extLst>
          </p:cNvPr>
          <p:cNvSpPr>
            <a:spLocks noGrp="1"/>
          </p:cNvSpPr>
          <p:nvPr>
            <p:ph sz="quarter" idx="4"/>
          </p:nvPr>
        </p:nvSpPr>
        <p:spPr/>
        <p:txBody>
          <a:bodyPr>
            <a:normAutofit lnSpcReduction="10000"/>
          </a:bodyPr>
          <a:lstStyle/>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Tags */</a:t>
            </a:r>
          </a:p>
          <a:p>
            <a:pPr marL="0" lvl="0" indent="0" eaLnBrk="0" fontAlgn="base" hangingPunct="0">
              <a:lnSpc>
                <a:spcPct val="100000"/>
              </a:lnSpc>
              <a:spcBef>
                <a:spcPct val="0"/>
              </a:spcBef>
              <a:spcAft>
                <a:spcPct val="0"/>
              </a:spcAft>
              <a:buNone/>
            </a:pPr>
            <a:r>
              <a:rPr lang="en-US" altLang="en-US" dirty="0">
                <a:solidFill>
                  <a:srgbClr val="000000"/>
                </a:solidFill>
                <a:latin typeface="Consolas" panose="020B0609020204030204" pitchFamily="49" charset="0"/>
              </a:rPr>
              <a:t>h2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blue;}</a:t>
            </a:r>
          </a:p>
          <a:p>
            <a:pPr marL="0" lvl="0" indent="0" eaLnBrk="0" fontAlgn="base" hangingPunct="0">
              <a:lnSpc>
                <a:spcPct val="100000"/>
              </a:lnSpc>
              <a:spcBef>
                <a:spcPct val="0"/>
              </a:spcBef>
              <a:spcAft>
                <a:spcPct val="0"/>
              </a:spcAft>
              <a:buNone/>
            </a:pP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Consolas" panose="020B0609020204030204" pitchFamily="49" charset="0"/>
              </a:rPr>
              <a:t>p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green;}</a:t>
            </a:r>
          </a:p>
          <a:p>
            <a:pPr marL="0" lvl="0" indent="0" eaLnBrk="0" fontAlgn="base" hangingPunct="0">
              <a:lnSpc>
                <a:spcPct val="100000"/>
              </a:lnSpc>
              <a:spcBef>
                <a:spcPct val="0"/>
              </a:spcBef>
              <a:spcAft>
                <a:spcPct val="0"/>
              </a:spcAft>
              <a:buNone/>
            </a:pP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Class */</a:t>
            </a: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0086B3"/>
                </a:solidFill>
                <a:latin typeface="Consolas" panose="020B0609020204030204" pitchFamily="49" charset="0"/>
              </a:rPr>
              <a:t>.info</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red;}</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37058351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F94F-2736-4110-9A3C-0FE48826A130}"/>
              </a:ext>
            </a:extLst>
          </p:cNvPr>
          <p:cNvSpPr>
            <a:spLocks noGrp="1"/>
          </p:cNvSpPr>
          <p:nvPr>
            <p:ph type="title"/>
          </p:nvPr>
        </p:nvSpPr>
        <p:spPr/>
        <p:txBody>
          <a:bodyPr/>
          <a:lstStyle/>
          <a:p>
            <a:r>
              <a:rPr lang="en-GB" dirty="0"/>
              <a:t>ID</a:t>
            </a:r>
          </a:p>
        </p:txBody>
      </p:sp>
      <p:sp>
        <p:nvSpPr>
          <p:cNvPr id="3" name="Text Placeholder 2">
            <a:extLst>
              <a:ext uri="{FF2B5EF4-FFF2-40B4-BE49-F238E27FC236}">
                <a16:creationId xmlns:a16="http://schemas.microsoft.com/office/drawing/2014/main" id="{6F7071BB-A7AC-4E89-8434-BFA476BA348F}"/>
              </a:ext>
            </a:extLst>
          </p:cNvPr>
          <p:cNvSpPr>
            <a:spLocks noGrp="1"/>
          </p:cNvSpPr>
          <p:nvPr>
            <p:ph type="body" idx="1"/>
          </p:nvPr>
        </p:nvSpPr>
        <p:spPr>
          <a:xfrm>
            <a:off x="839788" y="1681163"/>
            <a:ext cx="5157787" cy="823912"/>
          </a:xfrm>
        </p:spPr>
        <p:txBody>
          <a:bodyPr>
            <a:normAutofit/>
          </a:bodyPr>
          <a:lstStyle/>
          <a:p>
            <a:r>
              <a:rPr lang="en-GB" sz="3200" dirty="0"/>
              <a:t>HTML</a:t>
            </a:r>
          </a:p>
        </p:txBody>
      </p:sp>
      <p:sp>
        <p:nvSpPr>
          <p:cNvPr id="4" name="Content Placeholder 3">
            <a:extLst>
              <a:ext uri="{FF2B5EF4-FFF2-40B4-BE49-F238E27FC236}">
                <a16:creationId xmlns:a16="http://schemas.microsoft.com/office/drawing/2014/main" id="{19362E45-FBA8-4F0C-9D8E-A4A4CFD14F53}"/>
              </a:ext>
            </a:extLst>
          </p:cNvPr>
          <p:cNvSpPr>
            <a:spLocks noGrp="1"/>
          </p:cNvSpPr>
          <p:nvPr>
            <p:ph sz="half" idx="2"/>
          </p:nvPr>
        </p:nvSpPr>
        <p:spPr/>
        <p:txBody>
          <a:bodyPr>
            <a:noAutofit/>
          </a:bodyPr>
          <a:lstStyle/>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&lt;h2&gt;</a:t>
            </a:r>
            <a:r>
              <a:rPr lang="en-US" altLang="en-US" dirty="0">
                <a:solidFill>
                  <a:srgbClr val="000000"/>
                </a:solidFill>
                <a:latin typeface="Consolas" panose="020B0609020204030204" pitchFamily="49" charset="0"/>
              </a:rPr>
              <a:t> Some text to show on the screen</a:t>
            </a:r>
            <a:r>
              <a:rPr lang="en-US" altLang="en-US" dirty="0">
                <a:solidFill>
                  <a:srgbClr val="A71D5D"/>
                </a:solidFill>
                <a:latin typeface="Consolas" panose="020B0609020204030204" pitchFamily="49" charset="0"/>
              </a:rPr>
              <a:t>&lt;/h2&gt;</a:t>
            </a:r>
          </a:p>
          <a:p>
            <a:pPr marL="0" lvl="0" indent="0" eaLnBrk="0" fontAlgn="base" hangingPunct="0">
              <a:lnSpc>
                <a:spcPct val="100000"/>
              </a:lnSpc>
              <a:spcBef>
                <a:spcPct val="0"/>
              </a:spcBef>
              <a:spcAft>
                <a:spcPct val="0"/>
              </a:spcAft>
              <a:buNone/>
            </a:pPr>
            <a:endParaRPr lang="en-US" altLang="en-US" dirty="0">
              <a:solidFill>
                <a:srgbClr val="A71D5D"/>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&lt;p</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id</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"main"</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A71D5D"/>
                </a:solidFill>
                <a:latin typeface="Consolas" panose="020B0609020204030204" pitchFamily="49" charset="0"/>
              </a:rPr>
              <a:t>&lt;p&gt;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endParaRPr lang="en-US" altLang="en-US" sz="4000" dirty="0">
              <a:latin typeface="Arial" panose="020B0604020202020204" pitchFamily="34" charset="0"/>
            </a:endParaRPr>
          </a:p>
        </p:txBody>
      </p:sp>
      <p:sp>
        <p:nvSpPr>
          <p:cNvPr id="5" name="Text Placeholder 4">
            <a:extLst>
              <a:ext uri="{FF2B5EF4-FFF2-40B4-BE49-F238E27FC236}">
                <a16:creationId xmlns:a16="http://schemas.microsoft.com/office/drawing/2014/main" id="{526FC336-C4B3-4207-854E-7EDD67E7B0FA}"/>
              </a:ext>
            </a:extLst>
          </p:cNvPr>
          <p:cNvSpPr>
            <a:spLocks noGrp="1"/>
          </p:cNvSpPr>
          <p:nvPr>
            <p:ph type="body" sz="quarter" idx="3"/>
          </p:nvPr>
        </p:nvSpPr>
        <p:spPr/>
        <p:txBody>
          <a:bodyPr>
            <a:normAutofit/>
          </a:bodyPr>
          <a:lstStyle/>
          <a:p>
            <a:r>
              <a:rPr lang="en-GB" sz="3200" dirty="0"/>
              <a:t>CSS</a:t>
            </a:r>
          </a:p>
        </p:txBody>
      </p:sp>
      <p:sp>
        <p:nvSpPr>
          <p:cNvPr id="6" name="Content Placeholder 5">
            <a:extLst>
              <a:ext uri="{FF2B5EF4-FFF2-40B4-BE49-F238E27FC236}">
                <a16:creationId xmlns:a16="http://schemas.microsoft.com/office/drawing/2014/main" id="{8CEED167-685E-4FFD-8142-9EC45A19F237}"/>
              </a:ext>
            </a:extLst>
          </p:cNvPr>
          <p:cNvSpPr>
            <a:spLocks noGrp="1"/>
          </p:cNvSpPr>
          <p:nvPr>
            <p:ph sz="quarter" idx="4"/>
          </p:nvPr>
        </p:nvSpPr>
        <p:spPr/>
        <p:txBody>
          <a:bodyPr>
            <a:normAutofit/>
          </a:bodyPr>
          <a:lstStyle/>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Tags */</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h2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blue;}</a:t>
            </a:r>
          </a:p>
          <a:p>
            <a:pPr marL="0" lvl="0" indent="0" eaLnBrk="0" fontAlgn="base" hangingPunct="0">
              <a:lnSpc>
                <a:spcPct val="100000"/>
              </a:lnSpc>
              <a:spcBef>
                <a:spcPct val="0"/>
              </a:spcBef>
              <a:spcAft>
                <a:spcPct val="0"/>
              </a:spcAft>
              <a:buNone/>
            </a:pPr>
            <a:endParaRPr lang="en-US" altLang="en-US" dirty="0">
              <a:solidFill>
                <a:srgbClr val="000000"/>
              </a:solidFill>
              <a:latin typeface="Consolas" panose="020B0609020204030204" pitchFamily="49" charset="0"/>
            </a:endParaRPr>
          </a:p>
          <a:p>
            <a:pPr marL="0" lvl="0" indent="0" eaLnBrk="0" fontAlgn="base" hangingPunct="0">
              <a:lnSpc>
                <a:spcPct val="100000"/>
              </a:lnSpc>
              <a:spcBef>
                <a:spcPct val="0"/>
              </a:spcBef>
              <a:spcAft>
                <a:spcPct val="0"/>
              </a:spcAft>
              <a:buNone/>
            </a:pPr>
            <a:r>
              <a:rPr lang="en-US" altLang="en-US" dirty="0">
                <a:solidFill>
                  <a:srgbClr val="000000"/>
                </a:solidFill>
                <a:latin typeface="Consolas" panose="020B0609020204030204" pitchFamily="49" charset="0"/>
              </a:rPr>
              <a:t>p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green;}</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969896"/>
                </a:solidFill>
                <a:latin typeface="Consolas" panose="020B0609020204030204" pitchFamily="49" charset="0"/>
              </a:rPr>
              <a:t>/* IDs */</a:t>
            </a:r>
            <a:br>
              <a:rPr lang="en-US" altLang="en-US" dirty="0">
                <a:solidFill>
                  <a:srgbClr val="000000"/>
                </a:solidFill>
                <a:latin typeface="Consolas" panose="020B0609020204030204" pitchFamily="49" charset="0"/>
              </a:rPr>
            </a:br>
            <a:r>
              <a:rPr lang="en-US" altLang="en-US" dirty="0">
                <a:solidFill>
                  <a:srgbClr val="0086B3"/>
                </a:solidFill>
                <a:latin typeface="Consolas" panose="020B0609020204030204" pitchFamily="49" charset="0"/>
              </a:rPr>
              <a:t>#main</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red;}</a:t>
            </a:r>
            <a:endParaRPr lang="en-US" altLang="en-US" sz="4000" dirty="0">
              <a:latin typeface="Arial" panose="020B0604020202020204" pitchFamily="34" charset="0"/>
            </a:endParaRPr>
          </a:p>
        </p:txBody>
      </p:sp>
      <p:sp>
        <p:nvSpPr>
          <p:cNvPr id="7" name="TextBox 6">
            <a:extLst>
              <a:ext uri="{FF2B5EF4-FFF2-40B4-BE49-F238E27FC236}">
                <a16:creationId xmlns:a16="http://schemas.microsoft.com/office/drawing/2014/main" id="{D3BF4973-1880-4001-941D-3816D0C8D668}"/>
              </a:ext>
            </a:extLst>
          </p:cNvPr>
          <p:cNvSpPr txBox="1"/>
          <p:nvPr/>
        </p:nvSpPr>
        <p:spPr>
          <a:xfrm>
            <a:off x="6096000" y="365125"/>
            <a:ext cx="5157785" cy="1200329"/>
          </a:xfrm>
          <a:prstGeom prst="rect">
            <a:avLst/>
          </a:prstGeom>
          <a:noFill/>
        </p:spPr>
        <p:txBody>
          <a:bodyPr wrap="square" rtlCol="0">
            <a:spAutoFit/>
          </a:bodyPr>
          <a:lstStyle/>
          <a:p>
            <a:r>
              <a:rPr lang="en-GB" sz="3600" dirty="0"/>
              <a:t>An </a:t>
            </a:r>
            <a:r>
              <a:rPr lang="en-GB" sz="3600" dirty="0">
                <a:latin typeface="Consolas" panose="020B0609020204030204" pitchFamily="49" charset="0"/>
              </a:rPr>
              <a:t>ID</a:t>
            </a:r>
            <a:r>
              <a:rPr lang="en-GB" sz="3600" dirty="0"/>
              <a:t> can be used </a:t>
            </a:r>
            <a:r>
              <a:rPr lang="en-GB" sz="3600" i="1" dirty="0">
                <a:solidFill>
                  <a:srgbClr val="FF0000"/>
                </a:solidFill>
              </a:rPr>
              <a:t>only once</a:t>
            </a:r>
            <a:r>
              <a:rPr lang="en-GB" sz="3600" dirty="0"/>
              <a:t> on a page.</a:t>
            </a:r>
            <a:endParaRPr lang="en-GB" sz="3600" i="1" dirty="0">
              <a:solidFill>
                <a:srgbClr val="7030A0"/>
              </a:solidFill>
              <a:latin typeface="Consolas" panose="020B0609020204030204" pitchFamily="49" charset="0"/>
            </a:endParaRPr>
          </a:p>
        </p:txBody>
      </p:sp>
      <p:sp>
        <p:nvSpPr>
          <p:cNvPr id="11" name="Callout: Bent Line with No Border 10">
            <a:extLst>
              <a:ext uri="{FF2B5EF4-FFF2-40B4-BE49-F238E27FC236}">
                <a16:creationId xmlns:a16="http://schemas.microsoft.com/office/drawing/2014/main" id="{9099339E-EBA5-47EC-8872-56D0B015D8F4}"/>
              </a:ext>
            </a:extLst>
          </p:cNvPr>
          <p:cNvSpPr/>
          <p:nvPr/>
        </p:nvSpPr>
        <p:spPr>
          <a:xfrm flipH="1">
            <a:off x="7428917" y="5658752"/>
            <a:ext cx="3172504" cy="862642"/>
          </a:xfrm>
          <a:prstGeom prst="callout2">
            <a:avLst>
              <a:gd name="adj1" fmla="val 50130"/>
              <a:gd name="adj2" fmla="val 99866"/>
              <a:gd name="adj3" fmla="val 49969"/>
              <a:gd name="adj4" fmla="val 119015"/>
              <a:gd name="adj5" fmla="val -6723"/>
              <a:gd name="adj6" fmla="val 13129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Hash - ID name</a:t>
            </a:r>
          </a:p>
        </p:txBody>
      </p:sp>
      <p:sp>
        <p:nvSpPr>
          <p:cNvPr id="9" name="Arrow: Right 8">
            <a:extLst>
              <a:ext uri="{FF2B5EF4-FFF2-40B4-BE49-F238E27FC236}">
                <a16:creationId xmlns:a16="http://schemas.microsoft.com/office/drawing/2014/main" id="{9AF0E16B-36B1-4FCD-8F1E-2EED2F7CABE0}"/>
              </a:ext>
            </a:extLst>
          </p:cNvPr>
          <p:cNvSpPr/>
          <p:nvPr/>
        </p:nvSpPr>
        <p:spPr>
          <a:xfrm>
            <a:off x="212476" y="3886835"/>
            <a:ext cx="540000" cy="3600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52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500"/>
                                        <p:tgtEl>
                                          <p:spTgt spid="4">
                                            <p:txEl>
                                              <p:pRg st="0" end="0"/>
                                            </p:txEl>
                                          </p:spTgt>
                                        </p:tgtEl>
                                      </p:cBhvr>
                                    </p:animEffect>
                                  </p:childTnLst>
                                </p:cTn>
                              </p:par>
                            </p:childTnLst>
                          </p:cTn>
                        </p:par>
                        <p:par>
                          <p:cTn id="13" fill="hold">
                            <p:stCondLst>
                              <p:cond delay="1500"/>
                            </p:stCondLst>
                            <p:childTnLst>
                              <p:par>
                                <p:cTn id="14" presetID="22" presetClass="entr" presetSubtype="8" fill="hold" grpId="0" nodeType="after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wipe(left)">
                                      <p:cBhvr>
                                        <p:cTn id="16" dur="1500"/>
                                        <p:tgtEl>
                                          <p:spTgt spid="4">
                                            <p:txEl>
                                              <p:pRg st="2" end="2"/>
                                            </p:txEl>
                                          </p:spTgt>
                                        </p:tgtEl>
                                      </p:cBhvr>
                                    </p:animEffect>
                                  </p:childTnLst>
                                </p:cTn>
                              </p:par>
                            </p:childTnLst>
                          </p:cTn>
                        </p:par>
                        <p:par>
                          <p:cTn id="17" fill="hold">
                            <p:stCondLst>
                              <p:cond delay="3000"/>
                            </p:stCondLst>
                            <p:childTnLst>
                              <p:par>
                                <p:cTn id="18" presetID="22" presetClass="entr" presetSubtype="8" fill="hold" grpId="0" nodeType="after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1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left)">
                                      <p:cBhvr>
                                        <p:cTn id="25" dur="500"/>
                                        <p:tgtEl>
                                          <p:spTgt spid="5">
                                            <p:txEl>
                                              <p:pRg st="0" end="0"/>
                                            </p:txEl>
                                          </p:spTgt>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wipe(left)">
                                      <p:cBhvr>
                                        <p:cTn id="29" dur="1000"/>
                                        <p:tgtEl>
                                          <p:spTgt spid="6">
                                            <p:txEl>
                                              <p:pRg st="0" end="0"/>
                                            </p:txEl>
                                          </p:spTgt>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wipe(left)">
                                      <p:cBhvr>
                                        <p:cTn id="33" dur="1000"/>
                                        <p:tgtEl>
                                          <p:spTgt spid="6">
                                            <p:txEl>
                                              <p:pRg st="2" end="2"/>
                                            </p:txEl>
                                          </p:spTgt>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Effect transition="in" filter="wipe(left)">
                                      <p:cBhvr>
                                        <p:cTn id="37" dur="1000"/>
                                        <p:tgtEl>
                                          <p:spTgt spid="6">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10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wipe(left)">
                                      <p:cBhvr>
                                        <p:cTn id="47" dur="2000"/>
                                        <p:tgtEl>
                                          <p:spTgt spid="7">
                                            <p:txEl>
                                              <p:pRg st="0" end="0"/>
                                            </p:txEl>
                                          </p:spTgt>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left)">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p:bldP spid="5" grpId="0" build="p"/>
      <p:bldP spid="6" grpId="0" uiExpand="1" build="p"/>
      <p:bldP spid="7" grpId="0" build="p"/>
      <p:bldP spid="11" grpId="0" animBg="1"/>
      <p:bldP spid="9" grpId="0" animBg="1"/>
    </p:bld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F94F-2736-4110-9A3C-0FE48826A130}"/>
              </a:ext>
            </a:extLst>
          </p:cNvPr>
          <p:cNvSpPr>
            <a:spLocks noGrp="1"/>
          </p:cNvSpPr>
          <p:nvPr>
            <p:ph type="title"/>
          </p:nvPr>
        </p:nvSpPr>
        <p:spPr/>
        <p:txBody>
          <a:bodyPr/>
          <a:lstStyle/>
          <a:p>
            <a:r>
              <a:rPr lang="en-GB" dirty="0"/>
              <a:t>ID</a:t>
            </a:r>
          </a:p>
        </p:txBody>
      </p:sp>
      <p:sp>
        <p:nvSpPr>
          <p:cNvPr id="3" name="Text Placeholder 2">
            <a:extLst>
              <a:ext uri="{FF2B5EF4-FFF2-40B4-BE49-F238E27FC236}">
                <a16:creationId xmlns:a16="http://schemas.microsoft.com/office/drawing/2014/main" id="{6F7071BB-A7AC-4E89-8434-BFA476BA348F}"/>
              </a:ext>
            </a:extLst>
          </p:cNvPr>
          <p:cNvSpPr>
            <a:spLocks noGrp="1"/>
          </p:cNvSpPr>
          <p:nvPr>
            <p:ph type="body" idx="1"/>
          </p:nvPr>
        </p:nvSpPr>
        <p:spPr>
          <a:xfrm>
            <a:off x="839788" y="1681163"/>
            <a:ext cx="5157787" cy="823912"/>
          </a:xfrm>
        </p:spPr>
        <p:txBody>
          <a:bodyPr>
            <a:normAutofit/>
          </a:bodyPr>
          <a:lstStyle/>
          <a:p>
            <a:r>
              <a:rPr lang="en-GB" sz="3200" dirty="0"/>
              <a:t>HTML</a:t>
            </a:r>
          </a:p>
        </p:txBody>
      </p:sp>
      <p:sp>
        <p:nvSpPr>
          <p:cNvPr id="4" name="Content Placeholder 3">
            <a:extLst>
              <a:ext uri="{FF2B5EF4-FFF2-40B4-BE49-F238E27FC236}">
                <a16:creationId xmlns:a16="http://schemas.microsoft.com/office/drawing/2014/main" id="{19362E45-FBA8-4F0C-9D8E-A4A4CFD14F53}"/>
              </a:ext>
            </a:extLst>
          </p:cNvPr>
          <p:cNvSpPr>
            <a:spLocks noGrp="1"/>
          </p:cNvSpPr>
          <p:nvPr>
            <p:ph sz="half" idx="2"/>
          </p:nvPr>
        </p:nvSpPr>
        <p:spPr/>
        <p:txBody>
          <a:bodyPr>
            <a:noAutofit/>
          </a:bodyPr>
          <a:lstStyle/>
          <a:p>
            <a:pPr marL="0" lvl="0" indent="0" eaLnBrk="0" fontAlgn="base" hangingPunct="0">
              <a:lnSpc>
                <a:spcPct val="100000"/>
              </a:lnSpc>
              <a:spcBef>
                <a:spcPct val="0"/>
              </a:spcBef>
              <a:spcAft>
                <a:spcPct val="0"/>
              </a:spcAft>
              <a:buNone/>
            </a:pPr>
            <a:r>
              <a:rPr lang="en-US" altLang="en-US" dirty="0">
                <a:solidFill>
                  <a:srgbClr val="A71D5D"/>
                </a:solidFill>
                <a:latin typeface="Consolas" panose="020B0609020204030204" pitchFamily="49" charset="0"/>
              </a:rPr>
              <a:t>&lt;h2&gt;</a:t>
            </a:r>
            <a:r>
              <a:rPr lang="en-US" altLang="en-US" dirty="0">
                <a:solidFill>
                  <a:srgbClr val="000000"/>
                </a:solidFill>
                <a:latin typeface="Consolas" panose="020B0609020204030204" pitchFamily="49" charset="0"/>
              </a:rPr>
              <a:t> Some text to show on the screen</a:t>
            </a:r>
            <a:r>
              <a:rPr lang="en-US" altLang="en-US" dirty="0">
                <a:solidFill>
                  <a:srgbClr val="A71D5D"/>
                </a:solidFill>
                <a:latin typeface="Consolas" panose="020B0609020204030204" pitchFamily="49" charset="0"/>
              </a:rPr>
              <a:t>&lt;/h2&gt;</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A71D5D"/>
                </a:solidFill>
                <a:latin typeface="Consolas" panose="020B0609020204030204" pitchFamily="49" charset="0"/>
              </a:rPr>
              <a:t>&lt;p</a:t>
            </a:r>
            <a:r>
              <a:rPr lang="en-US" altLang="en-US" dirty="0">
                <a:solidFill>
                  <a:srgbClr val="000000"/>
                </a:solidFill>
                <a:latin typeface="Consolas" panose="020B0609020204030204" pitchFamily="49" charset="0"/>
              </a:rPr>
              <a:t> </a:t>
            </a:r>
            <a:r>
              <a:rPr lang="en-US" altLang="en-US" dirty="0">
                <a:solidFill>
                  <a:srgbClr val="0086B3"/>
                </a:solidFill>
                <a:latin typeface="Consolas" panose="020B0609020204030204" pitchFamily="49" charset="0"/>
              </a:rPr>
              <a:t>id</a:t>
            </a:r>
            <a:r>
              <a:rPr lang="en-US" altLang="en-US" dirty="0">
                <a:solidFill>
                  <a:srgbClr val="000000"/>
                </a:solidFill>
                <a:latin typeface="Consolas" panose="020B0609020204030204" pitchFamily="49" charset="0"/>
              </a:rPr>
              <a:t>=</a:t>
            </a:r>
            <a:r>
              <a:rPr lang="en-US" altLang="en-US" dirty="0">
                <a:solidFill>
                  <a:srgbClr val="183691"/>
                </a:solidFill>
                <a:latin typeface="Consolas" panose="020B0609020204030204" pitchFamily="49" charset="0"/>
              </a:rPr>
              <a:t>"main"</a:t>
            </a:r>
            <a:r>
              <a:rPr lang="en-US" altLang="en-US" dirty="0">
                <a:solidFill>
                  <a:srgbClr val="A71D5D"/>
                </a:solidFill>
                <a:latin typeface="Consolas" panose="020B0609020204030204" pitchFamily="49" charset="0"/>
              </a:rPr>
              <a:t>&gt;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A71D5D"/>
                </a:solidFill>
                <a:latin typeface="Consolas" panose="020B0609020204030204" pitchFamily="49" charset="0"/>
              </a:rPr>
              <a:t>&lt;p&gt;</a:t>
            </a:r>
            <a:r>
              <a:rPr lang="en-US" altLang="en-US" dirty="0">
                <a:solidFill>
                  <a:srgbClr val="000000"/>
                </a:solidFill>
                <a:latin typeface="Consolas" panose="020B0609020204030204" pitchFamily="49" charset="0"/>
              </a:rPr>
              <a:t>Some text to show on the screen</a:t>
            </a:r>
            <a:r>
              <a:rPr lang="en-US" altLang="en-US" dirty="0">
                <a:solidFill>
                  <a:srgbClr val="A71D5D"/>
                </a:solidFill>
                <a:latin typeface="Consolas" panose="020B0609020204030204" pitchFamily="49" charset="0"/>
              </a:rPr>
              <a:t>&lt;/p&gt;</a:t>
            </a:r>
            <a:endParaRPr lang="en-US" altLang="en-US" sz="4000" dirty="0">
              <a:latin typeface="Arial" panose="020B0604020202020204" pitchFamily="34" charset="0"/>
            </a:endParaRPr>
          </a:p>
        </p:txBody>
      </p:sp>
      <p:sp>
        <p:nvSpPr>
          <p:cNvPr id="5" name="Text Placeholder 4">
            <a:extLst>
              <a:ext uri="{FF2B5EF4-FFF2-40B4-BE49-F238E27FC236}">
                <a16:creationId xmlns:a16="http://schemas.microsoft.com/office/drawing/2014/main" id="{526FC336-C4B3-4207-854E-7EDD67E7B0FA}"/>
              </a:ext>
            </a:extLst>
          </p:cNvPr>
          <p:cNvSpPr>
            <a:spLocks noGrp="1"/>
          </p:cNvSpPr>
          <p:nvPr>
            <p:ph type="body" sz="quarter" idx="3"/>
          </p:nvPr>
        </p:nvSpPr>
        <p:spPr/>
        <p:txBody>
          <a:bodyPr>
            <a:normAutofit/>
          </a:bodyPr>
          <a:lstStyle/>
          <a:p>
            <a:r>
              <a:rPr lang="en-GB" sz="3200" dirty="0"/>
              <a:t>CSS</a:t>
            </a:r>
          </a:p>
        </p:txBody>
      </p:sp>
      <p:sp>
        <p:nvSpPr>
          <p:cNvPr id="6" name="Content Placeholder 5">
            <a:extLst>
              <a:ext uri="{FF2B5EF4-FFF2-40B4-BE49-F238E27FC236}">
                <a16:creationId xmlns:a16="http://schemas.microsoft.com/office/drawing/2014/main" id="{8CEED167-685E-4FFD-8142-9EC45A19F237}"/>
              </a:ext>
            </a:extLst>
          </p:cNvPr>
          <p:cNvSpPr>
            <a:spLocks noGrp="1"/>
          </p:cNvSpPr>
          <p:nvPr>
            <p:ph sz="quarter" idx="4"/>
          </p:nvPr>
        </p:nvSpPr>
        <p:spPr/>
        <p:txBody>
          <a:bodyPr>
            <a:normAutofit/>
          </a:bodyPr>
          <a:lstStyle/>
          <a:p>
            <a:pPr marL="0" lvl="0" indent="0" eaLnBrk="0" fontAlgn="base" hangingPunct="0">
              <a:lnSpc>
                <a:spcPct val="100000"/>
              </a:lnSpc>
              <a:spcBef>
                <a:spcPct val="0"/>
              </a:spcBef>
              <a:spcAft>
                <a:spcPct val="0"/>
              </a:spcAft>
              <a:buNone/>
            </a:pPr>
            <a:r>
              <a:rPr lang="en-US" altLang="en-US" dirty="0">
                <a:solidFill>
                  <a:srgbClr val="969896"/>
                </a:solidFill>
                <a:latin typeface="Consolas" panose="020B0609020204030204" pitchFamily="49" charset="0"/>
              </a:rPr>
              <a:t>/* Tags */</a:t>
            </a: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h2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blue;}</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000000"/>
                </a:solidFill>
                <a:latin typeface="Consolas" panose="020B0609020204030204" pitchFamily="49" charset="0"/>
              </a:rPr>
              <a:t>p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green;}</a:t>
            </a:r>
          </a:p>
          <a:p>
            <a:pPr marL="0" lvl="0" indent="0" eaLnBrk="0" fontAlgn="base" hangingPunct="0">
              <a:lnSpc>
                <a:spcPct val="100000"/>
              </a:lnSpc>
              <a:spcBef>
                <a:spcPct val="0"/>
              </a:spcBef>
              <a:spcAft>
                <a:spcPct val="0"/>
              </a:spcAft>
              <a:buNone/>
            </a:pPr>
            <a:br>
              <a:rPr lang="en-US" altLang="en-US" dirty="0">
                <a:solidFill>
                  <a:srgbClr val="000000"/>
                </a:solidFill>
                <a:latin typeface="Consolas" panose="020B0609020204030204" pitchFamily="49" charset="0"/>
              </a:rPr>
            </a:br>
            <a:r>
              <a:rPr lang="en-US" altLang="en-US" dirty="0">
                <a:solidFill>
                  <a:srgbClr val="969896"/>
                </a:solidFill>
                <a:latin typeface="Consolas" panose="020B0609020204030204" pitchFamily="49" charset="0"/>
              </a:rPr>
              <a:t>/* IDs */</a:t>
            </a:r>
            <a:br>
              <a:rPr lang="en-US" altLang="en-US" dirty="0">
                <a:solidFill>
                  <a:srgbClr val="000000"/>
                </a:solidFill>
                <a:latin typeface="Consolas" panose="020B0609020204030204" pitchFamily="49" charset="0"/>
              </a:rPr>
            </a:br>
            <a:r>
              <a:rPr lang="en-US" altLang="en-US" dirty="0">
                <a:solidFill>
                  <a:srgbClr val="0086B3"/>
                </a:solidFill>
                <a:latin typeface="Consolas" panose="020B0609020204030204" pitchFamily="49" charset="0"/>
              </a:rPr>
              <a:t>#main</a:t>
            </a:r>
            <a:r>
              <a:rPr lang="en-US" altLang="en-US" dirty="0">
                <a:solidFill>
                  <a:srgbClr val="000000"/>
                </a:solidFill>
                <a:latin typeface="Consolas" panose="020B0609020204030204" pitchFamily="49" charset="0"/>
              </a:rPr>
              <a:t> {</a:t>
            </a:r>
            <a:r>
              <a:rPr lang="en-US" altLang="en-US" dirty="0">
                <a:solidFill>
                  <a:srgbClr val="A71D5D"/>
                </a:solidFill>
                <a:latin typeface="Consolas" panose="020B0609020204030204" pitchFamily="49" charset="0"/>
              </a:rPr>
              <a:t>color</a:t>
            </a:r>
            <a:r>
              <a:rPr lang="en-US" altLang="en-US" dirty="0">
                <a:solidFill>
                  <a:srgbClr val="000000"/>
                </a:solidFill>
                <a:latin typeface="Consolas" panose="020B0609020204030204" pitchFamily="49" charset="0"/>
              </a:rPr>
              <a:t>: red;}</a:t>
            </a:r>
            <a:endParaRPr lang="en-US" altLang="en-US" sz="4000" dirty="0">
              <a:latin typeface="Arial" panose="020B0604020202020204" pitchFamily="34" charset="0"/>
            </a:endParaRPr>
          </a:p>
        </p:txBody>
      </p:sp>
    </p:spTree>
    <p:extLst>
      <p:ext uri="{BB962C8B-B14F-4D97-AF65-F5344CB8AC3E}">
        <p14:creationId xmlns:p14="http://schemas.microsoft.com/office/powerpoint/2010/main" val="18314660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 Link (External CSS)</a:t>
            </a:r>
          </a:p>
        </p:txBody>
      </p:sp>
      <p:sp>
        <p:nvSpPr>
          <p:cNvPr id="9" name="TextBox 8">
            <a:extLst>
              <a:ext uri="{FF2B5EF4-FFF2-40B4-BE49-F238E27FC236}">
                <a16:creationId xmlns:a16="http://schemas.microsoft.com/office/drawing/2014/main" id="{F3B639B4-E5C5-8DD1-DB2C-5DF574EC16F0}"/>
              </a:ext>
            </a:extLst>
          </p:cNvPr>
          <p:cNvSpPr txBox="1"/>
          <p:nvPr/>
        </p:nvSpPr>
        <p:spPr>
          <a:xfrm>
            <a:off x="643225" y="2705725"/>
            <a:ext cx="10905550" cy="1323439"/>
          </a:xfrm>
          <a:prstGeom prst="rect">
            <a:avLst/>
          </a:prstGeom>
          <a:noFill/>
        </p:spPr>
        <p:txBody>
          <a:bodyPr wrap="none" rtlCol="0">
            <a:spAutoFit/>
          </a:bodyPr>
          <a:lstStyle/>
          <a:p>
            <a:pPr lvl="0" eaLnBrk="0" fontAlgn="base" hangingPunct="0">
              <a:spcBef>
                <a:spcPct val="0"/>
              </a:spcBef>
              <a:spcAft>
                <a:spcPct val="0"/>
              </a:spcAft>
            </a:pPr>
            <a:r>
              <a:rPr lang="en-US" altLang="en-US" sz="4000" dirty="0">
                <a:solidFill>
                  <a:srgbClr val="A71D5D"/>
                </a:solidFill>
                <a:latin typeface="Consolas" panose="020B0609020204030204" pitchFamily="49" charset="0"/>
              </a:rPr>
              <a:t>&lt;</a:t>
            </a:r>
            <a:r>
              <a:rPr lang="en-US" altLang="en-US" sz="4000" dirty="0">
                <a:solidFill>
                  <a:srgbClr val="FF0000"/>
                </a:solidFill>
                <a:latin typeface="Consolas" panose="020B0609020204030204" pitchFamily="49" charset="0"/>
              </a:rPr>
              <a:t>link</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rel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"stylesheet"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type</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"text/</a:t>
            </a:r>
            <a:r>
              <a:rPr lang="en-US" altLang="en-US" sz="4000" dirty="0" err="1">
                <a:solidFill>
                  <a:srgbClr val="183691"/>
                </a:solidFill>
                <a:latin typeface="Consolas" panose="020B0609020204030204" pitchFamily="49" charset="0"/>
              </a:rPr>
              <a:t>css</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lvl="0" eaLnBrk="0" fontAlgn="base" hangingPunct="0">
              <a:spcBef>
                <a:spcPct val="0"/>
              </a:spcBef>
              <a:spcAft>
                <a:spcPct val="0"/>
              </a:spcAft>
            </a:pP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href</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"style.css"</a:t>
            </a:r>
            <a:r>
              <a:rPr lang="en-US" altLang="en-US" sz="4000" dirty="0">
                <a:solidFill>
                  <a:srgbClr val="A71D5D"/>
                </a:solidFill>
                <a:latin typeface="Consolas" panose="020B0609020204030204" pitchFamily="49" charset="0"/>
              </a:rPr>
              <a:t>&gt;</a:t>
            </a:r>
            <a:endParaRPr lang="en-US" altLang="en-US" sz="54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2C15AECF-4B06-E905-B45D-505334569749}"/>
              </a:ext>
            </a:extLst>
          </p:cNvPr>
          <p:cNvSpPr/>
          <p:nvPr/>
        </p:nvSpPr>
        <p:spPr>
          <a:xfrm flipH="1">
            <a:off x="1353323" y="4344312"/>
            <a:ext cx="3054294" cy="862642"/>
          </a:xfrm>
          <a:prstGeom prst="callout2">
            <a:avLst>
              <a:gd name="adj1" fmla="val 49217"/>
              <a:gd name="adj2" fmla="val -30"/>
              <a:gd name="adj3" fmla="val 49740"/>
              <a:gd name="adj4" fmla="val -12980"/>
              <a:gd name="adj5" fmla="val -39943"/>
              <a:gd name="adj6" fmla="val -199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URL of CSS rules</a:t>
            </a:r>
          </a:p>
        </p:txBody>
      </p:sp>
      <p:sp>
        <p:nvSpPr>
          <p:cNvPr id="7" name="TextBox 6">
            <a:extLst>
              <a:ext uri="{FF2B5EF4-FFF2-40B4-BE49-F238E27FC236}">
                <a16:creationId xmlns:a16="http://schemas.microsoft.com/office/drawing/2014/main" id="{C1D91ABD-5314-4889-B7E6-46E7DE51CBB2}"/>
              </a:ext>
            </a:extLst>
          </p:cNvPr>
          <p:cNvSpPr txBox="1"/>
          <p:nvPr/>
        </p:nvSpPr>
        <p:spPr>
          <a:xfrm>
            <a:off x="3407069" y="5846544"/>
            <a:ext cx="5377882" cy="646331"/>
          </a:xfrm>
          <a:prstGeom prst="rect">
            <a:avLst/>
          </a:prstGeom>
          <a:noFill/>
        </p:spPr>
        <p:txBody>
          <a:bodyPr wrap="none" rtlCol="0">
            <a:spAutoFit/>
          </a:bodyPr>
          <a:lstStyle/>
          <a:p>
            <a:pPr algn="ctr"/>
            <a:r>
              <a:rPr lang="en-GB" sz="3600" dirty="0">
                <a:solidFill>
                  <a:srgbClr val="7030A0"/>
                </a:solidFill>
              </a:rPr>
              <a:t>Only start tag: </a:t>
            </a:r>
            <a:r>
              <a:rPr lang="en-GB" sz="3600" i="1" dirty="0">
                <a:solidFill>
                  <a:srgbClr val="7030A0"/>
                </a:solidFill>
              </a:rPr>
              <a:t>Void element</a:t>
            </a:r>
            <a:endParaRPr lang="en-GB" sz="3600" i="1"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1186426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2000"/>
                                        <p:tgtEl>
                                          <p:spTgt spid="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6" grpId="0" animBg="1"/>
      <p:bldP spid="7" grpId="0" build="p"/>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 Link (External CSS)</a:t>
            </a:r>
          </a:p>
        </p:txBody>
      </p:sp>
      <p:sp>
        <p:nvSpPr>
          <p:cNvPr id="9" name="TextBox 8">
            <a:extLst>
              <a:ext uri="{FF2B5EF4-FFF2-40B4-BE49-F238E27FC236}">
                <a16:creationId xmlns:a16="http://schemas.microsoft.com/office/drawing/2014/main" id="{F3B639B4-E5C5-8DD1-DB2C-5DF574EC16F0}"/>
              </a:ext>
            </a:extLst>
          </p:cNvPr>
          <p:cNvSpPr txBox="1"/>
          <p:nvPr/>
        </p:nvSpPr>
        <p:spPr>
          <a:xfrm>
            <a:off x="643225" y="2705725"/>
            <a:ext cx="10905550" cy="1323439"/>
          </a:xfrm>
          <a:prstGeom prst="rect">
            <a:avLst/>
          </a:prstGeom>
          <a:noFill/>
        </p:spPr>
        <p:txBody>
          <a:bodyPr wrap="none" rtlCol="0">
            <a:spAutoFit/>
          </a:bodyPr>
          <a:lstStyle/>
          <a:p>
            <a:pPr lvl="0" eaLnBrk="0" fontAlgn="base" hangingPunct="0">
              <a:spcBef>
                <a:spcPct val="0"/>
              </a:spcBef>
              <a:spcAft>
                <a:spcPct val="0"/>
              </a:spcAft>
            </a:pPr>
            <a:r>
              <a:rPr lang="en-US" altLang="en-US" sz="4000" dirty="0">
                <a:solidFill>
                  <a:srgbClr val="A71D5D"/>
                </a:solidFill>
                <a:latin typeface="Consolas" panose="020B0609020204030204" pitchFamily="49" charset="0"/>
              </a:rPr>
              <a:t>&lt;link</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rel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"stylesheet"</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type</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"text/</a:t>
            </a:r>
            <a:r>
              <a:rPr lang="en-US" altLang="en-US" sz="4000" dirty="0" err="1">
                <a:solidFill>
                  <a:srgbClr val="183691"/>
                </a:solidFill>
                <a:latin typeface="Consolas" panose="020B0609020204030204" pitchFamily="49" charset="0"/>
              </a:rPr>
              <a:t>css</a:t>
            </a:r>
            <a:r>
              <a:rPr lang="en-US" altLang="en-US" sz="4000" dirty="0">
                <a:solidFill>
                  <a:srgbClr val="183691"/>
                </a:solidFill>
                <a:latin typeface="Consolas" panose="020B0609020204030204" pitchFamily="49" charset="0"/>
              </a:rPr>
              <a:t>"</a:t>
            </a:r>
            <a:endParaRPr lang="en-US" altLang="en-US" sz="4000" dirty="0">
              <a:solidFill>
                <a:srgbClr val="000000"/>
              </a:solidFill>
              <a:latin typeface="Consolas" panose="020B0609020204030204" pitchFamily="49" charset="0"/>
            </a:endParaRPr>
          </a:p>
          <a:p>
            <a:pPr lvl="0" eaLnBrk="0" fontAlgn="base" hangingPunct="0">
              <a:spcBef>
                <a:spcPct val="0"/>
              </a:spcBef>
              <a:spcAft>
                <a:spcPct val="0"/>
              </a:spcAft>
            </a:pP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href</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"style.css"</a:t>
            </a:r>
            <a:r>
              <a:rPr lang="en-US" altLang="en-US" sz="4000" dirty="0">
                <a:solidFill>
                  <a:srgbClr val="A71D5D"/>
                </a:solidFill>
                <a:latin typeface="Consolas" panose="020B0609020204030204" pitchFamily="49" charset="0"/>
              </a:rPr>
              <a:t>&gt;</a:t>
            </a:r>
            <a:endParaRPr lang="en-US" altLang="en-US" sz="5400" dirty="0">
              <a:latin typeface="Arial" panose="020B0604020202020204" pitchFamily="34" charset="0"/>
            </a:endParaRPr>
          </a:p>
        </p:txBody>
      </p:sp>
    </p:spTree>
    <p:extLst>
      <p:ext uri="{BB962C8B-B14F-4D97-AF65-F5344CB8AC3E}">
        <p14:creationId xmlns:p14="http://schemas.microsoft.com/office/powerpoint/2010/main" val="27291545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Head - Link (Favicon)</a:t>
            </a:r>
          </a:p>
        </p:txBody>
      </p:sp>
      <p:sp>
        <p:nvSpPr>
          <p:cNvPr id="9" name="TextBox 8">
            <a:extLst>
              <a:ext uri="{FF2B5EF4-FFF2-40B4-BE49-F238E27FC236}">
                <a16:creationId xmlns:a16="http://schemas.microsoft.com/office/drawing/2014/main" id="{F3B639B4-E5C5-8DD1-DB2C-5DF574EC16F0}"/>
              </a:ext>
            </a:extLst>
          </p:cNvPr>
          <p:cNvSpPr txBox="1"/>
          <p:nvPr/>
        </p:nvSpPr>
        <p:spPr>
          <a:xfrm>
            <a:off x="784289" y="2767280"/>
            <a:ext cx="10623421" cy="1323439"/>
          </a:xfrm>
          <a:prstGeom prst="rect">
            <a:avLst/>
          </a:prstGeom>
          <a:noFill/>
        </p:spPr>
        <p:txBody>
          <a:bodyPr wrap="none" rtlCol="0">
            <a:spAutoFit/>
          </a:bodyPr>
          <a:lstStyle/>
          <a:p>
            <a:pPr lvl="0" eaLnBrk="0" fontAlgn="base" hangingPunct="0">
              <a:spcBef>
                <a:spcPct val="0"/>
              </a:spcBef>
              <a:spcAft>
                <a:spcPct val="0"/>
              </a:spcAft>
            </a:pPr>
            <a:r>
              <a:rPr lang="en-US" altLang="en-US" sz="4000" dirty="0">
                <a:solidFill>
                  <a:srgbClr val="A71D5D"/>
                </a:solidFill>
                <a:latin typeface="Consolas" panose="020B0609020204030204" pitchFamily="49" charset="0"/>
              </a:rPr>
              <a:t>&lt;link</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rel</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"icon"</a:t>
            </a:r>
            <a:r>
              <a:rPr lang="en-US" altLang="en-US" sz="4000" dirty="0">
                <a:solidFill>
                  <a:srgbClr val="000000"/>
                </a:solidFill>
                <a:latin typeface="Consolas" panose="020B0609020204030204" pitchFamily="49" charset="0"/>
              </a:rPr>
              <a:t> </a:t>
            </a:r>
            <a:r>
              <a:rPr lang="en-US" altLang="en-US" sz="4000" dirty="0" err="1">
                <a:solidFill>
                  <a:srgbClr val="0086B3"/>
                </a:solidFill>
                <a:latin typeface="Consolas" panose="020B0609020204030204" pitchFamily="49" charset="0"/>
              </a:rPr>
              <a:t>href</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"favicon.png"</a:t>
            </a:r>
            <a:endParaRPr lang="en-US" altLang="en-US" sz="4000" dirty="0">
              <a:solidFill>
                <a:srgbClr val="000000"/>
              </a:solidFill>
              <a:latin typeface="Consolas" panose="020B0609020204030204" pitchFamily="49" charset="0"/>
            </a:endParaRPr>
          </a:p>
          <a:p>
            <a:pPr lvl="0" eaLnBrk="0" fontAlgn="base" hangingPunct="0">
              <a:spcBef>
                <a:spcPct val="0"/>
              </a:spcBef>
              <a:spcAft>
                <a:spcPct val="0"/>
              </a:spcAft>
            </a:pP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sizes</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"16x16"</a:t>
            </a:r>
            <a:r>
              <a:rPr lang="en-US" altLang="en-US" sz="4000" dirty="0">
                <a:solidFill>
                  <a:srgbClr val="000000"/>
                </a:solidFill>
                <a:latin typeface="Consolas" panose="020B0609020204030204" pitchFamily="49" charset="0"/>
              </a:rPr>
              <a:t> </a:t>
            </a:r>
            <a:r>
              <a:rPr lang="en-US" altLang="en-US" sz="4000" dirty="0">
                <a:solidFill>
                  <a:srgbClr val="0086B3"/>
                </a:solidFill>
                <a:latin typeface="Consolas" panose="020B0609020204030204" pitchFamily="49" charset="0"/>
              </a:rPr>
              <a:t>type</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"image/</a:t>
            </a:r>
            <a:r>
              <a:rPr lang="en-US" altLang="en-US" sz="4000" dirty="0" err="1">
                <a:solidFill>
                  <a:srgbClr val="183691"/>
                </a:solidFill>
                <a:latin typeface="Consolas" panose="020B0609020204030204" pitchFamily="49" charset="0"/>
              </a:rPr>
              <a:t>png</a:t>
            </a:r>
            <a:r>
              <a:rPr lang="en-US" altLang="en-US" sz="4000" dirty="0">
                <a:solidFill>
                  <a:srgbClr val="183691"/>
                </a:solidFill>
                <a:latin typeface="Consolas" panose="020B0609020204030204" pitchFamily="49" charset="0"/>
              </a:rPr>
              <a:t>"</a:t>
            </a:r>
            <a:r>
              <a:rPr lang="en-US" altLang="en-US" sz="4000" dirty="0">
                <a:solidFill>
                  <a:srgbClr val="A71D5D"/>
                </a:solidFill>
                <a:latin typeface="Consolas" panose="020B0609020204030204" pitchFamily="49" charset="0"/>
              </a:rPr>
              <a:t>&gt;</a:t>
            </a:r>
            <a:endParaRPr lang="en-US" altLang="en-US" sz="54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2C15AECF-4B06-E905-B45D-505334569749}"/>
              </a:ext>
            </a:extLst>
          </p:cNvPr>
          <p:cNvSpPr/>
          <p:nvPr/>
        </p:nvSpPr>
        <p:spPr>
          <a:xfrm flipH="1">
            <a:off x="3626965" y="1813039"/>
            <a:ext cx="3054294" cy="862642"/>
          </a:xfrm>
          <a:prstGeom prst="callout2">
            <a:avLst>
              <a:gd name="adj1" fmla="val 49217"/>
              <a:gd name="adj2" fmla="val -30"/>
              <a:gd name="adj3" fmla="val 49740"/>
              <a:gd name="adj4" fmla="val -12980"/>
              <a:gd name="adj5" fmla="val 111895"/>
              <a:gd name="adj6" fmla="val -199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URL of image</a:t>
            </a:r>
          </a:p>
        </p:txBody>
      </p:sp>
      <p:sp>
        <p:nvSpPr>
          <p:cNvPr id="7" name="TextBox 6">
            <a:extLst>
              <a:ext uri="{FF2B5EF4-FFF2-40B4-BE49-F238E27FC236}">
                <a16:creationId xmlns:a16="http://schemas.microsoft.com/office/drawing/2014/main" id="{C1D91ABD-5314-4889-B7E6-46E7DE51CBB2}"/>
              </a:ext>
            </a:extLst>
          </p:cNvPr>
          <p:cNvSpPr txBox="1"/>
          <p:nvPr/>
        </p:nvSpPr>
        <p:spPr>
          <a:xfrm>
            <a:off x="4834802" y="5846544"/>
            <a:ext cx="2522422" cy="646331"/>
          </a:xfrm>
          <a:prstGeom prst="rect">
            <a:avLst/>
          </a:prstGeom>
          <a:noFill/>
        </p:spPr>
        <p:txBody>
          <a:bodyPr wrap="none" rtlCol="0">
            <a:spAutoFit/>
          </a:bodyPr>
          <a:lstStyle/>
          <a:p>
            <a:pPr algn="ctr"/>
            <a:r>
              <a:rPr lang="en-GB" sz="3600" dirty="0"/>
              <a:t>For info only</a:t>
            </a:r>
            <a:endParaRPr lang="en-GB" sz="3600" i="1"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2612136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2000"/>
                                        <p:tgtEl>
                                          <p:spTgt spid="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wipe(left)">
                                      <p:cBhvr>
                                        <p:cTn id="21"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6" grpId="0" animBg="1"/>
      <p:bldP spid="7"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Intentions</a:t>
            </a:r>
          </a:p>
        </p:txBody>
      </p:sp>
      <p:sp>
        <p:nvSpPr>
          <p:cNvPr id="3" name="Content Placeholder 2"/>
          <p:cNvSpPr>
            <a:spLocks noGrp="1"/>
          </p:cNvSpPr>
          <p:nvPr>
            <p:ph idx="1"/>
          </p:nvPr>
        </p:nvSpPr>
        <p:spPr/>
        <p:txBody>
          <a:bodyPr>
            <a:normAutofit/>
          </a:bodyPr>
          <a:lstStyle/>
          <a:p>
            <a:r>
              <a:rPr lang="en-GB" sz="3600" dirty="0"/>
              <a:t>Describe and identify JavaScript coding related to mouse events: </a:t>
            </a:r>
          </a:p>
          <a:p>
            <a:pPr lvl="1"/>
            <a:r>
              <a:rPr lang="en-GB" sz="3600" dirty="0" err="1"/>
              <a:t>onmouseover</a:t>
            </a:r>
            <a:r>
              <a:rPr lang="en-GB" sz="3600" dirty="0"/>
              <a:t> </a:t>
            </a:r>
          </a:p>
          <a:p>
            <a:pPr lvl="1"/>
            <a:r>
              <a:rPr lang="en-GB" sz="3600" dirty="0" err="1"/>
              <a:t>onmouseout</a:t>
            </a:r>
            <a:r>
              <a:rPr lang="en-GB" sz="3600" dirty="0"/>
              <a:t> </a:t>
            </a:r>
          </a:p>
        </p:txBody>
      </p:sp>
    </p:spTree>
    <p:extLst>
      <p:ext uri="{BB962C8B-B14F-4D97-AF65-F5344CB8AC3E}">
        <p14:creationId xmlns:p14="http://schemas.microsoft.com/office/powerpoint/2010/main" val="91250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20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Script (Internal JavaScript)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200" dirty="0">
                <a:solidFill>
                  <a:srgbClr val="B5BABF"/>
                </a:solidFill>
                <a:latin typeface="Consolas" panose="020B0609020204030204" pitchFamily="49" charset="0"/>
              </a:rPr>
              <a:t>1</a:t>
            </a:r>
            <a:r>
              <a:rPr lang="en-GB" sz="4200" dirty="0">
                <a:latin typeface="Consolas" panose="020B0609020204030204" pitchFamily="49" charset="0"/>
              </a:rPr>
              <a:t>   </a:t>
            </a:r>
            <a:r>
              <a:rPr lang="en-GB" sz="4200" dirty="0">
                <a:solidFill>
                  <a:srgbClr val="A71D5D"/>
                </a:solidFill>
                <a:latin typeface="Consolas" panose="020B0609020204030204" pitchFamily="49" charset="0"/>
              </a:rPr>
              <a:t>&lt;</a:t>
            </a:r>
            <a:r>
              <a:rPr lang="en-GB" sz="4200" dirty="0">
                <a:solidFill>
                  <a:srgbClr val="FF0000"/>
                </a:solidFill>
                <a:latin typeface="Consolas" panose="020B0609020204030204" pitchFamily="49" charset="0"/>
              </a:rPr>
              <a:t>script</a:t>
            </a:r>
            <a:r>
              <a:rPr lang="en-GB" sz="4200" dirty="0">
                <a:solidFill>
                  <a:srgbClr val="A71D5D"/>
                </a:solidFill>
                <a:latin typeface="Consolas" panose="020B0609020204030204" pitchFamily="49" charset="0"/>
              </a:rPr>
              <a:t>&gt;</a:t>
            </a:r>
          </a:p>
          <a:p>
            <a:pPr marL="0" indent="0">
              <a:buNone/>
            </a:pPr>
            <a:r>
              <a:rPr lang="en-GB" sz="4200" dirty="0">
                <a:solidFill>
                  <a:srgbClr val="B5BABF"/>
                </a:solidFill>
                <a:latin typeface="Consolas" panose="020B0609020204030204" pitchFamily="49" charset="0"/>
              </a:rPr>
              <a:t>2</a:t>
            </a:r>
            <a:r>
              <a:rPr lang="en-GB" sz="4200" dirty="0">
                <a:solidFill>
                  <a:srgbClr val="A71D5D"/>
                </a:solidFill>
                <a:latin typeface="Consolas" panose="020B0609020204030204" pitchFamily="49" charset="0"/>
              </a:rPr>
              <a:t>     </a:t>
            </a:r>
          </a:p>
          <a:p>
            <a:pPr marL="0" indent="0">
              <a:buNone/>
            </a:pPr>
            <a:r>
              <a:rPr lang="en-GB" sz="4200" dirty="0">
                <a:solidFill>
                  <a:srgbClr val="B5BABF"/>
                </a:solidFill>
                <a:latin typeface="Consolas" panose="020B0609020204030204" pitchFamily="49" charset="0"/>
              </a:rPr>
              <a:t>3</a:t>
            </a:r>
            <a:r>
              <a:rPr lang="en-GB" sz="4200" dirty="0">
                <a:solidFill>
                  <a:srgbClr val="A71D5D"/>
                </a:solidFill>
                <a:latin typeface="Consolas" panose="020B0609020204030204" pitchFamily="49" charset="0"/>
              </a:rPr>
              <a:t>   &lt;/</a:t>
            </a:r>
            <a:r>
              <a:rPr lang="en-GB" sz="4200" dirty="0">
                <a:solidFill>
                  <a:srgbClr val="FF0000"/>
                </a:solidFill>
                <a:latin typeface="Consolas" panose="020B0609020204030204" pitchFamily="49" charset="0"/>
              </a:rPr>
              <a:t>script</a:t>
            </a:r>
            <a:r>
              <a:rPr lang="en-GB" sz="4200" dirty="0">
                <a:solidFill>
                  <a:srgbClr val="A71D5D"/>
                </a:solidFill>
                <a:latin typeface="Consolas" panose="020B0609020204030204" pitchFamily="49" charset="0"/>
              </a:rPr>
              <a:t>&gt;</a:t>
            </a:r>
          </a:p>
          <a:p>
            <a:pPr marL="0" indent="0">
              <a:lnSpc>
                <a:spcPct val="120000"/>
              </a:lnSpc>
              <a:buNone/>
            </a:pPr>
            <a:r>
              <a:rPr lang="en-GB" sz="4200" dirty="0">
                <a:solidFill>
                  <a:srgbClr val="B5BABF"/>
                </a:solidFill>
                <a:latin typeface="Consolas" panose="020B0609020204030204" pitchFamily="49" charset="0"/>
              </a:rPr>
              <a:t>4</a:t>
            </a:r>
            <a:r>
              <a:rPr lang="en-GB" sz="4200" dirty="0">
                <a:solidFill>
                  <a:srgbClr val="A71D5D"/>
                </a:solidFill>
                <a:latin typeface="Consolas" panose="020B0609020204030204" pitchFamily="49" charset="0"/>
              </a:rPr>
              <a:t> &lt;/body&gt;</a:t>
            </a:r>
          </a:p>
        </p:txBody>
      </p:sp>
      <p:sp>
        <p:nvSpPr>
          <p:cNvPr id="4" name="TextBox 3">
            <a:extLst>
              <a:ext uri="{FF2B5EF4-FFF2-40B4-BE49-F238E27FC236}">
                <a16:creationId xmlns:a16="http://schemas.microsoft.com/office/drawing/2014/main" id="{C40978C1-2FE4-9664-9E88-60E85F4313AC}"/>
              </a:ext>
            </a:extLst>
          </p:cNvPr>
          <p:cNvSpPr txBox="1"/>
          <p:nvPr/>
        </p:nvSpPr>
        <p:spPr>
          <a:xfrm>
            <a:off x="695196" y="5846544"/>
            <a:ext cx="10801675" cy="646331"/>
          </a:xfrm>
          <a:prstGeom prst="rect">
            <a:avLst/>
          </a:prstGeom>
          <a:noFill/>
        </p:spPr>
        <p:txBody>
          <a:bodyPr wrap="none" rtlCol="0">
            <a:spAutoFit/>
          </a:bodyPr>
          <a:lstStyle/>
          <a:p>
            <a:pPr algn="ctr"/>
            <a:r>
              <a:rPr lang="en-GB" sz="3600" dirty="0">
                <a:solidFill>
                  <a:srgbClr val="7030A0"/>
                </a:solidFill>
              </a:rPr>
              <a:t>Include </a:t>
            </a:r>
            <a:r>
              <a:rPr lang="en-GB" sz="3600" dirty="0">
                <a:solidFill>
                  <a:srgbClr val="A71D5D"/>
                </a:solidFill>
                <a:latin typeface="Consolas" panose="020B0609020204030204" pitchFamily="49" charset="0"/>
              </a:rPr>
              <a:t>script</a:t>
            </a:r>
            <a:r>
              <a:rPr lang="en-GB" sz="3600" dirty="0">
                <a:solidFill>
                  <a:srgbClr val="7030A0"/>
                </a:solidFill>
              </a:rPr>
              <a:t> element just before the end tag of </a:t>
            </a:r>
            <a:r>
              <a:rPr lang="en-GB" sz="3600" dirty="0">
                <a:solidFill>
                  <a:srgbClr val="A71D5D"/>
                </a:solidFill>
                <a:latin typeface="Consolas" panose="020B0609020204030204" pitchFamily="49" charset="0"/>
              </a:rPr>
              <a:t>body</a:t>
            </a:r>
          </a:p>
        </p:txBody>
      </p:sp>
      <p:sp>
        <p:nvSpPr>
          <p:cNvPr id="5" name="Callout: Bent Line with No Border 4">
            <a:extLst>
              <a:ext uri="{FF2B5EF4-FFF2-40B4-BE49-F238E27FC236}">
                <a16:creationId xmlns:a16="http://schemas.microsoft.com/office/drawing/2014/main" id="{8DABB334-DBFD-0EA0-51E4-058AC7E3EF68}"/>
              </a:ext>
            </a:extLst>
          </p:cNvPr>
          <p:cNvSpPr/>
          <p:nvPr/>
        </p:nvSpPr>
        <p:spPr>
          <a:xfrm>
            <a:off x="6096000" y="2631651"/>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JS Code goes here</a:t>
            </a:r>
          </a:p>
        </p:txBody>
      </p:sp>
    </p:spTree>
    <p:extLst>
      <p:ext uri="{BB962C8B-B14F-4D97-AF65-F5344CB8AC3E}">
        <p14:creationId xmlns:p14="http://schemas.microsoft.com/office/powerpoint/2010/main" val="304041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1000"/>
                                        <p:tgtEl>
                                          <p:spTgt spid="3">
                                            <p:txEl>
                                              <p:pRg st="2" end="2"/>
                                            </p:txEl>
                                          </p:spTgt>
                                        </p:tgtEl>
                                      </p:cBhvr>
                                    </p:animEffect>
                                  </p:childTnLst>
                                </p:cTn>
                              </p:par>
                            </p:childTnLst>
                          </p:cTn>
                        </p:par>
                        <p:par>
                          <p:cTn id="17" fill="hold">
                            <p:stCondLst>
                              <p:cond delay="2000"/>
                            </p:stCondLst>
                            <p:childTnLst>
                              <p:par>
                                <p:cTn id="18" presetID="22" presetClass="entr" presetSubtype="8" fill="hold" grpId="0"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1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1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Effect transition="in" filter="wipe(left)">
                                      <p:cBhvr>
                                        <p:cTn id="30"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5" grpId="0" animBg="1"/>
    </p:bld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Script (Internal JavaScript)</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p:txBody>
          <a:bodyPr>
            <a:normAutofit/>
          </a:bodyPr>
          <a:lstStyle/>
          <a:p>
            <a:pPr marL="0" indent="0">
              <a:lnSpc>
                <a:spcPct val="120000"/>
              </a:lnSpc>
              <a:buNone/>
            </a:pPr>
            <a:r>
              <a:rPr lang="en-GB" sz="4200" dirty="0">
                <a:solidFill>
                  <a:srgbClr val="B5BABF"/>
                </a:solidFill>
                <a:latin typeface="Consolas" panose="020B0609020204030204" pitchFamily="49" charset="0"/>
              </a:rPr>
              <a:t>1</a:t>
            </a:r>
            <a:r>
              <a:rPr lang="en-GB" sz="4200" dirty="0">
                <a:latin typeface="Consolas" panose="020B0609020204030204" pitchFamily="49" charset="0"/>
              </a:rPr>
              <a:t>   </a:t>
            </a:r>
            <a:r>
              <a:rPr lang="en-GB" sz="4200" dirty="0">
                <a:solidFill>
                  <a:srgbClr val="A71D5D"/>
                </a:solidFill>
                <a:latin typeface="Consolas" panose="020B0609020204030204" pitchFamily="49" charset="0"/>
              </a:rPr>
              <a:t>&lt;</a:t>
            </a:r>
            <a:r>
              <a:rPr lang="en-GB" sz="4200" dirty="0">
                <a:solidFill>
                  <a:srgbClr val="FF0000"/>
                </a:solidFill>
                <a:latin typeface="Consolas" panose="020B0609020204030204" pitchFamily="49" charset="0"/>
              </a:rPr>
              <a:t>script</a:t>
            </a:r>
            <a:r>
              <a:rPr lang="en-GB" sz="4200" dirty="0">
                <a:solidFill>
                  <a:srgbClr val="A71D5D"/>
                </a:solidFill>
                <a:latin typeface="Consolas" panose="020B0609020204030204" pitchFamily="49" charset="0"/>
              </a:rPr>
              <a:t>&gt;</a:t>
            </a:r>
          </a:p>
          <a:p>
            <a:pPr marL="0" indent="0">
              <a:buNone/>
            </a:pPr>
            <a:r>
              <a:rPr lang="en-GB" sz="4200" dirty="0">
                <a:solidFill>
                  <a:srgbClr val="B5BABF"/>
                </a:solidFill>
                <a:latin typeface="Consolas" panose="020B0609020204030204" pitchFamily="49" charset="0"/>
              </a:rPr>
              <a:t>2</a:t>
            </a:r>
            <a:r>
              <a:rPr lang="en-GB" sz="4200" dirty="0">
                <a:solidFill>
                  <a:srgbClr val="A71D5D"/>
                </a:solidFill>
                <a:latin typeface="Consolas" panose="020B0609020204030204" pitchFamily="49" charset="0"/>
              </a:rPr>
              <a:t>     </a:t>
            </a:r>
          </a:p>
          <a:p>
            <a:pPr marL="0" indent="0">
              <a:buNone/>
            </a:pPr>
            <a:r>
              <a:rPr lang="en-GB" sz="4200" dirty="0">
                <a:solidFill>
                  <a:srgbClr val="B5BABF"/>
                </a:solidFill>
                <a:latin typeface="Consolas" panose="020B0609020204030204" pitchFamily="49" charset="0"/>
              </a:rPr>
              <a:t>3</a:t>
            </a:r>
            <a:r>
              <a:rPr lang="en-GB" sz="4200" dirty="0">
                <a:solidFill>
                  <a:srgbClr val="A71D5D"/>
                </a:solidFill>
                <a:latin typeface="Consolas" panose="020B0609020204030204" pitchFamily="49" charset="0"/>
              </a:rPr>
              <a:t>   &lt;/</a:t>
            </a:r>
            <a:r>
              <a:rPr lang="en-GB" sz="4200" dirty="0">
                <a:solidFill>
                  <a:srgbClr val="FF0000"/>
                </a:solidFill>
                <a:latin typeface="Consolas" panose="020B0609020204030204" pitchFamily="49" charset="0"/>
              </a:rPr>
              <a:t>script</a:t>
            </a:r>
            <a:r>
              <a:rPr lang="en-GB" sz="4200" dirty="0">
                <a:solidFill>
                  <a:srgbClr val="A71D5D"/>
                </a:solidFill>
                <a:latin typeface="Consolas" panose="020B0609020204030204" pitchFamily="49" charset="0"/>
              </a:rPr>
              <a:t>&gt;</a:t>
            </a:r>
          </a:p>
          <a:p>
            <a:pPr marL="0" indent="0">
              <a:lnSpc>
                <a:spcPct val="120000"/>
              </a:lnSpc>
              <a:buNone/>
            </a:pPr>
            <a:r>
              <a:rPr lang="en-GB" sz="4200" dirty="0">
                <a:solidFill>
                  <a:srgbClr val="B5BABF"/>
                </a:solidFill>
                <a:latin typeface="Consolas" panose="020B0609020204030204" pitchFamily="49" charset="0"/>
              </a:rPr>
              <a:t>4</a:t>
            </a:r>
            <a:r>
              <a:rPr lang="en-GB" sz="4200" dirty="0">
                <a:solidFill>
                  <a:srgbClr val="A71D5D"/>
                </a:solidFill>
                <a:latin typeface="Consolas" panose="020B0609020204030204" pitchFamily="49" charset="0"/>
              </a:rPr>
              <a:t> &lt;/body&gt;</a:t>
            </a:r>
          </a:p>
        </p:txBody>
      </p:sp>
      <p:sp>
        <p:nvSpPr>
          <p:cNvPr id="4" name="TextBox 3">
            <a:extLst>
              <a:ext uri="{FF2B5EF4-FFF2-40B4-BE49-F238E27FC236}">
                <a16:creationId xmlns:a16="http://schemas.microsoft.com/office/drawing/2014/main" id="{C40978C1-2FE4-9664-9E88-60E85F4313AC}"/>
              </a:ext>
            </a:extLst>
          </p:cNvPr>
          <p:cNvSpPr txBox="1"/>
          <p:nvPr/>
        </p:nvSpPr>
        <p:spPr>
          <a:xfrm>
            <a:off x="315287" y="5846544"/>
            <a:ext cx="11561499" cy="646331"/>
          </a:xfrm>
          <a:prstGeom prst="rect">
            <a:avLst/>
          </a:prstGeom>
          <a:noFill/>
        </p:spPr>
        <p:txBody>
          <a:bodyPr wrap="none" rtlCol="0">
            <a:spAutoFit/>
          </a:bodyPr>
          <a:lstStyle/>
          <a:p>
            <a:pPr algn="ctr"/>
            <a:r>
              <a:rPr lang="en-GB" sz="3600" dirty="0">
                <a:solidFill>
                  <a:srgbClr val="7030A0"/>
                </a:solidFill>
              </a:rPr>
              <a:t>Include </a:t>
            </a:r>
            <a:r>
              <a:rPr lang="en-GB" sz="3600" dirty="0">
                <a:solidFill>
                  <a:srgbClr val="A71D5D"/>
                </a:solidFill>
                <a:latin typeface="Consolas" panose="020B0609020204030204" pitchFamily="49" charset="0"/>
              </a:rPr>
              <a:t>        </a:t>
            </a:r>
            <a:r>
              <a:rPr lang="en-GB" sz="3600" dirty="0">
                <a:solidFill>
                  <a:srgbClr val="7030A0"/>
                </a:solidFill>
              </a:rPr>
              <a:t> element just before the end tag of </a:t>
            </a:r>
            <a:r>
              <a:rPr lang="en-GB" sz="3600" dirty="0">
                <a:solidFill>
                  <a:srgbClr val="A71D5D"/>
                </a:solidFill>
                <a:latin typeface="Consolas" panose="020B0609020204030204" pitchFamily="49" charset="0"/>
              </a:rPr>
              <a:t>     </a:t>
            </a:r>
          </a:p>
        </p:txBody>
      </p:sp>
    </p:spTree>
    <p:extLst>
      <p:ext uri="{BB962C8B-B14F-4D97-AF65-F5344CB8AC3E}">
        <p14:creationId xmlns:p14="http://schemas.microsoft.com/office/powerpoint/2010/main" val="5745782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Comments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515600" cy="4351338"/>
          </a:xfrm>
        </p:spPr>
        <p:txBody>
          <a:bodyPr>
            <a:normAutofit/>
          </a:bodyPr>
          <a:lstStyle/>
          <a:p>
            <a:pPr marL="0" indent="0">
              <a:lnSpc>
                <a:spcPct val="120000"/>
              </a:lnSpc>
              <a:buNone/>
            </a:pPr>
            <a:r>
              <a:rPr lang="en-GB" sz="4000" dirty="0">
                <a:solidFill>
                  <a:srgbClr val="B5BABF"/>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&lt;script&gt;</a:t>
            </a:r>
          </a:p>
          <a:p>
            <a:pPr marL="0" indent="0">
              <a:buNone/>
            </a:pPr>
            <a:r>
              <a:rPr lang="en-GB" sz="4000" dirty="0">
                <a:solidFill>
                  <a:srgbClr val="B5BABF"/>
                </a:solidFill>
                <a:latin typeface="Consolas" panose="020B0609020204030204" pitchFamily="49" charset="0"/>
              </a:rPr>
              <a:t>2     </a:t>
            </a:r>
            <a:r>
              <a:rPr lang="en-GB" sz="4000" dirty="0">
                <a:solidFill>
                  <a:srgbClr val="FF0000"/>
                </a:solidFill>
                <a:latin typeface="Consolas" panose="020B0609020204030204" pitchFamily="49" charset="0"/>
              </a:rPr>
              <a:t>//</a:t>
            </a:r>
            <a:r>
              <a:rPr lang="en-GB" sz="4000" dirty="0">
                <a:solidFill>
                  <a:schemeClr val="bg1">
                    <a:lumMod val="50000"/>
                  </a:schemeClr>
                </a:solidFill>
                <a:latin typeface="Consolas" panose="020B0609020204030204" pitchFamily="49" charset="0"/>
              </a:rPr>
              <a:t> </a:t>
            </a:r>
            <a:r>
              <a:rPr lang="en-GB" sz="4000" dirty="0">
                <a:solidFill>
                  <a:srgbClr val="0000FF"/>
                </a:solidFill>
                <a:latin typeface="Consolas" panose="020B0609020204030204" pitchFamily="49" charset="0"/>
              </a:rPr>
              <a:t>Single line comment</a:t>
            </a:r>
          </a:p>
          <a:p>
            <a:pPr marL="0" indent="0">
              <a:buNone/>
            </a:pPr>
            <a:r>
              <a:rPr lang="en-GB" sz="4000" dirty="0">
                <a:solidFill>
                  <a:srgbClr val="B5BABF"/>
                </a:solidFill>
                <a:latin typeface="Consolas" panose="020B0609020204030204" pitchFamily="49" charset="0"/>
              </a:rPr>
              <a:t>3     </a:t>
            </a:r>
            <a:r>
              <a:rPr lang="en-GB" sz="4000" dirty="0">
                <a:solidFill>
                  <a:srgbClr val="FF0000"/>
                </a:solidFill>
                <a:latin typeface="Consolas" panose="020B0609020204030204" pitchFamily="49" charset="0"/>
              </a:rPr>
              <a:t>/*</a:t>
            </a:r>
          </a:p>
          <a:p>
            <a:pPr marL="0" indent="0">
              <a:buNone/>
            </a:pPr>
            <a:r>
              <a:rPr lang="en-GB" sz="4000" dirty="0">
                <a:solidFill>
                  <a:srgbClr val="B5BABF"/>
                </a:solidFill>
                <a:latin typeface="Consolas" panose="020B0609020204030204" pitchFamily="49" charset="0"/>
              </a:rPr>
              <a:t>4        </a:t>
            </a:r>
            <a:r>
              <a:rPr lang="en-GB" sz="4000" dirty="0">
                <a:solidFill>
                  <a:srgbClr val="0000FF"/>
                </a:solidFill>
                <a:latin typeface="Consolas" panose="020B0609020204030204" pitchFamily="49" charset="0"/>
              </a:rPr>
              <a:t>Multiline comment</a:t>
            </a:r>
          </a:p>
          <a:p>
            <a:pPr marL="0" indent="0">
              <a:buNone/>
            </a:pPr>
            <a:r>
              <a:rPr lang="en-GB" sz="4000" dirty="0">
                <a:solidFill>
                  <a:srgbClr val="B5BABF"/>
                </a:solidFill>
                <a:latin typeface="Consolas" panose="020B0609020204030204" pitchFamily="49" charset="0"/>
              </a:rPr>
              <a:t>5     </a:t>
            </a:r>
            <a:r>
              <a:rPr lang="en-GB" sz="4000" dirty="0">
                <a:solidFill>
                  <a:srgbClr val="FF0000"/>
                </a:solidFill>
                <a:latin typeface="Consolas" panose="020B0609020204030204" pitchFamily="49" charset="0"/>
              </a:rPr>
              <a:t>*/</a:t>
            </a:r>
          </a:p>
        </p:txBody>
      </p:sp>
      <p:sp>
        <p:nvSpPr>
          <p:cNvPr id="5" name="Callout: Bent Line with No Border 4">
            <a:extLst>
              <a:ext uri="{FF2B5EF4-FFF2-40B4-BE49-F238E27FC236}">
                <a16:creationId xmlns:a16="http://schemas.microsoft.com/office/drawing/2014/main" id="{8DABB334-DBFD-0EA0-51E4-058AC7E3EF68}"/>
              </a:ext>
            </a:extLst>
          </p:cNvPr>
          <p:cNvSpPr/>
          <p:nvPr/>
        </p:nvSpPr>
        <p:spPr>
          <a:xfrm>
            <a:off x="4687259" y="3315514"/>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Start</a:t>
            </a:r>
          </a:p>
        </p:txBody>
      </p:sp>
      <p:sp>
        <p:nvSpPr>
          <p:cNvPr id="16" name="Callout: Bent Line with No Border 15">
            <a:extLst>
              <a:ext uri="{FF2B5EF4-FFF2-40B4-BE49-F238E27FC236}">
                <a16:creationId xmlns:a16="http://schemas.microsoft.com/office/drawing/2014/main" id="{16C0CA64-60AB-42EE-B3B3-C7A61FAF8EBD}"/>
              </a:ext>
            </a:extLst>
          </p:cNvPr>
          <p:cNvSpPr/>
          <p:nvPr/>
        </p:nvSpPr>
        <p:spPr>
          <a:xfrm>
            <a:off x="4687259" y="4768325"/>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End</a:t>
            </a:r>
          </a:p>
        </p:txBody>
      </p:sp>
    </p:spTree>
    <p:extLst>
      <p:ext uri="{BB962C8B-B14F-4D97-AF65-F5344CB8AC3E}">
        <p14:creationId xmlns:p14="http://schemas.microsoft.com/office/powerpoint/2010/main" val="167931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2000"/>
                                        <p:tgtEl>
                                          <p:spTgt spid="3">
                                            <p:txEl>
                                              <p:pRg st="3" end="3"/>
                                            </p:txEl>
                                          </p:spTgt>
                                        </p:tgtEl>
                                      </p:cBhvr>
                                    </p:animEffect>
                                  </p:childTnLst>
                                </p:cTn>
                              </p:par>
                            </p:childTnLst>
                          </p:cTn>
                        </p:par>
                        <p:par>
                          <p:cTn id="22" fill="hold">
                            <p:stCondLst>
                              <p:cond delay="3000"/>
                            </p:stCondLst>
                            <p:childTnLst>
                              <p:par>
                                <p:cTn id="23" presetID="22" presetClass="entr" presetSubtype="8"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left)">
                                      <p:cBhvr>
                                        <p:cTn id="25" dur="1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1000"/>
                                        <p:tgtEl>
                                          <p:spTgt spid="5"/>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16"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Comments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825625"/>
            <a:ext cx="10515600" cy="4351338"/>
          </a:xfrm>
        </p:spPr>
        <p:txBody>
          <a:bodyPr>
            <a:normAutofit/>
          </a:bodyPr>
          <a:lstStyle/>
          <a:p>
            <a:pPr marL="0" indent="0">
              <a:lnSpc>
                <a:spcPct val="120000"/>
              </a:lnSpc>
              <a:buNone/>
            </a:pPr>
            <a:r>
              <a:rPr lang="en-GB" sz="4000" dirty="0">
                <a:solidFill>
                  <a:srgbClr val="B5BABF"/>
                </a:solidFill>
                <a:latin typeface="Consolas" panose="020B0609020204030204" pitchFamily="49" charset="0"/>
              </a:rPr>
              <a:t>1</a:t>
            </a:r>
            <a:r>
              <a:rPr lang="en-GB" sz="4000" dirty="0">
                <a:latin typeface="Consolas" panose="020B0609020204030204" pitchFamily="49" charset="0"/>
              </a:rPr>
              <a:t>   </a:t>
            </a:r>
            <a:r>
              <a:rPr lang="en-GB" sz="4000" dirty="0">
                <a:solidFill>
                  <a:srgbClr val="A71D5D"/>
                </a:solidFill>
                <a:latin typeface="Consolas" panose="020B0609020204030204" pitchFamily="49" charset="0"/>
              </a:rPr>
              <a:t>&lt;script&gt;</a:t>
            </a:r>
          </a:p>
          <a:p>
            <a:pPr marL="0" indent="0">
              <a:buNone/>
            </a:pPr>
            <a:r>
              <a:rPr lang="en-GB" sz="4000" dirty="0">
                <a:solidFill>
                  <a:srgbClr val="B5BABF"/>
                </a:solidFill>
                <a:latin typeface="Consolas" panose="020B0609020204030204" pitchFamily="49" charset="0"/>
              </a:rPr>
              <a:t>2     </a:t>
            </a:r>
            <a:r>
              <a:rPr lang="en-GB" sz="4000" dirty="0">
                <a:solidFill>
                  <a:srgbClr val="FF0000"/>
                </a:solidFill>
                <a:latin typeface="Consolas" panose="020B0609020204030204" pitchFamily="49" charset="0"/>
              </a:rPr>
              <a:t>//</a:t>
            </a:r>
            <a:r>
              <a:rPr lang="en-GB" sz="4000" dirty="0">
                <a:solidFill>
                  <a:schemeClr val="bg1">
                    <a:lumMod val="50000"/>
                  </a:schemeClr>
                </a:solidFill>
                <a:latin typeface="Consolas" panose="020B0609020204030204" pitchFamily="49" charset="0"/>
              </a:rPr>
              <a:t> </a:t>
            </a:r>
            <a:r>
              <a:rPr lang="en-GB" sz="4000" dirty="0">
                <a:solidFill>
                  <a:srgbClr val="0000FF"/>
                </a:solidFill>
                <a:latin typeface="Consolas" panose="020B0609020204030204" pitchFamily="49" charset="0"/>
              </a:rPr>
              <a:t>Single line comment</a:t>
            </a:r>
          </a:p>
          <a:p>
            <a:pPr marL="0" indent="0">
              <a:buNone/>
            </a:pPr>
            <a:r>
              <a:rPr lang="en-GB" sz="4000" dirty="0">
                <a:solidFill>
                  <a:srgbClr val="B5BABF"/>
                </a:solidFill>
                <a:latin typeface="Consolas" panose="020B0609020204030204" pitchFamily="49" charset="0"/>
              </a:rPr>
              <a:t>3     </a:t>
            </a:r>
            <a:r>
              <a:rPr lang="en-GB" sz="4000" dirty="0">
                <a:solidFill>
                  <a:srgbClr val="FF0000"/>
                </a:solidFill>
                <a:latin typeface="Consolas" panose="020B0609020204030204" pitchFamily="49" charset="0"/>
              </a:rPr>
              <a:t>/*</a:t>
            </a:r>
          </a:p>
          <a:p>
            <a:pPr marL="0" indent="0">
              <a:buNone/>
            </a:pPr>
            <a:r>
              <a:rPr lang="en-GB" sz="4000" dirty="0">
                <a:solidFill>
                  <a:srgbClr val="B5BABF"/>
                </a:solidFill>
                <a:latin typeface="Consolas" panose="020B0609020204030204" pitchFamily="49" charset="0"/>
              </a:rPr>
              <a:t>4        </a:t>
            </a:r>
            <a:r>
              <a:rPr lang="en-GB" sz="4000" dirty="0">
                <a:solidFill>
                  <a:srgbClr val="0000FF"/>
                </a:solidFill>
                <a:latin typeface="Consolas" panose="020B0609020204030204" pitchFamily="49" charset="0"/>
              </a:rPr>
              <a:t>Multiline comment</a:t>
            </a:r>
          </a:p>
          <a:p>
            <a:pPr marL="0" indent="0">
              <a:buNone/>
            </a:pPr>
            <a:r>
              <a:rPr lang="en-GB" sz="4000" dirty="0">
                <a:solidFill>
                  <a:srgbClr val="B5BABF"/>
                </a:solidFill>
                <a:latin typeface="Consolas" panose="020B0609020204030204" pitchFamily="49" charset="0"/>
              </a:rPr>
              <a:t>5     </a:t>
            </a:r>
            <a:r>
              <a:rPr lang="en-GB" sz="4000" dirty="0">
                <a:solidFill>
                  <a:srgbClr val="FF0000"/>
                </a:solidFill>
                <a:latin typeface="Consolas" panose="020B0609020204030204" pitchFamily="49" charset="0"/>
              </a:rPr>
              <a:t>*/</a:t>
            </a:r>
          </a:p>
        </p:txBody>
      </p:sp>
      <p:sp>
        <p:nvSpPr>
          <p:cNvPr id="5" name="Callout: Bent Line with No Border 4">
            <a:extLst>
              <a:ext uri="{FF2B5EF4-FFF2-40B4-BE49-F238E27FC236}">
                <a16:creationId xmlns:a16="http://schemas.microsoft.com/office/drawing/2014/main" id="{8DABB334-DBFD-0EA0-51E4-058AC7E3EF68}"/>
              </a:ext>
            </a:extLst>
          </p:cNvPr>
          <p:cNvSpPr/>
          <p:nvPr/>
        </p:nvSpPr>
        <p:spPr>
          <a:xfrm>
            <a:off x="4687259" y="3315514"/>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Start</a:t>
            </a:r>
          </a:p>
        </p:txBody>
      </p:sp>
      <p:sp>
        <p:nvSpPr>
          <p:cNvPr id="16" name="Callout: Bent Line with No Border 15">
            <a:extLst>
              <a:ext uri="{FF2B5EF4-FFF2-40B4-BE49-F238E27FC236}">
                <a16:creationId xmlns:a16="http://schemas.microsoft.com/office/drawing/2014/main" id="{16C0CA64-60AB-42EE-B3B3-C7A61FAF8EBD}"/>
              </a:ext>
            </a:extLst>
          </p:cNvPr>
          <p:cNvSpPr/>
          <p:nvPr/>
        </p:nvSpPr>
        <p:spPr>
          <a:xfrm>
            <a:off x="4687259" y="4768325"/>
            <a:ext cx="2817481" cy="862642"/>
          </a:xfrm>
          <a:prstGeom prst="callout2">
            <a:avLst>
              <a:gd name="adj1" fmla="val 49953"/>
              <a:gd name="adj2" fmla="val -312"/>
              <a:gd name="adj3" fmla="val 49740"/>
              <a:gd name="adj4" fmla="val -12980"/>
              <a:gd name="adj5" fmla="val 49050"/>
              <a:gd name="adj6" fmla="val -30061"/>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End</a:t>
            </a:r>
          </a:p>
        </p:txBody>
      </p:sp>
    </p:spTree>
    <p:extLst>
      <p:ext uri="{BB962C8B-B14F-4D97-AF65-F5344CB8AC3E}">
        <p14:creationId xmlns:p14="http://schemas.microsoft.com/office/powerpoint/2010/main" val="9958539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Elements with Events - Overview</a:t>
            </a:r>
          </a:p>
        </p:txBody>
      </p:sp>
      <p:sp>
        <p:nvSpPr>
          <p:cNvPr id="4" name="Callout: Bent Line with No Border 3">
            <a:extLst>
              <a:ext uri="{FF2B5EF4-FFF2-40B4-BE49-F238E27FC236}">
                <a16:creationId xmlns:a16="http://schemas.microsoft.com/office/drawing/2014/main" id="{973BE903-2B4C-5BCA-8CFF-AD26E80D1A76}"/>
              </a:ext>
            </a:extLst>
          </p:cNvPr>
          <p:cNvSpPr/>
          <p:nvPr/>
        </p:nvSpPr>
        <p:spPr>
          <a:xfrm>
            <a:off x="6781435" y="2024967"/>
            <a:ext cx="4067796" cy="862642"/>
          </a:xfrm>
          <a:prstGeom prst="callout2">
            <a:avLst>
              <a:gd name="adj1" fmla="val 49217"/>
              <a:gd name="adj2" fmla="val -30"/>
              <a:gd name="adj3" fmla="val 49464"/>
              <a:gd name="adj4" fmla="val -6709"/>
              <a:gd name="adj5" fmla="val 112093"/>
              <a:gd name="adj6" fmla="val -667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Run when event triggered</a:t>
            </a:r>
          </a:p>
        </p:txBody>
      </p:sp>
      <p:sp>
        <p:nvSpPr>
          <p:cNvPr id="9" name="TextBox 8">
            <a:extLst>
              <a:ext uri="{FF2B5EF4-FFF2-40B4-BE49-F238E27FC236}">
                <a16:creationId xmlns:a16="http://schemas.microsoft.com/office/drawing/2014/main" id="{F3B639B4-E5C5-8DD1-DB2C-5DF574EC16F0}"/>
              </a:ext>
            </a:extLst>
          </p:cNvPr>
          <p:cNvSpPr txBox="1"/>
          <p:nvPr/>
        </p:nvSpPr>
        <p:spPr>
          <a:xfrm>
            <a:off x="1960894" y="2887609"/>
            <a:ext cx="8270213" cy="769441"/>
          </a:xfrm>
          <a:prstGeom prst="rect">
            <a:avLst/>
          </a:prstGeom>
          <a:noFill/>
        </p:spPr>
        <p:txBody>
          <a:bodyPr wrap="none" rtlCol="0">
            <a:spAutoFit/>
          </a:bodyPr>
          <a:lstStyle/>
          <a:p>
            <a:r>
              <a:rPr lang="en-GB" sz="4400" dirty="0">
                <a:latin typeface="Consolas" panose="020B0609020204030204" pitchFamily="49" charset="0"/>
              </a:rPr>
              <a:t>&lt;tag </a:t>
            </a:r>
            <a:r>
              <a:rPr lang="en-GB" sz="4400" dirty="0" err="1">
                <a:solidFill>
                  <a:srgbClr val="FF0000"/>
                </a:solidFill>
                <a:latin typeface="Consolas" panose="020B0609020204030204" pitchFamily="49" charset="0"/>
              </a:rPr>
              <a:t>onEvent</a:t>
            </a:r>
            <a:r>
              <a:rPr lang="en-GB" sz="4400" dirty="0">
                <a:solidFill>
                  <a:srgbClr val="0000FF"/>
                </a:solidFill>
                <a:latin typeface="Consolas" panose="020B0609020204030204" pitchFamily="49" charset="0"/>
              </a:rPr>
              <a:t>=</a:t>
            </a:r>
            <a:r>
              <a:rPr lang="en-GB" sz="4400" dirty="0">
                <a:latin typeface="Consolas" panose="020B0609020204030204" pitchFamily="49" charset="0"/>
              </a:rPr>
              <a:t>"</a:t>
            </a:r>
            <a:r>
              <a:rPr lang="en-GB" sz="4400" dirty="0">
                <a:solidFill>
                  <a:srgbClr val="FF0000"/>
                </a:solidFill>
                <a:latin typeface="Consolas" panose="020B0609020204030204" pitchFamily="49" charset="0"/>
              </a:rPr>
              <a:t>JavaScript</a:t>
            </a:r>
            <a:r>
              <a:rPr lang="en-GB" sz="4400" dirty="0">
                <a:latin typeface="Consolas" panose="020B0609020204030204" pitchFamily="49" charset="0"/>
              </a:rPr>
              <a:t>"&gt;</a:t>
            </a:r>
            <a:endParaRPr lang="en-GB" sz="4400" dirty="0"/>
          </a:p>
        </p:txBody>
      </p:sp>
      <p:sp>
        <p:nvSpPr>
          <p:cNvPr id="24" name="Callout: Bent Line with No Border 23">
            <a:extLst>
              <a:ext uri="{FF2B5EF4-FFF2-40B4-BE49-F238E27FC236}">
                <a16:creationId xmlns:a16="http://schemas.microsoft.com/office/drawing/2014/main" id="{535B09F3-DD14-0BE1-83EE-674A2D878E89}"/>
              </a:ext>
            </a:extLst>
          </p:cNvPr>
          <p:cNvSpPr/>
          <p:nvPr/>
        </p:nvSpPr>
        <p:spPr>
          <a:xfrm flipH="1">
            <a:off x="1030577" y="3831956"/>
            <a:ext cx="2414411" cy="862642"/>
          </a:xfrm>
          <a:prstGeom prst="callout2">
            <a:avLst>
              <a:gd name="adj1" fmla="val 49217"/>
              <a:gd name="adj2" fmla="val -30"/>
              <a:gd name="adj3" fmla="val 49740"/>
              <a:gd name="adj4" fmla="val -12980"/>
              <a:gd name="adj5" fmla="val -27980"/>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Event handler</a:t>
            </a:r>
          </a:p>
        </p:txBody>
      </p:sp>
      <p:sp>
        <p:nvSpPr>
          <p:cNvPr id="25" name="TextBox 24">
            <a:extLst>
              <a:ext uri="{FF2B5EF4-FFF2-40B4-BE49-F238E27FC236}">
                <a16:creationId xmlns:a16="http://schemas.microsoft.com/office/drawing/2014/main" id="{05F5ADFE-C399-4090-C356-DD81EB05E487}"/>
              </a:ext>
            </a:extLst>
          </p:cNvPr>
          <p:cNvSpPr txBox="1"/>
          <p:nvPr/>
        </p:nvSpPr>
        <p:spPr>
          <a:xfrm>
            <a:off x="1962690" y="5292546"/>
            <a:ext cx="8266623" cy="1200329"/>
          </a:xfrm>
          <a:prstGeom prst="rect">
            <a:avLst/>
          </a:prstGeom>
          <a:noFill/>
        </p:spPr>
        <p:txBody>
          <a:bodyPr wrap="none" rtlCol="0">
            <a:spAutoFit/>
          </a:bodyPr>
          <a:lstStyle/>
          <a:p>
            <a:pPr algn="ctr"/>
            <a:r>
              <a:rPr lang="en-GB" sz="3600" dirty="0">
                <a:solidFill>
                  <a:srgbClr val="7030A0"/>
                </a:solidFill>
              </a:rPr>
              <a:t>Event handlers are specified in the start tag</a:t>
            </a:r>
          </a:p>
          <a:p>
            <a:pPr algn="ctr"/>
            <a:r>
              <a:rPr lang="en-GB" sz="3600" dirty="0">
                <a:solidFill>
                  <a:srgbClr val="7030A0"/>
                </a:solidFill>
              </a:rPr>
              <a:t>Multiple event handlers allowed</a:t>
            </a:r>
          </a:p>
        </p:txBody>
      </p:sp>
    </p:spTree>
    <p:extLst>
      <p:ext uri="{BB962C8B-B14F-4D97-AF65-F5344CB8AC3E}">
        <p14:creationId xmlns:p14="http://schemas.microsoft.com/office/powerpoint/2010/main" val="206348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xEl>
                                              <p:pRg st="0" end="0"/>
                                            </p:txEl>
                                          </p:spTgt>
                                        </p:tgtEl>
                                        <p:attrNameLst>
                                          <p:attrName>style.visibility</p:attrName>
                                        </p:attrNameLst>
                                      </p:cBhvr>
                                      <p:to>
                                        <p:strVal val="visible"/>
                                      </p:to>
                                    </p:set>
                                    <p:animEffect transition="in" filter="wipe(left)">
                                      <p:cBhvr>
                                        <p:cTn id="22" dur="2000"/>
                                        <p:tgtEl>
                                          <p:spTgt spid="2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xEl>
                                              <p:pRg st="1" end="1"/>
                                            </p:txEl>
                                          </p:spTgt>
                                        </p:tgtEl>
                                        <p:attrNameLst>
                                          <p:attrName>style.visibility</p:attrName>
                                        </p:attrNameLst>
                                      </p:cBhvr>
                                      <p:to>
                                        <p:strVal val="visible"/>
                                      </p:to>
                                    </p:set>
                                    <p:animEffect transition="in" filter="wipe(left)">
                                      <p:cBhvr>
                                        <p:cTn id="27" dur="20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build="p"/>
      <p:bldP spid="24" grpId="0" animBg="1"/>
      <p:bldP spid="25"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HTML Elements with Events - Overview</a:t>
            </a:r>
          </a:p>
        </p:txBody>
      </p:sp>
      <p:sp>
        <p:nvSpPr>
          <p:cNvPr id="9" name="TextBox 8">
            <a:extLst>
              <a:ext uri="{FF2B5EF4-FFF2-40B4-BE49-F238E27FC236}">
                <a16:creationId xmlns:a16="http://schemas.microsoft.com/office/drawing/2014/main" id="{F3B639B4-E5C5-8DD1-DB2C-5DF574EC16F0}"/>
              </a:ext>
            </a:extLst>
          </p:cNvPr>
          <p:cNvSpPr txBox="1"/>
          <p:nvPr/>
        </p:nvSpPr>
        <p:spPr>
          <a:xfrm>
            <a:off x="1960894" y="2887609"/>
            <a:ext cx="8270213" cy="769441"/>
          </a:xfrm>
          <a:prstGeom prst="rect">
            <a:avLst/>
          </a:prstGeom>
          <a:noFill/>
        </p:spPr>
        <p:txBody>
          <a:bodyPr wrap="none" rtlCol="0">
            <a:spAutoFit/>
          </a:bodyPr>
          <a:lstStyle/>
          <a:p>
            <a:r>
              <a:rPr lang="en-GB" sz="4400" dirty="0">
                <a:latin typeface="Consolas" panose="020B0609020204030204" pitchFamily="49" charset="0"/>
              </a:rPr>
              <a:t>&lt;tag </a:t>
            </a:r>
            <a:r>
              <a:rPr lang="en-GB" sz="4400" dirty="0" err="1">
                <a:solidFill>
                  <a:srgbClr val="FF0000"/>
                </a:solidFill>
                <a:latin typeface="Consolas" panose="020B0609020204030204" pitchFamily="49" charset="0"/>
              </a:rPr>
              <a:t>onEvent</a:t>
            </a:r>
            <a:r>
              <a:rPr lang="en-GB" sz="4400" dirty="0">
                <a:solidFill>
                  <a:srgbClr val="0000FF"/>
                </a:solidFill>
                <a:latin typeface="Consolas" panose="020B0609020204030204" pitchFamily="49" charset="0"/>
              </a:rPr>
              <a:t>=</a:t>
            </a:r>
            <a:r>
              <a:rPr lang="en-GB" sz="4400" dirty="0">
                <a:latin typeface="Consolas" panose="020B0609020204030204" pitchFamily="49" charset="0"/>
              </a:rPr>
              <a:t>"</a:t>
            </a:r>
            <a:r>
              <a:rPr lang="en-GB" sz="4400" dirty="0">
                <a:solidFill>
                  <a:srgbClr val="FF0000"/>
                </a:solidFill>
                <a:latin typeface="Consolas" panose="020B0609020204030204" pitchFamily="49" charset="0"/>
              </a:rPr>
              <a:t>JavaScript</a:t>
            </a:r>
            <a:r>
              <a:rPr lang="en-GB" sz="4400" dirty="0">
                <a:latin typeface="Consolas" panose="020B0609020204030204" pitchFamily="49" charset="0"/>
              </a:rPr>
              <a:t>"&gt;</a:t>
            </a:r>
            <a:endParaRPr lang="en-GB" sz="4400" dirty="0"/>
          </a:p>
        </p:txBody>
      </p:sp>
    </p:spTree>
    <p:extLst>
      <p:ext uri="{BB962C8B-B14F-4D97-AF65-F5344CB8AC3E}">
        <p14:creationId xmlns:p14="http://schemas.microsoft.com/office/powerpoint/2010/main" val="37063188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Using ID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419099" y="2563091"/>
            <a:ext cx="11353802" cy="3613872"/>
          </a:xfrm>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A71D5D"/>
                </a:solidFill>
                <a:latin typeface="Consolas" panose="020B0609020204030204" pitchFamily="49" charset="0"/>
              </a:rPr>
              <a:t>&lt;p</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id</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"news" </a:t>
            </a:r>
            <a:r>
              <a:rPr lang="en-US" altLang="en-US" sz="4400" dirty="0" err="1">
                <a:solidFill>
                  <a:srgbClr val="0086B3"/>
                </a:solidFill>
                <a:latin typeface="Consolas" panose="020B0609020204030204" pitchFamily="49" charset="0"/>
              </a:rPr>
              <a:t>onmouseover</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"red()"</a:t>
            </a:r>
            <a:r>
              <a:rPr lang="en-US" altLang="en-US" sz="44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US" altLang="en-US" sz="4400" dirty="0">
                <a:solidFill>
                  <a:srgbClr val="000000"/>
                </a:solidFill>
                <a:latin typeface="Consolas" panose="020B0609020204030204" pitchFamily="49" charset="0"/>
              </a:rPr>
              <a:t>   By Element ID</a:t>
            </a:r>
            <a:r>
              <a:rPr lang="en-US" altLang="en-US" sz="4400" dirty="0">
                <a:solidFill>
                  <a:srgbClr val="A71D5D"/>
                </a:solidFill>
                <a:latin typeface="Consolas" panose="020B0609020204030204" pitchFamily="49" charset="0"/>
              </a:rPr>
              <a:t>&lt;/p&gt;</a:t>
            </a:r>
            <a:endParaRPr lang="en-US" altLang="en-US" sz="6000" dirty="0">
              <a:latin typeface="Arial" panose="020B0604020202020204" pitchFamily="34" charset="0"/>
            </a:endParaRPr>
          </a:p>
        </p:txBody>
      </p:sp>
      <p:sp>
        <p:nvSpPr>
          <p:cNvPr id="6" name="Callout: Bent Line with No Border 5">
            <a:extLst>
              <a:ext uri="{FF2B5EF4-FFF2-40B4-BE49-F238E27FC236}">
                <a16:creationId xmlns:a16="http://schemas.microsoft.com/office/drawing/2014/main" id="{79AEB255-B695-D4B5-9FA6-F301F036190F}"/>
              </a:ext>
            </a:extLst>
          </p:cNvPr>
          <p:cNvSpPr/>
          <p:nvPr/>
        </p:nvSpPr>
        <p:spPr>
          <a:xfrm flipH="1">
            <a:off x="3442207" y="1624492"/>
            <a:ext cx="2414411" cy="862642"/>
          </a:xfrm>
          <a:prstGeom prst="callout2">
            <a:avLst>
              <a:gd name="adj1" fmla="val 49217"/>
              <a:gd name="adj2" fmla="val -30"/>
              <a:gd name="adj3" fmla="val 49740"/>
              <a:gd name="adj4" fmla="val -12980"/>
              <a:gd name="adj5" fmla="val 134806"/>
              <a:gd name="adj6" fmla="val -133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Event handler</a:t>
            </a:r>
          </a:p>
        </p:txBody>
      </p:sp>
      <p:sp>
        <p:nvSpPr>
          <p:cNvPr id="7" name="Callout: Bent Line with No Border 6">
            <a:extLst>
              <a:ext uri="{FF2B5EF4-FFF2-40B4-BE49-F238E27FC236}">
                <a16:creationId xmlns:a16="http://schemas.microsoft.com/office/drawing/2014/main" id="{08586166-BD81-4FDA-3E69-E11AC298DEB7}"/>
              </a:ext>
            </a:extLst>
          </p:cNvPr>
          <p:cNvSpPr/>
          <p:nvPr/>
        </p:nvSpPr>
        <p:spPr>
          <a:xfrm flipH="1">
            <a:off x="6240160" y="4134705"/>
            <a:ext cx="2474317" cy="862642"/>
          </a:xfrm>
          <a:prstGeom prst="callout2">
            <a:avLst>
              <a:gd name="adj1" fmla="val 49217"/>
              <a:gd name="adj2" fmla="val -30"/>
              <a:gd name="adj3" fmla="val 49740"/>
              <a:gd name="adj4" fmla="val -12980"/>
              <a:gd name="adj5" fmla="val -74670"/>
              <a:gd name="adj6" fmla="val -1201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Function to call</a:t>
            </a:r>
          </a:p>
        </p:txBody>
      </p:sp>
    </p:spTree>
    <p:extLst>
      <p:ext uri="{BB962C8B-B14F-4D97-AF65-F5344CB8AC3E}">
        <p14:creationId xmlns:p14="http://schemas.microsoft.com/office/powerpoint/2010/main" val="220034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2000"/>
                                        <p:tgtEl>
                                          <p:spTgt spid="3">
                                            <p:txEl>
                                              <p:pRg st="0" end="0"/>
                                            </p:txEl>
                                          </p:spTgt>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20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Using ID</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419099" y="2563091"/>
            <a:ext cx="11353802" cy="3613872"/>
          </a:xfrm>
        </p:spPr>
        <p:txBody>
          <a:bodyPr>
            <a:normAutofit/>
          </a:bodyPr>
          <a:lstStyle/>
          <a:p>
            <a:pPr marL="0" lvl="0" indent="0" eaLnBrk="0" fontAlgn="base" hangingPunct="0">
              <a:lnSpc>
                <a:spcPct val="100000"/>
              </a:lnSpc>
              <a:spcBef>
                <a:spcPct val="0"/>
              </a:spcBef>
              <a:spcAft>
                <a:spcPct val="0"/>
              </a:spcAft>
              <a:buNone/>
            </a:pPr>
            <a:r>
              <a:rPr lang="en-US" altLang="en-US" sz="4400" dirty="0">
                <a:solidFill>
                  <a:srgbClr val="A71D5D"/>
                </a:solidFill>
                <a:latin typeface="Consolas" panose="020B0609020204030204" pitchFamily="49" charset="0"/>
              </a:rPr>
              <a:t>&lt;p</a:t>
            </a:r>
            <a:r>
              <a:rPr lang="en-US" altLang="en-US" sz="4400" dirty="0">
                <a:solidFill>
                  <a:srgbClr val="000000"/>
                </a:solidFill>
                <a:latin typeface="Consolas" panose="020B0609020204030204" pitchFamily="49" charset="0"/>
              </a:rPr>
              <a:t> </a:t>
            </a:r>
            <a:r>
              <a:rPr lang="en-US" altLang="en-US" sz="4400" dirty="0">
                <a:solidFill>
                  <a:srgbClr val="0086B3"/>
                </a:solidFill>
                <a:latin typeface="Consolas" panose="020B0609020204030204" pitchFamily="49" charset="0"/>
              </a:rPr>
              <a:t>id</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"news" </a:t>
            </a:r>
            <a:r>
              <a:rPr lang="en-US" altLang="en-US" sz="4400" dirty="0" err="1">
                <a:solidFill>
                  <a:srgbClr val="0086B3"/>
                </a:solidFill>
                <a:latin typeface="Consolas" panose="020B0609020204030204" pitchFamily="49" charset="0"/>
              </a:rPr>
              <a:t>onmouseover</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"red()"</a:t>
            </a:r>
            <a:r>
              <a:rPr lang="en-US" altLang="en-US" sz="4400" dirty="0">
                <a:solidFill>
                  <a:srgbClr val="A71D5D"/>
                </a:solidFill>
                <a:latin typeface="Consolas" panose="020B0609020204030204" pitchFamily="49" charset="0"/>
              </a:rPr>
              <a:t>&gt;</a:t>
            </a:r>
          </a:p>
          <a:p>
            <a:pPr marL="0" lvl="0" indent="0" eaLnBrk="0" fontAlgn="base" hangingPunct="0">
              <a:lnSpc>
                <a:spcPct val="100000"/>
              </a:lnSpc>
              <a:spcBef>
                <a:spcPct val="0"/>
              </a:spcBef>
              <a:spcAft>
                <a:spcPct val="0"/>
              </a:spcAft>
              <a:buNone/>
            </a:pPr>
            <a:r>
              <a:rPr lang="en-US" altLang="en-US" sz="4400" dirty="0">
                <a:solidFill>
                  <a:srgbClr val="000000"/>
                </a:solidFill>
                <a:latin typeface="Consolas" panose="020B0609020204030204" pitchFamily="49" charset="0"/>
              </a:rPr>
              <a:t>   By Element ID</a:t>
            </a:r>
            <a:r>
              <a:rPr lang="en-US" altLang="en-US" sz="4400" dirty="0">
                <a:solidFill>
                  <a:srgbClr val="A71D5D"/>
                </a:solidFill>
                <a:latin typeface="Consolas" panose="020B0609020204030204" pitchFamily="49" charset="0"/>
              </a:rPr>
              <a:t>&lt;/p&gt;</a:t>
            </a:r>
            <a:endParaRPr lang="en-US" altLang="en-US" sz="6000" dirty="0">
              <a:latin typeface="Arial" panose="020B0604020202020204" pitchFamily="34" charset="0"/>
            </a:endParaRPr>
          </a:p>
        </p:txBody>
      </p:sp>
    </p:spTree>
    <p:extLst>
      <p:ext uri="{BB962C8B-B14F-4D97-AF65-F5344CB8AC3E}">
        <p14:creationId xmlns:p14="http://schemas.microsoft.com/office/powerpoint/2010/main" val="1273696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a:xfrm>
            <a:off x="838200" y="345597"/>
            <a:ext cx="10515600" cy="1325563"/>
          </a:xfrm>
        </p:spPr>
        <p:txBody>
          <a:bodyPr/>
          <a:lstStyle/>
          <a:p>
            <a:r>
              <a:rPr lang="en-GB" dirty="0"/>
              <a:t>JavaScript – </a:t>
            </a:r>
            <a:r>
              <a:rPr lang="en-GB" dirty="0" err="1"/>
              <a:t>getElementById</a:t>
            </a:r>
            <a:endParaRPr lang="en-GB" dirty="0"/>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690688"/>
            <a:ext cx="10764000" cy="4351338"/>
          </a:xfrm>
        </p:spPr>
        <p:txBody>
          <a:bodyPr>
            <a:no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000000"/>
                </a:solidFill>
                <a:latin typeface="Consolas" panose="020B0609020204030204" pitchFamily="49" charset="0"/>
              </a:rPr>
              <a:t>function </a:t>
            </a:r>
            <a:r>
              <a:rPr lang="en-US" altLang="en-US" sz="4000" dirty="0">
                <a:solidFill>
                  <a:srgbClr val="0086B3"/>
                </a:solidFill>
                <a:latin typeface="Consolas" panose="020B0609020204030204" pitchFamily="49" charset="0"/>
              </a:rPr>
              <a:t>red</a:t>
            </a:r>
            <a:r>
              <a:rPr lang="en-US" altLang="en-US" sz="4000" dirty="0">
                <a:solidFill>
                  <a:srgbClr val="000000"/>
                </a:solidFill>
                <a:latin typeface="Consolas" panose="020B0609020204030204" pitchFamily="49" charset="0"/>
              </a:rPr>
              <a:t>() {</a:t>
            </a:r>
          </a:p>
          <a:p>
            <a:pPr marL="0" indent="0">
              <a:buNone/>
            </a:pPr>
            <a:r>
              <a:rPr lang="en-US" altLang="en-US" sz="4000" dirty="0">
                <a:solidFill>
                  <a:srgbClr val="B2B2B2"/>
                </a:solidFill>
                <a:latin typeface="Consolas" panose="020B0609020204030204" pitchFamily="49" charset="0"/>
              </a:rPr>
              <a:t>2 </a:t>
            </a:r>
            <a:r>
              <a:rPr lang="en-US" altLang="en-US" sz="4000" dirty="0" err="1">
                <a:solidFill>
                  <a:srgbClr val="000000"/>
                </a:solidFill>
                <a:latin typeface="Consolas" panose="020B0609020204030204" pitchFamily="49" charset="0"/>
              </a:rPr>
              <a:t>document.</a:t>
            </a:r>
            <a:r>
              <a:rPr lang="en-US" altLang="en-US" sz="4000" dirty="0" err="1">
                <a:solidFill>
                  <a:srgbClr val="0086B3"/>
                </a:solidFill>
                <a:latin typeface="Consolas" panose="020B0609020204030204" pitchFamily="49" charset="0"/>
              </a:rPr>
              <a:t>getElementById</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'news'</a:t>
            </a:r>
            <a:r>
              <a:rPr lang="en-US" altLang="en-US" sz="4000" dirty="0">
                <a:solidFill>
                  <a:srgbClr val="000000"/>
                </a:solidFill>
                <a:latin typeface="Consolas" panose="020B0609020204030204" pitchFamily="49" charset="0"/>
              </a:rPr>
              <a:t>)</a:t>
            </a:r>
          </a:p>
          <a:p>
            <a:pPr marL="0" indent="0">
              <a:buNone/>
            </a:pP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style.color</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'red'</a:t>
            </a:r>
            <a:r>
              <a:rPr lang="en-US" altLang="en-US" sz="4000" dirty="0">
                <a:solidFill>
                  <a:srgbClr val="000000"/>
                </a:solidFill>
                <a:latin typeface="Consolas" panose="020B0609020204030204" pitchFamily="49" charset="0"/>
              </a:rPr>
              <a:t>; </a:t>
            </a:r>
            <a:br>
              <a:rPr lang="en-US" altLang="en-US" sz="4000" dirty="0">
                <a:solidFill>
                  <a:srgbClr val="000000"/>
                </a:solidFill>
                <a:latin typeface="Consolas" panose="020B0609020204030204" pitchFamily="49" charset="0"/>
              </a:rPr>
            </a:br>
            <a:r>
              <a:rPr lang="en-US" altLang="en-US" sz="4000" dirty="0">
                <a:solidFill>
                  <a:srgbClr val="B2B2B2"/>
                </a:solidFill>
                <a:latin typeface="Consolas" panose="020B0609020204030204" pitchFamily="49" charset="0"/>
              </a:rPr>
              <a:t>3 </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&lt;/script&gt;</a:t>
            </a:r>
            <a:endParaRPr lang="en-GB" sz="3600" dirty="0">
              <a:latin typeface="Consolas" panose="020B0609020204030204" pitchFamily="49" charset="0"/>
            </a:endParaRPr>
          </a:p>
        </p:txBody>
      </p:sp>
      <p:sp>
        <p:nvSpPr>
          <p:cNvPr id="5" name="Callout: Bent Line with No Border 4">
            <a:extLst>
              <a:ext uri="{FF2B5EF4-FFF2-40B4-BE49-F238E27FC236}">
                <a16:creationId xmlns:a16="http://schemas.microsoft.com/office/drawing/2014/main" id="{8DABB334-DBFD-0EA0-51E4-058AC7E3EF68}"/>
              </a:ext>
            </a:extLst>
          </p:cNvPr>
          <p:cNvSpPr/>
          <p:nvPr/>
        </p:nvSpPr>
        <p:spPr>
          <a:xfrm>
            <a:off x="7018256" y="1211150"/>
            <a:ext cx="2817481" cy="862642"/>
          </a:xfrm>
          <a:prstGeom prst="callout2">
            <a:avLst>
              <a:gd name="adj1" fmla="val 49953"/>
              <a:gd name="adj2" fmla="val -312"/>
              <a:gd name="adj3" fmla="val 49740"/>
              <a:gd name="adj4" fmla="val -12980"/>
              <a:gd name="adj5" fmla="val 80598"/>
              <a:gd name="adj6" fmla="val -3315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Curly brackets</a:t>
            </a:r>
          </a:p>
        </p:txBody>
      </p:sp>
      <p:sp>
        <p:nvSpPr>
          <p:cNvPr id="6" name="Callout: Bent Line with No Border 5">
            <a:extLst>
              <a:ext uri="{FF2B5EF4-FFF2-40B4-BE49-F238E27FC236}">
                <a16:creationId xmlns:a16="http://schemas.microsoft.com/office/drawing/2014/main" id="{5EE51122-47E4-494D-30CD-CEFF13FC63C6}"/>
              </a:ext>
            </a:extLst>
          </p:cNvPr>
          <p:cNvSpPr/>
          <p:nvPr/>
        </p:nvSpPr>
        <p:spPr>
          <a:xfrm>
            <a:off x="9496666" y="3543192"/>
            <a:ext cx="653221" cy="862642"/>
          </a:xfrm>
          <a:prstGeom prst="callout2">
            <a:avLst>
              <a:gd name="adj1" fmla="val 49953"/>
              <a:gd name="adj2" fmla="val -312"/>
              <a:gd name="adj3" fmla="val 50292"/>
              <a:gd name="adj4" fmla="val -40581"/>
              <a:gd name="adj5" fmla="val -34787"/>
              <a:gd name="adj6" fmla="val -41172"/>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ID</a:t>
            </a:r>
          </a:p>
        </p:txBody>
      </p:sp>
      <p:sp>
        <p:nvSpPr>
          <p:cNvPr id="7" name="Callout: Bent Line with No Border 6">
            <a:extLst>
              <a:ext uri="{FF2B5EF4-FFF2-40B4-BE49-F238E27FC236}">
                <a16:creationId xmlns:a16="http://schemas.microsoft.com/office/drawing/2014/main" id="{B6FACACF-8A3A-2BAC-3730-9144E2326A61}"/>
              </a:ext>
            </a:extLst>
          </p:cNvPr>
          <p:cNvSpPr/>
          <p:nvPr/>
        </p:nvSpPr>
        <p:spPr>
          <a:xfrm>
            <a:off x="8982929" y="4245193"/>
            <a:ext cx="1877864" cy="862642"/>
          </a:xfrm>
          <a:prstGeom prst="callout2">
            <a:avLst>
              <a:gd name="adj1" fmla="val 49953"/>
              <a:gd name="adj2" fmla="val -312"/>
              <a:gd name="adj3" fmla="val 50200"/>
              <a:gd name="adj4" fmla="val -20461"/>
              <a:gd name="adj5" fmla="val -38099"/>
              <a:gd name="adj6" fmla="val -1986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Semi-colon</a:t>
            </a:r>
          </a:p>
        </p:txBody>
      </p:sp>
      <p:sp>
        <p:nvSpPr>
          <p:cNvPr id="8" name="Callout: Bent Line with No Border 7">
            <a:extLst>
              <a:ext uri="{FF2B5EF4-FFF2-40B4-BE49-F238E27FC236}">
                <a16:creationId xmlns:a16="http://schemas.microsoft.com/office/drawing/2014/main" id="{536E2715-41EB-D0C4-559B-C1C823ED39BA}"/>
              </a:ext>
            </a:extLst>
          </p:cNvPr>
          <p:cNvSpPr/>
          <p:nvPr/>
        </p:nvSpPr>
        <p:spPr>
          <a:xfrm flipH="1">
            <a:off x="4858997" y="4272290"/>
            <a:ext cx="2042393" cy="862642"/>
          </a:xfrm>
          <a:prstGeom prst="callout2">
            <a:avLst>
              <a:gd name="adj1" fmla="val 49953"/>
              <a:gd name="adj2" fmla="val -312"/>
              <a:gd name="adj3" fmla="val 50108"/>
              <a:gd name="adj4" fmla="val -15549"/>
              <a:gd name="adj5" fmla="val -42516"/>
              <a:gd name="adj6" fmla="val -1520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Single quote</a:t>
            </a:r>
          </a:p>
        </p:txBody>
      </p:sp>
      <p:sp>
        <p:nvSpPr>
          <p:cNvPr id="11" name="TextBox 10">
            <a:extLst>
              <a:ext uri="{FF2B5EF4-FFF2-40B4-BE49-F238E27FC236}">
                <a16:creationId xmlns:a16="http://schemas.microsoft.com/office/drawing/2014/main" id="{C4F07DAF-F3C1-45BB-9FC5-DE71962A8A1C}"/>
              </a:ext>
            </a:extLst>
          </p:cNvPr>
          <p:cNvSpPr txBox="1"/>
          <p:nvPr/>
        </p:nvSpPr>
        <p:spPr>
          <a:xfrm>
            <a:off x="2419432" y="5846544"/>
            <a:ext cx="7353231" cy="646331"/>
          </a:xfrm>
          <a:prstGeom prst="rect">
            <a:avLst/>
          </a:prstGeom>
          <a:noFill/>
        </p:spPr>
        <p:txBody>
          <a:bodyPr wrap="none" rtlCol="0">
            <a:spAutoFit/>
          </a:bodyPr>
          <a:lstStyle/>
          <a:p>
            <a:pPr algn="ctr"/>
            <a:r>
              <a:rPr lang="en-GB" sz="3600" dirty="0">
                <a:solidFill>
                  <a:srgbClr val="7030A0"/>
                </a:solidFill>
              </a:rPr>
              <a:t>ID used – Only works on one element</a:t>
            </a:r>
            <a:endParaRPr lang="en-GB" sz="36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409402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1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1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1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wipe(left)">
                                      <p:cBhvr>
                                        <p:cTn id="4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11" grpId="0" build="p"/>
    </p:bld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a:xfrm>
            <a:off x="838200" y="345597"/>
            <a:ext cx="10515600" cy="1325563"/>
          </a:xfrm>
        </p:spPr>
        <p:txBody>
          <a:bodyPr/>
          <a:lstStyle/>
          <a:p>
            <a:r>
              <a:rPr lang="en-GB" dirty="0"/>
              <a:t>JavaScript – </a:t>
            </a:r>
            <a:r>
              <a:rPr lang="en-GB" dirty="0" err="1"/>
              <a:t>getElementById</a:t>
            </a:r>
            <a:endParaRPr lang="en-GB" dirty="0"/>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690688"/>
            <a:ext cx="10764000" cy="4351338"/>
          </a:xfrm>
        </p:spPr>
        <p:txBody>
          <a:bodyPr>
            <a:noAutofit/>
          </a:bodyPr>
          <a:lstStyle/>
          <a:p>
            <a:pPr marL="0" indent="0">
              <a:buNone/>
            </a:pPr>
            <a:r>
              <a:rPr lang="en-US" altLang="en-US" sz="4000" dirty="0">
                <a:solidFill>
                  <a:srgbClr val="B2B2B2"/>
                </a:solidFill>
                <a:latin typeface="Consolas" panose="020B0609020204030204" pitchFamily="49" charset="0"/>
              </a:rPr>
              <a:t>1 </a:t>
            </a:r>
            <a:r>
              <a:rPr lang="en-US" altLang="en-US" sz="4000" dirty="0">
                <a:solidFill>
                  <a:srgbClr val="000000"/>
                </a:solidFill>
                <a:latin typeface="Consolas" panose="020B0609020204030204" pitchFamily="49" charset="0"/>
              </a:rPr>
              <a:t>function </a:t>
            </a:r>
            <a:r>
              <a:rPr lang="en-US" altLang="en-US" sz="4000" dirty="0">
                <a:solidFill>
                  <a:srgbClr val="0086B3"/>
                </a:solidFill>
                <a:latin typeface="Consolas" panose="020B0609020204030204" pitchFamily="49" charset="0"/>
              </a:rPr>
              <a:t>red</a:t>
            </a:r>
            <a:r>
              <a:rPr lang="en-US" altLang="en-US" sz="4000" dirty="0">
                <a:solidFill>
                  <a:srgbClr val="000000"/>
                </a:solidFill>
                <a:latin typeface="Consolas" panose="020B0609020204030204" pitchFamily="49" charset="0"/>
              </a:rPr>
              <a:t>() {</a:t>
            </a:r>
          </a:p>
          <a:p>
            <a:pPr marL="0" indent="0">
              <a:buNone/>
            </a:pPr>
            <a:r>
              <a:rPr lang="en-US" altLang="en-US" sz="4000" dirty="0">
                <a:solidFill>
                  <a:srgbClr val="B2B2B2"/>
                </a:solidFill>
                <a:latin typeface="Consolas" panose="020B0609020204030204" pitchFamily="49" charset="0"/>
              </a:rPr>
              <a:t>2 </a:t>
            </a:r>
            <a:r>
              <a:rPr lang="en-US" altLang="en-US" sz="4000" dirty="0" err="1">
                <a:solidFill>
                  <a:srgbClr val="000000"/>
                </a:solidFill>
                <a:latin typeface="Consolas" panose="020B0609020204030204" pitchFamily="49" charset="0"/>
              </a:rPr>
              <a:t>document.</a:t>
            </a:r>
            <a:r>
              <a:rPr lang="en-US" altLang="en-US" sz="4000" dirty="0" err="1">
                <a:solidFill>
                  <a:srgbClr val="0086B3"/>
                </a:solidFill>
                <a:latin typeface="Consolas" panose="020B0609020204030204" pitchFamily="49" charset="0"/>
              </a:rPr>
              <a:t>getElementById</a:t>
            </a:r>
            <a:r>
              <a:rPr lang="en-US" altLang="en-US" sz="4000" dirty="0">
                <a:solidFill>
                  <a:srgbClr val="000000"/>
                </a:solidFill>
                <a:latin typeface="Consolas" panose="020B0609020204030204" pitchFamily="49" charset="0"/>
              </a:rPr>
              <a:t>(</a:t>
            </a:r>
            <a:r>
              <a:rPr lang="en-US" altLang="en-US" sz="4000" dirty="0">
                <a:solidFill>
                  <a:srgbClr val="183691"/>
                </a:solidFill>
                <a:latin typeface="Consolas" panose="020B0609020204030204" pitchFamily="49" charset="0"/>
              </a:rPr>
              <a:t>'news'</a:t>
            </a:r>
            <a:r>
              <a:rPr lang="en-US" altLang="en-US" sz="4000" dirty="0">
                <a:solidFill>
                  <a:srgbClr val="000000"/>
                </a:solidFill>
                <a:latin typeface="Consolas" panose="020B0609020204030204" pitchFamily="49" charset="0"/>
              </a:rPr>
              <a:t>)</a:t>
            </a:r>
          </a:p>
          <a:p>
            <a:pPr marL="0" indent="0">
              <a:buNone/>
            </a:pPr>
            <a:r>
              <a:rPr lang="en-US" altLang="en-US" sz="4000" dirty="0">
                <a:solidFill>
                  <a:srgbClr val="000000"/>
                </a:solidFill>
                <a:latin typeface="Consolas" panose="020B0609020204030204" pitchFamily="49" charset="0"/>
              </a:rPr>
              <a:t>       .</a:t>
            </a:r>
            <a:r>
              <a:rPr lang="en-US" altLang="en-US" sz="4000" dirty="0" err="1">
                <a:solidFill>
                  <a:srgbClr val="000000"/>
                </a:solidFill>
                <a:latin typeface="Consolas" panose="020B0609020204030204" pitchFamily="49" charset="0"/>
              </a:rPr>
              <a:t>style.color</a:t>
            </a:r>
            <a:r>
              <a:rPr lang="en-US" altLang="en-US" sz="4000" dirty="0">
                <a:solidFill>
                  <a:srgbClr val="000000"/>
                </a:solidFill>
                <a:latin typeface="Consolas" panose="020B0609020204030204" pitchFamily="49" charset="0"/>
              </a:rPr>
              <a:t> = </a:t>
            </a:r>
            <a:r>
              <a:rPr lang="en-US" altLang="en-US" sz="4000" dirty="0">
                <a:solidFill>
                  <a:srgbClr val="183691"/>
                </a:solidFill>
                <a:latin typeface="Consolas" panose="020B0609020204030204" pitchFamily="49" charset="0"/>
              </a:rPr>
              <a:t>'red'</a:t>
            </a:r>
            <a:r>
              <a:rPr lang="en-US" altLang="en-US" sz="4000" dirty="0">
                <a:solidFill>
                  <a:srgbClr val="000000"/>
                </a:solidFill>
                <a:latin typeface="Consolas" panose="020B0609020204030204" pitchFamily="49" charset="0"/>
              </a:rPr>
              <a:t>; </a:t>
            </a:r>
            <a:br>
              <a:rPr lang="en-US" altLang="en-US" sz="4000" dirty="0">
                <a:solidFill>
                  <a:srgbClr val="000000"/>
                </a:solidFill>
                <a:latin typeface="Consolas" panose="020B0609020204030204" pitchFamily="49" charset="0"/>
              </a:rPr>
            </a:br>
            <a:r>
              <a:rPr lang="en-US" altLang="en-US" sz="4000" dirty="0">
                <a:solidFill>
                  <a:srgbClr val="B2B2B2"/>
                </a:solidFill>
                <a:latin typeface="Consolas" panose="020B0609020204030204" pitchFamily="49" charset="0"/>
              </a:rPr>
              <a:t>3 </a:t>
            </a:r>
            <a:r>
              <a:rPr lang="en-US" altLang="en-US" sz="4000" dirty="0">
                <a:solidFill>
                  <a:srgbClr val="000000"/>
                </a:solidFill>
                <a:latin typeface="Consolas" panose="020B0609020204030204" pitchFamily="49" charset="0"/>
              </a:rPr>
              <a:t>}</a:t>
            </a:r>
            <a:br>
              <a:rPr lang="en-US" altLang="en-US" sz="4000" dirty="0">
                <a:solidFill>
                  <a:srgbClr val="000000"/>
                </a:solidFill>
                <a:latin typeface="Consolas" panose="020B0609020204030204" pitchFamily="49" charset="0"/>
              </a:rPr>
            </a:br>
            <a:r>
              <a:rPr lang="en-US" altLang="en-US" sz="4000" dirty="0">
                <a:solidFill>
                  <a:srgbClr val="B2B2B2"/>
                </a:solidFill>
                <a:latin typeface="Consolas" panose="020B0609020204030204" pitchFamily="49" charset="0"/>
              </a:rPr>
              <a:t>4 </a:t>
            </a:r>
            <a:r>
              <a:rPr lang="en-US" altLang="en-US" sz="4000" dirty="0">
                <a:solidFill>
                  <a:srgbClr val="A71D5D"/>
                </a:solidFill>
                <a:latin typeface="Consolas" panose="020B0609020204030204" pitchFamily="49" charset="0"/>
              </a:rPr>
              <a:t>&lt;/script&gt;</a:t>
            </a:r>
            <a:endParaRPr lang="en-GB" sz="3600" dirty="0">
              <a:latin typeface="Consolas" panose="020B0609020204030204" pitchFamily="49" charset="0"/>
            </a:endParaRPr>
          </a:p>
        </p:txBody>
      </p:sp>
    </p:spTree>
    <p:extLst>
      <p:ext uri="{BB962C8B-B14F-4D97-AF65-F5344CB8AC3E}">
        <p14:creationId xmlns:p14="http://schemas.microsoft.com/office/powerpoint/2010/main" val="15862070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Using this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695067" y="3043506"/>
            <a:ext cx="10801865" cy="3163273"/>
          </a:xfrm>
        </p:spPr>
        <p:txBody>
          <a:bodyPr>
            <a:normAutofit/>
          </a:bodyPr>
          <a:lstStyle/>
          <a:p>
            <a:pPr marL="0" indent="0">
              <a:lnSpc>
                <a:spcPct val="120000"/>
              </a:lnSpc>
              <a:buNone/>
            </a:pPr>
            <a:r>
              <a:rPr lang="en-GB" sz="4200" dirty="0">
                <a:solidFill>
                  <a:srgbClr val="A71D5D"/>
                </a:solidFill>
                <a:latin typeface="Consolas" panose="020B0609020204030204" pitchFamily="49" charset="0"/>
              </a:rPr>
              <a:t>&lt;p </a:t>
            </a:r>
            <a:r>
              <a:rPr lang="en-GB" sz="4200" dirty="0" err="1">
                <a:solidFill>
                  <a:srgbClr val="0086B3"/>
                </a:solidFill>
                <a:latin typeface="Consolas" panose="020B0609020204030204" pitchFamily="49" charset="0"/>
              </a:rPr>
              <a:t>onmouseout</a:t>
            </a:r>
            <a:r>
              <a:rPr lang="en-GB" sz="4200" dirty="0">
                <a:latin typeface="Consolas" panose="020B0609020204030204" pitchFamily="49" charset="0"/>
              </a:rPr>
              <a:t>=</a:t>
            </a:r>
            <a:r>
              <a:rPr lang="en-GB" sz="4200" dirty="0">
                <a:solidFill>
                  <a:srgbClr val="183691"/>
                </a:solidFill>
                <a:latin typeface="Consolas" panose="020B0609020204030204" pitchFamily="49" charset="0"/>
              </a:rPr>
              <a:t>"green(this)"</a:t>
            </a:r>
            <a:r>
              <a:rPr lang="en-GB" sz="4200" dirty="0">
                <a:solidFill>
                  <a:srgbClr val="A71D5D"/>
                </a:solidFill>
                <a:latin typeface="Consolas" panose="020B0609020204030204" pitchFamily="49" charset="0"/>
              </a:rPr>
              <a:t>&gt;</a:t>
            </a:r>
            <a:r>
              <a:rPr lang="en-GB" sz="4200" dirty="0">
                <a:latin typeface="Consolas" panose="020B0609020204030204" pitchFamily="49" charset="0"/>
              </a:rPr>
              <a:t>Text</a:t>
            </a:r>
            <a:r>
              <a:rPr lang="en-GB" sz="4200" dirty="0">
                <a:solidFill>
                  <a:srgbClr val="A71D5D"/>
                </a:solidFill>
                <a:latin typeface="Consolas" panose="020B0609020204030204" pitchFamily="49" charset="0"/>
              </a:rPr>
              <a:t>&lt;/p&gt;</a:t>
            </a:r>
          </a:p>
        </p:txBody>
      </p:sp>
      <p:sp>
        <p:nvSpPr>
          <p:cNvPr id="6" name="Callout: Bent Line with No Border 5">
            <a:extLst>
              <a:ext uri="{FF2B5EF4-FFF2-40B4-BE49-F238E27FC236}">
                <a16:creationId xmlns:a16="http://schemas.microsoft.com/office/drawing/2014/main" id="{79AEB255-B695-D4B5-9FA6-F301F036190F}"/>
              </a:ext>
            </a:extLst>
          </p:cNvPr>
          <p:cNvSpPr/>
          <p:nvPr/>
        </p:nvSpPr>
        <p:spPr>
          <a:xfrm flipH="1">
            <a:off x="426333" y="4881660"/>
            <a:ext cx="2414411" cy="862642"/>
          </a:xfrm>
          <a:prstGeom prst="callout2">
            <a:avLst>
              <a:gd name="adj1" fmla="val 49217"/>
              <a:gd name="adj2" fmla="val -30"/>
              <a:gd name="adj3" fmla="val 49740"/>
              <a:gd name="adj4" fmla="val -12980"/>
              <a:gd name="adj5" fmla="val -132488"/>
              <a:gd name="adj6" fmla="val -12586"/>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Event handler</a:t>
            </a:r>
          </a:p>
        </p:txBody>
      </p:sp>
      <p:sp>
        <p:nvSpPr>
          <p:cNvPr id="7" name="Callout: Bent Line with No Border 6">
            <a:extLst>
              <a:ext uri="{FF2B5EF4-FFF2-40B4-BE49-F238E27FC236}">
                <a16:creationId xmlns:a16="http://schemas.microsoft.com/office/drawing/2014/main" id="{08586166-BD81-4FDA-3E69-E11AC298DEB7}"/>
              </a:ext>
            </a:extLst>
          </p:cNvPr>
          <p:cNvSpPr/>
          <p:nvPr/>
        </p:nvSpPr>
        <p:spPr>
          <a:xfrm>
            <a:off x="6283164" y="4019018"/>
            <a:ext cx="2712553" cy="862642"/>
          </a:xfrm>
          <a:prstGeom prst="callout2">
            <a:avLst>
              <a:gd name="adj1" fmla="val 49217"/>
              <a:gd name="adj2" fmla="val -30"/>
              <a:gd name="adj3" fmla="val 49740"/>
              <a:gd name="adj4" fmla="val -12980"/>
              <a:gd name="adj5" fmla="val -11575"/>
              <a:gd name="adj6" fmla="val -12463"/>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Function to call</a:t>
            </a:r>
          </a:p>
        </p:txBody>
      </p:sp>
      <p:sp>
        <p:nvSpPr>
          <p:cNvPr id="5" name="Callout: Bent Line with No Border 4">
            <a:extLst>
              <a:ext uri="{FF2B5EF4-FFF2-40B4-BE49-F238E27FC236}">
                <a16:creationId xmlns:a16="http://schemas.microsoft.com/office/drawing/2014/main" id="{392A5C60-2427-408C-67FA-290AFC4E1C9B}"/>
              </a:ext>
            </a:extLst>
          </p:cNvPr>
          <p:cNvSpPr/>
          <p:nvPr/>
        </p:nvSpPr>
        <p:spPr>
          <a:xfrm flipH="1">
            <a:off x="2022393" y="1952813"/>
            <a:ext cx="4841732" cy="862642"/>
          </a:xfrm>
          <a:prstGeom prst="callout2">
            <a:avLst>
              <a:gd name="adj1" fmla="val 49217"/>
              <a:gd name="adj2" fmla="val -30"/>
              <a:gd name="adj3" fmla="val 49740"/>
              <a:gd name="adj4" fmla="val -12980"/>
              <a:gd name="adj5" fmla="val 134806"/>
              <a:gd name="adj6" fmla="val -133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rgbClr val="7030A0"/>
                </a:solidFill>
              </a:rPr>
              <a:t>Pass all info about </a:t>
            </a:r>
            <a:r>
              <a:rPr lang="en-GB" sz="2800" b="1" i="1" dirty="0">
                <a:solidFill>
                  <a:srgbClr val="FF0000"/>
                </a:solidFill>
              </a:rPr>
              <a:t>this</a:t>
            </a:r>
            <a:r>
              <a:rPr lang="en-GB" sz="2800" b="1" dirty="0">
                <a:solidFill>
                  <a:schemeClr val="tx1"/>
                </a:solidFill>
              </a:rPr>
              <a:t> </a:t>
            </a:r>
            <a:r>
              <a:rPr lang="en-GB" sz="2800" b="1" dirty="0">
                <a:solidFill>
                  <a:srgbClr val="7030A0"/>
                </a:solidFill>
              </a:rPr>
              <a:t>element</a:t>
            </a:r>
          </a:p>
        </p:txBody>
      </p:sp>
    </p:spTree>
    <p:extLst>
      <p:ext uri="{BB962C8B-B14F-4D97-AF65-F5344CB8AC3E}">
        <p14:creationId xmlns:p14="http://schemas.microsoft.com/office/powerpoint/2010/main" val="190202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5" grpId="0" animBg="1"/>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JavaScript – Using this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3006436"/>
            <a:ext cx="10515600" cy="3163273"/>
          </a:xfrm>
        </p:spPr>
        <p:txBody>
          <a:bodyPr>
            <a:normAutofit/>
          </a:bodyPr>
          <a:lstStyle/>
          <a:p>
            <a:pPr marL="0" indent="0">
              <a:lnSpc>
                <a:spcPct val="120000"/>
              </a:lnSpc>
              <a:buNone/>
            </a:pPr>
            <a:r>
              <a:rPr lang="en-GB" sz="4200" dirty="0">
                <a:solidFill>
                  <a:srgbClr val="B5BABF"/>
                </a:solidFill>
                <a:latin typeface="Consolas" panose="020B0609020204030204" pitchFamily="49" charset="0"/>
              </a:rPr>
              <a:t>29</a:t>
            </a:r>
            <a:r>
              <a:rPr lang="en-GB" sz="4200" dirty="0">
                <a:latin typeface="Consolas" panose="020B0609020204030204" pitchFamily="49" charset="0"/>
              </a:rPr>
              <a:t> </a:t>
            </a:r>
            <a:r>
              <a:rPr lang="en-GB" sz="4200" dirty="0">
                <a:solidFill>
                  <a:srgbClr val="A71D5D"/>
                </a:solidFill>
                <a:latin typeface="Consolas" panose="020B0609020204030204" pitchFamily="49" charset="0"/>
              </a:rPr>
              <a:t>&lt;p </a:t>
            </a:r>
            <a:r>
              <a:rPr lang="en-GB" sz="4200" dirty="0" err="1">
                <a:solidFill>
                  <a:srgbClr val="0086B3"/>
                </a:solidFill>
                <a:latin typeface="Consolas" panose="020B0609020204030204" pitchFamily="49" charset="0"/>
              </a:rPr>
              <a:t>onmouseout</a:t>
            </a:r>
            <a:r>
              <a:rPr lang="en-GB" sz="4200" dirty="0">
                <a:latin typeface="Consolas" panose="020B0609020204030204" pitchFamily="49" charset="0"/>
              </a:rPr>
              <a:t>=</a:t>
            </a:r>
            <a:r>
              <a:rPr lang="en-GB" sz="4200" dirty="0">
                <a:solidFill>
                  <a:srgbClr val="183691"/>
                </a:solidFill>
                <a:latin typeface="Consolas" panose="020B0609020204030204" pitchFamily="49" charset="0"/>
              </a:rPr>
              <a:t>"green(this)"</a:t>
            </a:r>
            <a:r>
              <a:rPr lang="en-GB" sz="4200" dirty="0">
                <a:solidFill>
                  <a:srgbClr val="A71D5D"/>
                </a:solidFill>
                <a:latin typeface="Consolas" panose="020B0609020204030204" pitchFamily="49" charset="0"/>
              </a:rPr>
              <a:t>&gt;</a:t>
            </a:r>
          </a:p>
          <a:p>
            <a:pPr marL="0" indent="0">
              <a:lnSpc>
                <a:spcPct val="120000"/>
              </a:lnSpc>
              <a:buNone/>
            </a:pPr>
            <a:r>
              <a:rPr lang="en-GB" sz="4200" dirty="0">
                <a:latin typeface="Consolas" panose="020B0609020204030204" pitchFamily="49" charset="0"/>
              </a:rPr>
              <a:t>     This</a:t>
            </a:r>
            <a:r>
              <a:rPr lang="en-GB" sz="4200" dirty="0">
                <a:solidFill>
                  <a:srgbClr val="A71D5D"/>
                </a:solidFill>
                <a:latin typeface="Consolas" panose="020B0609020204030204" pitchFamily="49" charset="0"/>
              </a:rPr>
              <a:t>&lt;/p&gt;</a:t>
            </a:r>
          </a:p>
        </p:txBody>
      </p:sp>
    </p:spTree>
    <p:extLst>
      <p:ext uri="{BB962C8B-B14F-4D97-AF65-F5344CB8AC3E}">
        <p14:creationId xmlns:p14="http://schemas.microsoft.com/office/powerpoint/2010/main" val="304311610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a:xfrm>
            <a:off x="838200" y="345597"/>
            <a:ext cx="10515600" cy="1325563"/>
          </a:xfrm>
        </p:spPr>
        <p:txBody>
          <a:bodyPr/>
          <a:lstStyle/>
          <a:p>
            <a:r>
              <a:rPr lang="en-GB" dirty="0"/>
              <a:t>JavaScript – this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690688"/>
            <a:ext cx="10764000" cy="4351338"/>
          </a:xfrm>
        </p:spPr>
        <p:txBody>
          <a:bodyPr>
            <a:normAutofit/>
          </a:bodyPr>
          <a:lstStyle/>
          <a:p>
            <a:pPr marL="0" lvl="0" indent="0" eaLnBrk="0" fontAlgn="base" hangingPunct="0">
              <a:lnSpc>
                <a:spcPct val="100000"/>
              </a:lnSpc>
              <a:spcBef>
                <a:spcPct val="0"/>
              </a:spcBef>
              <a:spcAft>
                <a:spcPct val="0"/>
              </a:spcAft>
              <a:buNone/>
            </a:pPr>
            <a:r>
              <a:rPr lang="en-GB" sz="4200" dirty="0">
                <a:solidFill>
                  <a:srgbClr val="B5BABF"/>
                </a:solidFill>
                <a:latin typeface="Consolas" panose="020B0609020204030204" pitchFamily="49" charset="0"/>
              </a:rPr>
              <a:t>40</a:t>
            </a:r>
            <a:r>
              <a:rPr lang="en-GB" sz="4200" dirty="0">
                <a:latin typeface="Consolas" panose="020B0609020204030204" pitchFamily="49" charset="0"/>
              </a:rPr>
              <a:t> </a:t>
            </a:r>
            <a:r>
              <a:rPr lang="en-US" altLang="en-US" sz="4200" dirty="0">
                <a:solidFill>
                  <a:srgbClr val="A71D5D"/>
                </a:solidFill>
                <a:latin typeface="Consolas" panose="020B0609020204030204" pitchFamily="49" charset="0"/>
              </a:rPr>
              <a:t>function</a:t>
            </a:r>
            <a:r>
              <a:rPr lang="en-US" altLang="en-US" sz="4200" dirty="0">
                <a:solidFill>
                  <a:srgbClr val="000000"/>
                </a:solidFill>
                <a:latin typeface="Consolas" panose="020B0609020204030204" pitchFamily="49" charset="0"/>
              </a:rPr>
              <a:t> </a:t>
            </a:r>
            <a:r>
              <a:rPr lang="en-US" altLang="en-US" sz="4200" dirty="0">
                <a:solidFill>
                  <a:srgbClr val="0086B3"/>
                </a:solidFill>
                <a:latin typeface="Consolas" panose="020B0609020204030204" pitchFamily="49" charset="0"/>
              </a:rPr>
              <a:t>green</a:t>
            </a:r>
            <a:r>
              <a:rPr lang="en-US" altLang="en-US" sz="4200" dirty="0">
                <a:solidFill>
                  <a:srgbClr val="000000"/>
                </a:solidFill>
                <a:latin typeface="Consolas" panose="020B0609020204030204" pitchFamily="49" charset="0"/>
              </a:rPr>
              <a:t>(element) {</a:t>
            </a:r>
            <a:br>
              <a:rPr lang="en-US" altLang="en-US" sz="4200" dirty="0">
                <a:solidFill>
                  <a:srgbClr val="000000"/>
                </a:solidFill>
                <a:latin typeface="Consolas" panose="020B0609020204030204" pitchFamily="49" charset="0"/>
              </a:rPr>
            </a:br>
            <a:r>
              <a:rPr lang="en-US" altLang="en-US" sz="4200" dirty="0">
                <a:solidFill>
                  <a:srgbClr val="B5BABF"/>
                </a:solidFill>
                <a:latin typeface="Consolas" panose="020B0609020204030204" pitchFamily="49" charset="0"/>
              </a:rPr>
              <a:t>41</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element.style.color</a:t>
            </a:r>
            <a:r>
              <a:rPr lang="en-US" altLang="en-US" sz="4200" dirty="0">
                <a:solidFill>
                  <a:srgbClr val="000000"/>
                </a:solidFill>
                <a:latin typeface="Consolas" panose="020B0609020204030204" pitchFamily="49" charset="0"/>
              </a:rPr>
              <a:t> = </a:t>
            </a:r>
            <a:r>
              <a:rPr lang="en-US" altLang="en-US" sz="4200" dirty="0">
                <a:solidFill>
                  <a:srgbClr val="183691"/>
                </a:solidFill>
                <a:latin typeface="Consolas" panose="020B0609020204030204" pitchFamily="49" charset="0"/>
              </a:rPr>
              <a:t>'green'</a:t>
            </a:r>
            <a:r>
              <a:rPr lang="en-US" altLang="en-US" sz="4200" dirty="0">
                <a:solidFill>
                  <a:srgbClr val="000000"/>
                </a:solidFill>
                <a:latin typeface="Consolas" panose="020B0609020204030204" pitchFamily="49" charset="0"/>
              </a:rPr>
              <a:t>;</a:t>
            </a:r>
            <a:br>
              <a:rPr lang="en-US" altLang="en-US" sz="4200" dirty="0">
                <a:solidFill>
                  <a:srgbClr val="000000"/>
                </a:solidFill>
                <a:latin typeface="Consolas" panose="020B0609020204030204" pitchFamily="49" charset="0"/>
              </a:rPr>
            </a:br>
            <a:r>
              <a:rPr lang="en-US" altLang="en-US" sz="4200" dirty="0">
                <a:solidFill>
                  <a:srgbClr val="B5BABF"/>
                </a:solidFill>
                <a:latin typeface="Consolas" panose="020B0609020204030204" pitchFamily="49" charset="0"/>
              </a:rPr>
              <a:t>42</a:t>
            </a:r>
            <a:r>
              <a:rPr lang="en-US" altLang="en-US" sz="4200" dirty="0">
                <a:solidFill>
                  <a:srgbClr val="000000"/>
                </a:solidFill>
                <a:latin typeface="Consolas" panose="020B0609020204030204" pitchFamily="49" charset="0"/>
              </a:rPr>
              <a:t> }</a:t>
            </a:r>
            <a:br>
              <a:rPr lang="en-US" altLang="en-US" sz="4200" dirty="0">
                <a:solidFill>
                  <a:srgbClr val="000000"/>
                </a:solidFill>
                <a:latin typeface="Consolas" panose="020B0609020204030204" pitchFamily="49" charset="0"/>
              </a:rPr>
            </a:br>
            <a:r>
              <a:rPr lang="en-GB" sz="4200" dirty="0">
                <a:solidFill>
                  <a:srgbClr val="B5BABF"/>
                </a:solidFill>
                <a:latin typeface="Consolas" panose="020B0609020204030204" pitchFamily="49" charset="0"/>
              </a:rPr>
              <a:t>43</a:t>
            </a:r>
            <a:r>
              <a:rPr lang="en-GB" sz="4200" dirty="0">
                <a:latin typeface="Consolas" panose="020B0609020204030204" pitchFamily="49" charset="0"/>
              </a:rPr>
              <a:t> </a:t>
            </a:r>
            <a:r>
              <a:rPr lang="en-GB" sz="4200" dirty="0">
                <a:solidFill>
                  <a:srgbClr val="A71D5D"/>
                </a:solidFill>
                <a:latin typeface="Consolas" panose="020B0609020204030204" pitchFamily="49" charset="0"/>
              </a:rPr>
              <a:t>&lt;/script&gt; </a:t>
            </a:r>
          </a:p>
        </p:txBody>
      </p:sp>
      <p:sp>
        <p:nvSpPr>
          <p:cNvPr id="4" name="TextBox 3">
            <a:extLst>
              <a:ext uri="{FF2B5EF4-FFF2-40B4-BE49-F238E27FC236}">
                <a16:creationId xmlns:a16="http://schemas.microsoft.com/office/drawing/2014/main" id="{C40978C1-2FE4-9664-9E88-60E85F4313AC}"/>
              </a:ext>
            </a:extLst>
          </p:cNvPr>
          <p:cNvSpPr txBox="1"/>
          <p:nvPr/>
        </p:nvSpPr>
        <p:spPr>
          <a:xfrm>
            <a:off x="2050483" y="5846544"/>
            <a:ext cx="8091126" cy="646331"/>
          </a:xfrm>
          <a:prstGeom prst="rect">
            <a:avLst/>
          </a:prstGeom>
          <a:noFill/>
        </p:spPr>
        <p:txBody>
          <a:bodyPr wrap="none" rtlCol="0">
            <a:spAutoFit/>
          </a:bodyPr>
          <a:lstStyle/>
          <a:p>
            <a:pPr algn="ctr"/>
            <a:r>
              <a:rPr lang="en-GB" sz="3600" dirty="0">
                <a:solidFill>
                  <a:srgbClr val="7030A0"/>
                </a:solidFill>
              </a:rPr>
              <a:t>ID </a:t>
            </a:r>
            <a:r>
              <a:rPr lang="en-GB" sz="3600" i="1" dirty="0">
                <a:solidFill>
                  <a:srgbClr val="FF0000"/>
                </a:solidFill>
              </a:rPr>
              <a:t>not</a:t>
            </a:r>
            <a:r>
              <a:rPr lang="en-GB" sz="3600" dirty="0">
                <a:solidFill>
                  <a:srgbClr val="7030A0"/>
                </a:solidFill>
              </a:rPr>
              <a:t> used – Will work on many elements</a:t>
            </a:r>
            <a:endParaRPr lang="en-GB" sz="3600" dirty="0">
              <a:solidFill>
                <a:srgbClr val="7030A0"/>
              </a:solidFill>
              <a:latin typeface="Consolas" panose="020B0609020204030204" pitchFamily="49" charset="0"/>
            </a:endParaRPr>
          </a:p>
        </p:txBody>
      </p:sp>
      <p:sp>
        <p:nvSpPr>
          <p:cNvPr id="5" name="Callout: Bent Line with No Border 4">
            <a:extLst>
              <a:ext uri="{FF2B5EF4-FFF2-40B4-BE49-F238E27FC236}">
                <a16:creationId xmlns:a16="http://schemas.microsoft.com/office/drawing/2014/main" id="{8DABB334-DBFD-0EA0-51E4-058AC7E3EF68}"/>
              </a:ext>
            </a:extLst>
          </p:cNvPr>
          <p:cNvSpPr/>
          <p:nvPr/>
        </p:nvSpPr>
        <p:spPr>
          <a:xfrm>
            <a:off x="7519229" y="733003"/>
            <a:ext cx="2817481" cy="862642"/>
          </a:xfrm>
          <a:prstGeom prst="callout2">
            <a:avLst>
              <a:gd name="adj1" fmla="val 49953"/>
              <a:gd name="adj2" fmla="val -312"/>
              <a:gd name="adj3" fmla="val 50292"/>
              <a:gd name="adj4" fmla="val -12538"/>
              <a:gd name="adj5" fmla="val 129927"/>
              <a:gd name="adj6" fmla="val -12079"/>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Parameter</a:t>
            </a:r>
          </a:p>
        </p:txBody>
      </p:sp>
      <p:sp>
        <p:nvSpPr>
          <p:cNvPr id="6" name="Callout: Bent Line with No Border 5">
            <a:extLst>
              <a:ext uri="{FF2B5EF4-FFF2-40B4-BE49-F238E27FC236}">
                <a16:creationId xmlns:a16="http://schemas.microsoft.com/office/drawing/2014/main" id="{D3409B56-26BC-458F-B639-D1C16939C9D7}"/>
              </a:ext>
            </a:extLst>
          </p:cNvPr>
          <p:cNvSpPr/>
          <p:nvPr/>
        </p:nvSpPr>
        <p:spPr>
          <a:xfrm>
            <a:off x="5682192" y="3579176"/>
            <a:ext cx="3671358" cy="862642"/>
          </a:xfrm>
          <a:prstGeom prst="callout2">
            <a:avLst>
              <a:gd name="adj1" fmla="val 49953"/>
              <a:gd name="adj2" fmla="val -312"/>
              <a:gd name="adj3" fmla="val 50292"/>
              <a:gd name="adj4" fmla="val -12763"/>
              <a:gd name="adj5" fmla="val -72045"/>
              <a:gd name="adj6" fmla="val -26404"/>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800" b="1" dirty="0">
                <a:solidFill>
                  <a:srgbClr val="7030A0"/>
                </a:solidFill>
              </a:rPr>
              <a:t>Parameter being used</a:t>
            </a:r>
          </a:p>
        </p:txBody>
      </p:sp>
    </p:spTree>
    <p:extLst>
      <p:ext uri="{BB962C8B-B14F-4D97-AF65-F5344CB8AC3E}">
        <p14:creationId xmlns:p14="http://schemas.microsoft.com/office/powerpoint/2010/main" val="2549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7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p:bldP spid="5" grpId="0" animBg="1"/>
      <p:bldP spid="6" grpId="0" animBg="1"/>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a:xfrm>
            <a:off x="838200" y="345597"/>
            <a:ext cx="10515600" cy="1325563"/>
          </a:xfrm>
        </p:spPr>
        <p:txBody>
          <a:bodyPr/>
          <a:lstStyle/>
          <a:p>
            <a:r>
              <a:rPr lang="en-GB" dirty="0"/>
              <a:t>JavaScript – this</a:t>
            </a:r>
          </a:p>
        </p:txBody>
      </p:sp>
      <p:sp>
        <p:nvSpPr>
          <p:cNvPr id="3" name="Content Placeholder 2">
            <a:extLst>
              <a:ext uri="{FF2B5EF4-FFF2-40B4-BE49-F238E27FC236}">
                <a16:creationId xmlns:a16="http://schemas.microsoft.com/office/drawing/2014/main" id="{E4EE7085-4C5B-409B-8843-A8A3D3CB6E90}"/>
              </a:ext>
            </a:extLst>
          </p:cNvPr>
          <p:cNvSpPr>
            <a:spLocks noGrp="1"/>
          </p:cNvSpPr>
          <p:nvPr>
            <p:ph idx="1"/>
          </p:nvPr>
        </p:nvSpPr>
        <p:spPr>
          <a:xfrm>
            <a:off x="838200" y="1690688"/>
            <a:ext cx="10764000" cy="4351338"/>
          </a:xfrm>
        </p:spPr>
        <p:txBody>
          <a:bodyPr>
            <a:normAutofit/>
          </a:bodyPr>
          <a:lstStyle/>
          <a:p>
            <a:pPr marL="0" lvl="0" indent="0" eaLnBrk="0" fontAlgn="base" hangingPunct="0">
              <a:lnSpc>
                <a:spcPct val="100000"/>
              </a:lnSpc>
              <a:spcBef>
                <a:spcPct val="0"/>
              </a:spcBef>
              <a:spcAft>
                <a:spcPct val="0"/>
              </a:spcAft>
              <a:buNone/>
            </a:pPr>
            <a:r>
              <a:rPr lang="en-GB" sz="4200" dirty="0">
                <a:solidFill>
                  <a:srgbClr val="B5BABF"/>
                </a:solidFill>
                <a:latin typeface="Consolas" panose="020B0609020204030204" pitchFamily="49" charset="0"/>
              </a:rPr>
              <a:t>40</a:t>
            </a:r>
            <a:r>
              <a:rPr lang="en-GB" sz="4200" dirty="0">
                <a:latin typeface="Consolas" panose="020B0609020204030204" pitchFamily="49" charset="0"/>
              </a:rPr>
              <a:t> </a:t>
            </a:r>
            <a:r>
              <a:rPr lang="en-US" altLang="en-US" sz="4200" dirty="0">
                <a:solidFill>
                  <a:srgbClr val="A71D5D"/>
                </a:solidFill>
                <a:latin typeface="Consolas" panose="020B0609020204030204" pitchFamily="49" charset="0"/>
              </a:rPr>
              <a:t>function</a:t>
            </a:r>
            <a:r>
              <a:rPr lang="en-US" altLang="en-US" sz="4200" dirty="0">
                <a:solidFill>
                  <a:srgbClr val="000000"/>
                </a:solidFill>
                <a:latin typeface="Consolas" panose="020B0609020204030204" pitchFamily="49" charset="0"/>
              </a:rPr>
              <a:t> </a:t>
            </a:r>
            <a:r>
              <a:rPr lang="en-US" altLang="en-US" sz="4200" dirty="0">
                <a:solidFill>
                  <a:srgbClr val="0086B3"/>
                </a:solidFill>
                <a:latin typeface="Consolas" panose="020B0609020204030204" pitchFamily="49" charset="0"/>
              </a:rPr>
              <a:t>green</a:t>
            </a:r>
            <a:r>
              <a:rPr lang="en-US" altLang="en-US" sz="4200" dirty="0">
                <a:solidFill>
                  <a:srgbClr val="000000"/>
                </a:solidFill>
                <a:latin typeface="Consolas" panose="020B0609020204030204" pitchFamily="49" charset="0"/>
              </a:rPr>
              <a:t>(element) {</a:t>
            </a:r>
            <a:br>
              <a:rPr lang="en-US" altLang="en-US" sz="4200" dirty="0">
                <a:solidFill>
                  <a:srgbClr val="000000"/>
                </a:solidFill>
                <a:latin typeface="Consolas" panose="020B0609020204030204" pitchFamily="49" charset="0"/>
              </a:rPr>
            </a:br>
            <a:r>
              <a:rPr lang="en-US" altLang="en-US" sz="4200" dirty="0">
                <a:solidFill>
                  <a:srgbClr val="B5BABF"/>
                </a:solidFill>
                <a:latin typeface="Consolas" panose="020B0609020204030204" pitchFamily="49" charset="0"/>
              </a:rPr>
              <a:t>41</a:t>
            </a:r>
            <a:r>
              <a:rPr lang="en-US" altLang="en-US" sz="4200" dirty="0">
                <a:solidFill>
                  <a:srgbClr val="000000"/>
                </a:solidFill>
                <a:latin typeface="Consolas" panose="020B0609020204030204" pitchFamily="49" charset="0"/>
              </a:rPr>
              <a:t>    </a:t>
            </a:r>
            <a:r>
              <a:rPr lang="en-US" altLang="en-US" sz="4200" dirty="0" err="1">
                <a:solidFill>
                  <a:srgbClr val="000000"/>
                </a:solidFill>
                <a:latin typeface="Consolas" panose="020B0609020204030204" pitchFamily="49" charset="0"/>
              </a:rPr>
              <a:t>element.style.color</a:t>
            </a:r>
            <a:r>
              <a:rPr lang="en-US" altLang="en-US" sz="4200" dirty="0">
                <a:solidFill>
                  <a:srgbClr val="000000"/>
                </a:solidFill>
                <a:latin typeface="Consolas" panose="020B0609020204030204" pitchFamily="49" charset="0"/>
              </a:rPr>
              <a:t> = </a:t>
            </a:r>
            <a:r>
              <a:rPr lang="en-US" altLang="en-US" sz="4200" dirty="0">
                <a:solidFill>
                  <a:srgbClr val="183691"/>
                </a:solidFill>
                <a:latin typeface="Consolas" panose="020B0609020204030204" pitchFamily="49" charset="0"/>
              </a:rPr>
              <a:t>'green'</a:t>
            </a:r>
            <a:r>
              <a:rPr lang="en-US" altLang="en-US" sz="4200" dirty="0">
                <a:solidFill>
                  <a:srgbClr val="000000"/>
                </a:solidFill>
                <a:latin typeface="Consolas" panose="020B0609020204030204" pitchFamily="49" charset="0"/>
              </a:rPr>
              <a:t>;</a:t>
            </a:r>
            <a:br>
              <a:rPr lang="en-US" altLang="en-US" sz="4200" dirty="0">
                <a:solidFill>
                  <a:srgbClr val="000000"/>
                </a:solidFill>
                <a:latin typeface="Consolas" panose="020B0609020204030204" pitchFamily="49" charset="0"/>
              </a:rPr>
            </a:br>
            <a:r>
              <a:rPr lang="en-US" altLang="en-US" sz="4200" dirty="0">
                <a:solidFill>
                  <a:srgbClr val="B5BABF"/>
                </a:solidFill>
                <a:latin typeface="Consolas" panose="020B0609020204030204" pitchFamily="49" charset="0"/>
              </a:rPr>
              <a:t>42</a:t>
            </a:r>
            <a:r>
              <a:rPr lang="en-US" altLang="en-US" sz="4200" dirty="0">
                <a:solidFill>
                  <a:srgbClr val="000000"/>
                </a:solidFill>
                <a:latin typeface="Consolas" panose="020B0609020204030204" pitchFamily="49" charset="0"/>
              </a:rPr>
              <a:t> }</a:t>
            </a:r>
            <a:br>
              <a:rPr lang="en-US" altLang="en-US" sz="4200" dirty="0">
                <a:solidFill>
                  <a:srgbClr val="000000"/>
                </a:solidFill>
                <a:latin typeface="Consolas" panose="020B0609020204030204" pitchFamily="49" charset="0"/>
              </a:rPr>
            </a:br>
            <a:r>
              <a:rPr lang="en-GB" sz="4200" dirty="0">
                <a:solidFill>
                  <a:srgbClr val="B5BABF"/>
                </a:solidFill>
                <a:latin typeface="Consolas" panose="020B0609020204030204" pitchFamily="49" charset="0"/>
              </a:rPr>
              <a:t>43</a:t>
            </a:r>
            <a:r>
              <a:rPr lang="en-GB" sz="4200" dirty="0">
                <a:latin typeface="Consolas" panose="020B0609020204030204" pitchFamily="49" charset="0"/>
              </a:rPr>
              <a:t> </a:t>
            </a:r>
            <a:r>
              <a:rPr lang="en-GB" sz="4200" dirty="0">
                <a:solidFill>
                  <a:srgbClr val="A71D5D"/>
                </a:solidFill>
                <a:latin typeface="Consolas" panose="020B0609020204030204" pitchFamily="49" charset="0"/>
              </a:rPr>
              <a:t>&lt;/script&gt; </a:t>
            </a:r>
          </a:p>
        </p:txBody>
      </p:sp>
    </p:spTree>
    <p:extLst>
      <p:ext uri="{BB962C8B-B14F-4D97-AF65-F5344CB8AC3E}">
        <p14:creationId xmlns:p14="http://schemas.microsoft.com/office/powerpoint/2010/main" val="68374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Link (External JavaScript)</a:t>
            </a:r>
          </a:p>
        </p:txBody>
      </p:sp>
      <p:sp>
        <p:nvSpPr>
          <p:cNvPr id="9" name="TextBox 8">
            <a:extLst>
              <a:ext uri="{FF2B5EF4-FFF2-40B4-BE49-F238E27FC236}">
                <a16:creationId xmlns:a16="http://schemas.microsoft.com/office/drawing/2014/main" id="{F3B639B4-E5C5-8DD1-DB2C-5DF574EC16F0}"/>
              </a:ext>
            </a:extLst>
          </p:cNvPr>
          <p:cNvSpPr txBox="1"/>
          <p:nvPr/>
        </p:nvSpPr>
        <p:spPr>
          <a:xfrm>
            <a:off x="821819" y="3044279"/>
            <a:ext cx="10447091" cy="769441"/>
          </a:xfrm>
          <a:prstGeom prst="rect">
            <a:avLst/>
          </a:prstGeom>
          <a:noFill/>
        </p:spPr>
        <p:txBody>
          <a:bodyPr wrap="none" rtlCol="0">
            <a:spAutoFit/>
          </a:bodyPr>
          <a:lstStyle/>
          <a:p>
            <a:pPr lvl="0" eaLnBrk="0" fontAlgn="base" hangingPunct="0">
              <a:spcBef>
                <a:spcPct val="0"/>
              </a:spcBef>
              <a:spcAft>
                <a:spcPct val="0"/>
              </a:spcAft>
            </a:pPr>
            <a:r>
              <a:rPr lang="en-US" altLang="en-US" sz="4400" dirty="0">
                <a:solidFill>
                  <a:srgbClr val="A71D5D"/>
                </a:solidFill>
                <a:latin typeface="Consolas" panose="020B0609020204030204" pitchFamily="49" charset="0"/>
              </a:rPr>
              <a:t>&lt;script</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"script.js"</a:t>
            </a:r>
            <a:r>
              <a:rPr lang="en-US" altLang="en-US" sz="4400" dirty="0">
                <a:solidFill>
                  <a:srgbClr val="A71D5D"/>
                </a:solidFill>
                <a:latin typeface="Consolas" panose="020B0609020204030204" pitchFamily="49" charset="0"/>
              </a:rPr>
              <a:t>&gt;&lt;/script&gt;</a:t>
            </a:r>
            <a:endParaRPr lang="en-US" altLang="en-US" sz="6000" dirty="0">
              <a:latin typeface="Arial" panose="020B0604020202020204" pitchFamily="34" charset="0"/>
            </a:endParaRPr>
          </a:p>
        </p:txBody>
      </p:sp>
      <p:sp>
        <p:nvSpPr>
          <p:cNvPr id="5" name="TextBox 4">
            <a:extLst>
              <a:ext uri="{FF2B5EF4-FFF2-40B4-BE49-F238E27FC236}">
                <a16:creationId xmlns:a16="http://schemas.microsoft.com/office/drawing/2014/main" id="{8D098F65-D43C-73ED-E7AB-CF19F2AAA6CC}"/>
              </a:ext>
            </a:extLst>
          </p:cNvPr>
          <p:cNvSpPr txBox="1"/>
          <p:nvPr/>
        </p:nvSpPr>
        <p:spPr>
          <a:xfrm>
            <a:off x="695181" y="5944914"/>
            <a:ext cx="10801676" cy="646331"/>
          </a:xfrm>
          <a:prstGeom prst="rect">
            <a:avLst/>
          </a:prstGeom>
          <a:noFill/>
        </p:spPr>
        <p:txBody>
          <a:bodyPr wrap="none" rtlCol="0">
            <a:spAutoFit/>
          </a:bodyPr>
          <a:lstStyle/>
          <a:p>
            <a:pPr algn="ctr"/>
            <a:r>
              <a:rPr lang="en-GB" sz="3600" dirty="0">
                <a:solidFill>
                  <a:srgbClr val="7030A0"/>
                </a:solidFill>
              </a:rPr>
              <a:t>Include </a:t>
            </a:r>
            <a:r>
              <a:rPr lang="en-GB" sz="3600" dirty="0">
                <a:solidFill>
                  <a:srgbClr val="A71D5D"/>
                </a:solidFill>
                <a:latin typeface="Consolas" panose="020B0609020204030204" pitchFamily="49" charset="0"/>
              </a:rPr>
              <a:t>script</a:t>
            </a:r>
            <a:r>
              <a:rPr lang="en-GB" sz="3600" dirty="0">
                <a:solidFill>
                  <a:srgbClr val="7030A0"/>
                </a:solidFill>
              </a:rPr>
              <a:t> element just before the end tag of </a:t>
            </a:r>
            <a:r>
              <a:rPr lang="en-GB" sz="3600" dirty="0">
                <a:solidFill>
                  <a:srgbClr val="A71D5D"/>
                </a:solidFill>
                <a:latin typeface="Consolas" panose="020B0609020204030204" pitchFamily="49" charset="0"/>
              </a:rPr>
              <a:t>body</a:t>
            </a:r>
          </a:p>
        </p:txBody>
      </p:sp>
      <p:sp>
        <p:nvSpPr>
          <p:cNvPr id="6" name="Callout: Bent Line with No Border 5">
            <a:extLst>
              <a:ext uri="{FF2B5EF4-FFF2-40B4-BE49-F238E27FC236}">
                <a16:creationId xmlns:a16="http://schemas.microsoft.com/office/drawing/2014/main" id="{2C15AECF-4B06-E905-B45D-505334569749}"/>
              </a:ext>
            </a:extLst>
          </p:cNvPr>
          <p:cNvSpPr/>
          <p:nvPr/>
        </p:nvSpPr>
        <p:spPr>
          <a:xfrm flipH="1">
            <a:off x="2913321" y="2181637"/>
            <a:ext cx="2461548" cy="862642"/>
          </a:xfrm>
          <a:prstGeom prst="callout2">
            <a:avLst>
              <a:gd name="adj1" fmla="val 49217"/>
              <a:gd name="adj2" fmla="val -30"/>
              <a:gd name="adj3" fmla="val 49740"/>
              <a:gd name="adj4" fmla="val -12980"/>
              <a:gd name="adj5" fmla="val 111895"/>
              <a:gd name="adj6" fmla="val -19965"/>
            </a:avLst>
          </a:prstGeom>
          <a:noFill/>
          <a:ln w="38100">
            <a:solidFill>
              <a:schemeClr val="accent6">
                <a:lumMod val="75000"/>
              </a:schemeClr>
            </a:solidFill>
            <a:headEnd type="none" w="med" len="med"/>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800" b="1" dirty="0">
                <a:solidFill>
                  <a:srgbClr val="7030A0"/>
                </a:solidFill>
              </a:rPr>
              <a:t>URL of JS code</a:t>
            </a:r>
          </a:p>
        </p:txBody>
      </p:sp>
    </p:spTree>
    <p:extLst>
      <p:ext uri="{BB962C8B-B14F-4D97-AF65-F5344CB8AC3E}">
        <p14:creationId xmlns:p14="http://schemas.microsoft.com/office/powerpoint/2010/main" val="32519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5" grpId="0" build="p"/>
      <p:bldP spid="6" grpId="0" animBg="1"/>
    </p:bld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7805-17F2-4B70-B505-57FB17E1FEE3}"/>
              </a:ext>
            </a:extLst>
          </p:cNvPr>
          <p:cNvSpPr>
            <a:spLocks noGrp="1"/>
          </p:cNvSpPr>
          <p:nvPr>
            <p:ph type="title"/>
          </p:nvPr>
        </p:nvSpPr>
        <p:spPr/>
        <p:txBody>
          <a:bodyPr/>
          <a:lstStyle/>
          <a:p>
            <a:r>
              <a:rPr lang="en-GB" dirty="0"/>
              <a:t>Body - Link (External JavaScript)</a:t>
            </a:r>
          </a:p>
        </p:txBody>
      </p:sp>
      <p:sp>
        <p:nvSpPr>
          <p:cNvPr id="9" name="TextBox 8">
            <a:extLst>
              <a:ext uri="{FF2B5EF4-FFF2-40B4-BE49-F238E27FC236}">
                <a16:creationId xmlns:a16="http://schemas.microsoft.com/office/drawing/2014/main" id="{F3B639B4-E5C5-8DD1-DB2C-5DF574EC16F0}"/>
              </a:ext>
            </a:extLst>
          </p:cNvPr>
          <p:cNvSpPr txBox="1"/>
          <p:nvPr/>
        </p:nvSpPr>
        <p:spPr>
          <a:xfrm>
            <a:off x="821819" y="3044279"/>
            <a:ext cx="10447091" cy="769441"/>
          </a:xfrm>
          <a:prstGeom prst="rect">
            <a:avLst/>
          </a:prstGeom>
          <a:noFill/>
        </p:spPr>
        <p:txBody>
          <a:bodyPr wrap="none" rtlCol="0">
            <a:spAutoFit/>
          </a:bodyPr>
          <a:lstStyle/>
          <a:p>
            <a:pPr lvl="0" eaLnBrk="0" fontAlgn="base" hangingPunct="0">
              <a:spcBef>
                <a:spcPct val="0"/>
              </a:spcBef>
              <a:spcAft>
                <a:spcPct val="0"/>
              </a:spcAft>
            </a:pPr>
            <a:r>
              <a:rPr lang="en-US" altLang="en-US" sz="4400" dirty="0">
                <a:solidFill>
                  <a:srgbClr val="A71D5D"/>
                </a:solidFill>
                <a:latin typeface="Consolas" panose="020B0609020204030204" pitchFamily="49" charset="0"/>
              </a:rPr>
              <a:t>&lt;script</a:t>
            </a:r>
            <a:r>
              <a:rPr lang="en-US" altLang="en-US" sz="4400" dirty="0">
                <a:solidFill>
                  <a:srgbClr val="000000"/>
                </a:solidFill>
                <a:latin typeface="Consolas" panose="020B0609020204030204" pitchFamily="49" charset="0"/>
              </a:rPr>
              <a:t> </a:t>
            </a:r>
            <a:r>
              <a:rPr lang="en-US" altLang="en-US" sz="4400" dirty="0" err="1">
                <a:solidFill>
                  <a:srgbClr val="0086B3"/>
                </a:solidFill>
                <a:latin typeface="Consolas" panose="020B0609020204030204" pitchFamily="49" charset="0"/>
              </a:rPr>
              <a:t>src</a:t>
            </a:r>
            <a:r>
              <a:rPr lang="en-US" altLang="en-US" sz="4400" dirty="0">
                <a:solidFill>
                  <a:srgbClr val="000000"/>
                </a:solidFill>
                <a:latin typeface="Consolas" panose="020B0609020204030204" pitchFamily="49" charset="0"/>
              </a:rPr>
              <a:t>=</a:t>
            </a:r>
            <a:r>
              <a:rPr lang="en-US" altLang="en-US" sz="4400" dirty="0">
                <a:solidFill>
                  <a:srgbClr val="183691"/>
                </a:solidFill>
                <a:latin typeface="Consolas" panose="020B0609020204030204" pitchFamily="49" charset="0"/>
              </a:rPr>
              <a:t>"script.js"</a:t>
            </a:r>
            <a:r>
              <a:rPr lang="en-US" altLang="en-US" sz="4400" dirty="0">
                <a:solidFill>
                  <a:srgbClr val="A71D5D"/>
                </a:solidFill>
                <a:latin typeface="Consolas" panose="020B0609020204030204" pitchFamily="49" charset="0"/>
              </a:rPr>
              <a:t>&gt;&lt;/script&gt;</a:t>
            </a:r>
            <a:endParaRPr lang="en-US" altLang="en-US" sz="6000" dirty="0">
              <a:latin typeface="Arial" panose="020B0604020202020204" pitchFamily="34" charset="0"/>
            </a:endParaRPr>
          </a:p>
        </p:txBody>
      </p:sp>
      <p:sp>
        <p:nvSpPr>
          <p:cNvPr id="5" name="TextBox 4">
            <a:extLst>
              <a:ext uri="{FF2B5EF4-FFF2-40B4-BE49-F238E27FC236}">
                <a16:creationId xmlns:a16="http://schemas.microsoft.com/office/drawing/2014/main" id="{8D098F65-D43C-73ED-E7AB-CF19F2AAA6CC}"/>
              </a:ext>
            </a:extLst>
          </p:cNvPr>
          <p:cNvSpPr txBox="1"/>
          <p:nvPr/>
        </p:nvSpPr>
        <p:spPr>
          <a:xfrm>
            <a:off x="441911" y="5944914"/>
            <a:ext cx="11308224" cy="646331"/>
          </a:xfrm>
          <a:prstGeom prst="rect">
            <a:avLst/>
          </a:prstGeom>
          <a:noFill/>
        </p:spPr>
        <p:txBody>
          <a:bodyPr wrap="none" rtlCol="0">
            <a:spAutoFit/>
          </a:bodyPr>
          <a:lstStyle/>
          <a:p>
            <a:pPr algn="ctr"/>
            <a:r>
              <a:rPr lang="en-GB" sz="3600" dirty="0">
                <a:solidFill>
                  <a:srgbClr val="7030A0"/>
                </a:solidFill>
              </a:rPr>
              <a:t>Include </a:t>
            </a:r>
            <a:r>
              <a:rPr lang="en-GB" sz="3600" dirty="0">
                <a:solidFill>
                  <a:srgbClr val="A71D5D"/>
                </a:solidFill>
                <a:latin typeface="Consolas" panose="020B0609020204030204" pitchFamily="49" charset="0"/>
              </a:rPr>
              <a:t>      </a:t>
            </a:r>
            <a:r>
              <a:rPr lang="en-GB" sz="3600" dirty="0">
                <a:solidFill>
                  <a:srgbClr val="7030A0"/>
                </a:solidFill>
              </a:rPr>
              <a:t> element just before the end tag of </a:t>
            </a:r>
            <a:r>
              <a:rPr lang="en-GB" sz="3600" dirty="0">
                <a:solidFill>
                  <a:srgbClr val="A71D5D"/>
                </a:solidFill>
                <a:latin typeface="Consolas" panose="020B0609020204030204" pitchFamily="49" charset="0"/>
              </a:rPr>
              <a:t>      </a:t>
            </a:r>
          </a:p>
        </p:txBody>
      </p:sp>
    </p:spTree>
    <p:extLst>
      <p:ext uri="{BB962C8B-B14F-4D97-AF65-F5344CB8AC3E}">
        <p14:creationId xmlns:p14="http://schemas.microsoft.com/office/powerpoint/2010/main" val="3959517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vited_Students xmlns="fb00f1ab-d075-4e01-ab9b-b3f8a42839f0" xsi:nil="true"/>
    <Is_Collaboration_Space_Locked xmlns="fb00f1ab-d075-4e01-ab9b-b3f8a42839f0" xsi:nil="true"/>
    <Teams_Channel_Section_Location xmlns="fb00f1ab-d075-4e01-ab9b-b3f8a42839f0" xsi:nil="true"/>
    <Has_Teacher_Only_SectionGroup xmlns="fb00f1ab-d075-4e01-ab9b-b3f8a42839f0" xsi:nil="true"/>
    <CultureName xmlns="fb00f1ab-d075-4e01-ab9b-b3f8a42839f0" xsi:nil="true"/>
    <Invited_Teachers xmlns="fb00f1ab-d075-4e01-ab9b-b3f8a42839f0" xsi:nil="true"/>
    <Self_Registration_Enabled xmlns="fb00f1ab-d075-4e01-ab9b-b3f8a42839f0" xsi:nil="true"/>
    <FolderType xmlns="fb00f1ab-d075-4e01-ab9b-b3f8a42839f0" xsi:nil="true"/>
    <Teachers xmlns="fb00f1ab-d075-4e01-ab9b-b3f8a42839f0">
      <UserInfo>
        <DisplayName/>
        <AccountId xsi:nil="true"/>
        <AccountType/>
      </UserInfo>
    </Teachers>
    <AppVersion xmlns="fb00f1ab-d075-4e01-ab9b-b3f8a42839f0" xsi:nil="true"/>
    <DefaultSectionNames xmlns="fb00f1ab-d075-4e01-ab9b-b3f8a42839f0" xsi:nil="true"/>
    <Math_Settings xmlns="fb00f1ab-d075-4e01-ab9b-b3f8a42839f0" xsi:nil="true"/>
    <IsNotebookLocked xmlns="fb00f1ab-d075-4e01-ab9b-b3f8a42839f0" xsi:nil="true"/>
    <LMS_Mappings xmlns="fb00f1ab-d075-4e01-ab9b-b3f8a42839f0" xsi:nil="true"/>
    <_activity xmlns="fb00f1ab-d075-4e01-ab9b-b3f8a42839f0" xsi:nil="true"/>
    <Owner xmlns="fb00f1ab-d075-4e01-ab9b-b3f8a42839f0">
      <UserInfo>
        <DisplayName/>
        <AccountId xsi:nil="true"/>
        <AccountType/>
      </UserInfo>
    </Owner>
    <Distribution_Groups xmlns="fb00f1ab-d075-4e01-ab9b-b3f8a42839f0" xsi:nil="true"/>
    <TeamsChannelId xmlns="fb00f1ab-d075-4e01-ab9b-b3f8a42839f0" xsi:nil="true"/>
    <Self_Registration_Enabled0 xmlns="fb00f1ab-d075-4e01-ab9b-b3f8a42839f0" xsi:nil="true"/>
    <Templates xmlns="fb00f1ab-d075-4e01-ab9b-b3f8a42839f0" xsi:nil="true"/>
    <NotebookType xmlns="fb00f1ab-d075-4e01-ab9b-b3f8a42839f0" xsi:nil="true"/>
    <Students xmlns="fb00f1ab-d075-4e01-ab9b-b3f8a42839f0">
      <UserInfo>
        <DisplayName/>
        <AccountId xsi:nil="true"/>
        <AccountType/>
      </UserInfo>
    </Students>
    <Student_Groups xmlns="fb00f1ab-d075-4e01-ab9b-b3f8a42839f0">
      <UserInfo>
        <DisplayName/>
        <AccountId xsi:nil="true"/>
        <AccountType/>
      </UserInfo>
    </Student_Group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49F92D7F80F64B98FBA117B04E0F80" ma:contentTypeVersion="37" ma:contentTypeDescription="Create a new document." ma:contentTypeScope="" ma:versionID="71516a6acb602a3de90596f1f05fefb1">
  <xsd:schema xmlns:xsd="http://www.w3.org/2001/XMLSchema" xmlns:xs="http://www.w3.org/2001/XMLSchema" xmlns:p="http://schemas.microsoft.com/office/2006/metadata/properties" xmlns:ns3="fb00f1ab-d075-4e01-ab9b-b3f8a42839f0" xmlns:ns4="7870b3cf-1289-4874-b3fd-2340ee2bd0a7" targetNamespace="http://schemas.microsoft.com/office/2006/metadata/properties" ma:root="true" ma:fieldsID="00d76bcaedc473293bf81961b2ad162c" ns3:_="" ns4:_="">
    <xsd:import namespace="fb00f1ab-d075-4e01-ab9b-b3f8a42839f0"/>
    <xsd:import namespace="7870b3cf-1289-4874-b3fd-2340ee2bd0a7"/>
    <xsd:element name="properties">
      <xsd:complexType>
        <xsd:sequence>
          <xsd:element name="documentManagement">
            <xsd:complexType>
              <xsd:all>
                <xsd:element ref="ns3:NotebookType" minOccurs="0"/>
                <xsd:element ref="ns3:FolderType" minOccurs="0"/>
                <xsd:element ref="ns3:Owner" minOccurs="0"/>
                <xsd:element ref="ns3:DefaultSectionNames" minOccurs="0"/>
                <xsd:element ref="ns3:AppVersion" minOccurs="0"/>
                <xsd:element ref="ns3:Teachers" minOccurs="0"/>
                <xsd:element ref="ns3:Students" minOccurs="0"/>
                <xsd:element ref="ns4:SharedWithUsers" minOccurs="0"/>
                <xsd:element ref="ns4:SharedWithDetails" minOccurs="0"/>
                <xsd:element ref="ns4:SharingHintHash" minOccurs="0"/>
                <xsd:element ref="ns3:Student_Groups" minOccurs="0"/>
                <xsd:element ref="ns3:Invited_Teachers" minOccurs="0"/>
                <xsd:element ref="ns3:Invited_Students" minOccurs="0"/>
                <xsd:element ref="ns3:Self_Registration_Enabled" minOccurs="0"/>
                <xsd:element ref="ns3:Has_Teacher_Only_SectionGroup" minOccurs="0"/>
                <xsd:element ref="ns3:CultureName" minOccurs="0"/>
                <xsd:element ref="ns3:Is_Collaboration_Space_Locked" minOccurs="0"/>
                <xsd:element ref="ns3:Self_Registration_Enabled0" minOccurs="0"/>
                <xsd:element ref="ns3:Templates" minOccurs="0"/>
                <xsd:element ref="ns3:MediaServiceMetadata" minOccurs="0"/>
                <xsd:element ref="ns3:MediaServiceFastMetadata" minOccurs="0"/>
                <xsd:element ref="ns3:MediaServiceDateTaken" minOccurs="0"/>
                <xsd:element ref="ns3:MediaServiceAutoTags" minOccurs="0"/>
                <xsd:element ref="ns3:MediaServiceOCR" minOccurs="0"/>
                <xsd:element ref="ns3:TeamsChannelId" minOccurs="0"/>
                <xsd:element ref="ns3:IsNotebookLocked" minOccurs="0"/>
                <xsd:element ref="ns3:Math_Settings" minOccurs="0"/>
                <xsd:element ref="ns3:MediaServiceLocation" minOccurs="0"/>
                <xsd:element ref="ns3:MediaServiceGenerationTime" minOccurs="0"/>
                <xsd:element ref="ns3:MediaServiceEventHashCode" minOccurs="0"/>
                <xsd:element ref="ns3:Distribution_Groups" minOccurs="0"/>
                <xsd:element ref="ns3:LMS_Mappings" minOccurs="0"/>
                <xsd:element ref="ns3:MediaServiceAutoKeyPoints" minOccurs="0"/>
                <xsd:element ref="ns3:MediaServiceKeyPoints" minOccurs="0"/>
                <xsd:element ref="ns3:Teams_Channel_Section_Location"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00f1ab-d075-4e01-ab9b-b3f8a42839f0" elementFormDefault="qualified">
    <xsd:import namespace="http://schemas.microsoft.com/office/2006/documentManagement/types"/>
    <xsd:import namespace="http://schemas.microsoft.com/office/infopath/2007/PartnerControls"/>
    <xsd:element name="NotebookType" ma:index="8" nillable="true" ma:displayName="Notebook Type" ma:indexed="true" ma:internalName="NotebookType">
      <xsd:simpleType>
        <xsd:restriction base="dms:Text"/>
      </xsd:simpleType>
    </xsd:element>
    <xsd:element name="FolderType" ma:index="9" nillable="true" ma:displayName="Folder Type" ma:internalName="FolderType">
      <xsd:simpleType>
        <xsd:restriction base="dms:Text"/>
      </xsd:simpleType>
    </xsd:element>
    <xsd:element name="Owner" ma:index="1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1" nillable="true" ma:displayName="Default Section Names" ma:internalName="DefaultSectionNames">
      <xsd:simpleType>
        <xsd:restriction base="dms:Note">
          <xsd:maxLength value="255"/>
        </xsd:restriction>
      </xsd:simpleType>
    </xsd:element>
    <xsd:element name="AppVersion" ma:index="12" nillable="true" ma:displayName="App Version" ma:internalName="AppVersion">
      <xsd:simpleType>
        <xsd:restriction base="dms:Text"/>
      </xsd:simpleType>
    </xsd:element>
    <xsd:element name="Teachers" ma:index="13"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4"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8"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Teachers" ma:index="19" nillable="true" ma:displayName="Invited Teachers" ma:internalName="Invited_Teachers">
      <xsd:simpleType>
        <xsd:restriction base="dms:Note">
          <xsd:maxLength value="255"/>
        </xsd:restriction>
      </xsd:simpleType>
    </xsd:element>
    <xsd:element name="Invited_Students" ma:index="20" nillable="true" ma:displayName="Invited Students" ma:internalName="Invited_Students">
      <xsd:simpleType>
        <xsd:restriction base="dms:Note">
          <xsd:maxLength value="255"/>
        </xsd:restriction>
      </xsd:simpleType>
    </xsd:element>
    <xsd:element name="Self_Registration_Enabled" ma:index="21" nillable="true" ma:displayName="Self_Registration_Enabled" ma:internalName="Self_Registration_Enabled">
      <xsd:simpleType>
        <xsd:restriction base="dms:Boolean"/>
      </xsd:simpleType>
    </xsd:element>
    <xsd:element name="Has_Teacher_Only_SectionGroup" ma:index="22" nillable="true" ma:displayName="Has Teacher Only SectionGroup" ma:internalName="Has_Teacher_Only_SectionGroup">
      <xsd:simpleType>
        <xsd:restriction base="dms:Boolean"/>
      </xsd:simpleType>
    </xsd:element>
    <xsd:element name="CultureName" ma:index="23" nillable="true" ma:displayName="Culture Name" ma:internalName="CultureName">
      <xsd:simpleType>
        <xsd:restriction base="dms:Text"/>
      </xsd:simpleType>
    </xsd:element>
    <xsd:element name="Is_Collaboration_Space_Locked" ma:index="24" nillable="true" ma:displayName="Is Collaboration Space Locked" ma:internalName="Is_Collaboration_Space_Locked">
      <xsd:simpleType>
        <xsd:restriction base="dms:Boolean"/>
      </xsd:simpleType>
    </xsd:element>
    <xsd:element name="Self_Registration_Enabled0" ma:index="25" nillable="true" ma:displayName="Self Registration Enabled" ma:internalName="Self_Registration_Enabled0">
      <xsd:simpleType>
        <xsd:restriction base="dms:Boolean"/>
      </xsd:simpleType>
    </xsd:element>
    <xsd:element name="Templates" ma:index="26" nillable="true" ma:displayName="Templates" ma:internalName="Templates">
      <xsd:simpleType>
        <xsd:restriction base="dms:Note">
          <xsd:maxLength value="255"/>
        </xsd:restriction>
      </xsd:simpleType>
    </xsd:element>
    <xsd:element name="MediaServiceMetadata" ma:index="27" nillable="true" ma:displayName="MediaServiceMetadata" ma:description="" ma:hidden="true" ma:internalName="MediaServiceMetadata" ma:readOnly="true">
      <xsd:simpleType>
        <xsd:restriction base="dms:Note"/>
      </xsd:simpleType>
    </xsd:element>
    <xsd:element name="MediaServiceFastMetadata" ma:index="28" nillable="true" ma:displayName="MediaServiceFastMetadata" ma:description="" ma:hidden="true" ma:internalName="MediaServiceFastMetadata" ma:readOnly="true">
      <xsd:simpleType>
        <xsd:restriction base="dms:Note"/>
      </xsd:simpleType>
    </xsd:element>
    <xsd:element name="MediaServiceDateTaken" ma:index="29" nillable="true" ma:displayName="MediaServiceDateTaken" ma:hidden="true" ma:internalName="MediaServiceDateTaken" ma:readOnly="true">
      <xsd:simpleType>
        <xsd:restriction base="dms:Text"/>
      </xsd:simpleType>
    </xsd:element>
    <xsd:element name="MediaServiceAutoTags" ma:index="30" nillable="true" ma:displayName="MediaServiceAutoTags" ma:internalName="MediaServiceAutoTags" ma:readOnly="true">
      <xsd:simpleType>
        <xsd:restriction base="dms:Text"/>
      </xsd:simpleType>
    </xsd:element>
    <xsd:element name="MediaServiceOCR" ma:index="31" nillable="true" ma:displayName="MediaServiceOCR" ma:internalName="MediaServiceOCR" ma:readOnly="true">
      <xsd:simpleType>
        <xsd:restriction base="dms:Note">
          <xsd:maxLength value="255"/>
        </xsd:restriction>
      </xsd:simpleType>
    </xsd:element>
    <xsd:element name="TeamsChannelId" ma:index="32" nillable="true" ma:displayName="Teams Channel Id" ma:internalName="TeamsChannelId">
      <xsd:simpleType>
        <xsd:restriction base="dms:Text"/>
      </xsd:simpleType>
    </xsd:element>
    <xsd:element name="IsNotebookLocked" ma:index="33" nillable="true" ma:displayName="Is Notebook Locked" ma:internalName="IsNotebookLocked">
      <xsd:simpleType>
        <xsd:restriction base="dms:Boolean"/>
      </xsd:simpleType>
    </xsd:element>
    <xsd:element name="Math_Settings" ma:index="34" nillable="true" ma:displayName="Math Settings" ma:internalName="Math_Settings">
      <xsd:simpleType>
        <xsd:restriction base="dms:Text"/>
      </xsd:simpleType>
    </xsd:element>
    <xsd:element name="MediaServiceLocation" ma:index="35" nillable="true" ma:displayName="Location" ma:internalName="MediaServiceLocation" ma:readOnly="true">
      <xsd:simpleType>
        <xsd:restriction base="dms:Text"/>
      </xsd:simpleType>
    </xsd:element>
    <xsd:element name="MediaServiceGenerationTime" ma:index="36" nillable="true" ma:displayName="MediaServiceGenerationTime" ma:hidden="true" ma:internalName="MediaServiceGenerationTime" ma:readOnly="true">
      <xsd:simpleType>
        <xsd:restriction base="dms:Text"/>
      </xsd:simpleType>
    </xsd:element>
    <xsd:element name="MediaServiceEventHashCode" ma:index="37" nillable="true" ma:displayName="MediaServiceEventHashCode" ma:hidden="true" ma:internalName="MediaServiceEventHashCode" ma:readOnly="true">
      <xsd:simpleType>
        <xsd:restriction base="dms:Text"/>
      </xsd:simpleType>
    </xsd:element>
    <xsd:element name="Distribution_Groups" ma:index="38" nillable="true" ma:displayName="Distribution Groups" ma:internalName="Distribution_Groups">
      <xsd:simpleType>
        <xsd:restriction base="dms:Note">
          <xsd:maxLength value="255"/>
        </xsd:restriction>
      </xsd:simpleType>
    </xsd:element>
    <xsd:element name="LMS_Mappings" ma:index="39" nillable="true" ma:displayName="LMS Mappings" ma:internalName="LMS_Mappings">
      <xsd:simpleType>
        <xsd:restriction base="dms:Note">
          <xsd:maxLength value="255"/>
        </xsd:restriction>
      </xsd:simpleType>
    </xsd:element>
    <xsd:element name="MediaServiceAutoKeyPoints" ma:index="40" nillable="true" ma:displayName="MediaServiceAutoKeyPoints" ma:hidden="true" ma:internalName="MediaServiceAutoKeyPoints" ma:readOnly="true">
      <xsd:simpleType>
        <xsd:restriction base="dms:Note"/>
      </xsd:simpleType>
    </xsd:element>
    <xsd:element name="MediaServiceKeyPoints" ma:index="41" nillable="true" ma:displayName="KeyPoints" ma:internalName="MediaServiceKeyPoints" ma:readOnly="true">
      <xsd:simpleType>
        <xsd:restriction base="dms:Note">
          <xsd:maxLength value="255"/>
        </xsd:restriction>
      </xsd:simpleType>
    </xsd:element>
    <xsd:element name="Teams_Channel_Section_Location" ma:index="42" nillable="true" ma:displayName="Teams Channel Section Location" ma:internalName="Teams_Channel_Section_Location">
      <xsd:simpleType>
        <xsd:restriction base="dms:Text"/>
      </xsd:simpleType>
    </xsd:element>
    <xsd:element name="MediaLengthInSeconds" ma:index="43" nillable="true" ma:displayName="Length (seconds)" ma:internalName="MediaLengthInSeconds" ma:readOnly="true">
      <xsd:simpleType>
        <xsd:restriction base="dms:Unknown"/>
      </xsd:simpleType>
    </xsd:element>
    <xsd:element name="_activity" ma:index="44"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870b3cf-1289-4874-b3fd-2340ee2bd0a7" elementFormDefault="qualified">
    <xsd:import namespace="http://schemas.microsoft.com/office/2006/documentManagement/types"/>
    <xsd:import namespace="http://schemas.microsoft.com/office/infopath/2007/PartnerControls"/>
    <xsd:element name="SharedWithUsers" ma:index="15"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description="" ma:internalName="SharedWithDetails" ma:readOnly="true">
      <xsd:simpleType>
        <xsd:restriction base="dms:Note">
          <xsd:maxLength value="255"/>
        </xsd:restriction>
      </xsd:simpleType>
    </xsd:element>
    <xsd:element name="SharingHintHash" ma:index="17"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EE3D5E-611B-4F67-864B-0F760FB433EA}">
  <ds:schemaRefs>
    <ds:schemaRef ds:uri="http://schemas.microsoft.com/sharepoint/v3/contenttype/forms"/>
  </ds:schemaRefs>
</ds:datastoreItem>
</file>

<file path=customXml/itemProps2.xml><?xml version="1.0" encoding="utf-8"?>
<ds:datastoreItem xmlns:ds="http://schemas.openxmlformats.org/officeDocument/2006/customXml" ds:itemID="{EA469ED4-0E45-4130-A68B-E865387E703A}">
  <ds:schemaRefs>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7870b3cf-1289-4874-b3fd-2340ee2bd0a7"/>
    <ds:schemaRef ds:uri="fb00f1ab-d075-4e01-ab9b-b3f8a42839f0"/>
    <ds:schemaRef ds:uri="http://schemas.microsoft.com/office/2006/metadata/properties"/>
    <ds:schemaRef ds:uri="http://www.w3.org/XML/1998/namespace"/>
    <ds:schemaRef ds:uri="http://purl.org/dc/dcmitype/"/>
    <ds:schemaRef ds:uri="http://purl.org/dc/elements/1.1/"/>
  </ds:schemaRefs>
</ds:datastoreItem>
</file>

<file path=customXml/itemProps3.xml><?xml version="1.0" encoding="utf-8"?>
<ds:datastoreItem xmlns:ds="http://schemas.openxmlformats.org/officeDocument/2006/customXml" ds:itemID="{85E58096-A327-4C36-B9EC-C50309B423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00f1ab-d075-4e01-ab9b-b3f8a42839f0"/>
    <ds:schemaRef ds:uri="7870b3cf-1289-4874-b3fd-2340ee2bd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18377</TotalTime>
  <Words>6562</Words>
  <Application>Microsoft Office PowerPoint</Application>
  <PresentationFormat>Widescreen</PresentationFormat>
  <Paragraphs>1053</Paragraphs>
  <Slides>118</Slides>
  <Notes>98</Notes>
  <HiddenSlides>65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118</vt:i4>
      </vt:variant>
    </vt:vector>
  </HeadingPairs>
  <TitlesOfParts>
    <vt:vector size="125" baseType="lpstr">
      <vt:lpstr>Arial</vt:lpstr>
      <vt:lpstr>Calibri</vt:lpstr>
      <vt:lpstr>Calibri Light</vt:lpstr>
      <vt:lpstr>CiscoSansTT</vt:lpstr>
      <vt:lpstr>Consolas</vt:lpstr>
      <vt:lpstr>Courier New</vt:lpstr>
      <vt:lpstr>Office Theme</vt:lpstr>
      <vt:lpstr>N5 Computing Science</vt:lpstr>
      <vt:lpstr>Plan – N5 Year 1</vt:lpstr>
      <vt:lpstr>Plan – N5 Year 2</vt:lpstr>
      <vt:lpstr>Web Languages</vt:lpstr>
      <vt:lpstr>Web Languages</vt:lpstr>
      <vt:lpstr>Learning Intentions</vt:lpstr>
      <vt:lpstr>HTML Elements</vt:lpstr>
      <vt:lpstr>HTML Elements</vt:lpstr>
      <vt:lpstr>Basic Webpage</vt:lpstr>
      <vt:lpstr>Basic Webpage</vt:lpstr>
      <vt:lpstr>Head and Body</vt:lpstr>
      <vt:lpstr>Head and Body</vt:lpstr>
      <vt:lpstr>Head - Meta</vt:lpstr>
      <vt:lpstr>Head - Title </vt:lpstr>
      <vt:lpstr>Head - Title </vt:lpstr>
      <vt:lpstr>HTML Comments</vt:lpstr>
      <vt:lpstr>HTML Comments</vt:lpstr>
      <vt:lpstr>Learning Intentions</vt:lpstr>
      <vt:lpstr>Body – Headings </vt:lpstr>
      <vt:lpstr>Body – Headings </vt:lpstr>
      <vt:lpstr>Body – Paragraph </vt:lpstr>
      <vt:lpstr>Body – Paragraph </vt:lpstr>
      <vt:lpstr>Learning Intentions</vt:lpstr>
      <vt:lpstr>Body – Ordered List (Numbers) </vt:lpstr>
      <vt:lpstr>Body – Ordered List (Numbers) </vt:lpstr>
      <vt:lpstr>Body – Unordered List (Bullet Points) </vt:lpstr>
      <vt:lpstr>Body – Unordered List (Bullet Points) </vt:lpstr>
      <vt:lpstr>Learning Intentions</vt:lpstr>
      <vt:lpstr>PowerPoint Presentation</vt:lpstr>
      <vt:lpstr>PowerPoint Presentation</vt:lpstr>
      <vt:lpstr>Element Attributes</vt:lpstr>
      <vt:lpstr>Element Attributes</vt:lpstr>
      <vt:lpstr>Attributes</vt:lpstr>
      <vt:lpstr>Attributes</vt:lpstr>
      <vt:lpstr>PowerPoint Presentation</vt:lpstr>
      <vt:lpstr>Body – Image</vt:lpstr>
      <vt:lpstr>Body – Image</vt:lpstr>
      <vt:lpstr>Body – Audio</vt:lpstr>
      <vt:lpstr>Body – Audio</vt:lpstr>
      <vt:lpstr>Body – Video</vt:lpstr>
      <vt:lpstr>Body – Video</vt:lpstr>
      <vt:lpstr>Learning Intentions</vt:lpstr>
      <vt:lpstr>Anchor (Hyperlink) – Inline Example</vt:lpstr>
      <vt:lpstr>Anchor (Hyperlink) – Inline Example</vt:lpstr>
      <vt:lpstr>Anchor (Hyperlink) – Block Example</vt:lpstr>
      <vt:lpstr>Anchor (Hyperlink) – Block Example</vt:lpstr>
      <vt:lpstr>Uniform Resource Locators (URLs)</vt:lpstr>
      <vt:lpstr>Uniform Resource Locators (URLs)</vt:lpstr>
      <vt:lpstr>Relative URLs</vt:lpstr>
      <vt:lpstr>Relative URLs</vt:lpstr>
      <vt:lpstr>Directory Structure </vt:lpstr>
      <vt:lpstr>Grouping - div </vt:lpstr>
      <vt:lpstr>Grouping - div </vt:lpstr>
      <vt:lpstr>PowerPoint Presentation</vt:lpstr>
      <vt:lpstr>MIME Types – Images / Files</vt:lpstr>
      <vt:lpstr>MIME Types – Images / Files</vt:lpstr>
      <vt:lpstr>MIME Types – Audio / Video</vt:lpstr>
      <vt:lpstr>MIME Types – Audio / Video</vt:lpstr>
      <vt:lpstr>PowerPoint Presentation</vt:lpstr>
      <vt:lpstr>Types of Elements</vt:lpstr>
      <vt:lpstr>Types of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Learning Intentions</vt:lpstr>
      <vt:lpstr>Learning Intentions</vt:lpstr>
      <vt:lpstr>PowerPoint Presentation</vt:lpstr>
      <vt:lpstr>CSS Rule – Single Property</vt:lpstr>
      <vt:lpstr>CSS Rule – Single Property</vt:lpstr>
      <vt:lpstr>CSS Rule – Multiple Properties </vt:lpstr>
      <vt:lpstr>CSS Rule – Multiple Properties </vt:lpstr>
      <vt:lpstr>Head – Style (Internal CSS)</vt:lpstr>
      <vt:lpstr>Head – Style (Internal CSS)</vt:lpstr>
      <vt:lpstr>CSS Comments</vt:lpstr>
      <vt:lpstr>CSS Comments</vt:lpstr>
      <vt:lpstr>CSS – Font Family</vt:lpstr>
      <vt:lpstr>CSS – Font Family</vt:lpstr>
      <vt:lpstr>CSS – Font Size</vt:lpstr>
      <vt:lpstr>CSS – Font Size</vt:lpstr>
      <vt:lpstr>CSS – Alignment</vt:lpstr>
      <vt:lpstr>CSS – Alignment</vt:lpstr>
      <vt:lpstr>CSS – Colour (Text)</vt:lpstr>
      <vt:lpstr>CSS – Colour (Text)</vt:lpstr>
      <vt:lpstr>CSS – Background Colour</vt:lpstr>
      <vt:lpstr>CSS – Background Colour</vt:lpstr>
      <vt:lpstr>CSS – Width and Height</vt:lpstr>
      <vt:lpstr>CSS – Width and Height</vt:lpstr>
      <vt:lpstr>Learning Intentions</vt:lpstr>
      <vt:lpstr>Class</vt:lpstr>
      <vt:lpstr>Class</vt:lpstr>
      <vt:lpstr>ID</vt:lpstr>
      <vt:lpstr>ID</vt:lpstr>
      <vt:lpstr>Head - Link (External CSS)</vt:lpstr>
      <vt:lpstr>Head - Link (External CSS)</vt:lpstr>
      <vt:lpstr>Head - Link (Favicon)</vt:lpstr>
      <vt:lpstr>Learning Intentions</vt:lpstr>
      <vt:lpstr>Body – Script (Internal JavaScript)</vt:lpstr>
      <vt:lpstr>Body – Script (Internal JavaScript)</vt:lpstr>
      <vt:lpstr>JavaScript – Comments</vt:lpstr>
      <vt:lpstr>JavaScript – Comments</vt:lpstr>
      <vt:lpstr>HTML Elements with Events - Overview</vt:lpstr>
      <vt:lpstr>HTML Elements with Events - Overview</vt:lpstr>
      <vt:lpstr>JavaScript – Using ID</vt:lpstr>
      <vt:lpstr>JavaScript – Using ID</vt:lpstr>
      <vt:lpstr>JavaScript – getElementById</vt:lpstr>
      <vt:lpstr>JavaScript – getElementById</vt:lpstr>
      <vt:lpstr>JavaScript – Using this</vt:lpstr>
      <vt:lpstr>JavaScript – Using this</vt:lpstr>
      <vt:lpstr>JavaScript – this</vt:lpstr>
      <vt:lpstr>JavaScript – this</vt:lpstr>
      <vt:lpstr>Body - Link (External JavaScript)</vt:lpstr>
      <vt:lpstr>Body - Link (External JavaScript)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 Friend</dc:creator>
  <cp:lastModifiedBy>Al Friend</cp:lastModifiedBy>
  <cp:revision>377</cp:revision>
  <cp:lastPrinted>2021-06-18T08:15:49Z</cp:lastPrinted>
  <dcterms:created xsi:type="dcterms:W3CDTF">2020-11-23T14:36:09Z</dcterms:created>
  <dcterms:modified xsi:type="dcterms:W3CDTF">2026-04-13T14:41:44Z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0x0101000249F92D7F80F64B98FBA117B04E0F80</vt:lpwstr>
  </property>
</Properties>
</file>